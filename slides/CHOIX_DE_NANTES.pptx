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dirty="0">
                <a:solidFill>
                  <a:srgbClr val="5FD3C4"/>
                </a:solidFill>
                <a:latin typeface="Segoe UI"/>
                <a:cs typeface="Segoe UI"/>
              </a:rPr>
              <a:t>HACKATHON MOBILITY · EPITECH × CITIZ × MICROSOFT</a:t>
            </a:r>
            <a:endParaRPr lang="fr-FR" sz="1400" dirty="0"/>
          </a:p>
        </p:txBody>
      </p:sp>
      <p:sp>
        <p:nvSpPr>
          <p:cNvPr id="5" name="Forme 5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000" b="1" i="0" dirty="0">
                <a:solidFill>
                  <a:srgbClr val="FFFFFF"/>
                </a:solidFill>
                <a:latin typeface="Segoe UI"/>
                <a:cs typeface="Segoe UI"/>
              </a:rPr>
              <a:t>Pourquoi Nantes ?</a:t>
            </a:r>
            <a:endParaRPr lang="fr-FR" sz="5000" dirty="0"/>
          </a:p>
        </p:txBody>
      </p:sp>
      <p:sp>
        <p:nvSpPr>
          <p:cNvPr id="6" name="Forme 6"/>
          <p:cNvSpPr/>
          <p:nvPr/>
        </p:nvSpPr>
        <p:spPr>
          <a:xfrm>
            <a:off x="731520" y="25146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900" b="0" i="0" dirty="0">
                <a:solidFill>
                  <a:srgbClr val="C9D1DC"/>
                </a:solidFill>
                <a:latin typeface="Segoe UI"/>
                <a:cs typeface="Segoe UI"/>
              </a:rPr>
              <a:t>Les critères, le comparatif avec Grenoble, Strasbourg et Nice, le raisonnement, les limites, et de quoi répondre au jury.</a:t>
            </a:r>
            <a:endParaRPr lang="fr-FR" sz="1900" dirty="0"/>
          </a:p>
        </p:txBody>
      </p:sp>
      <p:sp>
        <p:nvSpPr>
          <p:cNvPr id="7" name="Forme 7"/>
          <p:cNvSpPr/>
          <p:nvPr/>
        </p:nvSpPr>
        <p:spPr>
          <a:xfrm>
            <a:off x="731520" y="384048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E3556"/>
          </a:solidFill>
          <a:ln>
            <a:noFill/>
          </a:ln>
        </p:spPr>
        <p:txBody>
          <a:bodyPr wrap="square" lIns="182880" tIns="137160" rIns="18288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1" i="0" dirty="0">
                <a:solidFill>
                  <a:srgbClr val="5FD3C4"/>
                </a:solidFill>
                <a:latin typeface="Segoe UI"/>
                <a:cs typeface="Segoe UI"/>
              </a:rPr>
              <a:t>23</a:t>
            </a:r>
            <a:endParaRPr lang="fr-FR" sz="30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FFFFFF"/>
                </a:solidFill>
                <a:latin typeface="Segoe UI"/>
                <a:cs typeface="Segoe UI"/>
              </a:rPr>
              <a:t>stations Citiz déjà à Nantes : un réseau à densifier</a:t>
            </a:r>
            <a:endParaRPr lang="fr-FR" sz="1200" dirty="0"/>
          </a:p>
        </p:txBody>
      </p:sp>
      <p:sp>
        <p:nvSpPr>
          <p:cNvPr id="8" name="Forme 8"/>
          <p:cNvSpPr/>
          <p:nvPr/>
        </p:nvSpPr>
        <p:spPr>
          <a:xfrm>
            <a:off x="3474720" y="384048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E3556"/>
          </a:solidFill>
          <a:ln>
            <a:noFill/>
          </a:ln>
        </p:spPr>
        <p:txBody>
          <a:bodyPr wrap="square" lIns="182880" tIns="137160" rIns="18288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1" i="0" dirty="0">
                <a:solidFill>
                  <a:srgbClr val="5FD3C4"/>
                </a:solidFill>
                <a:latin typeface="Segoe UI"/>
                <a:cs typeface="Segoe UI"/>
              </a:rPr>
              <a:t>11×</a:t>
            </a:r>
            <a:endParaRPr lang="fr-FR" sz="30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FFFFFF"/>
                </a:solidFill>
                <a:latin typeface="Segoe UI"/>
                <a:cs typeface="Segoe UI"/>
              </a:rPr>
              <a:t>moins dense qu'à Grenoble (3,3 contre 37,3 pour 100 000 hab.)</a:t>
            </a:r>
            <a:endParaRPr lang="fr-FR" sz="1200" dirty="0"/>
          </a:p>
        </p:txBody>
      </p:sp>
      <p:sp>
        <p:nvSpPr>
          <p:cNvPr id="9" name="Forme 9"/>
          <p:cNvSpPr/>
          <p:nvPr/>
        </p:nvSpPr>
        <p:spPr>
          <a:xfrm>
            <a:off x="6217920" y="384048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E3556"/>
          </a:solidFill>
          <a:ln>
            <a:noFill/>
          </a:ln>
        </p:spPr>
        <p:txBody>
          <a:bodyPr wrap="square" lIns="182880" tIns="137160" rIns="18288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1" i="0" dirty="0">
                <a:solidFill>
                  <a:srgbClr val="5FD3C4"/>
                </a:solidFill>
                <a:latin typeface="Segoe UI"/>
                <a:cs typeface="Segoe UI"/>
              </a:rPr>
              <a:t>7,5 %</a:t>
            </a:r>
            <a:endParaRPr lang="fr-FR" sz="30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FFFFFF"/>
                </a:solidFill>
                <a:latin typeface="Segoe UI"/>
                <a:cs typeface="Segoe UI"/>
              </a:rPr>
              <a:t>des Nantais à 5 min à pied d'une Citiz (19,0 % avec Marguerite)</a:t>
            </a:r>
            <a:endParaRPr lang="fr-FR" sz="1200" dirty="0"/>
          </a:p>
        </p:txBody>
      </p:sp>
      <p:sp>
        <p:nvSpPr>
          <p:cNvPr id="10" name="Forme 10"/>
          <p:cNvSpPr/>
          <p:nvPr/>
        </p:nvSpPr>
        <p:spPr>
          <a:xfrm>
            <a:off x="8961120" y="384048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E3556"/>
          </a:solidFill>
          <a:ln>
            <a:noFill/>
          </a:ln>
        </p:spPr>
        <p:txBody>
          <a:bodyPr wrap="square" lIns="182880" tIns="137160" rIns="18288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1" i="0" dirty="0">
                <a:solidFill>
                  <a:srgbClr val="5FD3C4"/>
                </a:solidFill>
                <a:latin typeface="Segoe UI"/>
                <a:cs typeface="Segoe UI"/>
              </a:rPr>
              <a:t>689 456</a:t>
            </a:r>
            <a:endParaRPr lang="fr-FR" sz="30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FFFFFF"/>
                </a:solidFill>
                <a:latin typeface="Segoe UI"/>
                <a:cs typeface="Segoe UI"/>
              </a:rPr>
              <a:t>habitants : la plus grande des 4 métropoles</a:t>
            </a:r>
            <a:endParaRPr lang="fr-FR" sz="1200" dirty="0"/>
          </a:p>
        </p:txBody>
      </p:sp>
      <p:sp>
        <p:nvSpPr>
          <p:cNvPr id="11" name="Forme 11"/>
          <p:cNvSpPr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9FB0C6"/>
                </a:solidFill>
                <a:latin typeface="Segoe UI"/>
                <a:cs typeface="Segoe UI"/>
              </a:rPr>
              <a:t>Nantes : recommandations  ·  Grenoble : ville exemple et test à l'aveugle  ·  Nice : contre-exemple  ·  Strasbourg : écartée</a:t>
            </a:r>
            <a:endParaRPr lang="fr-FR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i="0" dirty="0">
                <a:solidFill>
                  <a:srgbClr val="14213D"/>
                </a:solidFill>
                <a:latin typeface="Segoe UI"/>
                <a:cs typeface="Segoe UI"/>
              </a:rPr>
              <a:t>La décision en une diapo</a:t>
            </a:r>
            <a:endParaRPr lang="fr-FR" sz="2800" dirty="0"/>
          </a:p>
        </p:txBody>
      </p:sp>
      <p:sp>
        <p:nvSpPr>
          <p:cNvPr id="5" name="Forme 5"/>
          <p:cNvSpPr/>
          <p:nvPr/>
        </p:nvSpPr>
        <p:spPr>
          <a:xfrm>
            <a:off x="457200" y="137160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0E9F8E"/>
          </a:solidFill>
          <a:ln>
            <a:noFill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dirty="0">
                <a:solidFill>
                  <a:srgbClr val="FFFFFF"/>
                </a:solidFill>
                <a:latin typeface="Segoe UI"/>
                <a:cs typeface="Segoe UI"/>
              </a:rPr>
              <a:t>Nantes</a:t>
            </a:r>
            <a:endParaRPr lang="fr-FR" sz="2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FFFFFF"/>
                </a:solidFill>
                <a:latin typeface="Segoe UI"/>
                <a:cs typeface="Segoe UI"/>
              </a:rPr>
              <a:t>RECOMMANDER</a:t>
            </a:r>
            <a:endParaRPr lang="fr-FR" sz="1050" dirty="0"/>
          </a:p>
        </p:txBody>
      </p:sp>
      <p:sp>
        <p:nvSpPr>
          <p:cNvPr id="6" name="Forme 6"/>
          <p:cNvSpPr/>
          <p:nvPr/>
        </p:nvSpPr>
        <p:spPr>
          <a:xfrm>
            <a:off x="457200" y="23317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</p:spPr>
        <p:txBody>
          <a:bodyPr wrap="square" lIns="182880" tIns="164592" rIns="18288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1F2933"/>
                </a:solidFill>
                <a:latin typeface="Segoe UI"/>
                <a:cs typeface="Segoe UI"/>
              </a:rPr>
              <a:t>Citiz est là, mais clairsemé : la plus grande marge de progression sur un opérateur qui existe déjà.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3310128" y="137160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3D7DD8"/>
          </a:solidFill>
          <a:ln>
            <a:noFill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dirty="0">
                <a:solidFill>
                  <a:srgbClr val="FFFFFF"/>
                </a:solidFill>
                <a:latin typeface="Segoe UI"/>
                <a:cs typeface="Segoe UI"/>
              </a:rPr>
              <a:t>Grenoble</a:t>
            </a:r>
            <a:endParaRPr lang="fr-FR" sz="2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FFFFFF"/>
                </a:solidFill>
                <a:latin typeface="Segoe UI"/>
                <a:cs typeface="Segoe UI"/>
              </a:rPr>
              <a:t>VALIDER LE MODÈLE</a:t>
            </a:r>
            <a:endParaRPr lang="fr-FR" sz="1050" dirty="0"/>
          </a:p>
        </p:txBody>
      </p:sp>
      <p:sp>
        <p:nvSpPr>
          <p:cNvPr id="8" name="Forme 8"/>
          <p:cNvSpPr/>
          <p:nvPr/>
        </p:nvSpPr>
        <p:spPr>
          <a:xfrm>
            <a:off x="3310128" y="23317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</p:spPr>
        <p:txBody>
          <a:bodyPr wrap="square" lIns="182880" tIns="164592" rIns="18288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1F2933"/>
                </a:solidFill>
                <a:latin typeface="Segoe UI"/>
                <a:cs typeface="Segoe UI"/>
              </a:rPr>
              <a:t>Le réseau Citiz le plus dense : la vérité terrain pour le test à l'aveugle (89,3 % des stations retrouvées).</a:t>
            </a:r>
            <a:endParaRPr lang="fr-FR" sz="1250" dirty="0"/>
          </a:p>
        </p:txBody>
      </p:sp>
      <p:sp>
        <p:nvSpPr>
          <p:cNvPr id="9" name="Forme 9"/>
          <p:cNvSpPr/>
          <p:nvPr/>
        </p:nvSpPr>
        <p:spPr>
          <a:xfrm>
            <a:off x="6163056" y="137160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>
            <a:noFill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dirty="0">
                <a:solidFill>
                  <a:srgbClr val="FFFFFF"/>
                </a:solidFill>
                <a:latin typeface="Segoe UI"/>
                <a:cs typeface="Segoe UI"/>
              </a:rPr>
              <a:t>Nice</a:t>
            </a:r>
            <a:endParaRPr lang="fr-FR" sz="2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FFFFFF"/>
                </a:solidFill>
                <a:latin typeface="Segoe UI"/>
                <a:cs typeface="Segoe UI"/>
              </a:rPr>
              <a:t>CONTRE-EXEMPLE</a:t>
            </a:r>
            <a:endParaRPr lang="fr-FR" sz="1050" dirty="0"/>
          </a:p>
        </p:txBody>
      </p:sp>
      <p:sp>
        <p:nvSpPr>
          <p:cNvPr id="10" name="Forme 10"/>
          <p:cNvSpPr/>
          <p:nvPr/>
        </p:nvSpPr>
        <p:spPr>
          <a:xfrm>
            <a:off x="6163056" y="23317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</p:spPr>
        <p:txBody>
          <a:bodyPr wrap="square" lIns="182880" tIns="164592" rIns="18288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1F2933"/>
                </a:solidFill>
                <a:latin typeface="Segoe UI"/>
                <a:cs typeface="Segoe UI"/>
              </a:rPr>
              <a:t>N° 1 du classement, mais zéro Citiz, autopartage invisible, et Mobilize Share vient de fermer.</a:t>
            </a:r>
            <a:endParaRPr lang="fr-FR" sz="1250" dirty="0"/>
          </a:p>
        </p:txBody>
      </p:sp>
      <p:sp>
        <p:nvSpPr>
          <p:cNvPr id="11" name="Forme 11"/>
          <p:cNvSpPr/>
          <p:nvPr/>
        </p:nvSpPr>
        <p:spPr>
          <a:xfrm>
            <a:off x="9015984" y="137160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7D8A99"/>
          </a:solidFill>
          <a:ln>
            <a:noFill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dirty="0">
                <a:solidFill>
                  <a:srgbClr val="FFFFFF"/>
                </a:solidFill>
                <a:latin typeface="Segoe UI"/>
                <a:cs typeface="Segoe UI"/>
              </a:rPr>
              <a:t>Strasbourg</a:t>
            </a:r>
            <a:endParaRPr lang="fr-FR" sz="2000" dirty="0"/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FFFFFF"/>
                </a:solidFill>
                <a:latin typeface="Segoe UI"/>
                <a:cs typeface="Segoe UI"/>
              </a:rPr>
              <a:t>ÉCARTÉE</a:t>
            </a:r>
            <a:endParaRPr lang="fr-FR" sz="1050" dirty="0"/>
          </a:p>
        </p:txBody>
      </p:sp>
      <p:sp>
        <p:nvSpPr>
          <p:cNvPr id="12" name="Forme 12"/>
          <p:cNvSpPr/>
          <p:nvPr/>
        </p:nvSpPr>
        <p:spPr>
          <a:xfrm>
            <a:off x="9015984" y="23317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</p:spPr>
        <p:txBody>
          <a:bodyPr wrap="square" lIns="182880" tIns="164592" rIns="18288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1F2933"/>
                </a:solidFill>
                <a:latin typeface="Segoe UI"/>
                <a:cs typeface="Segoe UI"/>
              </a:rPr>
              <a:t>Réseau Citiz déjà très dense : 59 % des habitants à 5 min (vol d'oiseau).</a:t>
            </a:r>
            <a:endParaRPr lang="fr-FR" sz="1250" dirty="0"/>
          </a:p>
        </p:txBody>
      </p:sp>
      <p:sp>
        <p:nvSpPr>
          <p:cNvPr id="13" name="Forme 13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6000"/>
            </a:avLst>
          </a:prstGeom>
          <a:solidFill>
            <a:srgbClr val="E3F4F2"/>
          </a:solidFill>
          <a:ln>
            <a:noFill/>
          </a:ln>
        </p:spPr>
        <p:txBody>
          <a:bodyPr wrap="square" lIns="274320" tIns="109728" rIns="27432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i="0" dirty="0">
                <a:solidFill>
                  <a:srgbClr val="0E9F8E"/>
                </a:solidFill>
                <a:latin typeface="Segoe UI"/>
                <a:cs typeface="Segoe UI"/>
              </a:rPr>
              <a:t>Le principe</a:t>
            </a:r>
            <a:endParaRPr lang="fr-FR" sz="13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300" b="0" i="0" dirty="0">
                <a:solidFill>
                  <a:srgbClr val="1F2933"/>
                </a:solidFill>
                <a:latin typeface="Segoe UI"/>
                <a:cs typeface="Segoe UI"/>
              </a:rPr>
              <a:t>On ne recommande ni dans une ville </a:t>
            </a:r>
            <a:r>
              <a:rPr lang="fr-FR" sz="1300" b="1" i="0" dirty="0">
                <a:solidFill>
                  <a:srgbClr val="1F2933"/>
                </a:solidFill>
                <a:latin typeface="Segoe UI"/>
                <a:cs typeface="Segoe UI"/>
              </a:rPr>
              <a:t>sans Citiz</a:t>
            </a:r>
            <a:r>
              <a:rPr lang="fr-FR" sz="1300" b="0" i="0" dirty="0">
                <a:solidFill>
                  <a:srgbClr val="1F2933"/>
                </a:solidFill>
                <a:latin typeface="Segoe UI"/>
                <a:cs typeface="Segoe UI"/>
              </a:rPr>
              <a:t> (rien pour vérifier le modèle sur place, implantation de zéro), ni dans une ville </a:t>
            </a:r>
            <a:r>
              <a:rPr lang="fr-FR" sz="1300" b="1" i="0" dirty="0">
                <a:solidFill>
                  <a:srgbClr val="1F2933"/>
                </a:solidFill>
                <a:latin typeface="Segoe UI"/>
                <a:cs typeface="Segoe UI"/>
              </a:rPr>
              <a:t>déjà saturée</a:t>
            </a:r>
            <a:r>
              <a:rPr lang="fr-FR" sz="1300" b="0" i="0" dirty="0">
                <a:solidFill>
                  <a:srgbClr val="1F2933"/>
                </a:solidFill>
                <a:latin typeface="Segoe UI"/>
                <a:cs typeface="Segoe UI"/>
              </a:rPr>
              <a:t> (une station de plus y touche surtout des gens déjà desservis). Nantes est entre les deux : Citiz y existe, mais presque personne n'en a une à 5 minutes.</a:t>
            </a:r>
            <a:endParaRPr lang="fr-F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0E9F8E"/>
                </a:solidFill>
                <a:latin typeface="Segoe UI"/>
                <a:cs typeface="Segoe UI"/>
              </a:rPr>
              <a:t>PARTIE 1 · LES CRITÈRES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Les critères (1/2)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★ = entre dans le score du classement national. Définition, source, et pourquoi c'est important pour Citiz.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3</a:t>
            </a:r>
            <a:endParaRPr lang="fr-FR" sz="900" dirty="0"/>
          </a:p>
        </p:txBody>
      </p:sp>
      <p:graphicFrame>
        <p:nvGraphicFramePr>
          <p:cNvPr id="10" name="Tableau 10"/>
          <p:cNvGraphicFramePr>
            <a:graphicFrameLocks noGrp="1"/>
          </p:cNvGraphicFramePr>
          <p:nvPr/>
        </p:nvGraphicFramePr>
        <p:xfrm>
          <a:off x="457200" y="1417320"/>
          <a:ext cx="11274552" cy="4608576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3977640"/>
                <a:gridCol w="2331720"/>
                <a:gridCol w="2587752"/>
              </a:tblGrid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Critère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Définition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Pourquoi ça compte pour Citiz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0E9F8E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habitants des carreaux de 200 m, recalés sur le recensement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INSEE Filosofi 2021 + recensement 2023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plus de clients potentiels par station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Densité vécue ★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densité moyenne autour de chaque habitant (pondérée par la population)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INSEE Filosofi 2021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en zone dense, une station sert plus de monde à 5 min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Ménages sans voiture ★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part des ménages qui n'ont aucune voiture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INSEE, logement par IRIS 2023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le cœur de cible de l'autopartage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Autopartage existant ★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stations et voitures partagées visibles, pour 10 000 habitants (moins = mieux)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GBFS (transport.data.gouv.fr)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il reste de la place pour un nouveau service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Densité du réseau Citiz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stations Citiz pour 100 000 habitants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GBFS Citiz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mesure si le réseau est clairsemé ou saturé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Stations / 10 000 ménages sans voiture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offre rapportée au public cible, Citiz seul puis tous opérateurs (calcul de cette synthèse)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GBFS + logement INSEE + open data Nantes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compare l'offre au vrai besoin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0E9F8E"/>
                </a:solidFill>
                <a:latin typeface="Segoe UI"/>
                <a:cs typeface="Segoe UI"/>
              </a:rPr>
              <a:t>PARTIE 1 · LES CRITÈRES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Les critères (2/2)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★ = entre dans le score du classement national. Définition, source, et pourquoi c'est important pour Citiz.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4</a:t>
            </a:r>
            <a:endParaRPr lang="fr-FR" sz="900" dirty="0"/>
          </a:p>
        </p:txBody>
      </p:sp>
      <p:graphicFrame>
        <p:nvGraphicFramePr>
          <p:cNvPr id="10" name="Tableau 10"/>
          <p:cNvGraphicFramePr>
            <a:graphicFrameLocks noGrp="1"/>
          </p:cNvGraphicFramePr>
          <p:nvPr/>
        </p:nvGraphicFramePr>
        <p:xfrm>
          <a:off x="457200" y="1417320"/>
          <a:ext cx="11274552" cy="4608576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3977640"/>
                <a:gridCol w="2331720"/>
                <a:gridCol w="2587752"/>
              </a:tblGrid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Critère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Définition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Pourquoi ça compte pour Citiz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0E9F8E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Habitants à 5 min d'un autopartage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part de la population à 400 m d'une station (vol d'oiseau en France, marche réelle à Nantes et Grenoble)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calcul du projet (V1 / V2)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c'est l'indicateur que Citiz veut faire monter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Présence d'un réseau Citiz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nombre de stations et de voitures Citiz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GBFS Citiz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densifier coûte moins qu'ouvrir de zéro, et permet de vérifier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Concurrence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autres opérateurs : Marguerite (61 stations à Nantes), Getaround (non publié)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open data Nantes Métropole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éviter de doubler une station existante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Offre de transports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options pondérées par habitant, part à 5 min d'un arrêt, part sans aucune option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GTFS + GBFS (calcul du projet)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l'autopartage complète les TC ; besoin fort là où il n'y a rien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Risque de vol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vols liés aux véhicules pour 1 000 habitants par an (2023-2025)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SSMSI, ministère de l'Intérieur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coût d'assurance ; variante du score, pas le score principal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Rang au classement national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moyenne des rangs des 3 critères ★, sur 276 intercommunalités ≥ 50 000 hab.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src/national/ranking.py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une vue d'ensemble objective, pas une décision</a:t>
                      </a:r>
                      <a:endParaRPr lang="fr-FR" sz="105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D7DD8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3D7DD8"/>
                </a:solidFill>
                <a:latin typeface="Segoe UI"/>
                <a:cs typeface="Segoe UI"/>
              </a:rPr>
              <a:t>PARTIE 2 · LE COMPARATIF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Le comparatif des 4 métropoles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Classement national (V1, vol d'oiseau) sauf mention ; Nantes surlignée. Source : data/processed/national/classement_epci.parquet.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5</a:t>
            </a:r>
            <a:endParaRPr lang="fr-FR" sz="900" dirty="0"/>
          </a:p>
        </p:txBody>
      </p:sp>
      <p:graphicFrame>
        <p:nvGraphicFramePr>
          <p:cNvPr id="10" name="Tableau 10"/>
          <p:cNvGraphicFramePr>
            <a:graphicFrameLocks noGrp="1"/>
          </p:cNvGraphicFramePr>
          <p:nvPr/>
        </p:nvGraphicFramePr>
        <p:xfrm>
          <a:off x="457200" y="1371600"/>
          <a:ext cx="11274552" cy="4869180"/>
        </p:xfrm>
        <a:graphic>
          <a:graphicData uri="http://schemas.openxmlformats.org/drawingml/2006/table">
            <a:tbl>
              <a:tblPr firstRow="1" bandRow="1"/>
              <a:tblGrid>
                <a:gridCol w="3246120"/>
                <a:gridCol w="2240280"/>
                <a:gridCol w="1965960"/>
                <a:gridCol w="1920240"/>
                <a:gridCol w="1901952"/>
              </a:tblGrid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Critère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3D7DD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Nantes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3D7DD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Grenoble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3D7DD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Strasbourg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3D7DD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Nice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3D7DD8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Rôle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recommandations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exemple, test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écartée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contre-exemple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Habitants · superficie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689 456 · 535 km²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450 608 · 543 km²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522 596 · 340 km²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574 287 · 1 477 km²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Densité vécue (hab./km²)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8 665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10 919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12 257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14 232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Ménages sans voiture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20,4 %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24,0 %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28,1 %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28,7 %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Stations Citiz (voitures)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23 (37)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168 (444)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169 (404)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Citiz pour 100 000 hab.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3,3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37,3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32,3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Citiz / 10 000 ménages sans voiture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3,9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36,5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28,2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Tous opérateurs / 10 000 ménages sans voiture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14,1 (avec Marguerite)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36,5 (visibles)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28,2 (visibles)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0 visible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À 5 min d'une Citiz (vol d'oiseau)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11,8 %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53,0 %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59,4 %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0 %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À 5 min à pied d'un autopartage (marche réelle)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19,0 % (Citiz seule 7,5 %)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39,7 %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non calculé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non calculé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Sans aucune option à 5 min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6,7 %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3,6 %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3,2 %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3,9 %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À 5 min d'un arrêt de TC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93,3 %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95,5 %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96,0 %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96,0 %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Vols liés aux véhicules / 1 000 hab. / an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13,6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19,1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6,0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6,6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Rang potentiel Citiz (/276) · avec risque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58 · 122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61 · 130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52 · 62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1 · 5</a:t>
                      </a:r>
                      <a:endParaRPr lang="fr-FR" sz="10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Forme 11"/>
          <p:cNvSpPr/>
          <p:nvPr/>
        </p:nvSpPr>
        <p:spPr>
          <a:xfrm>
            <a:off x="457200" y="62636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50" b="0" i="1" dirty="0">
                <a:solidFill>
                  <a:srgbClr val="5B6573"/>
                </a:solidFill>
                <a:latin typeface="Segoe UI"/>
                <a:cs typeface="Segoe UI"/>
              </a:rPr>
              <a:t>Ce qui distingue Nantes : Citiz présent mais le moins dense (3,3 / 100 000), la plus faible couverture, le plus d'habitants sans aucune option, la plus grande population.</a:t>
            </a:r>
            <a:endParaRPr lang="fr-FR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8E1B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E08E1B"/>
                </a:solidFill>
                <a:latin typeface="Segoe UI"/>
                <a:cs typeface="Segoe UI"/>
              </a:rPr>
              <a:t>PARTIE 3 · LE RAISONNEMENT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1. Pourquoi Nantes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Ni une ville sans Citiz, ni une ville déjà saturée.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6</a:t>
            </a:r>
            <a:endParaRPr lang="fr-FR" sz="900" dirty="0"/>
          </a:p>
        </p:txBody>
      </p:sp>
      <p:sp>
        <p:nvSpPr>
          <p:cNvPr id="10" name="Forme 10"/>
          <p:cNvSpPr/>
          <p:nvPr/>
        </p:nvSpPr>
        <p:spPr>
          <a:xfrm>
            <a:off x="457200" y="1417320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CF1E0"/>
          </a:solidFill>
          <a:ln>
            <a:noFill/>
          </a:ln>
        </p:spPr>
        <p:txBody>
          <a:bodyPr wrap="square" lIns="228600" tIns="45720" rIns="182880" bIns="4572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 b="1" i="0" dirty="0">
                <a:solidFill>
                  <a:srgbClr val="E08E1B"/>
                </a:solidFill>
                <a:latin typeface="Segoe UI"/>
                <a:cs typeface="Segoe UI"/>
              </a:rPr>
              <a:t>3,3</a:t>
            </a:r>
            <a:endParaRPr lang="fr-FR" sz="2600" dirty="0"/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1100" b="0" i="0" dirty="0">
                <a:solidFill>
                  <a:srgbClr val="1F2933"/>
                </a:solidFill>
                <a:latin typeface="Segoe UI"/>
                <a:cs typeface="Segoe UI"/>
              </a:rPr>
              <a:t>stations Citiz pour 100 000 hab., 11 fois moins qu'à Grenoble (37,3)</a:t>
            </a:r>
            <a:endParaRPr lang="fr-FR" sz="1100" dirty="0"/>
          </a:p>
        </p:txBody>
      </p:sp>
      <p:sp>
        <p:nvSpPr>
          <p:cNvPr id="11" name="Forme 11"/>
          <p:cNvSpPr/>
          <p:nvPr/>
        </p:nvSpPr>
        <p:spPr>
          <a:xfrm>
            <a:off x="457200" y="2624328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CF1E0"/>
          </a:solidFill>
          <a:ln>
            <a:noFill/>
          </a:ln>
        </p:spPr>
        <p:txBody>
          <a:bodyPr wrap="square" lIns="228600" tIns="45720" rIns="182880" bIns="4572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 b="1" i="0" dirty="0">
                <a:solidFill>
                  <a:srgbClr val="E08E1B"/>
                </a:solidFill>
                <a:latin typeface="Segoe UI"/>
                <a:cs typeface="Segoe UI"/>
              </a:rPr>
              <a:t>3,9</a:t>
            </a:r>
            <a:endParaRPr lang="fr-FR" sz="2600" dirty="0"/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1100" b="0" i="0" dirty="0">
                <a:solidFill>
                  <a:srgbClr val="1F2933"/>
                </a:solidFill>
                <a:latin typeface="Segoe UI"/>
                <a:cs typeface="Segoe UI"/>
              </a:rPr>
              <a:t>stations Citiz pour 10 000 ménages sans voiture (Grenoble 36,5 ; Strasbourg 28,2)</a:t>
            </a:r>
            <a:endParaRPr lang="fr-FR" sz="1100" dirty="0"/>
          </a:p>
        </p:txBody>
      </p:sp>
      <p:sp>
        <p:nvSpPr>
          <p:cNvPr id="12" name="Forme 12"/>
          <p:cNvSpPr/>
          <p:nvPr/>
        </p:nvSpPr>
        <p:spPr>
          <a:xfrm>
            <a:off x="457200" y="3831336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CF1E0"/>
          </a:solidFill>
          <a:ln>
            <a:noFill/>
          </a:ln>
        </p:spPr>
        <p:txBody>
          <a:bodyPr wrap="square" lIns="228600" tIns="45720" rIns="182880" bIns="4572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 b="1" i="0" dirty="0">
                <a:solidFill>
                  <a:srgbClr val="E08E1B"/>
                </a:solidFill>
                <a:latin typeface="Segoe UI"/>
                <a:cs typeface="Segoe UI"/>
              </a:rPr>
              <a:t>7,5 %</a:t>
            </a:r>
            <a:endParaRPr lang="fr-FR" sz="2600" dirty="0"/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1100" b="0" i="0" dirty="0">
                <a:solidFill>
                  <a:srgbClr val="1F2933"/>
                </a:solidFill>
                <a:latin typeface="Segoe UI"/>
                <a:cs typeface="Segoe UI"/>
              </a:rPr>
              <a:t>des Nantais à 5 min à pied d'une Citiz ; 19,0 % avec Marguerite</a:t>
            </a:r>
            <a:endParaRPr lang="fr-FR" sz="1100" dirty="0"/>
          </a:p>
        </p:txBody>
      </p:sp>
      <p:sp>
        <p:nvSpPr>
          <p:cNvPr id="13" name="Forme 13"/>
          <p:cNvSpPr/>
          <p:nvPr/>
        </p:nvSpPr>
        <p:spPr>
          <a:xfrm>
            <a:off x="457200" y="5038344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CF1E0"/>
          </a:solidFill>
          <a:ln>
            <a:noFill/>
          </a:ln>
        </p:spPr>
        <p:txBody>
          <a:bodyPr wrap="square" lIns="228600" tIns="45720" rIns="182880" bIns="4572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 b="1" i="0" dirty="0">
                <a:solidFill>
                  <a:srgbClr val="E08E1B"/>
                </a:solidFill>
                <a:latin typeface="Segoe UI"/>
                <a:cs typeface="Segoe UI"/>
              </a:rPr>
              <a:t>6,7 %</a:t>
            </a:r>
            <a:endParaRPr lang="fr-FR" sz="2600" dirty="0"/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1100" b="0" i="0" dirty="0">
                <a:solidFill>
                  <a:srgbClr val="1F2933"/>
                </a:solidFill>
                <a:latin typeface="Segoe UI"/>
                <a:cs typeface="Segoe UI"/>
              </a:rPr>
              <a:t>sans aucune option à 5 min : le plus fort des 4 métropoles</a:t>
            </a:r>
            <a:endParaRPr lang="fr-FR" sz="1100" dirty="0"/>
          </a:p>
        </p:txBody>
      </p:sp>
      <p:sp>
        <p:nvSpPr>
          <p:cNvPr id="14" name="Forme 14"/>
          <p:cNvSpPr/>
          <p:nvPr/>
        </p:nvSpPr>
        <p:spPr>
          <a:xfrm>
            <a:off x="4892040" y="1417320"/>
            <a:ext cx="6839712" cy="4709160"/>
          </a:xfrm>
          <a:prstGeom prst="roundRect">
            <a:avLst>
              <a:gd name="adj" fmla="val 4000"/>
            </a:avLst>
          </a:prstGeom>
          <a:solidFill>
            <a:srgbClr val="FCF1E0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15" name="Forme 15"/>
          <p:cNvSpPr/>
          <p:nvPr/>
        </p:nvSpPr>
        <p:spPr>
          <a:xfrm>
            <a:off x="4892040" y="1417320"/>
            <a:ext cx="64008" cy="4709160"/>
          </a:xfrm>
          <a:prstGeom prst="rect">
            <a:avLst/>
          </a:prstGeom>
          <a:solidFill>
            <a:srgbClr val="E08E1B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16" name="Forme 16"/>
          <p:cNvSpPr/>
          <p:nvPr/>
        </p:nvSpPr>
        <p:spPr>
          <a:xfrm>
            <a:off x="5074920" y="1508760"/>
            <a:ext cx="6547104" cy="4572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fr-FR" sz="1400" b="1" i="0" dirty="0">
                <a:solidFill>
                  <a:srgbClr val="E08E1B"/>
                </a:solidFill>
                <a:latin typeface="Segoe UI"/>
                <a:cs typeface="Segoe UI"/>
              </a:rPr>
              <a:t>Le raisonnement</a:t>
            </a:r>
            <a:endParaRPr lang="fr-FR" sz="1400" dirty="0"/>
          </a:p>
          <a:p>
            <a:pPr algn="l" marL="201168" indent="-20116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08E1B"/>
              </a:buClr>
              <a:buFont typeface="Segoe UI"/>
              <a:buChar char="•"/>
            </a:pPr>
            <a:r>
              <a:rPr lang="fr-FR" sz="1200" b="1" i="0" dirty="0">
                <a:solidFill>
                  <a:srgbClr val="1F2933"/>
                </a:solidFill>
                <a:latin typeface="Segoe UI"/>
                <a:cs typeface="Segoe UI"/>
              </a:rPr>
              <a:t>Citiz est déjà là</a:t>
            </a: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 : 23 stations et 37 voitures. On densifie un réseau qui existe : l'opérateur connaît la ville, et les stations actuelles permettent de vérifier nos recommandations sur le terrain.</a:t>
            </a:r>
            <a:endParaRPr lang="fr-FR" sz="1200" dirty="0"/>
          </a:p>
          <a:p>
            <a:pPr algn="l" marL="201168" indent="-20116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08E1B"/>
              </a:buClr>
              <a:buFont typeface="Segoe UI"/>
              <a:buChar char="•"/>
            </a:pPr>
            <a:r>
              <a:rPr lang="fr-FR" sz="1200" b="1" i="0" dirty="0">
                <a:solidFill>
                  <a:srgbClr val="1F2933"/>
                </a:solidFill>
                <a:latin typeface="Segoe UI"/>
                <a:cs typeface="Segoe UI"/>
              </a:rPr>
              <a:t>Mais presque personne n'en profite</a:t>
            </a: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 : la plus faible densité Citiz des 4 villes, et seulement 7,5 % des habitants à 5 minutes de marche réelle d'une Citiz.</a:t>
            </a:r>
            <a:endParaRPr lang="fr-FR" sz="1200" dirty="0"/>
          </a:p>
          <a:p>
            <a:pPr algn="l" marL="201168" indent="-20116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08E1B"/>
              </a:buClr>
              <a:buFont typeface="Segoe UI"/>
              <a:buChar char="•"/>
            </a:pPr>
            <a:r>
              <a:rPr lang="fr-FR" sz="1200" b="1" i="0" dirty="0">
                <a:solidFill>
                  <a:srgbClr val="1F2933"/>
                </a:solidFill>
                <a:latin typeface="Segoe UI"/>
                <a:cs typeface="Segoe UI"/>
              </a:rPr>
              <a:t>Un vrai besoin</a:t>
            </a: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 : 689 456 habitants (la plus grande des 4), 20,4 % de ménages sans voiture, et 6,7 % sans aucune option à 5 minutes.</a:t>
            </a:r>
            <a:endParaRPr lang="fr-FR" sz="1200" dirty="0"/>
          </a:p>
          <a:p>
            <a:pPr algn="l" marL="201168" indent="-20116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08E1B"/>
              </a:buClr>
              <a:buFont typeface="Segoe UI"/>
              <a:buChar char="•"/>
            </a:pPr>
            <a:r>
              <a:rPr lang="fr-FR" sz="1200" b="1" i="0" dirty="0">
                <a:solidFill>
                  <a:srgbClr val="1F2933"/>
                </a:solidFill>
                <a:latin typeface="Segoe UI"/>
                <a:cs typeface="Segoe UI"/>
              </a:rPr>
              <a:t>Un risque modéré</a:t>
            </a: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 : 13,6 vols liés aux véhicules pour 1 000 habitants, contre 19,1 à Grenoble.</a:t>
            </a:r>
            <a:endParaRPr lang="fr-FR" sz="1200" dirty="0"/>
          </a:p>
          <a:p>
            <a:pPr algn="l" marL="201168" indent="-20116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08E1B"/>
              </a:buClr>
              <a:buFont typeface="Segoe UI"/>
              <a:buChar char="•"/>
            </a:pPr>
            <a:r>
              <a:rPr lang="fr-FR" sz="1200" b="1" i="0" dirty="0">
                <a:solidFill>
                  <a:srgbClr val="1F2933"/>
                </a:solidFill>
                <a:latin typeface="Segoe UI"/>
                <a:cs typeface="Segoe UI"/>
              </a:rPr>
              <a:t>Résultat</a:t>
            </a: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 : avec 500 000 €, 12 stations mettent </a:t>
            </a:r>
            <a:r>
              <a:rPr lang="fr-FR" sz="1200" b="1" i="0" dirty="0">
                <a:solidFill>
                  <a:srgbClr val="1F2933"/>
                </a:solidFill>
                <a:latin typeface="Segoe UI"/>
                <a:cs typeface="Segoe UI"/>
              </a:rPr>
              <a:t>+34 979 habitants</a:t>
            </a: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 à 5 min à pied d'un autopartage (19,0 % → 24,1 %).</a:t>
            </a:r>
            <a:endParaRPr lang="fr-FR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8E1B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E08E1B"/>
                </a:solidFill>
                <a:latin typeface="Segoe UI"/>
                <a:cs typeface="Segoe UI"/>
              </a:rPr>
              <a:t>PARTIE 3 · LE RAISONNEMENT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2 à 4. Grenoble, Nice, Strasbourg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Chaque ville a un rôle, ou une raison claire d'être écartée.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7</a:t>
            </a:r>
            <a:endParaRPr lang="fr-FR" sz="900" dirty="0"/>
          </a:p>
        </p:txBody>
      </p:sp>
      <p:sp>
        <p:nvSpPr>
          <p:cNvPr id="10" name="Forme 10"/>
          <p:cNvSpPr/>
          <p:nvPr/>
        </p:nvSpPr>
        <p:spPr>
          <a:xfrm>
            <a:off x="457200" y="1371600"/>
            <a:ext cx="3657600" cy="4892040"/>
          </a:xfrm>
          <a:prstGeom prst="roundRect">
            <a:avLst>
              <a:gd name="adj" fmla="val 4000"/>
            </a:avLst>
          </a:prstGeom>
          <a:solidFill>
            <a:srgbClr val="E6EFFB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11" name="Forme 11"/>
          <p:cNvSpPr/>
          <p:nvPr/>
        </p:nvSpPr>
        <p:spPr>
          <a:xfrm>
            <a:off x="457200" y="1371600"/>
            <a:ext cx="64008" cy="4892040"/>
          </a:xfrm>
          <a:prstGeom prst="rect">
            <a:avLst/>
          </a:prstGeom>
          <a:solidFill>
            <a:srgbClr val="3D7DD8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12" name="Forme 12"/>
          <p:cNvSpPr/>
          <p:nvPr/>
        </p:nvSpPr>
        <p:spPr>
          <a:xfrm>
            <a:off x="640080" y="1463040"/>
            <a:ext cx="3364992" cy="4754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fr-FR" sz="1400" b="1" i="0" dirty="0">
                <a:solidFill>
                  <a:srgbClr val="3D7DD8"/>
                </a:solidFill>
                <a:latin typeface="Segoe UI"/>
                <a:cs typeface="Segoe UI"/>
              </a:rPr>
              <a:t>Grenoble : la ville exemple</a:t>
            </a:r>
            <a:endParaRPr lang="fr-F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Le réseau Citiz le plus dense :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168 stations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, 37,3 pour 100 000 hab., 53 % des habitants à 5 min (vol d'oiseau), 39,7 % à pied.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C'est la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vérité terrain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 : on cache tout le réseau au modèle, il retrouve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89,3 %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 des stations dans les 20 % de carreaux les plus favorables (densité seule : 82,1 %).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Elle montre aussi que le vol d'oiseau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surestime l'offre de 80 %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Pas pour recommander : le réseau est déjà dense.</a:t>
            </a:r>
            <a:endParaRPr lang="fr-FR" sz="1150" dirty="0"/>
          </a:p>
        </p:txBody>
      </p:sp>
      <p:sp>
        <p:nvSpPr>
          <p:cNvPr id="13" name="Forme 13"/>
          <p:cNvSpPr/>
          <p:nvPr/>
        </p:nvSpPr>
        <p:spPr>
          <a:xfrm>
            <a:off x="4270248" y="1371600"/>
            <a:ext cx="3657600" cy="4892040"/>
          </a:xfrm>
          <a:prstGeom prst="roundRect">
            <a:avLst>
              <a:gd name="adj" fmla="val 4000"/>
            </a:avLst>
          </a:prstGeom>
          <a:solidFill>
            <a:srgbClr val="FBE7E7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14" name="Forme 14"/>
          <p:cNvSpPr/>
          <p:nvPr/>
        </p:nvSpPr>
        <p:spPr>
          <a:xfrm>
            <a:off x="4270248" y="1371600"/>
            <a:ext cx="64008" cy="489204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15" name="Forme 15"/>
          <p:cNvSpPr/>
          <p:nvPr/>
        </p:nvSpPr>
        <p:spPr>
          <a:xfrm>
            <a:off x="4453128" y="1463040"/>
            <a:ext cx="3364992" cy="4754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fr-FR" sz="1400" b="1" i="0" dirty="0">
                <a:solidFill>
                  <a:srgbClr val="D64545"/>
                </a:solidFill>
                <a:latin typeface="Segoe UI"/>
                <a:cs typeface="Segoe UI"/>
              </a:rPr>
              <a:t>Nice : le contre-exemple</a:t>
            </a:r>
            <a:endParaRPr lang="fr-F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N° 1 du classement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, mais surtout parce qu'aucun autopartage n'y est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visible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 en open data.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Zéro Citiz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 : pas de réseau local, pas de stations pour vérifier le modèle ; une implantation de zéro.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Mobilize Share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 (Renault) a fermé son service niçois le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30/06/2026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 : un marché qui vient de perdre un opérateur (source : presse, hors des données du projet).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Territoire de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1 477 km²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, du littoral à la montagne.</a:t>
            </a:r>
            <a:endParaRPr lang="fr-FR" sz="1150" dirty="0"/>
          </a:p>
        </p:txBody>
      </p:sp>
      <p:sp>
        <p:nvSpPr>
          <p:cNvPr id="16" name="Forme 16"/>
          <p:cNvSpPr/>
          <p:nvPr/>
        </p:nvSpPr>
        <p:spPr>
          <a:xfrm>
            <a:off x="8083296" y="1371600"/>
            <a:ext cx="3657600" cy="48920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17" name="Forme 17"/>
          <p:cNvSpPr/>
          <p:nvPr/>
        </p:nvSpPr>
        <p:spPr>
          <a:xfrm>
            <a:off x="8083296" y="1371600"/>
            <a:ext cx="64008" cy="4892040"/>
          </a:xfrm>
          <a:prstGeom prst="rect">
            <a:avLst/>
          </a:prstGeom>
          <a:solidFill>
            <a:srgbClr val="7D8A99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18" name="Forme 18"/>
          <p:cNvSpPr/>
          <p:nvPr/>
        </p:nvSpPr>
        <p:spPr>
          <a:xfrm>
            <a:off x="8266176" y="1463040"/>
            <a:ext cx="3364992" cy="4754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fr-FR" sz="1400" b="1" i="0" dirty="0">
                <a:solidFill>
                  <a:srgbClr val="7D8A99"/>
                </a:solidFill>
                <a:latin typeface="Segoe UI"/>
                <a:cs typeface="Segoe UI"/>
              </a:rPr>
              <a:t>Strasbourg : écartée</a:t>
            </a:r>
            <a:endParaRPr lang="fr-F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Réseau Citiz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déjà très dense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 : 169 stations, 32,3 pour 100 000 hab.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59,4 %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 des habitants à 5 min d'une Citiz (vol d'oiseau) : la meilleure couverture des 4 villes.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28,2 stations pour 10 000 ménages sans voiture, contre 3,9 à Nantes.</a:t>
            </a:r>
            <a:endParaRPr lang="fr-FR" sz="115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Rang 52, mieux que Nantes (58), mais </a:t>
            </a:r>
            <a:r>
              <a:rPr lang="fr-FR" sz="1150" b="1" i="0" dirty="0">
                <a:solidFill>
                  <a:srgbClr val="1F2933"/>
                </a:solidFill>
                <a:latin typeface="Segoe UI"/>
                <a:cs typeface="Segoe UI"/>
              </a:rPr>
              <a:t>une station de plus y toucherait surtout des gens déjà desservis</a:t>
            </a:r>
            <a:r>
              <a:rPr lang="fr-FR" sz="1150" b="0" i="0" dirty="0">
                <a:solidFill>
                  <a:srgbClr val="1F2933"/>
                </a:solidFill>
                <a:latin typeface="Segoe UI"/>
                <a:cs typeface="Segoe UI"/>
              </a:rPr>
              <a:t>.</a:t>
            </a:r>
            <a:endParaRPr lang="fr-FR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D64545"/>
                </a:solidFill>
                <a:latin typeface="Segoe UI"/>
                <a:cs typeface="Segoe UI"/>
              </a:rPr>
              <a:t>PARTIE 4 · LES LIMITES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Les limites du choix, et comment y répondre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Ce qu'un jury peut contester ; notre réponse courte.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8</a:t>
            </a:r>
            <a:endParaRPr lang="fr-FR" sz="900" dirty="0"/>
          </a:p>
        </p:txBody>
      </p:sp>
      <p:graphicFrame>
        <p:nvGraphicFramePr>
          <p:cNvPr id="10" name="Tableau 10"/>
          <p:cNvGraphicFramePr>
            <a:graphicFrameLocks noGrp="1"/>
          </p:cNvGraphicFramePr>
          <p:nvPr/>
        </p:nvGraphicFramePr>
        <p:xfrm>
          <a:off x="457200" y="1371600"/>
          <a:ext cx="11274552" cy="4828032"/>
        </p:xfrm>
        <a:graphic>
          <a:graphicData uri="http://schemas.openxmlformats.org/drawingml/2006/table">
            <a:tbl>
              <a:tblPr firstRow="1" bandRow="1"/>
              <a:tblGrid>
                <a:gridCol w="4572000"/>
                <a:gridCol w="6702552"/>
              </a:tblGrid>
              <a:tr h="603504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Ce qui peut être contesté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Notre réponse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D64545"/>
                    </a:solidFill>
                  </a:tcPr>
                </a:tc>
              </a:tr>
              <a:tr h="603504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Getaround, Zity, Free2Move… sont invisibles (pas de données ouvertes)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Le critère s'appelle « autopartage visible » et nous le disons. Getaround est surtout entre particuliers, sans station fixe.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Le classement national ne compte pas Marguerite (pas de GBFS)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Avec les 61 stations Marguerite, Nantes passe du 58e au 86e rang sur 276 : toujours dans le premier tiers. Et la couverture reste faible : 19,0 %.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DF3F3"/>
                    </a:solidFill>
                  </a:tcPr>
                </a:tc>
              </a:tr>
              <a:tr h="603504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À Nantes, Citiz n'est que n° 2 (23 stations contre 61 Marguerite)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Nos recommandations comptent Marguerite comme couverture existante : aucune station n'est placée là où un autopartage est déjà à 5 min à pied.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Sources de dates différentes (Filosofi 2021, recensement 2023, SSMSI 2023-2025, GBFS 19/10/2026)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Les écarts entre villes (3,3 contre 37,3 stations pour 100 000 hab.) sont bien plus grands que l'effet des dates.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DF3F3"/>
                    </a:solidFill>
                  </a:tcPr>
                </a:tc>
              </a:tr>
              <a:tr h="603504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Le classement est à vol d'oiseau (V1)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C'est une borne haute ; la marche réelle (V2) n'est calculée que pour Nantes et Grenoble, et elle creuse l'écart.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Nantes n'est que 58e du classement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Le score ne voit ni la présence de Citiz, ni la possibilité de vérifier : c'est un outil de tri, pas la décision.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DF3F3"/>
                    </a:solidFill>
                  </a:tcPr>
                </a:tc>
              </a:tr>
              <a:tr h="603504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Mobilize Share n'est pas dans nos données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Information de presse (fermeture le 30/06/2026), citée comme contexte, pas comme chiffre du modèle.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B61C9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7B61C9"/>
                </a:solidFill>
                <a:latin typeface="Segoe UI"/>
                <a:cs typeface="Segoe UI"/>
              </a:rPr>
              <a:t>PARTIE 5 · POUR L'ORAL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La phrase de 20 secondes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À dire tel quel.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9</a:t>
            </a:r>
            <a:endParaRPr lang="fr-FR" sz="900" dirty="0"/>
          </a:p>
        </p:txBody>
      </p:sp>
      <p:sp>
        <p:nvSpPr>
          <p:cNvPr id="10" name="Forme 10"/>
          <p:cNvSpPr/>
          <p:nvPr/>
        </p:nvSpPr>
        <p:spPr>
          <a:xfrm>
            <a:off x="457200" y="1463040"/>
            <a:ext cx="11274552" cy="2377440"/>
          </a:xfrm>
          <a:prstGeom prst="roundRect">
            <a:avLst>
              <a:gd name="adj" fmla="val 5000"/>
            </a:avLst>
          </a:prstGeom>
          <a:solidFill>
            <a:srgbClr val="EEEAF8"/>
          </a:solidFill>
          <a:ln>
            <a:noFill/>
          </a:ln>
        </p:spPr>
        <p:txBody>
          <a:bodyPr wrap="square" lIns="457200" tIns="182880" rIns="457200" bIns="182880" anchor="ctr" rtlCol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0" i="0" dirty="0">
                <a:solidFill>
                  <a:srgbClr val="1F2933"/>
                </a:solidFill>
                <a:latin typeface="Segoe UI"/>
                <a:cs typeface="Segoe UI"/>
              </a:rPr>
              <a:t>« Nous avons choisi Nantes parce que Citiz y est déjà présent, mais onze fois moins dense qu'à Grenoble : seuls 7,5 % des Nantais ont une Citiz à cinq minutes à pied. C'est la plus grande des métropoles comparées, et celle où le plus d'habitants n'ont aucune option : c'est là qu'une station de plus rapporte le plus. »</a:t>
            </a:r>
            <a:endParaRPr lang="fr-FR" sz="2000" dirty="0"/>
          </a:p>
        </p:txBody>
      </p:sp>
      <p:sp>
        <p:nvSpPr>
          <p:cNvPr id="11" name="Forme 11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dirty="0">
                <a:solidFill>
                  <a:srgbClr val="7B61C9"/>
                </a:solidFill>
                <a:latin typeface="Segoe UI"/>
                <a:cs typeface="Segoe UI"/>
              </a:rPr>
              <a:t>Les 3 mots à retenir</a:t>
            </a:r>
            <a:endParaRPr lang="fr-FR" sz="1400" dirty="0"/>
          </a:p>
        </p:txBody>
      </p:sp>
      <p:sp>
        <p:nvSpPr>
          <p:cNvPr id="12" name="Forme 12"/>
          <p:cNvSpPr/>
          <p:nvPr/>
        </p:nvSpPr>
        <p:spPr>
          <a:xfrm>
            <a:off x="457200" y="457200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7B61C9"/>
          </a:solidFill>
          <a:ln>
            <a:noFill/>
          </a:ln>
        </p:spPr>
        <p:txBody>
          <a:bodyPr wrap="square" lIns="228600" tIns="91440" rIns="182880" bIns="9144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dirty="0">
                <a:solidFill>
                  <a:srgbClr val="FFFFFF"/>
                </a:solidFill>
                <a:latin typeface="Segoe UI"/>
                <a:cs typeface="Segoe UI"/>
              </a:rPr>
              <a:t>Présent</a:t>
            </a:r>
            <a:endParaRPr lang="fr-FR" sz="20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FFFFFF"/>
                </a:solidFill>
                <a:latin typeface="Segoe UI"/>
                <a:cs typeface="Segoe UI"/>
              </a:rPr>
              <a:t>23 stations Citiz : on densifie, on ne part pas de zéro</a:t>
            </a:r>
            <a:endParaRPr lang="fr-FR" sz="1200" dirty="0"/>
          </a:p>
        </p:txBody>
      </p:sp>
      <p:sp>
        <p:nvSpPr>
          <p:cNvPr id="13" name="Forme 13"/>
          <p:cNvSpPr/>
          <p:nvPr/>
        </p:nvSpPr>
        <p:spPr>
          <a:xfrm>
            <a:off x="4270248" y="457200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7B61C9"/>
          </a:solidFill>
          <a:ln>
            <a:noFill/>
          </a:ln>
        </p:spPr>
        <p:txBody>
          <a:bodyPr wrap="square" lIns="228600" tIns="91440" rIns="182880" bIns="9144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dirty="0">
                <a:solidFill>
                  <a:srgbClr val="FFFFFF"/>
                </a:solidFill>
                <a:latin typeface="Segoe UI"/>
                <a:cs typeface="Segoe UI"/>
              </a:rPr>
              <a:t>Clairsemé</a:t>
            </a:r>
            <a:endParaRPr lang="fr-FR" sz="20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FFFFFF"/>
                </a:solidFill>
                <a:latin typeface="Segoe UI"/>
                <a:cs typeface="Segoe UI"/>
              </a:rPr>
              <a:t>3,3 stations pour 100 000 hab. ; 7,5 % à 5 min à pied</a:t>
            </a:r>
            <a:endParaRPr lang="fr-FR" sz="1200" dirty="0"/>
          </a:p>
        </p:txBody>
      </p:sp>
      <p:sp>
        <p:nvSpPr>
          <p:cNvPr id="14" name="Forme 14"/>
          <p:cNvSpPr/>
          <p:nvPr/>
        </p:nvSpPr>
        <p:spPr>
          <a:xfrm>
            <a:off x="8083296" y="457200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7B61C9"/>
          </a:solidFill>
          <a:ln>
            <a:noFill/>
          </a:ln>
        </p:spPr>
        <p:txBody>
          <a:bodyPr wrap="square" lIns="228600" tIns="91440" rIns="182880" bIns="9144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dirty="0">
                <a:solidFill>
                  <a:srgbClr val="FFFFFF"/>
                </a:solidFill>
                <a:latin typeface="Segoe UI"/>
                <a:cs typeface="Segoe UI"/>
              </a:rPr>
              <a:t>Besoin</a:t>
            </a:r>
            <a:endParaRPr lang="fr-FR" sz="20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FFFFFF"/>
                </a:solidFill>
                <a:latin typeface="Segoe UI"/>
                <a:cs typeface="Segoe UI"/>
              </a:rPr>
              <a:t>689 456 habitants ; 6,7 % sans aucune option</a:t>
            </a:r>
            <a:endParaRPr lang="fr-FR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B61C9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7B61C9"/>
                </a:solidFill>
                <a:latin typeface="Segoe UI"/>
                <a:cs typeface="Segoe UI"/>
              </a:rPr>
              <a:t>PARTIE 5 · POUR L'ORAL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Les 3 questions probables du jury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Réponse courte d'abord, le chiffre ensuite.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10</a:t>
            </a:r>
            <a:endParaRPr lang="fr-FR" sz="900" dirty="0"/>
          </a:p>
        </p:txBody>
      </p:sp>
      <p:sp>
        <p:nvSpPr>
          <p:cNvPr id="10" name="Forme 10"/>
          <p:cNvSpPr/>
          <p:nvPr/>
        </p:nvSpPr>
        <p:spPr>
          <a:xfrm>
            <a:off x="457200" y="1417320"/>
            <a:ext cx="685800" cy="1417320"/>
          </a:xfrm>
          <a:prstGeom prst="roundRect">
            <a:avLst>
              <a:gd name="adj" fmla="val 12000"/>
            </a:avLst>
          </a:prstGeom>
          <a:solidFill>
            <a:srgbClr val="7B61C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dirty="0">
                <a:solidFill>
                  <a:srgbClr val="FFFFFF"/>
                </a:solidFill>
                <a:latin typeface="Segoe UI"/>
                <a:cs typeface="Segoe UI"/>
              </a:rPr>
              <a:t>Q1</a:t>
            </a:r>
            <a:endParaRPr lang="fr-FR" sz="1800" dirty="0"/>
          </a:p>
        </p:txBody>
      </p:sp>
      <p:sp>
        <p:nvSpPr>
          <p:cNvPr id="11" name="Forme 11"/>
          <p:cNvSpPr/>
          <p:nvPr/>
        </p:nvSpPr>
        <p:spPr>
          <a:xfrm>
            <a:off x="1280160" y="1417320"/>
            <a:ext cx="10451592" cy="1417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</p:spPr>
        <p:txBody>
          <a:bodyPr wrap="square" lIns="228600" tIns="54864" rIns="228600" bIns="54864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dirty="0">
                <a:solidFill>
                  <a:srgbClr val="14213D"/>
                </a:solidFill>
                <a:latin typeface="Segoe UI"/>
                <a:cs typeface="Segoe UI"/>
              </a:rPr>
              <a:t>Pourquoi pas Nice, qui est n° 1 de votre classement ?</a:t>
            </a:r>
            <a:endParaRPr lang="fr-F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Son rang vient surtout de l'absence d'autopartage visible en open data. Il n'y a aucune Citiz pour vérifier le modèle, Mobilize Share vient d'y fermer (30/06/2026), et le territoire fait 1 477 km². Nice montre qu'un bon score ne suffit pas.</a:t>
            </a:r>
            <a:endParaRPr lang="fr-FR" sz="1200" dirty="0"/>
          </a:p>
        </p:txBody>
      </p:sp>
      <p:sp>
        <p:nvSpPr>
          <p:cNvPr id="12" name="Forme 12"/>
          <p:cNvSpPr/>
          <p:nvPr/>
        </p:nvSpPr>
        <p:spPr>
          <a:xfrm>
            <a:off x="457200" y="3017520"/>
            <a:ext cx="685800" cy="1417320"/>
          </a:xfrm>
          <a:prstGeom prst="roundRect">
            <a:avLst>
              <a:gd name="adj" fmla="val 12000"/>
            </a:avLst>
          </a:prstGeom>
          <a:solidFill>
            <a:srgbClr val="7B61C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dirty="0">
                <a:solidFill>
                  <a:srgbClr val="FFFFFF"/>
                </a:solidFill>
                <a:latin typeface="Segoe UI"/>
                <a:cs typeface="Segoe UI"/>
              </a:rPr>
              <a:t>Q2</a:t>
            </a:r>
            <a:endParaRPr lang="fr-FR" sz="1800" dirty="0"/>
          </a:p>
        </p:txBody>
      </p:sp>
      <p:sp>
        <p:nvSpPr>
          <p:cNvPr id="13" name="Forme 13"/>
          <p:cNvSpPr/>
          <p:nvPr/>
        </p:nvSpPr>
        <p:spPr>
          <a:xfrm>
            <a:off x="1280160" y="3017520"/>
            <a:ext cx="10451592" cy="1417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</p:spPr>
        <p:txBody>
          <a:bodyPr wrap="square" lIns="228600" tIns="54864" rIns="228600" bIns="54864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dirty="0">
                <a:solidFill>
                  <a:srgbClr val="14213D"/>
                </a:solidFill>
                <a:latin typeface="Segoe UI"/>
                <a:cs typeface="Segoe UI"/>
              </a:rPr>
              <a:t>Marguerite a déjà 61 stations à Nantes : Citiz n'arrive-t-il pas trop tard ?</a:t>
            </a:r>
            <a:endParaRPr lang="fr-F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Nous comptons Marguerite comme couverture existante : aucune station n'est proposée là où un autopartage est déjà à 5 minutes à pied. Même avec Marguerite, seuls 19,0 % des Nantais en ont un à 5 minutes, et nos 12 stations les font passer à 24,1 %.</a:t>
            </a:r>
            <a:endParaRPr lang="fr-FR" sz="1200" dirty="0"/>
          </a:p>
        </p:txBody>
      </p:sp>
      <p:sp>
        <p:nvSpPr>
          <p:cNvPr id="14" name="Forme 14"/>
          <p:cNvSpPr/>
          <p:nvPr/>
        </p:nvSpPr>
        <p:spPr>
          <a:xfrm>
            <a:off x="457200" y="4617720"/>
            <a:ext cx="685800" cy="1417320"/>
          </a:xfrm>
          <a:prstGeom prst="roundRect">
            <a:avLst>
              <a:gd name="adj" fmla="val 12000"/>
            </a:avLst>
          </a:prstGeom>
          <a:solidFill>
            <a:srgbClr val="7B61C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dirty="0">
                <a:solidFill>
                  <a:srgbClr val="FFFFFF"/>
                </a:solidFill>
                <a:latin typeface="Segoe UI"/>
                <a:cs typeface="Segoe UI"/>
              </a:rPr>
              <a:t>Q3</a:t>
            </a:r>
            <a:endParaRPr lang="fr-FR" sz="1800" dirty="0"/>
          </a:p>
        </p:txBody>
      </p:sp>
      <p:sp>
        <p:nvSpPr>
          <p:cNvPr id="15" name="Forme 15"/>
          <p:cNvSpPr/>
          <p:nvPr/>
        </p:nvSpPr>
        <p:spPr>
          <a:xfrm>
            <a:off x="1280160" y="4617720"/>
            <a:ext cx="10451592" cy="1417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</p:spPr>
        <p:txBody>
          <a:bodyPr wrap="square" lIns="228600" tIns="54864" rIns="228600" bIns="54864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dirty="0">
                <a:solidFill>
                  <a:srgbClr val="14213D"/>
                </a:solidFill>
                <a:latin typeface="Segoe UI"/>
                <a:cs typeface="Segoe UI"/>
              </a:rPr>
              <a:t>Pourquoi pas Grenoble ou Strasbourg, où Citiz marche déjà bien ?</a:t>
            </a:r>
            <a:endParaRPr lang="fr-F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1200" b="0" i="0" dirty="0">
                <a:solidFill>
                  <a:srgbClr val="1F2933"/>
                </a:solidFill>
                <a:latin typeface="Segoe UI"/>
                <a:cs typeface="Segoe UI"/>
              </a:rPr>
              <a:t>Justement : 53 % et 59 % des habitants y sont déjà à 5 minutes d'une Citiz (vol d'oiseau). Une station de plus y toucherait surtout des gens déjà desservis. Grenoble nous sert à valider le modèle : il y retrouve 89,3 % des stations.</a:t>
            </a:r>
            <a:endParaRPr lang="fr-FR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B61C9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4" name="Forme 4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dirty="0">
                <a:solidFill>
                  <a:srgbClr val="7B61C9"/>
                </a:solidFill>
                <a:latin typeface="Segoe UI"/>
                <a:cs typeface="Segoe UI"/>
              </a:rPr>
              <a:t>PARTIE 5 · POUR L'ORAL</a:t>
            </a:r>
            <a:endParaRPr lang="fr-FR" sz="1050" dirty="0"/>
          </a:p>
        </p:txBody>
      </p:sp>
      <p:sp>
        <p:nvSpPr>
          <p:cNvPr id="5" name="Forme 5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b="1" i="0" dirty="0">
                <a:solidFill>
                  <a:srgbClr val="14213D"/>
                </a:solidFill>
                <a:latin typeface="Segoe UI"/>
                <a:cs typeface="Segoe UI"/>
              </a:rPr>
              <a:t>D'où viennent les chiffres</a:t>
            </a:r>
            <a:endParaRPr lang="fr-FR" sz="2500" dirty="0"/>
          </a:p>
        </p:txBody>
      </p:sp>
      <p:sp>
        <p:nvSpPr>
          <p:cNvPr id="6" name="Forme 6"/>
          <p:cNvSpPr/>
          <p:nvPr/>
        </p:nvSpPr>
        <p:spPr>
          <a:xfrm>
            <a:off x="457200" y="98755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50" b="0" i="0" dirty="0">
                <a:solidFill>
                  <a:srgbClr val="5B6573"/>
                </a:solidFill>
                <a:latin typeface="Segoe UI"/>
                <a:cs typeface="Segoe UI"/>
              </a:rPr>
              <a:t>Tout est recalculable ; aucun chiffre saisi à la main, sauf l'information de presse sur Mobilize Share.</a:t>
            </a:r>
            <a:endParaRPr lang="fr-FR" sz="1250" dirty="0"/>
          </a:p>
        </p:txBody>
      </p:sp>
      <p:sp>
        <p:nvSpPr>
          <p:cNvPr id="7" name="Forme 7"/>
          <p:cNvSpPr/>
          <p:nvPr/>
        </p:nvSpPr>
        <p:spPr>
          <a:xfrm>
            <a:off x="457200" y="6446520"/>
            <a:ext cx="11274552" cy="10973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txBody>
          <a:bodyPr wrap="square" lIns="109728" tIns="54864" rIns="109728" bIns="54864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8" name="Forme 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Hackathon Mobility × Citiz · Pourquoi Nantes</a:t>
            </a:r>
            <a:endParaRPr lang="fr-FR" sz="900" dirty="0"/>
          </a:p>
        </p:txBody>
      </p:sp>
      <p:sp>
        <p:nvSpPr>
          <p:cNvPr id="9" name="Forme 9"/>
          <p:cNvSpPr/>
          <p:nvPr/>
        </p:nvSpPr>
        <p:spPr>
          <a:xfrm>
            <a:off x="10360152" y="6492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dirty="0">
                <a:solidFill>
                  <a:srgbClr val="5B6573"/>
                </a:solidFill>
                <a:latin typeface="Segoe UI"/>
                <a:cs typeface="Segoe UI"/>
              </a:rPr>
              <a:t>11</a:t>
            </a:r>
            <a:endParaRPr lang="fr-FR" sz="900" dirty="0"/>
          </a:p>
        </p:txBody>
      </p:sp>
      <p:graphicFrame>
        <p:nvGraphicFramePr>
          <p:cNvPr id="10" name="Tableau 10"/>
          <p:cNvGraphicFramePr>
            <a:graphicFrameLocks noGrp="1"/>
          </p:cNvGraphicFramePr>
          <p:nvPr/>
        </p:nvGraphicFramePr>
        <p:xfrm>
          <a:off x="457200" y="1417320"/>
          <a:ext cx="11274552" cy="4535424"/>
        </p:xfrm>
        <a:graphic>
          <a:graphicData uri="http://schemas.openxmlformats.org/drawingml/2006/table">
            <a:tbl>
              <a:tblPr firstRow="1" bandRow="1"/>
              <a:tblGrid>
                <a:gridCol w="4023360"/>
                <a:gridCol w="7251192"/>
              </a:tblGrid>
              <a:tr h="56692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Chiffre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7B61C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Fichier ou source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7B61C9"/>
                    </a:solidFill>
                  </a:tcPr>
                </a:tc>
              </a:tr>
              <a:tr h="56692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Classement national des EPCI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data/processed/national/classement_epci.parquet · produit par src/national/ranking.py (python -m src.national.build_all) · 276 EPCI ≥ 50 000 hab.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Comparatif Grenoble / Nantes / Nice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docs/choix_ville.md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Chiffres officiels Nantes et Grenoble (marche réelle)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docs/chiffres_cles.md (python -m scripts.chiffres_cles)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Vols et dégradations par EPCI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scripts/compare_cities.py → data/processed/comparatif_villes_securite.csv (SSMSI 2023-2025)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Stations Marguerite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open data Nantes Métropole (stations d'autopartage Naolib), 61 stations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Stations / 10 000 ménages sans voiture, rang avec Marguerite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calculés pour cette synthèse à partir du classement (ménages × part sans voiture)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Fermeture de Mobilize Share à Nice (30/06/2026)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tIns="54864" rIns="109728" bIns="54864" anchor="t" rtlCol="0">
                      <a:noAutofit/>
                    </a:bodyPr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0" i="0" dirty="0">
                          <a:solidFill>
                            <a:srgbClr val="1F2933"/>
                          </a:solidFill>
                          <a:latin typeface="Segoe UI"/>
                          <a:cs typeface="Segoe UI"/>
                        </a:rPr>
                        <a:t>presse : electrive.com, automobile-propre.com, nicecotedazur.org</a:t>
                      </a:r>
                      <a:endParaRPr lang="fr-FR" sz="1100" dirty="0"/>
                    </a:p>
                  </a:txBody>
                  <a:tcPr marL="64008" marR="64008" marT="36576" marB="36576" anchor="ctr">
                    <a:lnL w="6350">
                      <a:solidFill>
                        <a:srgbClr val="D5DAE1"/>
                      </a:solidFill>
                    </a:lnL>
                    <a:lnR w="6350">
                      <a:solidFill>
                        <a:srgbClr val="D5DAE1"/>
                      </a:solidFill>
                    </a:lnR>
                    <a:lnT w="6350">
                      <a:solidFill>
                        <a:srgbClr val="D5DAE1"/>
                      </a:solidFill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onnees">
  <a:themeElements>
    <a:clrScheme name="Donnees">
      <a:dk1>
        <a:srgbClr val="1F2933"/>
      </a:dk1>
      <a:lt1>
        <a:srgbClr val="FFFFFF"/>
      </a:lt1>
      <a:dk2>
        <a:srgbClr val="14213D"/>
      </a:dk2>
      <a:lt2>
        <a:srgbClr val="F4F6F9"/>
      </a:lt2>
      <a:accent1>
        <a:srgbClr val="0E9F8E"/>
      </a:accent1>
      <a:accent2>
        <a:srgbClr val="F2A541"/>
      </a:accent2>
      <a:accent3>
        <a:srgbClr val="3D7DD8"/>
      </a:accent3>
      <a:accent4>
        <a:srgbClr val="D64545"/>
      </a:accent4>
      <a:accent5>
        <a:srgbClr val="7B61C9"/>
      </a:accent5>
      <a:accent6>
        <a:srgbClr val="5B6573"/>
      </a:accent6>
      <a:hlink>
        <a:srgbClr val="3D7DD8"/>
      </a:hlink>
      <a:folHlink>
        <a:srgbClr val="7B61C9"/>
      </a:folHlink>
    </a:clrScheme>
    <a:fontScheme name="Donnee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Donne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Pourquoi Nantes</dc:title>
  <dc:creator>Hackathon Mobility × Citiz</dc:creator>
  <cp:lastModifiedBy>Hackathon Mobility × Citiz</cp:lastModifiedBy>
</cp:coreProperties>
</file>