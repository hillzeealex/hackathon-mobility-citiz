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Lst>
  <p:sldSz cx="12191695"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ableStyles" Target="tableStyles.xml"/></Relationship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defRPr sz="3200"/>
      </a:lvl1pPr>
    </p:titleStyle>
    <p:bodyStyle>
      <a:lvl1pPr>
        <a:defRPr sz="1800"/>
      </a:lvl1pPr>
    </p:bodyStyle>
    <p:otherStyle>
      <a:lvl1pPr>
        <a:defRPr sz="1800"/>
      </a:lvl1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4213D"/>
        </a:solidFill>
        <a:effectLst/>
      </p:bgPr>
    </p:bg>
    <p:spTree>
      <p:nvGrpSpPr>
        <p:cNvPr id="1" name=""/>
        <p:cNvGrpSpPr/>
        <p:nvPr/>
      </p:nvGrpSpPr>
      <p:grpSpPr>
        <a:xfrm>
          <a:off x="0" y="0"/>
          <a:ext cx="0" cy="0"/>
          <a:chOff x="0" y="0"/>
          <a:chExt cx="0" cy="0"/>
        </a:xfrm>
      </p:grpSpPr>
      <p:sp>
        <p:nvSpPr>
          <p:cNvPr id="3" name="Forme 3"/>
          <p:cNvSpPr/>
          <p:nvPr/>
        </p:nvSpPr>
        <p:spPr>
          <a:xfrm>
            <a:off x="0" y="0"/>
            <a:ext cx="12191695" cy="109728"/>
          </a:xfrm>
          <a:prstGeom prst="rect">
            <a:avLst/>
          </a:prstGeom>
          <a:solidFill>
            <a:srgbClr val="0E9F8E"/>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4" name="Forme 4"/>
          <p:cNvSpPr/>
          <p:nvPr/>
        </p:nvSpPr>
        <p:spPr>
          <a:xfrm>
            <a:off x="731520" y="960120"/>
            <a:ext cx="10058400" cy="36576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400" b="1" i="0" dirty="0">
                <a:solidFill>
                  <a:srgbClr val="5FD3C4"/>
                </a:solidFill>
                <a:latin typeface="Segoe UI"/>
                <a:cs typeface="Segoe UI"/>
              </a:rPr>
              <a:t>HACKATHON MOBILITY · EPITECH × CITIZ × MICROSOFT</a:t>
            </a:r>
            <a:endParaRPr lang="fr-FR" sz="1400" dirty="0"/>
          </a:p>
        </p:txBody>
      </p:sp>
      <p:sp>
        <p:nvSpPr>
          <p:cNvPr id="5" name="Forme 5"/>
          <p:cNvSpPr/>
          <p:nvPr/>
        </p:nvSpPr>
        <p:spPr>
          <a:xfrm>
            <a:off x="731520" y="1371600"/>
            <a:ext cx="10515600" cy="109728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5000" b="1" i="0" dirty="0">
                <a:solidFill>
                  <a:srgbClr val="FFFFFF"/>
                </a:solidFill>
                <a:latin typeface="Segoe UI"/>
                <a:cs typeface="Segoe UI"/>
              </a:rPr>
              <a:t>Nos données, de A à Z</a:t>
            </a:r>
            <a:endParaRPr lang="fr-FR" sz="5000" dirty="0"/>
          </a:p>
        </p:txBody>
      </p:sp>
      <p:sp>
        <p:nvSpPr>
          <p:cNvPr id="6" name="Forme 6"/>
          <p:cNvSpPr/>
          <p:nvPr/>
        </p:nvSpPr>
        <p:spPr>
          <a:xfrm>
            <a:off x="731520" y="2514600"/>
            <a:ext cx="10515600" cy="82296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900" b="0" i="0" dirty="0">
                <a:solidFill>
                  <a:srgbClr val="C9D1DC"/>
                </a:solidFill>
                <a:latin typeface="Segoe UI"/>
                <a:cs typeface="Segoe UI"/>
              </a:rPr>
              <a:t>Sources, extraction, nettoyage, automatisation : tout ce qu'il faut pour présenter et défendre notre partie données devant le jury.</a:t>
            </a:r>
            <a:endParaRPr lang="fr-FR" sz="1900" dirty="0"/>
          </a:p>
        </p:txBody>
      </p:sp>
      <p:sp>
        <p:nvSpPr>
          <p:cNvPr id="7" name="Forme 7"/>
          <p:cNvSpPr/>
          <p:nvPr/>
        </p:nvSpPr>
        <p:spPr>
          <a:xfrm>
            <a:off x="731520" y="3840480"/>
            <a:ext cx="2514600" cy="1463040"/>
          </a:xfrm>
          <a:prstGeom prst="roundRect">
            <a:avLst>
              <a:gd name="adj" fmla="val 8000"/>
            </a:avLst>
          </a:prstGeom>
          <a:solidFill>
            <a:srgbClr val="1E3556"/>
          </a:solidFill>
          <a:ln>
            <a:noFill/>
          </a:ln>
        </p:spPr>
        <p:txBody>
          <a:bodyPr wrap="square" lIns="182880" tIns="137160" rIns="182880" bIns="91440" anchor="t" rtlCol="0">
            <a:noAutofit/>
          </a:bodyPr>
          <a:lstStyle/>
          <a:p>
            <a:pPr algn="l">
              <a:lnSpc>
                <a:spcPct val="100000"/>
              </a:lnSpc>
              <a:spcBef>
                <a:spcPts val="0"/>
              </a:spcBef>
              <a:spcAft>
                <a:spcPts val="0"/>
              </a:spcAft>
              <a:buNone/>
            </a:pPr>
            <a:r>
              <a:rPr lang="fr-FR" sz="3200" b="1" i="0" dirty="0">
                <a:solidFill>
                  <a:srgbClr val="5FD3C4"/>
                </a:solidFill>
                <a:latin typeface="Segoe UI"/>
                <a:cs typeface="Segoe UI"/>
              </a:rPr>
              <a:t>14</a:t>
            </a:r>
            <a:endParaRPr lang="fr-FR" sz="3200" dirty="0"/>
          </a:p>
          <a:p>
            <a:pPr algn="l">
              <a:lnSpc>
                <a:spcPct val="100000"/>
              </a:lnSpc>
              <a:spcBef>
                <a:spcPts val="400"/>
              </a:spcBef>
              <a:spcAft>
                <a:spcPts val="0"/>
              </a:spcAft>
              <a:buNone/>
            </a:pPr>
            <a:r>
              <a:rPr lang="fr-FR" sz="1200" b="0" i="0" dirty="0">
                <a:solidFill>
                  <a:srgbClr val="FFFFFF"/>
                </a:solidFill>
                <a:latin typeface="Segoe UI"/>
                <a:cs typeface="Segoe UI"/>
              </a:rPr>
              <a:t>sources ouvertes, toutes téléchargées par un script</a:t>
            </a:r>
            <a:endParaRPr lang="fr-FR" sz="1200" dirty="0"/>
          </a:p>
        </p:txBody>
      </p:sp>
      <p:sp>
        <p:nvSpPr>
          <p:cNvPr id="8" name="Forme 8"/>
          <p:cNvSpPr/>
          <p:nvPr/>
        </p:nvSpPr>
        <p:spPr>
          <a:xfrm>
            <a:off x="3474720" y="3840480"/>
            <a:ext cx="2514600" cy="1463040"/>
          </a:xfrm>
          <a:prstGeom prst="roundRect">
            <a:avLst>
              <a:gd name="adj" fmla="val 8000"/>
            </a:avLst>
          </a:prstGeom>
          <a:solidFill>
            <a:srgbClr val="1E3556"/>
          </a:solidFill>
          <a:ln>
            <a:noFill/>
          </a:ln>
        </p:spPr>
        <p:txBody>
          <a:bodyPr wrap="square" lIns="182880" tIns="137160" rIns="182880" bIns="91440" anchor="t" rtlCol="0">
            <a:noAutofit/>
          </a:bodyPr>
          <a:lstStyle/>
          <a:p>
            <a:pPr algn="l">
              <a:lnSpc>
                <a:spcPct val="100000"/>
              </a:lnSpc>
              <a:spcBef>
                <a:spcPts val="0"/>
              </a:spcBef>
              <a:spcAft>
                <a:spcPts val="0"/>
              </a:spcAft>
              <a:buNone/>
            </a:pPr>
            <a:r>
              <a:rPr lang="fr-FR" sz="3200" b="1" i="0" dirty="0">
                <a:solidFill>
                  <a:srgbClr val="5FD3C4"/>
                </a:solidFill>
                <a:latin typeface="Segoe UI"/>
                <a:cs typeface="Segoe UI"/>
              </a:rPr>
              <a:t>4,8 Go</a:t>
            </a:r>
            <a:endParaRPr lang="fr-FR" sz="3200" dirty="0"/>
          </a:p>
          <a:p>
            <a:pPr algn="l">
              <a:lnSpc>
                <a:spcPct val="100000"/>
              </a:lnSpc>
              <a:spcBef>
                <a:spcPts val="400"/>
              </a:spcBef>
              <a:spcAft>
                <a:spcPts val="0"/>
              </a:spcAft>
              <a:buNone/>
            </a:pPr>
            <a:r>
              <a:rPr lang="fr-FR" sz="1200" b="0" i="0" dirty="0">
                <a:solidFill>
                  <a:srgbClr val="FFFFFF"/>
                </a:solidFill>
                <a:latin typeface="Segoe UI"/>
                <a:cs typeface="Segoe UI"/>
              </a:rPr>
              <a:t>de données brutes, tracées dans manifest.csv</a:t>
            </a:r>
            <a:endParaRPr lang="fr-FR" sz="1200" dirty="0"/>
          </a:p>
        </p:txBody>
      </p:sp>
      <p:sp>
        <p:nvSpPr>
          <p:cNvPr id="9" name="Forme 9"/>
          <p:cNvSpPr/>
          <p:nvPr/>
        </p:nvSpPr>
        <p:spPr>
          <a:xfrm>
            <a:off x="6217920" y="3840480"/>
            <a:ext cx="2514600" cy="1463040"/>
          </a:xfrm>
          <a:prstGeom prst="roundRect">
            <a:avLst>
              <a:gd name="adj" fmla="val 8000"/>
            </a:avLst>
          </a:prstGeom>
          <a:solidFill>
            <a:srgbClr val="1E3556"/>
          </a:solidFill>
          <a:ln>
            <a:noFill/>
          </a:ln>
        </p:spPr>
        <p:txBody>
          <a:bodyPr wrap="square" lIns="182880" tIns="137160" rIns="182880" bIns="91440" anchor="t" rtlCol="0">
            <a:noAutofit/>
          </a:bodyPr>
          <a:lstStyle/>
          <a:p>
            <a:pPr algn="l">
              <a:lnSpc>
                <a:spcPct val="100000"/>
              </a:lnSpc>
              <a:spcBef>
                <a:spcPts val="0"/>
              </a:spcBef>
              <a:spcAft>
                <a:spcPts val="0"/>
              </a:spcAft>
              <a:buNone/>
            </a:pPr>
            <a:r>
              <a:rPr lang="fr-FR" sz="3200" b="1" i="0" dirty="0">
                <a:solidFill>
                  <a:srgbClr val="5FD3C4"/>
                </a:solidFill>
                <a:latin typeface="Segoe UI"/>
                <a:cs typeface="Segoe UI"/>
              </a:rPr>
              <a:t>2,3 M</a:t>
            </a:r>
            <a:endParaRPr lang="fr-FR" sz="3200" dirty="0"/>
          </a:p>
          <a:p>
            <a:pPr algn="l">
              <a:lnSpc>
                <a:spcPct val="100000"/>
              </a:lnSpc>
              <a:spcBef>
                <a:spcPts val="400"/>
              </a:spcBef>
              <a:spcAft>
                <a:spcPts val="0"/>
              </a:spcAft>
              <a:buNone/>
            </a:pPr>
            <a:r>
              <a:rPr lang="fr-FR" sz="1200" b="0" i="0" dirty="0">
                <a:solidFill>
                  <a:srgbClr val="FFFFFF"/>
                </a:solidFill>
                <a:latin typeface="Segoe UI"/>
                <a:cs typeface="Segoe UI"/>
              </a:rPr>
              <a:t>carreaux de 200 m calculés pour la France</a:t>
            </a:r>
            <a:endParaRPr lang="fr-FR" sz="1200" dirty="0"/>
          </a:p>
        </p:txBody>
      </p:sp>
      <p:sp>
        <p:nvSpPr>
          <p:cNvPr id="10" name="Forme 10"/>
          <p:cNvSpPr/>
          <p:nvPr/>
        </p:nvSpPr>
        <p:spPr>
          <a:xfrm>
            <a:off x="8961120" y="3840480"/>
            <a:ext cx="2514600" cy="1463040"/>
          </a:xfrm>
          <a:prstGeom prst="roundRect">
            <a:avLst>
              <a:gd name="adj" fmla="val 8000"/>
            </a:avLst>
          </a:prstGeom>
          <a:solidFill>
            <a:srgbClr val="1E3556"/>
          </a:solidFill>
          <a:ln>
            <a:noFill/>
          </a:ln>
        </p:spPr>
        <p:txBody>
          <a:bodyPr wrap="square" lIns="182880" tIns="137160" rIns="182880" bIns="91440" anchor="t" rtlCol="0">
            <a:noAutofit/>
          </a:bodyPr>
          <a:lstStyle/>
          <a:p>
            <a:pPr algn="l">
              <a:lnSpc>
                <a:spcPct val="100000"/>
              </a:lnSpc>
              <a:spcBef>
                <a:spcPts val="0"/>
              </a:spcBef>
              <a:spcAft>
                <a:spcPts val="0"/>
              </a:spcAft>
              <a:buNone/>
            </a:pPr>
            <a:r>
              <a:rPr lang="fr-FR" sz="3200" b="1" i="0" dirty="0">
                <a:solidFill>
                  <a:srgbClr val="5FD3C4"/>
                </a:solidFill>
                <a:latin typeface="Segoe UI"/>
                <a:cs typeface="Segoe UI"/>
              </a:rPr>
              <a:t>82</a:t>
            </a:r>
            <a:endParaRPr lang="fr-FR" sz="3200" dirty="0"/>
          </a:p>
          <a:p>
            <a:pPr algn="l">
              <a:lnSpc>
                <a:spcPct val="100000"/>
              </a:lnSpc>
              <a:spcBef>
                <a:spcPts val="400"/>
              </a:spcBef>
              <a:spcAft>
                <a:spcPts val="0"/>
              </a:spcAft>
              <a:buNone/>
            </a:pPr>
            <a:r>
              <a:rPr lang="fr-FR" sz="1200" b="0" i="0" dirty="0">
                <a:solidFill>
                  <a:srgbClr val="FFFFFF"/>
                </a:solidFill>
                <a:latin typeface="Segoe UI"/>
                <a:cs typeface="Segoe UI"/>
              </a:rPr>
              <a:t>tests automatiques, tous verts</a:t>
            </a:r>
            <a:endParaRPr lang="fr-FR" sz="1200" dirty="0"/>
          </a:p>
        </p:txBody>
      </p:sp>
      <p:sp>
        <p:nvSpPr>
          <p:cNvPr id="11" name="Forme 11"/>
          <p:cNvSpPr/>
          <p:nvPr/>
        </p:nvSpPr>
        <p:spPr>
          <a:xfrm>
            <a:off x="731520" y="5897880"/>
            <a:ext cx="10789920" cy="36576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250" b="0" i="0" dirty="0">
                <a:solidFill>
                  <a:srgbClr val="9FB0C6"/>
                </a:solidFill>
                <a:latin typeface="Segoe UI"/>
                <a:cs typeface="Segoe UI"/>
              </a:rPr>
              <a:t>Nantes Métropole : recommandations  ·  Grenoble : ville exemple et test à l'aveugle  ·  Nice : contre-exemple</a:t>
            </a:r>
            <a:endParaRPr lang="fr-FR"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rme 3"/>
          <p:cNvSpPr/>
          <p:nvPr/>
        </p:nvSpPr>
        <p:spPr>
          <a:xfrm>
            <a:off x="0" y="0"/>
            <a:ext cx="128016" cy="6858000"/>
          </a:xfrm>
          <a:prstGeom prst="rect">
            <a:avLst/>
          </a:prstGeom>
          <a:solidFill>
            <a:srgbClr val="14213D"/>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4" name="Forme 4"/>
          <p:cNvSpPr/>
          <p:nvPr/>
        </p:nvSpPr>
        <p:spPr>
          <a:xfrm>
            <a:off x="457200" y="411480"/>
            <a:ext cx="10972800" cy="64008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2800" b="1" i="0" dirty="0">
                <a:solidFill>
                  <a:srgbClr val="14213D"/>
                </a:solidFill>
                <a:latin typeface="Segoe UI"/>
                <a:cs typeface="Segoe UI"/>
              </a:rPr>
              <a:t>Sommaire</a:t>
            </a:r>
            <a:endParaRPr lang="fr-FR" sz="2800" dirty="0"/>
          </a:p>
        </p:txBody>
      </p:sp>
      <p:sp>
        <p:nvSpPr>
          <p:cNvPr id="5" name="Forme 5"/>
          <p:cNvSpPr/>
          <p:nvPr/>
        </p:nvSpPr>
        <p:spPr>
          <a:xfrm>
            <a:off x="457200" y="1325880"/>
            <a:ext cx="3611880" cy="1508760"/>
          </a:xfrm>
          <a:prstGeom prst="roundRect">
            <a:avLst>
              <a:gd name="adj" fmla="val 6000"/>
            </a:avLst>
          </a:prstGeom>
          <a:solidFill>
            <a:srgbClr val="E3F4F2"/>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6" name="Forme 6"/>
          <p:cNvSpPr/>
          <p:nvPr/>
        </p:nvSpPr>
        <p:spPr>
          <a:xfrm>
            <a:off x="640080" y="1554480"/>
            <a:ext cx="566928" cy="566928"/>
          </a:xfrm>
          <a:prstGeom prst="ellipse">
            <a:avLst/>
          </a:prstGeom>
          <a:solidFill>
            <a:srgbClr val="0E9F8E"/>
          </a:solidFill>
          <a:ln>
            <a:noFill/>
          </a:ln>
        </p:spPr>
        <p:txBody>
          <a:bodyPr wrap="square" lIns="0" tIns="0" rIns="0" bIns="0" anchor="ctr" rtlCol="0">
            <a:noAutofit/>
          </a:bodyPr>
          <a:lstStyle/>
          <a:p>
            <a:pPr algn="ctr">
              <a:lnSpc>
                <a:spcPct val="100000"/>
              </a:lnSpc>
              <a:spcBef>
                <a:spcPts val="0"/>
              </a:spcBef>
              <a:spcAft>
                <a:spcPts val="0"/>
              </a:spcAft>
              <a:buNone/>
            </a:pPr>
            <a:r>
              <a:rPr lang="fr-FR" sz="2000" b="1" i="0" dirty="0">
                <a:solidFill>
                  <a:srgbClr val="FFFFFF"/>
                </a:solidFill>
                <a:latin typeface="Segoe UI"/>
                <a:cs typeface="Segoe UI"/>
              </a:rPr>
              <a:t>1</a:t>
            </a:r>
            <a:endParaRPr lang="fr-FR" sz="2000" dirty="0"/>
          </a:p>
        </p:txBody>
      </p:sp>
      <p:sp>
        <p:nvSpPr>
          <p:cNvPr id="7" name="Forme 7"/>
          <p:cNvSpPr/>
          <p:nvPr/>
        </p:nvSpPr>
        <p:spPr>
          <a:xfrm>
            <a:off x="1371600" y="1527048"/>
            <a:ext cx="2606040" cy="11887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500" b="1" i="0" dirty="0">
                <a:solidFill>
                  <a:srgbClr val="14213D"/>
                </a:solidFill>
                <a:latin typeface="Segoe UI"/>
                <a:cs typeface="Segoe UI"/>
              </a:rPr>
              <a:t>Vue d'ensemble</a:t>
            </a:r>
            <a:endParaRPr lang="fr-FR" sz="1500" dirty="0"/>
          </a:p>
          <a:p>
            <a:pPr algn="l">
              <a:lnSpc>
                <a:spcPct val="100000"/>
              </a:lnSpc>
              <a:spcBef>
                <a:spcPts val="400"/>
              </a:spcBef>
              <a:spcAft>
                <a:spcPts val="0"/>
              </a:spcAft>
              <a:buNone/>
            </a:pPr>
            <a:r>
              <a:rPr lang="fr-FR" sz="1100" b="0" i="0" dirty="0">
                <a:solidFill>
                  <a:srgbClr val="5B6573"/>
                </a:solidFill>
                <a:latin typeface="Segoe UI"/>
                <a:cs typeface="Segoe UI"/>
              </a:rPr>
              <a:t>Le parcours des données, Bronze / Silver / Gold</a:t>
            </a:r>
            <a:endParaRPr lang="fr-FR" sz="1100" dirty="0"/>
          </a:p>
        </p:txBody>
      </p:sp>
      <p:sp>
        <p:nvSpPr>
          <p:cNvPr id="8" name="Forme 8"/>
          <p:cNvSpPr/>
          <p:nvPr/>
        </p:nvSpPr>
        <p:spPr>
          <a:xfrm>
            <a:off x="4251960" y="1325880"/>
            <a:ext cx="3611880" cy="1508760"/>
          </a:xfrm>
          <a:prstGeom prst="roundRect">
            <a:avLst>
              <a:gd name="adj" fmla="val 6000"/>
            </a:avLst>
          </a:prstGeom>
          <a:solidFill>
            <a:srgbClr val="E6EFFB"/>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9" name="Forme 9"/>
          <p:cNvSpPr/>
          <p:nvPr/>
        </p:nvSpPr>
        <p:spPr>
          <a:xfrm>
            <a:off x="4434840" y="1554480"/>
            <a:ext cx="566928" cy="566928"/>
          </a:xfrm>
          <a:prstGeom prst="ellipse">
            <a:avLst/>
          </a:prstGeom>
          <a:solidFill>
            <a:srgbClr val="3D7DD8"/>
          </a:solidFill>
          <a:ln>
            <a:noFill/>
          </a:ln>
        </p:spPr>
        <p:txBody>
          <a:bodyPr wrap="square" lIns="0" tIns="0" rIns="0" bIns="0" anchor="ctr" rtlCol="0">
            <a:noAutofit/>
          </a:bodyPr>
          <a:lstStyle/>
          <a:p>
            <a:pPr algn="ctr">
              <a:lnSpc>
                <a:spcPct val="100000"/>
              </a:lnSpc>
              <a:spcBef>
                <a:spcPts val="0"/>
              </a:spcBef>
              <a:spcAft>
                <a:spcPts val="0"/>
              </a:spcAft>
              <a:buNone/>
            </a:pPr>
            <a:r>
              <a:rPr lang="fr-FR" sz="2000" b="1" i="0" dirty="0">
                <a:solidFill>
                  <a:srgbClr val="FFFFFF"/>
                </a:solidFill>
                <a:latin typeface="Segoe UI"/>
                <a:cs typeface="Segoe UI"/>
              </a:rPr>
              <a:t>2</a:t>
            </a:r>
            <a:endParaRPr lang="fr-FR" sz="2000" dirty="0"/>
          </a:p>
        </p:txBody>
      </p:sp>
      <p:sp>
        <p:nvSpPr>
          <p:cNvPr id="10" name="Forme 10"/>
          <p:cNvSpPr/>
          <p:nvPr/>
        </p:nvSpPr>
        <p:spPr>
          <a:xfrm>
            <a:off x="5166360" y="1527048"/>
            <a:ext cx="2606040" cy="11887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500" b="1" i="0" dirty="0">
                <a:solidFill>
                  <a:srgbClr val="14213D"/>
                </a:solidFill>
                <a:latin typeface="Segoe UI"/>
                <a:cs typeface="Segoe UI"/>
              </a:rPr>
              <a:t>Les sources</a:t>
            </a:r>
            <a:endParaRPr lang="fr-FR" sz="1500" dirty="0"/>
          </a:p>
          <a:p>
            <a:pPr algn="l">
              <a:lnSpc>
                <a:spcPct val="100000"/>
              </a:lnSpc>
              <a:spcBef>
                <a:spcPts val="400"/>
              </a:spcBef>
              <a:spcAft>
                <a:spcPts val="0"/>
              </a:spcAft>
              <a:buNone/>
            </a:pPr>
            <a:r>
              <a:rPr lang="fr-FR" sz="1100" b="0" i="0" dirty="0">
                <a:solidFill>
                  <a:srgbClr val="5B6573"/>
                </a:solidFill>
                <a:latin typeface="Segoe UI"/>
                <a:cs typeface="Segoe UI"/>
              </a:rPr>
              <a:t>14 sources : lien exact, licence, taille, colonnes</a:t>
            </a:r>
            <a:endParaRPr lang="fr-FR" sz="1100" dirty="0"/>
          </a:p>
        </p:txBody>
      </p:sp>
      <p:sp>
        <p:nvSpPr>
          <p:cNvPr id="11" name="Forme 11"/>
          <p:cNvSpPr/>
          <p:nvPr/>
        </p:nvSpPr>
        <p:spPr>
          <a:xfrm>
            <a:off x="8046720" y="1325880"/>
            <a:ext cx="3611880" cy="1508760"/>
          </a:xfrm>
          <a:prstGeom prst="roundRect">
            <a:avLst>
              <a:gd name="adj" fmla="val 6000"/>
            </a:avLst>
          </a:prstGeom>
          <a:solidFill>
            <a:srgbClr val="EEEAF8"/>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2" name="Forme 12"/>
          <p:cNvSpPr/>
          <p:nvPr/>
        </p:nvSpPr>
        <p:spPr>
          <a:xfrm>
            <a:off x="8229600" y="1554480"/>
            <a:ext cx="566928" cy="566928"/>
          </a:xfrm>
          <a:prstGeom prst="ellipse">
            <a:avLst/>
          </a:prstGeom>
          <a:solidFill>
            <a:srgbClr val="7B61C9"/>
          </a:solidFill>
          <a:ln>
            <a:noFill/>
          </a:ln>
        </p:spPr>
        <p:txBody>
          <a:bodyPr wrap="square" lIns="0" tIns="0" rIns="0" bIns="0" anchor="ctr" rtlCol="0">
            <a:noAutofit/>
          </a:bodyPr>
          <a:lstStyle/>
          <a:p>
            <a:pPr algn="ctr">
              <a:lnSpc>
                <a:spcPct val="100000"/>
              </a:lnSpc>
              <a:spcBef>
                <a:spcPts val="0"/>
              </a:spcBef>
              <a:spcAft>
                <a:spcPts val="0"/>
              </a:spcAft>
              <a:buNone/>
            </a:pPr>
            <a:r>
              <a:rPr lang="fr-FR" sz="2000" b="1" i="0" dirty="0">
                <a:solidFill>
                  <a:srgbClr val="FFFFFF"/>
                </a:solidFill>
                <a:latin typeface="Segoe UI"/>
                <a:cs typeface="Segoe UI"/>
              </a:rPr>
              <a:t>3</a:t>
            </a:r>
            <a:endParaRPr lang="fr-FR" sz="2000" dirty="0"/>
          </a:p>
        </p:txBody>
      </p:sp>
      <p:sp>
        <p:nvSpPr>
          <p:cNvPr id="13" name="Forme 13"/>
          <p:cNvSpPr/>
          <p:nvPr/>
        </p:nvSpPr>
        <p:spPr>
          <a:xfrm>
            <a:off x="8961120" y="1527048"/>
            <a:ext cx="2606040" cy="11887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500" b="1" i="0" dirty="0">
                <a:solidFill>
                  <a:srgbClr val="14213D"/>
                </a:solidFill>
                <a:latin typeface="Segoe UI"/>
                <a:cs typeface="Segoe UI"/>
              </a:rPr>
              <a:t>L'extraction</a:t>
            </a:r>
            <a:endParaRPr lang="fr-FR" sz="1500" dirty="0"/>
          </a:p>
          <a:p>
            <a:pPr algn="l">
              <a:lnSpc>
                <a:spcPct val="100000"/>
              </a:lnSpc>
              <a:spcBef>
                <a:spcPts val="400"/>
              </a:spcBef>
              <a:spcAft>
                <a:spcPts val="0"/>
              </a:spcAft>
              <a:buNone/>
            </a:pPr>
            <a:r>
              <a:rPr lang="fr-FR" sz="1100" b="0" i="0" dirty="0">
                <a:solidFill>
                  <a:srgbClr val="5B6573"/>
                </a:solidFill>
                <a:latin typeface="Segoe UI"/>
                <a:cs typeface="Segoe UI"/>
              </a:rPr>
              <a:t>API, flux GBFS, flux Atom IGN, réseau piéton</a:t>
            </a:r>
            <a:endParaRPr lang="fr-FR" sz="1100" dirty="0"/>
          </a:p>
        </p:txBody>
      </p:sp>
      <p:sp>
        <p:nvSpPr>
          <p:cNvPr id="14" name="Forme 14"/>
          <p:cNvSpPr/>
          <p:nvPr/>
        </p:nvSpPr>
        <p:spPr>
          <a:xfrm>
            <a:off x="457200" y="3017520"/>
            <a:ext cx="3611880" cy="1508760"/>
          </a:xfrm>
          <a:prstGeom prst="roundRect">
            <a:avLst>
              <a:gd name="adj" fmla="val 6000"/>
            </a:avLst>
          </a:prstGeom>
          <a:solidFill>
            <a:srgbClr val="FCF1E0"/>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5" name="Forme 15"/>
          <p:cNvSpPr/>
          <p:nvPr/>
        </p:nvSpPr>
        <p:spPr>
          <a:xfrm>
            <a:off x="640080" y="3246120"/>
            <a:ext cx="566928" cy="566928"/>
          </a:xfrm>
          <a:prstGeom prst="ellipse">
            <a:avLst/>
          </a:prstGeom>
          <a:solidFill>
            <a:srgbClr val="E08E1B"/>
          </a:solidFill>
          <a:ln>
            <a:noFill/>
          </a:ln>
        </p:spPr>
        <p:txBody>
          <a:bodyPr wrap="square" lIns="0" tIns="0" rIns="0" bIns="0" anchor="ctr" rtlCol="0">
            <a:noAutofit/>
          </a:bodyPr>
          <a:lstStyle/>
          <a:p>
            <a:pPr algn="ctr">
              <a:lnSpc>
                <a:spcPct val="100000"/>
              </a:lnSpc>
              <a:spcBef>
                <a:spcPts val="0"/>
              </a:spcBef>
              <a:spcAft>
                <a:spcPts val="0"/>
              </a:spcAft>
              <a:buNone/>
            </a:pPr>
            <a:r>
              <a:rPr lang="fr-FR" sz="2000" b="1" i="0" dirty="0">
                <a:solidFill>
                  <a:srgbClr val="FFFFFF"/>
                </a:solidFill>
                <a:latin typeface="Segoe UI"/>
                <a:cs typeface="Segoe UI"/>
              </a:rPr>
              <a:t>4</a:t>
            </a:r>
            <a:endParaRPr lang="fr-FR" sz="2000" dirty="0"/>
          </a:p>
        </p:txBody>
      </p:sp>
      <p:sp>
        <p:nvSpPr>
          <p:cNvPr id="16" name="Forme 16"/>
          <p:cNvSpPr/>
          <p:nvPr/>
        </p:nvSpPr>
        <p:spPr>
          <a:xfrm>
            <a:off x="1371600" y="3218688"/>
            <a:ext cx="2606040" cy="11887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500" b="1" i="0" dirty="0">
                <a:solidFill>
                  <a:srgbClr val="14213D"/>
                </a:solidFill>
                <a:latin typeface="Segoe UI"/>
                <a:cs typeface="Segoe UI"/>
              </a:rPr>
              <a:t>Le nettoyage</a:t>
            </a:r>
            <a:endParaRPr lang="fr-FR" sz="1500" dirty="0"/>
          </a:p>
          <a:p>
            <a:pPr algn="l">
              <a:lnSpc>
                <a:spcPct val="100000"/>
              </a:lnSpc>
              <a:spcBef>
                <a:spcPts val="400"/>
              </a:spcBef>
              <a:spcAft>
                <a:spcPts val="0"/>
              </a:spcAft>
              <a:buNone/>
            </a:pPr>
            <a:r>
              <a:rPr lang="fr-FR" sz="1100" b="0" i="0" dirty="0">
                <a:solidFill>
                  <a:srgbClr val="5B6573"/>
                </a:solidFill>
                <a:latin typeface="Segoe UI"/>
                <a:cs typeface="Segoe UI"/>
              </a:rPr>
              <a:t>9 traitements, chiffrés avant / après</a:t>
            </a:r>
            <a:endParaRPr lang="fr-FR" sz="1100" dirty="0"/>
          </a:p>
        </p:txBody>
      </p:sp>
      <p:sp>
        <p:nvSpPr>
          <p:cNvPr id="17" name="Forme 17"/>
          <p:cNvSpPr/>
          <p:nvPr/>
        </p:nvSpPr>
        <p:spPr>
          <a:xfrm>
            <a:off x="4251960" y="3017520"/>
            <a:ext cx="3611880" cy="1508760"/>
          </a:xfrm>
          <a:prstGeom prst="roundRect">
            <a:avLst>
              <a:gd name="adj" fmla="val 6000"/>
            </a:avLst>
          </a:prstGeom>
          <a:solidFill>
            <a:srgbClr val="E3F4F2"/>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8" name="Forme 18"/>
          <p:cNvSpPr/>
          <p:nvPr/>
        </p:nvSpPr>
        <p:spPr>
          <a:xfrm>
            <a:off x="4434840" y="3246120"/>
            <a:ext cx="566928" cy="566928"/>
          </a:xfrm>
          <a:prstGeom prst="ellipse">
            <a:avLst/>
          </a:prstGeom>
          <a:solidFill>
            <a:srgbClr val="0E9F8E"/>
          </a:solidFill>
          <a:ln>
            <a:noFill/>
          </a:ln>
        </p:spPr>
        <p:txBody>
          <a:bodyPr wrap="square" lIns="0" tIns="0" rIns="0" bIns="0" anchor="ctr" rtlCol="0">
            <a:noAutofit/>
          </a:bodyPr>
          <a:lstStyle/>
          <a:p>
            <a:pPr algn="ctr">
              <a:lnSpc>
                <a:spcPct val="100000"/>
              </a:lnSpc>
              <a:spcBef>
                <a:spcPts val="0"/>
              </a:spcBef>
              <a:spcAft>
                <a:spcPts val="0"/>
              </a:spcAft>
              <a:buNone/>
            </a:pPr>
            <a:r>
              <a:rPr lang="fr-FR" sz="2000" b="1" i="0" dirty="0">
                <a:solidFill>
                  <a:srgbClr val="FFFFFF"/>
                </a:solidFill>
                <a:latin typeface="Segoe UI"/>
                <a:cs typeface="Segoe UI"/>
              </a:rPr>
              <a:t>5</a:t>
            </a:r>
            <a:endParaRPr lang="fr-FR" sz="2000" dirty="0"/>
          </a:p>
        </p:txBody>
      </p:sp>
      <p:sp>
        <p:nvSpPr>
          <p:cNvPr id="19" name="Forme 19"/>
          <p:cNvSpPr/>
          <p:nvPr/>
        </p:nvSpPr>
        <p:spPr>
          <a:xfrm>
            <a:off x="5166360" y="3218688"/>
            <a:ext cx="2606040" cy="11887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500" b="1" i="0" dirty="0">
                <a:solidFill>
                  <a:srgbClr val="14213D"/>
                </a:solidFill>
                <a:latin typeface="Segoe UI"/>
                <a:cs typeface="Segoe UI"/>
              </a:rPr>
              <a:t>L'automatisation</a:t>
            </a:r>
            <a:endParaRPr lang="fr-FR" sz="1500" dirty="0"/>
          </a:p>
          <a:p>
            <a:pPr algn="l">
              <a:lnSpc>
                <a:spcPct val="100000"/>
              </a:lnSpc>
              <a:spcBef>
                <a:spcPts val="400"/>
              </a:spcBef>
              <a:spcAft>
                <a:spcPts val="0"/>
              </a:spcAft>
              <a:buNone/>
            </a:pPr>
            <a:r>
              <a:rPr lang="fr-FR" sz="1100" b="0" i="0" dirty="0">
                <a:solidFill>
                  <a:srgbClr val="5B6573"/>
                </a:solidFill>
                <a:latin typeface="Segoe UI"/>
                <a:cs typeface="Segoe UI"/>
              </a:rPr>
              <a:t>Scripts, tests, tout reconstruire en 5 commandes</a:t>
            </a:r>
            <a:endParaRPr lang="fr-FR" sz="1100" dirty="0"/>
          </a:p>
        </p:txBody>
      </p:sp>
      <p:sp>
        <p:nvSpPr>
          <p:cNvPr id="20" name="Forme 20"/>
          <p:cNvSpPr/>
          <p:nvPr/>
        </p:nvSpPr>
        <p:spPr>
          <a:xfrm>
            <a:off x="8046720" y="3017520"/>
            <a:ext cx="3611880" cy="1508760"/>
          </a:xfrm>
          <a:prstGeom prst="roundRect">
            <a:avLst>
              <a:gd name="adj" fmla="val 6000"/>
            </a:avLst>
          </a:prstGeom>
          <a:solidFill>
            <a:srgbClr val="E6EFFB"/>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21" name="Forme 21"/>
          <p:cNvSpPr/>
          <p:nvPr/>
        </p:nvSpPr>
        <p:spPr>
          <a:xfrm>
            <a:off x="8229600" y="3246120"/>
            <a:ext cx="566928" cy="566928"/>
          </a:xfrm>
          <a:prstGeom prst="ellipse">
            <a:avLst/>
          </a:prstGeom>
          <a:solidFill>
            <a:srgbClr val="3D7DD8"/>
          </a:solidFill>
          <a:ln>
            <a:noFill/>
          </a:ln>
        </p:spPr>
        <p:txBody>
          <a:bodyPr wrap="square" lIns="0" tIns="0" rIns="0" bIns="0" anchor="ctr" rtlCol="0">
            <a:noAutofit/>
          </a:bodyPr>
          <a:lstStyle/>
          <a:p>
            <a:pPr algn="ctr">
              <a:lnSpc>
                <a:spcPct val="100000"/>
              </a:lnSpc>
              <a:spcBef>
                <a:spcPts val="0"/>
              </a:spcBef>
              <a:spcAft>
                <a:spcPts val="0"/>
              </a:spcAft>
              <a:buNone/>
            </a:pPr>
            <a:r>
              <a:rPr lang="fr-FR" sz="2000" b="1" i="0" dirty="0">
                <a:solidFill>
                  <a:srgbClr val="FFFFFF"/>
                </a:solidFill>
                <a:latin typeface="Segoe UI"/>
                <a:cs typeface="Segoe UI"/>
              </a:rPr>
              <a:t>6</a:t>
            </a:r>
            <a:endParaRPr lang="fr-FR" sz="2000" dirty="0"/>
          </a:p>
        </p:txBody>
      </p:sp>
      <p:sp>
        <p:nvSpPr>
          <p:cNvPr id="22" name="Forme 22"/>
          <p:cNvSpPr/>
          <p:nvPr/>
        </p:nvSpPr>
        <p:spPr>
          <a:xfrm>
            <a:off x="8961120" y="3218688"/>
            <a:ext cx="2606040" cy="11887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500" b="1" i="0" dirty="0">
                <a:solidFill>
                  <a:srgbClr val="14213D"/>
                </a:solidFill>
                <a:latin typeface="Segoe UI"/>
                <a:cs typeface="Segoe UI"/>
              </a:rPr>
              <a:t>Les tables produites</a:t>
            </a:r>
            <a:endParaRPr lang="fr-FR" sz="1500" dirty="0"/>
          </a:p>
          <a:p>
            <a:pPr algn="l">
              <a:lnSpc>
                <a:spcPct val="100000"/>
              </a:lnSpc>
              <a:spcBef>
                <a:spcPts val="400"/>
              </a:spcBef>
              <a:spcAft>
                <a:spcPts val="0"/>
              </a:spcAft>
              <a:buNone/>
            </a:pPr>
            <a:r>
              <a:rPr lang="fr-FR" sz="1100" b="0" i="0" dirty="0">
                <a:solidFill>
                  <a:srgbClr val="5B6573"/>
                </a:solidFill>
                <a:latin typeface="Segoe UI"/>
                <a:cs typeface="Segoe UI"/>
              </a:rPr>
              <a:t>Ce que lit l'application, ligne par ligne</a:t>
            </a:r>
            <a:endParaRPr lang="fr-FR" sz="1100" dirty="0"/>
          </a:p>
        </p:txBody>
      </p:sp>
      <p:sp>
        <p:nvSpPr>
          <p:cNvPr id="23" name="Forme 23"/>
          <p:cNvSpPr/>
          <p:nvPr/>
        </p:nvSpPr>
        <p:spPr>
          <a:xfrm>
            <a:off x="457200" y="4709160"/>
            <a:ext cx="3611880" cy="1508760"/>
          </a:xfrm>
          <a:prstGeom prst="roundRect">
            <a:avLst>
              <a:gd name="adj" fmla="val 6000"/>
            </a:avLst>
          </a:prstGeom>
          <a:solidFill>
            <a:srgbClr val="FBE7E7"/>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24" name="Forme 24"/>
          <p:cNvSpPr/>
          <p:nvPr/>
        </p:nvSpPr>
        <p:spPr>
          <a:xfrm>
            <a:off x="640080" y="4937760"/>
            <a:ext cx="566928" cy="566928"/>
          </a:xfrm>
          <a:prstGeom prst="ellipse">
            <a:avLst/>
          </a:prstGeom>
          <a:solidFill>
            <a:srgbClr val="D64545"/>
          </a:solidFill>
          <a:ln>
            <a:noFill/>
          </a:ln>
        </p:spPr>
        <p:txBody>
          <a:bodyPr wrap="square" lIns="0" tIns="0" rIns="0" bIns="0" anchor="ctr" rtlCol="0">
            <a:noAutofit/>
          </a:bodyPr>
          <a:lstStyle/>
          <a:p>
            <a:pPr algn="ctr">
              <a:lnSpc>
                <a:spcPct val="100000"/>
              </a:lnSpc>
              <a:spcBef>
                <a:spcPts val="0"/>
              </a:spcBef>
              <a:spcAft>
                <a:spcPts val="0"/>
              </a:spcAft>
              <a:buNone/>
            </a:pPr>
            <a:r>
              <a:rPr lang="fr-FR" sz="2000" b="1" i="0" dirty="0">
                <a:solidFill>
                  <a:srgbClr val="FFFFFF"/>
                </a:solidFill>
                <a:latin typeface="Segoe UI"/>
                <a:cs typeface="Segoe UI"/>
              </a:rPr>
              <a:t>7</a:t>
            </a:r>
            <a:endParaRPr lang="fr-FR" sz="2000" dirty="0"/>
          </a:p>
        </p:txBody>
      </p:sp>
      <p:sp>
        <p:nvSpPr>
          <p:cNvPr id="25" name="Forme 25"/>
          <p:cNvSpPr/>
          <p:nvPr/>
        </p:nvSpPr>
        <p:spPr>
          <a:xfrm>
            <a:off x="1371600" y="4910328"/>
            <a:ext cx="2606040" cy="11887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500" b="1" i="0" dirty="0">
                <a:solidFill>
                  <a:srgbClr val="14213D"/>
                </a:solidFill>
                <a:latin typeface="Segoe UI"/>
                <a:cs typeface="Segoe UI"/>
              </a:rPr>
              <a:t>Les limites</a:t>
            </a:r>
            <a:endParaRPr lang="fr-FR" sz="1500" dirty="0"/>
          </a:p>
          <a:p>
            <a:pPr algn="l">
              <a:lnSpc>
                <a:spcPct val="100000"/>
              </a:lnSpc>
              <a:spcBef>
                <a:spcPts val="400"/>
              </a:spcBef>
              <a:spcAft>
                <a:spcPts val="0"/>
              </a:spcAft>
              <a:buNone/>
            </a:pPr>
            <a:r>
              <a:rPr lang="fr-FR" sz="1100" b="0" i="0" dirty="0">
                <a:solidFill>
                  <a:srgbClr val="5B6573"/>
                </a:solidFill>
                <a:latin typeface="Segoe UI"/>
                <a:cs typeface="Segoe UI"/>
              </a:rPr>
              <a:t>Ce que les données ne disent pas, et l'impact</a:t>
            </a:r>
            <a:endParaRPr lang="fr-FR" sz="1100" dirty="0"/>
          </a:p>
        </p:txBody>
      </p:sp>
      <p:sp>
        <p:nvSpPr>
          <p:cNvPr id="26" name="Forme 26"/>
          <p:cNvSpPr/>
          <p:nvPr/>
        </p:nvSpPr>
        <p:spPr>
          <a:xfrm>
            <a:off x="4251960" y="4709160"/>
            <a:ext cx="3611880" cy="1508760"/>
          </a:xfrm>
          <a:prstGeom prst="roundRect">
            <a:avLst>
              <a:gd name="adj" fmla="val 6000"/>
            </a:avLst>
          </a:prstGeom>
          <a:solidFill>
            <a:srgbClr val="EEF0F3"/>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27" name="Forme 27"/>
          <p:cNvSpPr/>
          <p:nvPr/>
        </p:nvSpPr>
        <p:spPr>
          <a:xfrm>
            <a:off x="4434840" y="4937760"/>
            <a:ext cx="566928" cy="566928"/>
          </a:xfrm>
          <a:prstGeom prst="ellipse">
            <a:avLst/>
          </a:prstGeom>
          <a:solidFill>
            <a:srgbClr val="5B6573"/>
          </a:solidFill>
          <a:ln>
            <a:noFill/>
          </a:ln>
        </p:spPr>
        <p:txBody>
          <a:bodyPr wrap="square" lIns="0" tIns="0" rIns="0" bIns="0" anchor="ctr" rtlCol="0">
            <a:noAutofit/>
          </a:bodyPr>
          <a:lstStyle/>
          <a:p>
            <a:pPr algn="ctr">
              <a:lnSpc>
                <a:spcPct val="100000"/>
              </a:lnSpc>
              <a:spcBef>
                <a:spcPts val="0"/>
              </a:spcBef>
              <a:spcAft>
                <a:spcPts val="0"/>
              </a:spcAft>
              <a:buNone/>
            </a:pPr>
            <a:r>
              <a:rPr lang="fr-FR" sz="2000" b="1" i="0" dirty="0">
                <a:solidFill>
                  <a:srgbClr val="FFFFFF"/>
                </a:solidFill>
                <a:latin typeface="Segoe UI"/>
                <a:cs typeface="Segoe UI"/>
              </a:rPr>
              <a:t>8</a:t>
            </a:r>
            <a:endParaRPr lang="fr-FR" sz="2000" dirty="0"/>
          </a:p>
        </p:txBody>
      </p:sp>
      <p:sp>
        <p:nvSpPr>
          <p:cNvPr id="28" name="Forme 28"/>
          <p:cNvSpPr/>
          <p:nvPr/>
        </p:nvSpPr>
        <p:spPr>
          <a:xfrm>
            <a:off x="5166360" y="4910328"/>
            <a:ext cx="2606040" cy="11887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500" b="1" i="0" dirty="0">
                <a:solidFill>
                  <a:srgbClr val="14213D"/>
                </a:solidFill>
                <a:latin typeface="Segoe UI"/>
                <a:cs typeface="Segoe UI"/>
              </a:rPr>
              <a:t>Lexique</a:t>
            </a:r>
            <a:endParaRPr lang="fr-FR" sz="1500" dirty="0"/>
          </a:p>
          <a:p>
            <a:pPr algn="l">
              <a:lnSpc>
                <a:spcPct val="100000"/>
              </a:lnSpc>
              <a:spcBef>
                <a:spcPts val="400"/>
              </a:spcBef>
              <a:spcAft>
                <a:spcPts val="0"/>
              </a:spcAft>
              <a:buNone/>
            </a:pPr>
            <a:r>
              <a:rPr lang="fr-FR" sz="1100" b="0" i="0" dirty="0">
                <a:solidFill>
                  <a:srgbClr val="5B6573"/>
                </a:solidFill>
                <a:latin typeface="Segoe UI"/>
                <a:cs typeface="Segoe UI"/>
              </a:rPr>
              <a:t>14 mots expliqués simplement</a:t>
            </a:r>
            <a:endParaRPr lang="fr-FR" sz="1100" dirty="0"/>
          </a:p>
        </p:txBody>
      </p:sp>
      <p:sp>
        <p:nvSpPr>
          <p:cNvPr id="29" name="Forme 29"/>
          <p:cNvSpPr/>
          <p:nvPr/>
        </p:nvSpPr>
        <p:spPr>
          <a:xfrm>
            <a:off x="8046720" y="4709160"/>
            <a:ext cx="3611880" cy="1508760"/>
          </a:xfrm>
          <a:prstGeom prst="roundRect">
            <a:avLst>
              <a:gd name="adj" fmla="val 6000"/>
            </a:avLst>
          </a:prstGeom>
          <a:solidFill>
            <a:srgbClr val="E3F4F2"/>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30" name="Forme 30"/>
          <p:cNvSpPr/>
          <p:nvPr/>
        </p:nvSpPr>
        <p:spPr>
          <a:xfrm>
            <a:off x="8229600" y="4937760"/>
            <a:ext cx="566928" cy="566928"/>
          </a:xfrm>
          <a:prstGeom prst="ellipse">
            <a:avLst/>
          </a:prstGeom>
          <a:solidFill>
            <a:srgbClr val="0E9F8E"/>
          </a:solidFill>
          <a:ln>
            <a:noFill/>
          </a:ln>
        </p:spPr>
        <p:txBody>
          <a:bodyPr wrap="square" lIns="0" tIns="0" rIns="0" bIns="0" anchor="ctr" rtlCol="0">
            <a:noAutofit/>
          </a:bodyPr>
          <a:lstStyle/>
          <a:p>
            <a:pPr algn="ctr">
              <a:lnSpc>
                <a:spcPct val="100000"/>
              </a:lnSpc>
              <a:spcBef>
                <a:spcPts val="0"/>
              </a:spcBef>
              <a:spcAft>
                <a:spcPts val="0"/>
              </a:spcAft>
              <a:buNone/>
            </a:pPr>
            <a:r>
              <a:rPr lang="fr-FR" sz="2000" b="1" i="0" dirty="0">
                <a:solidFill>
                  <a:srgbClr val="FFFFFF"/>
                </a:solidFill>
                <a:latin typeface="Segoe UI"/>
                <a:cs typeface="Segoe UI"/>
              </a:rPr>
              <a:t>9</a:t>
            </a:r>
            <a:endParaRPr lang="fr-FR" sz="2000" dirty="0"/>
          </a:p>
        </p:txBody>
      </p:sp>
      <p:sp>
        <p:nvSpPr>
          <p:cNvPr id="31" name="Forme 31"/>
          <p:cNvSpPr/>
          <p:nvPr/>
        </p:nvSpPr>
        <p:spPr>
          <a:xfrm>
            <a:off x="8961120" y="4910328"/>
            <a:ext cx="2606040" cy="11887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500" b="1" i="0" dirty="0">
                <a:solidFill>
                  <a:srgbClr val="14213D"/>
                </a:solidFill>
                <a:latin typeface="Segoe UI"/>
                <a:cs typeface="Segoe UI"/>
              </a:rPr>
              <a:t>Version orale</a:t>
            </a:r>
            <a:endParaRPr lang="fr-FR" sz="1500" dirty="0"/>
          </a:p>
          <a:p>
            <a:pPr algn="l">
              <a:lnSpc>
                <a:spcPct val="100000"/>
              </a:lnSpc>
              <a:spcBef>
                <a:spcPts val="400"/>
              </a:spcBef>
              <a:spcAft>
                <a:spcPts val="0"/>
              </a:spcAft>
              <a:buNone/>
            </a:pPr>
            <a:r>
              <a:rPr lang="fr-FR" sz="1100" b="0" i="0" dirty="0">
                <a:solidFill>
                  <a:srgbClr val="5B6573"/>
                </a:solidFill>
                <a:latin typeface="Segoe UI"/>
                <a:cs typeface="Segoe UI"/>
              </a:rPr>
              <a:t>1 minute pour le jury + 5 questions probables</a:t>
            </a:r>
            <a:endParaRPr lang="fr-FR"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rme 3"/>
          <p:cNvSpPr/>
          <p:nvPr/>
        </p:nvSpPr>
        <p:spPr>
          <a:xfrm>
            <a:off x="0" y="0"/>
            <a:ext cx="128016" cy="6858000"/>
          </a:xfrm>
          <a:prstGeom prst="rect">
            <a:avLst/>
          </a:prstGeom>
          <a:solidFill>
            <a:srgbClr val="0E9F8E"/>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4" name="Forme 4"/>
          <p:cNvSpPr/>
          <p:nvPr/>
        </p:nvSpPr>
        <p:spPr>
          <a:xfrm>
            <a:off x="457200" y="256032"/>
            <a:ext cx="7315200" cy="2743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050" b="1" i="0" dirty="0">
                <a:solidFill>
                  <a:srgbClr val="0E9F8E"/>
                </a:solidFill>
                <a:latin typeface="Segoe UI"/>
                <a:cs typeface="Segoe UI"/>
              </a:rPr>
              <a:t>PARTIE 1 · VUE D'ENSEMBLE</a:t>
            </a:r>
            <a:endParaRPr lang="fr-FR" sz="1050" dirty="0"/>
          </a:p>
        </p:txBody>
      </p:sp>
      <p:sp>
        <p:nvSpPr>
          <p:cNvPr id="5" name="Forme 5"/>
          <p:cNvSpPr/>
          <p:nvPr/>
        </p:nvSpPr>
        <p:spPr>
          <a:xfrm>
            <a:off x="457200" y="502920"/>
            <a:ext cx="11247120" cy="5486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2500" b="1" i="0" dirty="0">
                <a:solidFill>
                  <a:srgbClr val="14213D"/>
                </a:solidFill>
                <a:latin typeface="Segoe UI"/>
                <a:cs typeface="Segoe UI"/>
              </a:rPr>
              <a:t>Le parcours complet des données</a:t>
            </a:r>
            <a:endParaRPr lang="fr-FR" sz="2500" dirty="0"/>
          </a:p>
        </p:txBody>
      </p:sp>
      <p:sp>
        <p:nvSpPr>
          <p:cNvPr id="6" name="Forme 6"/>
          <p:cNvSpPr/>
          <p:nvPr/>
        </p:nvSpPr>
        <p:spPr>
          <a:xfrm>
            <a:off x="457200" y="987552"/>
            <a:ext cx="11247120" cy="3200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250" b="0" i="0" dirty="0">
                <a:solidFill>
                  <a:srgbClr val="5B6573"/>
                </a:solidFill>
                <a:latin typeface="Segoe UI"/>
                <a:cs typeface="Segoe UI"/>
              </a:rPr>
              <a:t>Six étapes, chacune lancée par un script ; tout est relançable de zéro.</a:t>
            </a:r>
            <a:endParaRPr lang="fr-FR" sz="1250" dirty="0"/>
          </a:p>
        </p:txBody>
      </p:sp>
      <p:sp>
        <p:nvSpPr>
          <p:cNvPr id="7" name="Forme 7"/>
          <p:cNvSpPr/>
          <p:nvPr/>
        </p:nvSpPr>
        <p:spPr>
          <a:xfrm>
            <a:off x="457200" y="6446520"/>
            <a:ext cx="11274552" cy="10973"/>
          </a:xfrm>
          <a:prstGeom prst="rect">
            <a:avLst/>
          </a:prstGeom>
          <a:solidFill>
            <a:srgbClr val="D5DAE1"/>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8" name="Forme 8"/>
          <p:cNvSpPr/>
          <p:nvPr/>
        </p:nvSpPr>
        <p:spPr>
          <a:xfrm>
            <a:off x="457200" y="6492240"/>
            <a:ext cx="7315200" cy="256032"/>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00" b="0" i="0" dirty="0">
                <a:solidFill>
                  <a:srgbClr val="5B6573"/>
                </a:solidFill>
                <a:latin typeface="Segoe UI"/>
                <a:cs typeface="Segoe UI"/>
              </a:rPr>
              <a:t>Hackathon Mobility × Citiz · Nos données, de A à Z</a:t>
            </a:r>
            <a:endParaRPr lang="fr-FR" sz="900" dirty="0"/>
          </a:p>
        </p:txBody>
      </p:sp>
      <p:sp>
        <p:nvSpPr>
          <p:cNvPr id="9" name="Forme 9"/>
          <p:cNvSpPr/>
          <p:nvPr/>
        </p:nvSpPr>
        <p:spPr>
          <a:xfrm>
            <a:off x="10360152" y="6492240"/>
            <a:ext cx="1371600" cy="256032"/>
          </a:xfrm>
          <a:prstGeom prst="rect">
            <a:avLst/>
          </a:prstGeom>
          <a:noFill/>
          <a:ln>
            <a:noFill/>
          </a:ln>
        </p:spPr>
        <p:txBody>
          <a:bodyPr wrap="square" lIns="18288" tIns="18288" rIns="18288" bIns="18288" anchor="t" rtlCol="0">
            <a:noAutofit/>
          </a:bodyPr>
          <a:lstStyle/>
          <a:p>
            <a:pPr algn="r">
              <a:lnSpc>
                <a:spcPct val="100000"/>
              </a:lnSpc>
              <a:spcBef>
                <a:spcPts val="0"/>
              </a:spcBef>
              <a:spcAft>
                <a:spcPts val="0"/>
              </a:spcAft>
              <a:buNone/>
            </a:pPr>
            <a:r>
              <a:rPr lang="fr-FR" sz="900" b="0" i="0" dirty="0">
                <a:solidFill>
                  <a:srgbClr val="5B6573"/>
                </a:solidFill>
                <a:latin typeface="Segoe UI"/>
                <a:cs typeface="Segoe UI"/>
              </a:rPr>
              <a:t>3</a:t>
            </a:r>
            <a:endParaRPr lang="fr-FR" sz="900" dirty="0"/>
          </a:p>
        </p:txBody>
      </p:sp>
      <p:sp>
        <p:nvSpPr>
          <p:cNvPr id="10" name="Forme 10"/>
          <p:cNvSpPr/>
          <p:nvPr/>
        </p:nvSpPr>
        <p:spPr>
          <a:xfrm>
            <a:off x="457200" y="1508760"/>
            <a:ext cx="1691640" cy="502920"/>
          </a:xfrm>
          <a:prstGeom prst="roundRect">
            <a:avLst>
              <a:gd name="adj" fmla="val 12000"/>
            </a:avLst>
          </a:prstGeom>
          <a:solidFill>
            <a:srgbClr val="0E9F8E"/>
          </a:solidFill>
          <a:ln>
            <a:noFill/>
          </a:ln>
        </p:spPr>
        <p:txBody>
          <a:bodyPr wrap="square" lIns="27432" tIns="0" rIns="27432" bIns="0" anchor="ctr" rtlCol="0">
            <a:noAutofit/>
          </a:bodyPr>
          <a:lstStyle/>
          <a:p>
            <a:pPr algn="ctr">
              <a:lnSpc>
                <a:spcPct val="100000"/>
              </a:lnSpc>
              <a:spcBef>
                <a:spcPts val="0"/>
              </a:spcBef>
              <a:spcAft>
                <a:spcPts val="0"/>
              </a:spcAft>
              <a:buNone/>
            </a:pPr>
            <a:r>
              <a:rPr lang="fr-FR" sz="1250" b="1" i="0" dirty="0">
                <a:solidFill>
                  <a:srgbClr val="FFFFFF"/>
                </a:solidFill>
                <a:latin typeface="Segoe UI"/>
                <a:cs typeface="Segoe UI"/>
              </a:rPr>
              <a:t>1. Sources</a:t>
            </a:r>
            <a:endParaRPr lang="fr-FR" sz="1250" dirty="0"/>
          </a:p>
        </p:txBody>
      </p:sp>
      <p:sp>
        <p:nvSpPr>
          <p:cNvPr id="11" name="Forme 11"/>
          <p:cNvSpPr/>
          <p:nvPr/>
        </p:nvSpPr>
        <p:spPr>
          <a:xfrm>
            <a:off x="457200" y="2057400"/>
            <a:ext cx="1691640" cy="1874520"/>
          </a:xfrm>
          <a:prstGeom prst="roundRect">
            <a:avLst>
              <a:gd name="adj" fmla="val 6000"/>
            </a:avLst>
          </a:prstGeom>
          <a:solidFill>
            <a:srgbClr val="E3F4F2"/>
          </a:solidFill>
          <a:ln>
            <a:noFill/>
          </a:ln>
        </p:spPr>
        <p:txBody>
          <a:bodyPr wrap="square" lIns="73152" tIns="91440" rIns="73152" bIns="45720" anchor="t" rtlCol="0">
            <a:noAutofit/>
          </a:bodyPr>
          <a:lstStyle/>
          <a:p>
            <a:pPr algn="ctr">
              <a:lnSpc>
                <a:spcPct val="100000"/>
              </a:lnSpc>
              <a:spcBef>
                <a:spcPts val="300"/>
              </a:spcBef>
              <a:spcAft>
                <a:spcPts val="0"/>
              </a:spcAft>
              <a:buNone/>
            </a:pPr>
            <a:r>
              <a:rPr lang="fr-FR" sz="900" b="1" i="0" dirty="0">
                <a:solidFill>
                  <a:srgbClr val="1F2933"/>
                </a:solidFill>
                <a:latin typeface="Segoe UI"/>
                <a:cs typeface="Segoe UI"/>
              </a:rPr>
              <a:t>14 sources ouvertes</a:t>
            </a:r>
            <a:endParaRPr lang="fr-FR" sz="900" dirty="0"/>
          </a:p>
          <a:p>
            <a:pPr algn="ctr">
              <a:lnSpc>
                <a:spcPct val="100000"/>
              </a:lnSpc>
              <a:spcBef>
                <a:spcPts val="300"/>
              </a:spcBef>
              <a:spcAft>
                <a:spcPts val="0"/>
              </a:spcAft>
              <a:buNone/>
            </a:pPr>
            <a:r>
              <a:rPr lang="fr-FR" sz="900" b="0" i="0" dirty="0">
                <a:solidFill>
                  <a:srgbClr val="1F2933"/>
                </a:solidFill>
                <a:latin typeface="Segoe UI"/>
                <a:cs typeface="Segoe UI"/>
              </a:rPr>
              <a:t>INSEE, IGN, transport.data.gouv.fr, OpenStreetMap, SSMSI, Nantes Métropole</a:t>
            </a:r>
            <a:endParaRPr lang="fr-FR" sz="900" dirty="0"/>
          </a:p>
        </p:txBody>
      </p:sp>
      <p:cxnSp>
        <p:nvCxnSpPr>
          <p:cNvPr id="12" name="Flèche 12"/>
          <p:cNvCxnSpPr/>
          <p:nvPr/>
        </p:nvCxnSpPr>
        <p:spPr>
          <a:xfrm>
            <a:off x="2167128" y="1764792"/>
            <a:ext cx="173736" cy="0"/>
          </a:xfrm>
          <a:prstGeom prst="straightConnector1">
            <a:avLst/>
          </a:prstGeom>
          <a:ln w="28575">
            <a:solidFill>
              <a:srgbClr val="5B6573"/>
            </a:solidFill>
            <a:tailEnd type="triangle" w="med" len="med"/>
          </a:ln>
        </p:spPr>
      </p:cxnSp>
      <p:sp>
        <p:nvSpPr>
          <p:cNvPr id="13" name="Forme 13"/>
          <p:cNvSpPr/>
          <p:nvPr/>
        </p:nvSpPr>
        <p:spPr>
          <a:xfrm>
            <a:off x="2359152" y="1508760"/>
            <a:ext cx="1691640" cy="502920"/>
          </a:xfrm>
          <a:prstGeom prst="roundRect">
            <a:avLst>
              <a:gd name="adj" fmla="val 12000"/>
            </a:avLst>
          </a:prstGeom>
          <a:solidFill>
            <a:srgbClr val="3D7DD8"/>
          </a:solidFill>
          <a:ln>
            <a:noFill/>
          </a:ln>
        </p:spPr>
        <p:txBody>
          <a:bodyPr wrap="square" lIns="27432" tIns="0" rIns="27432" bIns="0" anchor="ctr" rtlCol="0">
            <a:noAutofit/>
          </a:bodyPr>
          <a:lstStyle/>
          <a:p>
            <a:pPr algn="ctr">
              <a:lnSpc>
                <a:spcPct val="100000"/>
              </a:lnSpc>
              <a:spcBef>
                <a:spcPts val="0"/>
              </a:spcBef>
              <a:spcAft>
                <a:spcPts val="0"/>
              </a:spcAft>
              <a:buNone/>
            </a:pPr>
            <a:r>
              <a:rPr lang="fr-FR" sz="1250" b="1" i="0" dirty="0">
                <a:solidFill>
                  <a:srgbClr val="FFFFFF"/>
                </a:solidFill>
                <a:latin typeface="Segoe UI"/>
                <a:cs typeface="Segoe UI"/>
              </a:rPr>
              <a:t>2. Téléchargement</a:t>
            </a:r>
            <a:endParaRPr lang="fr-FR" sz="1250" dirty="0"/>
          </a:p>
        </p:txBody>
      </p:sp>
      <p:sp>
        <p:nvSpPr>
          <p:cNvPr id="14" name="Forme 14"/>
          <p:cNvSpPr/>
          <p:nvPr/>
        </p:nvSpPr>
        <p:spPr>
          <a:xfrm>
            <a:off x="2359152" y="2057400"/>
            <a:ext cx="1691640" cy="1874520"/>
          </a:xfrm>
          <a:prstGeom prst="roundRect">
            <a:avLst>
              <a:gd name="adj" fmla="val 6000"/>
            </a:avLst>
          </a:prstGeom>
          <a:solidFill>
            <a:srgbClr val="E6EFFB"/>
          </a:solidFill>
          <a:ln>
            <a:noFill/>
          </a:ln>
        </p:spPr>
        <p:txBody>
          <a:bodyPr wrap="square" lIns="73152" tIns="91440" rIns="73152" bIns="45720" anchor="t" rtlCol="0">
            <a:noAutofit/>
          </a:bodyPr>
          <a:lstStyle/>
          <a:p>
            <a:pPr algn="ctr">
              <a:lnSpc>
                <a:spcPct val="100000"/>
              </a:lnSpc>
              <a:spcBef>
                <a:spcPts val="300"/>
              </a:spcBef>
              <a:spcAft>
                <a:spcPts val="0"/>
              </a:spcAft>
              <a:buNone/>
            </a:pPr>
            <a:r>
              <a:rPr lang="fr-FR" sz="900" b="0" i="0" dirty="0">
                <a:solidFill>
                  <a:srgbClr val="0B5C8A"/>
                </a:solidFill>
                <a:latin typeface="Consolas"/>
                <a:cs typeface="Consolas"/>
              </a:rPr>
              <a:t>download_all.py</a:t>
            </a:r>
            <a:endParaRPr lang="fr-FR" sz="900" dirty="0"/>
          </a:p>
          <a:p>
            <a:pPr algn="ctr">
              <a:lnSpc>
                <a:spcPct val="100000"/>
              </a:lnSpc>
              <a:spcBef>
                <a:spcPts val="300"/>
              </a:spcBef>
              <a:spcAft>
                <a:spcPts val="0"/>
              </a:spcAft>
              <a:buNone/>
            </a:pPr>
            <a:r>
              <a:rPr lang="fr-FR" sz="900" b="0" i="0" dirty="0">
                <a:solidFill>
                  <a:srgbClr val="0B5C8A"/>
                </a:solidFill>
                <a:latin typeface="Consolas"/>
                <a:cs typeface="Consolas"/>
              </a:rPr>
              <a:t>collect_gbfs_status.py</a:t>
            </a:r>
            <a:endParaRPr lang="fr-FR" sz="900" dirty="0"/>
          </a:p>
          <a:p>
            <a:pPr algn="ctr">
              <a:lnSpc>
                <a:spcPct val="100000"/>
              </a:lnSpc>
              <a:spcBef>
                <a:spcPts val="300"/>
              </a:spcBef>
              <a:spcAft>
                <a:spcPts val="0"/>
              </a:spcAft>
              <a:buNone/>
            </a:pPr>
            <a:r>
              <a:rPr lang="fr-FR" sz="900" b="0" i="0" dirty="0">
                <a:solidFill>
                  <a:srgbClr val="1F2933"/>
                </a:solidFill>
                <a:latin typeface="Segoe UI"/>
                <a:cs typeface="Segoe UI"/>
              </a:rPr>
              <a:t>→ </a:t>
            </a:r>
            <a:r>
              <a:rPr lang="fr-FR" sz="900" b="0" i="0" dirty="0">
                <a:solidFill>
                  <a:srgbClr val="0B5C8A"/>
                </a:solidFill>
                <a:latin typeface="Consolas"/>
                <a:cs typeface="Consolas"/>
              </a:rPr>
              <a:t>data/raw/</a:t>
            </a:r>
            <a:r>
              <a:rPr lang="fr-FR" sz="900" b="0" i="0" dirty="0">
                <a:solidFill>
                  <a:srgbClr val="1F2933"/>
                </a:solidFill>
                <a:latin typeface="Segoe UI"/>
                <a:cs typeface="Segoe UI"/>
              </a:rPr>
              <a:t> + </a:t>
            </a:r>
            <a:r>
              <a:rPr lang="fr-FR" sz="900" b="0" i="0" dirty="0">
                <a:solidFill>
                  <a:srgbClr val="0B5C8A"/>
                </a:solidFill>
                <a:latin typeface="Consolas"/>
                <a:cs typeface="Consolas"/>
              </a:rPr>
              <a:t>manifest.csv</a:t>
            </a:r>
            <a:endParaRPr lang="fr-FR" sz="900" dirty="0"/>
          </a:p>
        </p:txBody>
      </p:sp>
      <p:cxnSp>
        <p:nvCxnSpPr>
          <p:cNvPr id="15" name="Flèche 15"/>
          <p:cNvCxnSpPr/>
          <p:nvPr/>
        </p:nvCxnSpPr>
        <p:spPr>
          <a:xfrm>
            <a:off x="4069080" y="1764792"/>
            <a:ext cx="173736" cy="0"/>
          </a:xfrm>
          <a:prstGeom prst="straightConnector1">
            <a:avLst/>
          </a:prstGeom>
          <a:ln w="28575">
            <a:solidFill>
              <a:srgbClr val="5B6573"/>
            </a:solidFill>
            <a:tailEnd type="triangle" w="med" len="med"/>
          </a:ln>
        </p:spPr>
      </p:cxnSp>
      <p:sp>
        <p:nvSpPr>
          <p:cNvPr id="16" name="Forme 16"/>
          <p:cNvSpPr/>
          <p:nvPr/>
        </p:nvSpPr>
        <p:spPr>
          <a:xfrm>
            <a:off x="4261104" y="1508760"/>
            <a:ext cx="1691640" cy="502920"/>
          </a:xfrm>
          <a:prstGeom prst="roundRect">
            <a:avLst>
              <a:gd name="adj" fmla="val 12000"/>
            </a:avLst>
          </a:prstGeom>
          <a:solidFill>
            <a:srgbClr val="7B61C9"/>
          </a:solidFill>
          <a:ln>
            <a:noFill/>
          </a:ln>
        </p:spPr>
        <p:txBody>
          <a:bodyPr wrap="square" lIns="27432" tIns="0" rIns="27432" bIns="0" anchor="ctr" rtlCol="0">
            <a:noAutofit/>
          </a:bodyPr>
          <a:lstStyle/>
          <a:p>
            <a:pPr algn="ctr">
              <a:lnSpc>
                <a:spcPct val="100000"/>
              </a:lnSpc>
              <a:spcBef>
                <a:spcPts val="0"/>
              </a:spcBef>
              <a:spcAft>
                <a:spcPts val="0"/>
              </a:spcAft>
              <a:buNone/>
            </a:pPr>
            <a:r>
              <a:rPr lang="fr-FR" sz="1250" b="1" i="0" dirty="0">
                <a:solidFill>
                  <a:srgbClr val="FFFFFF"/>
                </a:solidFill>
                <a:latin typeface="Segoe UI"/>
                <a:cs typeface="Segoe UI"/>
              </a:rPr>
              <a:t>3. Vérification</a:t>
            </a:r>
            <a:endParaRPr lang="fr-FR" sz="1250" dirty="0"/>
          </a:p>
        </p:txBody>
      </p:sp>
      <p:sp>
        <p:nvSpPr>
          <p:cNvPr id="17" name="Forme 17"/>
          <p:cNvSpPr/>
          <p:nvPr/>
        </p:nvSpPr>
        <p:spPr>
          <a:xfrm>
            <a:off x="4261104" y="2057400"/>
            <a:ext cx="1691640" cy="1874520"/>
          </a:xfrm>
          <a:prstGeom prst="roundRect">
            <a:avLst>
              <a:gd name="adj" fmla="val 6000"/>
            </a:avLst>
          </a:prstGeom>
          <a:solidFill>
            <a:srgbClr val="EEEAF8"/>
          </a:solidFill>
          <a:ln>
            <a:noFill/>
          </a:ln>
        </p:spPr>
        <p:txBody>
          <a:bodyPr wrap="square" lIns="73152" tIns="91440" rIns="73152" bIns="45720" anchor="t" rtlCol="0">
            <a:noAutofit/>
          </a:bodyPr>
          <a:lstStyle/>
          <a:p>
            <a:pPr algn="ctr">
              <a:lnSpc>
                <a:spcPct val="100000"/>
              </a:lnSpc>
              <a:spcBef>
                <a:spcPts val="300"/>
              </a:spcBef>
              <a:spcAft>
                <a:spcPts val="0"/>
              </a:spcAft>
              <a:buNone/>
            </a:pPr>
            <a:r>
              <a:rPr lang="fr-FR" sz="900" b="0" i="0" dirty="0">
                <a:solidFill>
                  <a:srgbClr val="0B5C8A"/>
                </a:solidFill>
                <a:latin typeface="Consolas"/>
                <a:cs typeface="Consolas"/>
              </a:rPr>
              <a:t>check_data.py</a:t>
            </a:r>
            <a:endParaRPr lang="fr-FR" sz="900" dirty="0"/>
          </a:p>
          <a:p>
            <a:pPr algn="ctr">
              <a:lnSpc>
                <a:spcPct val="100000"/>
              </a:lnSpc>
              <a:spcBef>
                <a:spcPts val="300"/>
              </a:spcBef>
              <a:spcAft>
                <a:spcPts val="0"/>
              </a:spcAft>
              <a:buNone/>
            </a:pPr>
            <a:r>
              <a:rPr lang="fr-FR" sz="900" b="0" i="0" dirty="0">
                <a:solidFill>
                  <a:srgbClr val="1F2933"/>
                </a:solidFill>
                <a:latin typeface="Segoe UI"/>
                <a:cs typeface="Segoe UI"/>
              </a:rPr>
              <a:t>✅ ⚠️ ❌ par fichier</a:t>
            </a:r>
            <a:endParaRPr lang="fr-FR" sz="900" dirty="0"/>
          </a:p>
          <a:p>
            <a:pPr algn="ctr">
              <a:lnSpc>
                <a:spcPct val="100000"/>
              </a:lnSpc>
              <a:spcBef>
                <a:spcPts val="300"/>
              </a:spcBef>
              <a:spcAft>
                <a:spcPts val="0"/>
              </a:spcAft>
              <a:buNone/>
            </a:pPr>
            <a:r>
              <a:rPr lang="fr-FR" sz="900" b="0" i="0" dirty="0">
                <a:solidFill>
                  <a:srgbClr val="1F2933"/>
                </a:solidFill>
                <a:latin typeface="Segoe UI"/>
                <a:cs typeface="Segoe UI"/>
              </a:rPr>
              <a:t>→ </a:t>
            </a:r>
            <a:r>
              <a:rPr lang="fr-FR" sz="900" b="0" i="0" dirty="0">
                <a:solidFill>
                  <a:srgbClr val="0B5C8A"/>
                </a:solidFill>
                <a:latin typeface="Consolas"/>
                <a:cs typeface="Consolas"/>
              </a:rPr>
              <a:t>check_report.md</a:t>
            </a:r>
            <a:endParaRPr lang="fr-FR" sz="900" dirty="0"/>
          </a:p>
        </p:txBody>
      </p:sp>
      <p:cxnSp>
        <p:nvCxnSpPr>
          <p:cNvPr id="18" name="Flèche 18"/>
          <p:cNvCxnSpPr/>
          <p:nvPr/>
        </p:nvCxnSpPr>
        <p:spPr>
          <a:xfrm>
            <a:off x="5971032" y="1764792"/>
            <a:ext cx="173736" cy="0"/>
          </a:xfrm>
          <a:prstGeom prst="straightConnector1">
            <a:avLst/>
          </a:prstGeom>
          <a:ln w="28575">
            <a:solidFill>
              <a:srgbClr val="5B6573"/>
            </a:solidFill>
            <a:tailEnd type="triangle" w="med" len="med"/>
          </a:ln>
        </p:spPr>
      </p:cxnSp>
      <p:sp>
        <p:nvSpPr>
          <p:cNvPr id="19" name="Forme 19"/>
          <p:cNvSpPr/>
          <p:nvPr/>
        </p:nvSpPr>
        <p:spPr>
          <a:xfrm>
            <a:off x="6163056" y="1508760"/>
            <a:ext cx="1691640" cy="502920"/>
          </a:xfrm>
          <a:prstGeom prst="roundRect">
            <a:avLst>
              <a:gd name="adj" fmla="val 12000"/>
            </a:avLst>
          </a:prstGeom>
          <a:solidFill>
            <a:srgbClr val="E08E1B"/>
          </a:solidFill>
          <a:ln>
            <a:noFill/>
          </a:ln>
        </p:spPr>
        <p:txBody>
          <a:bodyPr wrap="square" lIns="27432" tIns="0" rIns="27432" bIns="0" anchor="ctr" rtlCol="0">
            <a:noAutofit/>
          </a:bodyPr>
          <a:lstStyle/>
          <a:p>
            <a:pPr algn="ctr">
              <a:lnSpc>
                <a:spcPct val="100000"/>
              </a:lnSpc>
              <a:spcBef>
                <a:spcPts val="0"/>
              </a:spcBef>
              <a:spcAft>
                <a:spcPts val="0"/>
              </a:spcAft>
              <a:buNone/>
            </a:pPr>
            <a:r>
              <a:rPr lang="fr-FR" sz="1250" b="1" i="0" dirty="0">
                <a:solidFill>
                  <a:srgbClr val="FFFFFF"/>
                </a:solidFill>
                <a:latin typeface="Segoe UI"/>
                <a:cs typeface="Segoe UI"/>
              </a:rPr>
              <a:t>4. Nettoyage</a:t>
            </a:r>
            <a:endParaRPr lang="fr-FR" sz="1250" dirty="0"/>
          </a:p>
        </p:txBody>
      </p:sp>
      <p:sp>
        <p:nvSpPr>
          <p:cNvPr id="20" name="Forme 20"/>
          <p:cNvSpPr/>
          <p:nvPr/>
        </p:nvSpPr>
        <p:spPr>
          <a:xfrm>
            <a:off x="6163056" y="2057400"/>
            <a:ext cx="1691640" cy="1874520"/>
          </a:xfrm>
          <a:prstGeom prst="roundRect">
            <a:avLst>
              <a:gd name="adj" fmla="val 6000"/>
            </a:avLst>
          </a:prstGeom>
          <a:solidFill>
            <a:srgbClr val="FCF1E0"/>
          </a:solidFill>
          <a:ln>
            <a:noFill/>
          </a:ln>
        </p:spPr>
        <p:txBody>
          <a:bodyPr wrap="square" lIns="73152" tIns="91440" rIns="73152" bIns="45720" anchor="t" rtlCol="0">
            <a:noAutofit/>
          </a:bodyPr>
          <a:lstStyle/>
          <a:p>
            <a:pPr algn="ctr">
              <a:lnSpc>
                <a:spcPct val="100000"/>
              </a:lnSpc>
              <a:spcBef>
                <a:spcPts val="300"/>
              </a:spcBef>
              <a:spcAft>
                <a:spcPts val="0"/>
              </a:spcAft>
              <a:buNone/>
            </a:pPr>
            <a:r>
              <a:rPr lang="fr-FR" sz="900" b="0" i="0" dirty="0">
                <a:solidFill>
                  <a:srgbClr val="0B5C8A"/>
                </a:solidFill>
                <a:latin typeface="Consolas"/>
                <a:cs typeface="Consolas"/>
              </a:rPr>
              <a:t>zone.py</a:t>
            </a:r>
            <a:r>
              <a:rPr lang="fr-FR" sz="900" b="0" i="0" dirty="0">
                <a:solidFill>
                  <a:srgbClr val="1F2933"/>
                </a:solidFill>
                <a:latin typeface="Segoe UI"/>
                <a:cs typeface="Segoe UI"/>
              </a:rPr>
              <a:t> · </a:t>
            </a:r>
            <a:r>
              <a:rPr lang="fr-FR" sz="900" b="0" i="0" dirty="0">
                <a:solidFill>
                  <a:srgbClr val="0B5C8A"/>
                </a:solidFill>
                <a:latin typeface="Consolas"/>
                <a:cs typeface="Consolas"/>
              </a:rPr>
              <a:t>population.py</a:t>
            </a:r>
            <a:endParaRPr lang="fr-FR" sz="900" dirty="0"/>
          </a:p>
          <a:p>
            <a:pPr algn="ctr">
              <a:lnSpc>
                <a:spcPct val="100000"/>
              </a:lnSpc>
              <a:spcBef>
                <a:spcPts val="300"/>
              </a:spcBef>
              <a:spcAft>
                <a:spcPts val="0"/>
              </a:spcAft>
              <a:buNone/>
            </a:pPr>
            <a:r>
              <a:rPr lang="fr-FR" sz="900" b="0" i="0" dirty="0">
                <a:solidFill>
                  <a:srgbClr val="0B5C8A"/>
                </a:solidFill>
                <a:latin typeface="Consolas"/>
                <a:cs typeface="Consolas"/>
              </a:rPr>
              <a:t>offer.py</a:t>
            </a:r>
            <a:r>
              <a:rPr lang="fr-FR" sz="900" b="0" i="0" dirty="0">
                <a:solidFill>
                  <a:srgbClr val="1F2933"/>
                </a:solidFill>
                <a:latin typeface="Segoe UI"/>
                <a:cs typeface="Segoe UI"/>
              </a:rPr>
              <a:t> · </a:t>
            </a:r>
            <a:r>
              <a:rPr lang="fr-FR" sz="900" b="0" i="0" dirty="0">
                <a:solidFill>
                  <a:srgbClr val="0B5C8A"/>
                </a:solidFill>
                <a:latin typeface="Consolas"/>
                <a:cs typeface="Consolas"/>
              </a:rPr>
              <a:t>geo.py</a:t>
            </a:r>
            <a:endParaRPr lang="fr-FR" sz="900" dirty="0"/>
          </a:p>
          <a:p>
            <a:pPr algn="ctr">
              <a:lnSpc>
                <a:spcPct val="100000"/>
              </a:lnSpc>
              <a:spcBef>
                <a:spcPts val="300"/>
              </a:spcBef>
              <a:spcAft>
                <a:spcPts val="0"/>
              </a:spcAft>
              <a:buNone/>
            </a:pPr>
            <a:r>
              <a:rPr lang="fr-FR" sz="900" b="0" i="0" dirty="0">
                <a:solidFill>
                  <a:srgbClr val="1F2933"/>
                </a:solidFill>
                <a:latin typeface="Segoe UI"/>
                <a:cs typeface="Segoe UI"/>
              </a:rPr>
              <a:t>→ </a:t>
            </a:r>
            <a:r>
              <a:rPr lang="fr-FR" sz="900" b="0" i="0" dirty="0">
                <a:solidFill>
                  <a:srgbClr val="0B5C8A"/>
                </a:solidFill>
                <a:latin typeface="Consolas"/>
                <a:cs typeface="Consolas"/>
              </a:rPr>
              <a:t>data/processed/&lt;ville&gt;/</a:t>
            </a:r>
            <a:endParaRPr lang="fr-FR" sz="900" dirty="0"/>
          </a:p>
        </p:txBody>
      </p:sp>
      <p:cxnSp>
        <p:nvCxnSpPr>
          <p:cNvPr id="21" name="Flèche 21"/>
          <p:cNvCxnSpPr/>
          <p:nvPr/>
        </p:nvCxnSpPr>
        <p:spPr>
          <a:xfrm>
            <a:off x="7872984" y="1764792"/>
            <a:ext cx="173736" cy="0"/>
          </a:xfrm>
          <a:prstGeom prst="straightConnector1">
            <a:avLst/>
          </a:prstGeom>
          <a:ln w="28575">
            <a:solidFill>
              <a:srgbClr val="5B6573"/>
            </a:solidFill>
            <a:tailEnd type="triangle" w="med" len="med"/>
          </a:ln>
        </p:spPr>
      </p:cxnSp>
      <p:sp>
        <p:nvSpPr>
          <p:cNvPr id="22" name="Forme 22"/>
          <p:cNvSpPr/>
          <p:nvPr/>
        </p:nvSpPr>
        <p:spPr>
          <a:xfrm>
            <a:off x="8065008" y="1508760"/>
            <a:ext cx="1691640" cy="502920"/>
          </a:xfrm>
          <a:prstGeom prst="roundRect">
            <a:avLst>
              <a:gd name="adj" fmla="val 12000"/>
            </a:avLst>
          </a:prstGeom>
          <a:solidFill>
            <a:srgbClr val="D64545"/>
          </a:solidFill>
          <a:ln>
            <a:noFill/>
          </a:ln>
        </p:spPr>
        <p:txBody>
          <a:bodyPr wrap="square" lIns="27432" tIns="0" rIns="27432" bIns="0" anchor="ctr" rtlCol="0">
            <a:noAutofit/>
          </a:bodyPr>
          <a:lstStyle/>
          <a:p>
            <a:pPr algn="ctr">
              <a:lnSpc>
                <a:spcPct val="100000"/>
              </a:lnSpc>
              <a:spcBef>
                <a:spcPts val="0"/>
              </a:spcBef>
              <a:spcAft>
                <a:spcPts val="0"/>
              </a:spcAft>
              <a:buNone/>
            </a:pPr>
            <a:r>
              <a:rPr lang="fr-FR" sz="1250" b="1" i="0" dirty="0">
                <a:solidFill>
                  <a:srgbClr val="FFFFFF"/>
                </a:solidFill>
                <a:latin typeface="Segoe UI"/>
                <a:cs typeface="Segoe UI"/>
              </a:rPr>
              <a:t>5. Calculs</a:t>
            </a:r>
            <a:endParaRPr lang="fr-FR" sz="1250" dirty="0"/>
          </a:p>
        </p:txBody>
      </p:sp>
      <p:sp>
        <p:nvSpPr>
          <p:cNvPr id="23" name="Forme 23"/>
          <p:cNvSpPr/>
          <p:nvPr/>
        </p:nvSpPr>
        <p:spPr>
          <a:xfrm>
            <a:off x="8065008" y="2057400"/>
            <a:ext cx="1691640" cy="1874520"/>
          </a:xfrm>
          <a:prstGeom prst="roundRect">
            <a:avLst>
              <a:gd name="adj" fmla="val 6000"/>
            </a:avLst>
          </a:prstGeom>
          <a:solidFill>
            <a:srgbClr val="FBE7E7"/>
          </a:solidFill>
          <a:ln>
            <a:noFill/>
          </a:ln>
        </p:spPr>
        <p:txBody>
          <a:bodyPr wrap="square" lIns="73152" tIns="91440" rIns="73152" bIns="45720" anchor="t" rtlCol="0">
            <a:noAutofit/>
          </a:bodyPr>
          <a:lstStyle/>
          <a:p>
            <a:pPr algn="ctr">
              <a:lnSpc>
                <a:spcPct val="100000"/>
              </a:lnSpc>
              <a:spcBef>
                <a:spcPts val="300"/>
              </a:spcBef>
              <a:spcAft>
                <a:spcPts val="0"/>
              </a:spcAft>
              <a:buNone/>
            </a:pPr>
            <a:r>
              <a:rPr lang="fr-FR" sz="900" b="0" i="0" dirty="0">
                <a:solidFill>
                  <a:srgbClr val="0B5C8A"/>
                </a:solidFill>
                <a:latin typeface="Consolas"/>
                <a:cs typeface="Consolas"/>
              </a:rPr>
              <a:t>build_access.py</a:t>
            </a:r>
            <a:r>
              <a:rPr lang="fr-FR" sz="900" b="0" i="0" dirty="0">
                <a:solidFill>
                  <a:srgbClr val="1F2933"/>
                </a:solidFill>
                <a:latin typeface="Segoe UI"/>
                <a:cs typeface="Segoe UI"/>
              </a:rPr>
              <a:t> (V1, V2)</a:t>
            </a:r>
            <a:endParaRPr lang="fr-FR" sz="900" dirty="0"/>
          </a:p>
          <a:p>
            <a:pPr algn="ctr">
              <a:lnSpc>
                <a:spcPct val="100000"/>
              </a:lnSpc>
              <a:spcBef>
                <a:spcPts val="300"/>
              </a:spcBef>
              <a:spcAft>
                <a:spcPts val="0"/>
              </a:spcAft>
              <a:buNone/>
            </a:pPr>
            <a:r>
              <a:rPr lang="fr-FR" sz="900" b="0" i="0" dirty="0">
                <a:solidFill>
                  <a:srgbClr val="0B5C8A"/>
                </a:solidFill>
                <a:latin typeface="Consolas"/>
                <a:cs typeface="Consolas"/>
              </a:rPr>
              <a:t>served.py</a:t>
            </a:r>
            <a:endParaRPr lang="fr-FR" sz="900" dirty="0"/>
          </a:p>
          <a:p>
            <a:pPr algn="ctr">
              <a:lnSpc>
                <a:spcPct val="100000"/>
              </a:lnSpc>
              <a:spcBef>
                <a:spcPts val="300"/>
              </a:spcBef>
              <a:spcAft>
                <a:spcPts val="0"/>
              </a:spcAft>
              <a:buNone/>
            </a:pPr>
            <a:r>
              <a:rPr lang="fr-FR" sz="900" b="0" i="0" dirty="0">
                <a:solidFill>
                  <a:srgbClr val="0B5C8A"/>
                </a:solidFill>
                <a:latin typeface="Consolas"/>
                <a:cs typeface="Consolas"/>
              </a:rPr>
              <a:t>model/train.py</a:t>
            </a:r>
            <a:endParaRPr lang="fr-FR" sz="900" dirty="0"/>
          </a:p>
          <a:p>
            <a:pPr algn="ctr">
              <a:lnSpc>
                <a:spcPct val="100000"/>
              </a:lnSpc>
              <a:spcBef>
                <a:spcPts val="300"/>
              </a:spcBef>
              <a:spcAft>
                <a:spcPts val="0"/>
              </a:spcAft>
              <a:buNone/>
            </a:pPr>
            <a:r>
              <a:rPr lang="fr-FR" sz="900" b="0" i="0" dirty="0">
                <a:solidFill>
                  <a:srgbClr val="0B5C8A"/>
                </a:solidFill>
                <a:latin typeface="Consolas"/>
                <a:cs typeface="Consolas"/>
              </a:rPr>
              <a:t>optim/build_reco.py</a:t>
            </a:r>
            <a:endParaRPr lang="fr-FR" sz="900" dirty="0"/>
          </a:p>
        </p:txBody>
      </p:sp>
      <p:cxnSp>
        <p:nvCxnSpPr>
          <p:cNvPr id="24" name="Flèche 24"/>
          <p:cNvCxnSpPr/>
          <p:nvPr/>
        </p:nvCxnSpPr>
        <p:spPr>
          <a:xfrm>
            <a:off x="9774936" y="1764792"/>
            <a:ext cx="173736" cy="0"/>
          </a:xfrm>
          <a:prstGeom prst="straightConnector1">
            <a:avLst/>
          </a:prstGeom>
          <a:ln w="28575">
            <a:solidFill>
              <a:srgbClr val="5B6573"/>
            </a:solidFill>
            <a:tailEnd type="triangle" w="med" len="med"/>
          </a:ln>
        </p:spPr>
      </p:cxnSp>
      <p:sp>
        <p:nvSpPr>
          <p:cNvPr id="25" name="Forme 25"/>
          <p:cNvSpPr/>
          <p:nvPr/>
        </p:nvSpPr>
        <p:spPr>
          <a:xfrm>
            <a:off x="9966960" y="1508760"/>
            <a:ext cx="1691640" cy="502920"/>
          </a:xfrm>
          <a:prstGeom prst="roundRect">
            <a:avLst>
              <a:gd name="adj" fmla="val 12000"/>
            </a:avLst>
          </a:prstGeom>
          <a:solidFill>
            <a:srgbClr val="14213D"/>
          </a:solidFill>
          <a:ln>
            <a:noFill/>
          </a:ln>
        </p:spPr>
        <p:txBody>
          <a:bodyPr wrap="square" lIns="27432" tIns="0" rIns="27432" bIns="0" anchor="ctr" rtlCol="0">
            <a:noAutofit/>
          </a:bodyPr>
          <a:lstStyle/>
          <a:p>
            <a:pPr algn="ctr">
              <a:lnSpc>
                <a:spcPct val="100000"/>
              </a:lnSpc>
              <a:spcBef>
                <a:spcPts val="0"/>
              </a:spcBef>
              <a:spcAft>
                <a:spcPts val="0"/>
              </a:spcAft>
              <a:buNone/>
            </a:pPr>
            <a:r>
              <a:rPr lang="fr-FR" sz="1250" b="1" i="0" dirty="0">
                <a:solidFill>
                  <a:srgbClr val="FFFFFF"/>
                </a:solidFill>
                <a:latin typeface="Segoe UI"/>
                <a:cs typeface="Segoe UI"/>
              </a:rPr>
              <a:t>6. Restitution</a:t>
            </a:r>
            <a:endParaRPr lang="fr-FR" sz="1250" dirty="0"/>
          </a:p>
        </p:txBody>
      </p:sp>
      <p:sp>
        <p:nvSpPr>
          <p:cNvPr id="26" name="Forme 26"/>
          <p:cNvSpPr/>
          <p:nvPr/>
        </p:nvSpPr>
        <p:spPr>
          <a:xfrm>
            <a:off x="9966960" y="2057400"/>
            <a:ext cx="1691640" cy="1874520"/>
          </a:xfrm>
          <a:prstGeom prst="roundRect">
            <a:avLst>
              <a:gd name="adj" fmla="val 6000"/>
            </a:avLst>
          </a:prstGeom>
          <a:solidFill>
            <a:srgbClr val="E4E8EF"/>
          </a:solidFill>
          <a:ln>
            <a:noFill/>
          </a:ln>
        </p:spPr>
        <p:txBody>
          <a:bodyPr wrap="square" lIns="73152" tIns="91440" rIns="73152" bIns="45720" anchor="t" rtlCol="0">
            <a:noAutofit/>
          </a:bodyPr>
          <a:lstStyle/>
          <a:p>
            <a:pPr algn="ctr">
              <a:lnSpc>
                <a:spcPct val="100000"/>
              </a:lnSpc>
              <a:spcBef>
                <a:spcPts val="300"/>
              </a:spcBef>
              <a:spcAft>
                <a:spcPts val="0"/>
              </a:spcAft>
              <a:buNone/>
            </a:pPr>
            <a:r>
              <a:rPr lang="fr-FR" sz="900" b="0" i="0" dirty="0">
                <a:solidFill>
                  <a:srgbClr val="1F2933"/>
                </a:solidFill>
                <a:latin typeface="Segoe UI"/>
                <a:cs typeface="Segoe UI"/>
              </a:rPr>
              <a:t>Appli Streamlit </a:t>
            </a:r>
            <a:r>
              <a:rPr lang="fr-FR" sz="900" b="0" i="0" dirty="0">
                <a:solidFill>
                  <a:srgbClr val="0B5C8A"/>
                </a:solidFill>
                <a:latin typeface="Consolas"/>
                <a:cs typeface="Consolas"/>
              </a:rPr>
              <a:t>app/</a:t>
            </a:r>
            <a:endParaRPr lang="fr-FR" sz="900" dirty="0"/>
          </a:p>
          <a:p>
            <a:pPr algn="ctr">
              <a:lnSpc>
                <a:spcPct val="100000"/>
              </a:lnSpc>
              <a:spcBef>
                <a:spcPts val="300"/>
              </a:spcBef>
              <a:spcAft>
                <a:spcPts val="0"/>
              </a:spcAft>
              <a:buNone/>
            </a:pPr>
            <a:r>
              <a:rPr lang="fr-FR" sz="900" b="0" i="0" dirty="0">
                <a:solidFill>
                  <a:srgbClr val="1F2933"/>
                </a:solidFill>
                <a:latin typeface="Segoe UI"/>
                <a:cs typeface="Segoe UI"/>
              </a:rPr>
              <a:t>Fabric </a:t>
            </a:r>
            <a:r>
              <a:rPr lang="fr-FR" sz="900" b="0" i="0" dirty="0">
                <a:solidFill>
                  <a:srgbClr val="0B5C8A"/>
                </a:solidFill>
                <a:latin typeface="Consolas"/>
                <a:cs typeface="Consolas"/>
              </a:rPr>
              <a:t>fabric/</a:t>
            </a:r>
            <a:endParaRPr lang="fr-FR" sz="900" dirty="0"/>
          </a:p>
          <a:p>
            <a:pPr algn="ctr">
              <a:lnSpc>
                <a:spcPct val="100000"/>
              </a:lnSpc>
              <a:spcBef>
                <a:spcPts val="300"/>
              </a:spcBef>
              <a:spcAft>
                <a:spcPts val="0"/>
              </a:spcAft>
              <a:buNone/>
            </a:pPr>
            <a:r>
              <a:rPr lang="fr-FR" sz="900" b="0" i="0" dirty="0">
                <a:solidFill>
                  <a:srgbClr val="1F2933"/>
                </a:solidFill>
                <a:latin typeface="Segoe UI"/>
                <a:cs typeface="Segoe UI"/>
              </a:rPr>
              <a:t>Rapport Power BI</a:t>
            </a:r>
            <a:endParaRPr lang="fr-FR" sz="900" dirty="0"/>
          </a:p>
        </p:txBody>
      </p:sp>
      <p:sp>
        <p:nvSpPr>
          <p:cNvPr id="27" name="Forme 27"/>
          <p:cNvSpPr/>
          <p:nvPr/>
        </p:nvSpPr>
        <p:spPr>
          <a:xfrm>
            <a:off x="457200" y="4114800"/>
            <a:ext cx="5495544" cy="731520"/>
          </a:xfrm>
          <a:prstGeom prst="roundRect">
            <a:avLst>
              <a:gd name="adj" fmla="val 10000"/>
            </a:avLst>
          </a:prstGeom>
          <a:solidFill>
            <a:srgbClr val="B87333"/>
          </a:solidFill>
          <a:ln>
            <a:noFill/>
          </a:ln>
        </p:spPr>
        <p:txBody>
          <a:bodyPr wrap="square" lIns="45720" tIns="18288" rIns="45720" bIns="18288" anchor="ctr" rtlCol="0">
            <a:noAutofit/>
          </a:bodyPr>
          <a:lstStyle/>
          <a:p>
            <a:pPr algn="ctr">
              <a:lnSpc>
                <a:spcPct val="100000"/>
              </a:lnSpc>
              <a:spcBef>
                <a:spcPts val="0"/>
              </a:spcBef>
              <a:spcAft>
                <a:spcPts val="0"/>
              </a:spcAft>
              <a:buNone/>
            </a:pPr>
            <a:r>
              <a:rPr lang="fr-FR" sz="1150" b="1" i="0" dirty="0">
                <a:solidFill>
                  <a:srgbClr val="FFFFFF"/>
                </a:solidFill>
                <a:latin typeface="Segoe UI"/>
                <a:cs typeface="Segoe UI"/>
              </a:rPr>
              <a:t>BRONZE · data/raw</a:t>
            </a:r>
            <a:endParaRPr lang="fr-FR" sz="1150" dirty="0"/>
          </a:p>
          <a:p>
            <a:pPr algn="ctr">
              <a:lnSpc>
                <a:spcPct val="100000"/>
              </a:lnSpc>
              <a:spcBef>
                <a:spcPts val="0"/>
              </a:spcBef>
              <a:spcAft>
                <a:spcPts val="0"/>
              </a:spcAft>
              <a:buNone/>
            </a:pPr>
            <a:r>
              <a:rPr lang="fr-FR" sz="950" b="0" i="0" dirty="0">
                <a:solidFill>
                  <a:srgbClr val="FFFFFF"/>
                </a:solidFill>
                <a:latin typeface="Segoe UI"/>
                <a:cs typeface="Segoe UI"/>
              </a:rPr>
              <a:t>fichiers bruts tels que téléchargés + manifest.csv</a:t>
            </a:r>
            <a:endParaRPr lang="fr-FR" sz="950" dirty="0"/>
          </a:p>
        </p:txBody>
      </p:sp>
      <p:sp>
        <p:nvSpPr>
          <p:cNvPr id="28" name="Forme 28"/>
          <p:cNvSpPr/>
          <p:nvPr/>
        </p:nvSpPr>
        <p:spPr>
          <a:xfrm>
            <a:off x="6163056" y="4114800"/>
            <a:ext cx="1691640" cy="731520"/>
          </a:xfrm>
          <a:prstGeom prst="roundRect">
            <a:avLst>
              <a:gd name="adj" fmla="val 10000"/>
            </a:avLst>
          </a:prstGeom>
          <a:solidFill>
            <a:srgbClr val="7D8A99"/>
          </a:solidFill>
          <a:ln>
            <a:noFill/>
          </a:ln>
        </p:spPr>
        <p:txBody>
          <a:bodyPr wrap="square" lIns="45720" tIns="18288" rIns="45720" bIns="18288" anchor="ctr" rtlCol="0">
            <a:noAutofit/>
          </a:bodyPr>
          <a:lstStyle/>
          <a:p>
            <a:pPr algn="ctr">
              <a:lnSpc>
                <a:spcPct val="100000"/>
              </a:lnSpc>
              <a:spcBef>
                <a:spcPts val="0"/>
              </a:spcBef>
              <a:spcAft>
                <a:spcPts val="0"/>
              </a:spcAft>
              <a:buNone/>
            </a:pPr>
            <a:r>
              <a:rPr lang="fr-FR" sz="1150" b="1" i="0" dirty="0">
                <a:solidFill>
                  <a:srgbClr val="FFFFFF"/>
                </a:solidFill>
                <a:latin typeface="Segoe UI"/>
                <a:cs typeface="Segoe UI"/>
              </a:rPr>
              <a:t>SILVER · data/processed</a:t>
            </a:r>
            <a:endParaRPr lang="fr-FR" sz="1150" dirty="0"/>
          </a:p>
          <a:p>
            <a:pPr algn="ctr">
              <a:lnSpc>
                <a:spcPct val="100000"/>
              </a:lnSpc>
              <a:spcBef>
                <a:spcPts val="0"/>
              </a:spcBef>
              <a:spcAft>
                <a:spcPts val="0"/>
              </a:spcAft>
              <a:buNone/>
            </a:pPr>
            <a:r>
              <a:rPr lang="fr-FR" sz="950" b="0" i="0" dirty="0">
                <a:solidFill>
                  <a:srgbClr val="FFFFFF"/>
                </a:solidFill>
                <a:latin typeface="Segoe UI"/>
                <a:cs typeface="Segoe UI"/>
              </a:rPr>
              <a:t>données nettoyées</a:t>
            </a:r>
            <a:endParaRPr lang="fr-FR" sz="950" dirty="0"/>
          </a:p>
        </p:txBody>
      </p:sp>
      <p:sp>
        <p:nvSpPr>
          <p:cNvPr id="29" name="Forme 29"/>
          <p:cNvSpPr/>
          <p:nvPr/>
        </p:nvSpPr>
        <p:spPr>
          <a:xfrm>
            <a:off x="8065008" y="4114800"/>
            <a:ext cx="3593592" cy="731520"/>
          </a:xfrm>
          <a:prstGeom prst="roundRect">
            <a:avLst>
              <a:gd name="adj" fmla="val 10000"/>
            </a:avLst>
          </a:prstGeom>
          <a:solidFill>
            <a:srgbClr val="C9A227"/>
          </a:solidFill>
          <a:ln>
            <a:noFill/>
          </a:ln>
        </p:spPr>
        <p:txBody>
          <a:bodyPr wrap="square" lIns="45720" tIns="18288" rIns="45720" bIns="18288" anchor="ctr" rtlCol="0">
            <a:noAutofit/>
          </a:bodyPr>
          <a:lstStyle/>
          <a:p>
            <a:pPr algn="ctr">
              <a:lnSpc>
                <a:spcPct val="100000"/>
              </a:lnSpc>
              <a:spcBef>
                <a:spcPts val="0"/>
              </a:spcBef>
              <a:spcAft>
                <a:spcPts val="0"/>
              </a:spcAft>
              <a:buNone/>
            </a:pPr>
            <a:r>
              <a:rPr lang="fr-FR" sz="1150" b="1" i="0" dirty="0">
                <a:solidFill>
                  <a:srgbClr val="FFFFFF"/>
                </a:solidFill>
                <a:latin typeface="Segoe UI"/>
                <a:cs typeface="Segoe UI"/>
              </a:rPr>
              <a:t>GOLD · indicateurs</a:t>
            </a:r>
            <a:endParaRPr lang="fr-FR" sz="1150" dirty="0"/>
          </a:p>
          <a:p>
            <a:pPr algn="ctr">
              <a:lnSpc>
                <a:spcPct val="100000"/>
              </a:lnSpc>
              <a:spcBef>
                <a:spcPts val="0"/>
              </a:spcBef>
              <a:spcAft>
                <a:spcPts val="0"/>
              </a:spcAft>
              <a:buNone/>
            </a:pPr>
            <a:r>
              <a:rPr lang="fr-FR" sz="950" b="0" i="0" dirty="0">
                <a:solidFill>
                  <a:srgbClr val="FFFFFF"/>
                </a:solidFill>
                <a:latin typeface="Segoe UI"/>
                <a:cs typeface="Segoe UI"/>
              </a:rPr>
              <a:t>accès, prédictions, recommandations</a:t>
            </a:r>
            <a:endParaRPr lang="fr-FR" sz="950" dirty="0"/>
          </a:p>
        </p:txBody>
      </p:sp>
      <p:sp>
        <p:nvSpPr>
          <p:cNvPr id="30" name="Forme 30"/>
          <p:cNvSpPr/>
          <p:nvPr/>
        </p:nvSpPr>
        <p:spPr>
          <a:xfrm>
            <a:off x="457200" y="5074920"/>
            <a:ext cx="11274552" cy="1188720"/>
          </a:xfrm>
          <a:prstGeom prst="roundRect">
            <a:avLst>
              <a:gd name="adj" fmla="val 6000"/>
            </a:avLst>
          </a:prstGeom>
          <a:solidFill>
            <a:srgbClr val="F4F6F9"/>
          </a:solidFill>
          <a:ln>
            <a:noFill/>
          </a:ln>
        </p:spPr>
        <p:txBody>
          <a:bodyPr wrap="square" lIns="228600" tIns="109728" rIns="228600" bIns="91440" anchor="t" rtlCol="0">
            <a:noAutofit/>
          </a:bodyPr>
          <a:lstStyle/>
          <a:p>
            <a:pPr algn="l">
              <a:lnSpc>
                <a:spcPct val="100000"/>
              </a:lnSpc>
              <a:spcBef>
                <a:spcPts val="0"/>
              </a:spcBef>
              <a:spcAft>
                <a:spcPts val="0"/>
              </a:spcAft>
              <a:buNone/>
            </a:pPr>
            <a:r>
              <a:rPr lang="fr-FR" sz="1200" b="1" i="0" dirty="0">
                <a:solidFill>
                  <a:srgbClr val="1F2933"/>
                </a:solidFill>
                <a:latin typeface="Segoe UI"/>
                <a:cs typeface="Segoe UI"/>
              </a:rPr>
              <a:t>Le même parcours dans Microsoft Fabric</a:t>
            </a:r>
            <a:r>
              <a:rPr lang="fr-FR" sz="1200" b="0" i="0" dirty="0">
                <a:solidFill>
                  <a:srgbClr val="1F2933"/>
                </a:solidFill>
                <a:latin typeface="Segoe UI"/>
                <a:cs typeface="Segoe UI"/>
              </a:rPr>
              <a:t> : 6 notebooks alimentent 3 lakehouses, puis Power BI lit directement « gold ».</a:t>
            </a:r>
            <a:endParaRPr lang="fr-FR" sz="1200" dirty="0"/>
          </a:p>
          <a:p>
            <a:pPr algn="l">
              <a:lnSpc>
                <a:spcPct val="100000"/>
              </a:lnSpc>
              <a:spcBef>
                <a:spcPts val="600"/>
              </a:spcBef>
              <a:spcAft>
                <a:spcPts val="0"/>
              </a:spcAft>
              <a:buNone/>
            </a:pPr>
            <a:r>
              <a:rPr lang="fr-FR" sz="1100" b="0" i="0" dirty="0">
                <a:solidFill>
                  <a:srgbClr val="0B7A6E"/>
                </a:solidFill>
                <a:latin typeface="Consolas"/>
                <a:cs typeface="Consolas"/>
              </a:rPr>
              <a:t>bronze_notebook</a:t>
            </a:r>
            <a:r>
              <a:rPr lang="fr-FR" sz="1100" b="0" i="0" dirty="0">
                <a:solidFill>
                  <a:srgbClr val="5B6573"/>
                </a:solidFill>
                <a:latin typeface="Segoe UI"/>
                <a:cs typeface="Segoe UI"/>
              </a:rPr>
              <a:t> → lakehouse </a:t>
            </a:r>
            <a:r>
              <a:rPr lang="fr-FR" sz="1100" b="1" i="0" dirty="0">
                <a:solidFill>
                  <a:srgbClr val="5B6573"/>
                </a:solidFill>
                <a:latin typeface="Segoe UI"/>
                <a:cs typeface="Segoe UI"/>
              </a:rPr>
              <a:t>bronze</a:t>
            </a:r>
            <a:r>
              <a:rPr lang="fr-FR" sz="1100" b="0" i="0" dirty="0">
                <a:solidFill>
                  <a:srgbClr val="5B6573"/>
                </a:solidFill>
                <a:latin typeface="Segoe UI"/>
                <a:cs typeface="Segoe UI"/>
              </a:rPr>
              <a:t>   →   </a:t>
            </a:r>
            <a:r>
              <a:rPr lang="fr-FR" sz="1100" b="0" i="0" dirty="0">
                <a:solidFill>
                  <a:srgbClr val="0B7A6E"/>
                </a:solidFill>
                <a:latin typeface="Consolas"/>
                <a:cs typeface="Consolas"/>
              </a:rPr>
              <a:t>silver_notebook</a:t>
            </a:r>
            <a:r>
              <a:rPr lang="fr-FR" sz="1100" b="0" i="0" dirty="0">
                <a:solidFill>
                  <a:srgbClr val="5B6573"/>
                </a:solidFill>
                <a:latin typeface="Segoe UI"/>
                <a:cs typeface="Segoe UI"/>
              </a:rPr>
              <a:t> → </a:t>
            </a:r>
            <a:r>
              <a:rPr lang="fr-FR" sz="1100" b="1" i="0" dirty="0">
                <a:solidFill>
                  <a:srgbClr val="5B6573"/>
                </a:solidFill>
                <a:latin typeface="Segoe UI"/>
                <a:cs typeface="Segoe UI"/>
              </a:rPr>
              <a:t>silver</a:t>
            </a:r>
            <a:r>
              <a:rPr lang="fr-FR" sz="1100" b="0" i="0" dirty="0">
                <a:solidFill>
                  <a:srgbClr val="5B6573"/>
                </a:solidFill>
                <a:latin typeface="Segoe UI"/>
                <a:cs typeface="Segoe UI"/>
              </a:rPr>
              <a:t>   →   </a:t>
            </a:r>
            <a:r>
              <a:rPr lang="fr-FR" sz="1100" b="0" i="0" dirty="0">
                <a:solidFill>
                  <a:srgbClr val="0B7A6E"/>
                </a:solidFill>
                <a:latin typeface="Consolas"/>
                <a:cs typeface="Consolas"/>
              </a:rPr>
              <a:t>acces_notebook</a:t>
            </a:r>
            <a:r>
              <a:rPr lang="fr-FR" sz="1100" b="0" i="0" dirty="0">
                <a:solidFill>
                  <a:srgbClr val="5B6573"/>
                </a:solidFill>
                <a:latin typeface="Segoe UI"/>
                <a:cs typeface="Segoe UI"/>
              </a:rPr>
              <a:t>, </a:t>
            </a:r>
            <a:r>
              <a:rPr lang="fr-FR" sz="1100" b="0" i="0" dirty="0">
                <a:solidFill>
                  <a:srgbClr val="0B7A6E"/>
                </a:solidFill>
                <a:latin typeface="Consolas"/>
                <a:cs typeface="Consolas"/>
              </a:rPr>
              <a:t>modele_notebook</a:t>
            </a:r>
            <a:r>
              <a:rPr lang="fr-FR" sz="1100" b="0" i="0" dirty="0">
                <a:solidFill>
                  <a:srgbClr val="5B6573"/>
                </a:solidFill>
                <a:latin typeface="Segoe UI"/>
                <a:cs typeface="Segoe UI"/>
              </a:rPr>
              <a:t>, </a:t>
            </a:r>
            <a:r>
              <a:rPr lang="fr-FR" sz="1100" b="0" i="0" dirty="0">
                <a:solidFill>
                  <a:srgbClr val="0B7A6E"/>
                </a:solidFill>
                <a:latin typeface="Consolas"/>
                <a:cs typeface="Consolas"/>
              </a:rPr>
              <a:t>optimisation_notebook</a:t>
            </a:r>
            <a:r>
              <a:rPr lang="fr-FR" sz="1100" b="0" i="0" dirty="0">
                <a:solidFill>
                  <a:srgbClr val="5B6573"/>
                </a:solidFill>
                <a:latin typeface="Segoe UI"/>
                <a:cs typeface="Segoe UI"/>
              </a:rPr>
              <a:t>, </a:t>
            </a:r>
            <a:r>
              <a:rPr lang="fr-FR" sz="1100" b="0" i="0" dirty="0">
                <a:solidFill>
                  <a:srgbClr val="0B7A6E"/>
                </a:solidFill>
                <a:latin typeface="Consolas"/>
                <a:cs typeface="Consolas"/>
              </a:rPr>
              <a:t>gold_notebook</a:t>
            </a:r>
            <a:r>
              <a:rPr lang="fr-FR" sz="1100" b="0" i="0" dirty="0">
                <a:solidFill>
                  <a:srgbClr val="5B6573"/>
                </a:solidFill>
                <a:latin typeface="Segoe UI"/>
                <a:cs typeface="Segoe UI"/>
              </a:rPr>
              <a:t> → </a:t>
            </a:r>
            <a:r>
              <a:rPr lang="fr-FR" sz="1100" b="1" i="0" dirty="0">
                <a:solidFill>
                  <a:srgbClr val="5B6573"/>
                </a:solidFill>
                <a:latin typeface="Segoe UI"/>
                <a:cs typeface="Segoe UI"/>
              </a:rPr>
              <a:t>gold</a:t>
            </a:r>
            <a:r>
              <a:rPr lang="fr-FR" sz="1100" b="0" i="0" dirty="0">
                <a:solidFill>
                  <a:srgbClr val="5B6573"/>
                </a:solidFill>
                <a:latin typeface="Segoe UI"/>
                <a:cs typeface="Segoe UI"/>
              </a:rPr>
              <a:t>   →   rapport </a:t>
            </a:r>
            <a:r>
              <a:rPr lang="fr-FR" sz="1100" b="0" i="0" dirty="0">
                <a:solidFill>
                  <a:srgbClr val="0B7A6E"/>
                </a:solidFill>
                <a:latin typeface="Consolas"/>
                <a:cs typeface="Consolas"/>
              </a:rPr>
              <a:t>citiz_acces_investissement</a:t>
            </a:r>
            <a:r>
              <a:rPr lang="fr-FR" sz="1100" b="0" i="0" dirty="0">
                <a:solidFill>
                  <a:srgbClr val="5B6573"/>
                </a:solidFill>
                <a:latin typeface="Segoe UI"/>
                <a:cs typeface="Segoe UI"/>
              </a:rPr>
              <a:t> (7 pages)</a:t>
            </a:r>
            <a:endParaRPr lang="fr-FR"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rme 3"/>
          <p:cNvSpPr/>
          <p:nvPr/>
        </p:nvSpPr>
        <p:spPr>
          <a:xfrm>
            <a:off x="0" y="0"/>
            <a:ext cx="128016" cy="6858000"/>
          </a:xfrm>
          <a:prstGeom prst="rect">
            <a:avLst/>
          </a:prstGeom>
          <a:solidFill>
            <a:srgbClr val="0E9F8E"/>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4" name="Forme 4"/>
          <p:cNvSpPr/>
          <p:nvPr/>
        </p:nvSpPr>
        <p:spPr>
          <a:xfrm>
            <a:off x="457200" y="256032"/>
            <a:ext cx="7315200" cy="2743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050" b="1" i="0" dirty="0">
                <a:solidFill>
                  <a:srgbClr val="0E9F8E"/>
                </a:solidFill>
                <a:latin typeface="Segoe UI"/>
                <a:cs typeface="Segoe UI"/>
              </a:rPr>
              <a:t>PARTIE 1 · VUE D'ENSEMBLE</a:t>
            </a:r>
            <a:endParaRPr lang="fr-FR" sz="1050" dirty="0"/>
          </a:p>
        </p:txBody>
      </p:sp>
      <p:sp>
        <p:nvSpPr>
          <p:cNvPr id="5" name="Forme 5"/>
          <p:cNvSpPr/>
          <p:nvPr/>
        </p:nvSpPr>
        <p:spPr>
          <a:xfrm>
            <a:off x="457200" y="502920"/>
            <a:ext cx="11247120" cy="5486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2500" b="1" i="0" dirty="0">
                <a:solidFill>
                  <a:srgbClr val="14213D"/>
                </a:solidFill>
                <a:latin typeface="Segoe UI"/>
                <a:cs typeface="Segoe UI"/>
              </a:rPr>
              <a:t>De la donnée brute à la recommandation</a:t>
            </a:r>
            <a:endParaRPr lang="fr-FR" sz="2500" dirty="0"/>
          </a:p>
        </p:txBody>
      </p:sp>
      <p:sp>
        <p:nvSpPr>
          <p:cNvPr id="6" name="Forme 6"/>
          <p:cNvSpPr/>
          <p:nvPr/>
        </p:nvSpPr>
        <p:spPr>
          <a:xfrm>
            <a:off x="457200" y="987552"/>
            <a:ext cx="11247120" cy="3200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250" b="0" i="0" dirty="0">
                <a:solidFill>
                  <a:srgbClr val="5B6573"/>
                </a:solidFill>
                <a:latin typeface="Segoe UI"/>
                <a:cs typeface="Segoe UI"/>
              </a:rPr>
              <a:t>En 5 lignes, puis la correspondance avec l'architecture Fabric.</a:t>
            </a:r>
            <a:endParaRPr lang="fr-FR" sz="1250" dirty="0"/>
          </a:p>
        </p:txBody>
      </p:sp>
      <p:sp>
        <p:nvSpPr>
          <p:cNvPr id="7" name="Forme 7"/>
          <p:cNvSpPr/>
          <p:nvPr/>
        </p:nvSpPr>
        <p:spPr>
          <a:xfrm>
            <a:off x="457200" y="6446520"/>
            <a:ext cx="11274552" cy="10973"/>
          </a:xfrm>
          <a:prstGeom prst="rect">
            <a:avLst/>
          </a:prstGeom>
          <a:solidFill>
            <a:srgbClr val="D5DAE1"/>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8" name="Forme 8"/>
          <p:cNvSpPr/>
          <p:nvPr/>
        </p:nvSpPr>
        <p:spPr>
          <a:xfrm>
            <a:off x="457200" y="6492240"/>
            <a:ext cx="7315200" cy="256032"/>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00" b="0" i="0" dirty="0">
                <a:solidFill>
                  <a:srgbClr val="5B6573"/>
                </a:solidFill>
                <a:latin typeface="Segoe UI"/>
                <a:cs typeface="Segoe UI"/>
              </a:rPr>
              <a:t>Hackathon Mobility × Citiz · Nos données, de A à Z</a:t>
            </a:r>
            <a:endParaRPr lang="fr-FR" sz="900" dirty="0"/>
          </a:p>
        </p:txBody>
      </p:sp>
      <p:sp>
        <p:nvSpPr>
          <p:cNvPr id="9" name="Forme 9"/>
          <p:cNvSpPr/>
          <p:nvPr/>
        </p:nvSpPr>
        <p:spPr>
          <a:xfrm>
            <a:off x="10360152" y="6492240"/>
            <a:ext cx="1371600" cy="256032"/>
          </a:xfrm>
          <a:prstGeom prst="rect">
            <a:avLst/>
          </a:prstGeom>
          <a:noFill/>
          <a:ln>
            <a:noFill/>
          </a:ln>
        </p:spPr>
        <p:txBody>
          <a:bodyPr wrap="square" lIns="18288" tIns="18288" rIns="18288" bIns="18288" anchor="t" rtlCol="0">
            <a:noAutofit/>
          </a:bodyPr>
          <a:lstStyle/>
          <a:p>
            <a:pPr algn="r">
              <a:lnSpc>
                <a:spcPct val="100000"/>
              </a:lnSpc>
              <a:spcBef>
                <a:spcPts val="0"/>
              </a:spcBef>
              <a:spcAft>
                <a:spcPts val="0"/>
              </a:spcAft>
              <a:buNone/>
            </a:pPr>
            <a:r>
              <a:rPr lang="fr-FR" sz="900" b="0" i="0" dirty="0">
                <a:solidFill>
                  <a:srgbClr val="5B6573"/>
                </a:solidFill>
                <a:latin typeface="Segoe UI"/>
                <a:cs typeface="Segoe UI"/>
              </a:rPr>
              <a:t>4</a:t>
            </a:r>
            <a:endParaRPr lang="fr-FR" sz="900" dirty="0"/>
          </a:p>
        </p:txBody>
      </p:sp>
      <p:sp>
        <p:nvSpPr>
          <p:cNvPr id="10" name="Forme 10"/>
          <p:cNvSpPr/>
          <p:nvPr/>
        </p:nvSpPr>
        <p:spPr>
          <a:xfrm>
            <a:off x="457200" y="1508760"/>
            <a:ext cx="502920" cy="502920"/>
          </a:xfrm>
          <a:prstGeom prst="ellipse">
            <a:avLst/>
          </a:prstGeom>
          <a:solidFill>
            <a:srgbClr val="0E9F8E"/>
          </a:solidFill>
          <a:ln>
            <a:noFill/>
          </a:ln>
        </p:spPr>
        <p:txBody>
          <a:bodyPr wrap="square" lIns="0" tIns="0" rIns="0" bIns="0" anchor="ctr" rtlCol="0">
            <a:noAutofit/>
          </a:bodyPr>
          <a:lstStyle/>
          <a:p>
            <a:pPr algn="ctr">
              <a:lnSpc>
                <a:spcPct val="100000"/>
              </a:lnSpc>
              <a:spcBef>
                <a:spcPts val="0"/>
              </a:spcBef>
              <a:spcAft>
                <a:spcPts val="0"/>
              </a:spcAft>
              <a:buNone/>
            </a:pPr>
            <a:r>
              <a:rPr lang="fr-FR" sz="1700" b="1" i="0" dirty="0">
                <a:solidFill>
                  <a:srgbClr val="FFFFFF"/>
                </a:solidFill>
                <a:latin typeface="Segoe UI"/>
                <a:cs typeface="Segoe UI"/>
              </a:rPr>
              <a:t>1</a:t>
            </a:r>
            <a:endParaRPr lang="fr-FR" sz="1700" dirty="0"/>
          </a:p>
        </p:txBody>
      </p:sp>
      <p:sp>
        <p:nvSpPr>
          <p:cNvPr id="11" name="Forme 11"/>
          <p:cNvSpPr/>
          <p:nvPr/>
        </p:nvSpPr>
        <p:spPr>
          <a:xfrm>
            <a:off x="1143000" y="1463040"/>
            <a:ext cx="5120640" cy="868680"/>
          </a:xfrm>
          <a:prstGeom prst="rect">
            <a:avLst/>
          </a:prstGeom>
          <a:noFill/>
          <a:ln>
            <a:noFill/>
          </a:ln>
        </p:spPr>
        <p:txBody>
          <a:bodyPr wrap="square" lIns="18288" tIns="18288" rIns="18288" bIns="18288" anchor="ctr" rtlCol="0">
            <a:noAutofit/>
          </a:bodyPr>
          <a:lstStyle/>
          <a:p>
            <a:pPr algn="l">
              <a:lnSpc>
                <a:spcPct val="100000"/>
              </a:lnSpc>
              <a:spcBef>
                <a:spcPts val="0"/>
              </a:spcBef>
              <a:spcAft>
                <a:spcPts val="0"/>
              </a:spcAft>
              <a:buNone/>
            </a:pPr>
            <a:r>
              <a:rPr lang="fr-FR" sz="1250" b="0" i="0" dirty="0">
                <a:solidFill>
                  <a:srgbClr val="1F2933"/>
                </a:solidFill>
                <a:latin typeface="Segoe UI"/>
                <a:cs typeface="Segoe UI"/>
              </a:rPr>
              <a:t>On </a:t>
            </a:r>
            <a:r>
              <a:rPr lang="fr-FR" sz="1250" b="1" i="0" dirty="0">
                <a:solidFill>
                  <a:srgbClr val="1F2933"/>
                </a:solidFill>
                <a:latin typeface="Segoe UI"/>
                <a:cs typeface="Segoe UI"/>
              </a:rPr>
              <a:t>télécharge automatiquement</a:t>
            </a:r>
            <a:r>
              <a:rPr lang="fr-FR" sz="1250" b="0" i="0" dirty="0">
                <a:solidFill>
                  <a:srgbClr val="1F2933"/>
                </a:solidFill>
                <a:latin typeface="Segoe UI"/>
                <a:cs typeface="Segoe UI"/>
              </a:rPr>
              <a:t> 14 sources ouvertes : horaires de bus et de trams, vélos et voitures partagés, population, rues.</a:t>
            </a:r>
            <a:endParaRPr lang="fr-FR" sz="1250" dirty="0"/>
          </a:p>
        </p:txBody>
      </p:sp>
      <p:sp>
        <p:nvSpPr>
          <p:cNvPr id="12" name="Forme 12"/>
          <p:cNvSpPr/>
          <p:nvPr/>
        </p:nvSpPr>
        <p:spPr>
          <a:xfrm>
            <a:off x="457200" y="2468880"/>
            <a:ext cx="502920" cy="502920"/>
          </a:xfrm>
          <a:prstGeom prst="ellipse">
            <a:avLst/>
          </a:prstGeom>
          <a:solidFill>
            <a:srgbClr val="0E9F8E"/>
          </a:solidFill>
          <a:ln>
            <a:noFill/>
          </a:ln>
        </p:spPr>
        <p:txBody>
          <a:bodyPr wrap="square" lIns="0" tIns="0" rIns="0" bIns="0" anchor="ctr" rtlCol="0">
            <a:noAutofit/>
          </a:bodyPr>
          <a:lstStyle/>
          <a:p>
            <a:pPr algn="ctr">
              <a:lnSpc>
                <a:spcPct val="100000"/>
              </a:lnSpc>
              <a:spcBef>
                <a:spcPts val="0"/>
              </a:spcBef>
              <a:spcAft>
                <a:spcPts val="0"/>
              </a:spcAft>
              <a:buNone/>
            </a:pPr>
            <a:r>
              <a:rPr lang="fr-FR" sz="1700" b="1" i="0" dirty="0">
                <a:solidFill>
                  <a:srgbClr val="FFFFFF"/>
                </a:solidFill>
                <a:latin typeface="Segoe UI"/>
                <a:cs typeface="Segoe UI"/>
              </a:rPr>
              <a:t>2</a:t>
            </a:r>
            <a:endParaRPr lang="fr-FR" sz="1700" dirty="0"/>
          </a:p>
        </p:txBody>
      </p:sp>
      <p:sp>
        <p:nvSpPr>
          <p:cNvPr id="13" name="Forme 13"/>
          <p:cNvSpPr/>
          <p:nvPr/>
        </p:nvSpPr>
        <p:spPr>
          <a:xfrm>
            <a:off x="1143000" y="2423160"/>
            <a:ext cx="5120640" cy="868680"/>
          </a:xfrm>
          <a:prstGeom prst="rect">
            <a:avLst/>
          </a:prstGeom>
          <a:noFill/>
          <a:ln>
            <a:noFill/>
          </a:ln>
        </p:spPr>
        <p:txBody>
          <a:bodyPr wrap="square" lIns="18288" tIns="18288" rIns="18288" bIns="18288" anchor="ctr" rtlCol="0">
            <a:noAutofit/>
          </a:bodyPr>
          <a:lstStyle/>
          <a:p>
            <a:pPr algn="l">
              <a:lnSpc>
                <a:spcPct val="100000"/>
              </a:lnSpc>
              <a:spcBef>
                <a:spcPts val="0"/>
              </a:spcBef>
              <a:spcAft>
                <a:spcPts val="0"/>
              </a:spcAft>
              <a:buNone/>
            </a:pPr>
            <a:r>
              <a:rPr lang="fr-FR" sz="1250" b="0" i="0" dirty="0">
                <a:solidFill>
                  <a:srgbClr val="1F2933"/>
                </a:solidFill>
                <a:latin typeface="Segoe UI"/>
                <a:cs typeface="Segoe UI"/>
              </a:rPr>
              <a:t>On </a:t>
            </a:r>
            <a:r>
              <a:rPr lang="fr-FR" sz="1250" b="1" i="0" dirty="0">
                <a:solidFill>
                  <a:srgbClr val="1F2933"/>
                </a:solidFill>
                <a:latin typeface="Segoe UI"/>
                <a:cs typeface="Segoe UI"/>
              </a:rPr>
              <a:t>vérifie</a:t>
            </a:r>
            <a:r>
              <a:rPr lang="fr-FR" sz="1250" b="0" i="0" dirty="0">
                <a:solidFill>
                  <a:srgbClr val="1F2933"/>
                </a:solidFill>
                <a:latin typeface="Segoe UI"/>
                <a:cs typeface="Segoe UI"/>
              </a:rPr>
              <a:t> chaque fichier, puis on </a:t>
            </a:r>
            <a:r>
              <a:rPr lang="fr-FR" sz="1250" b="1" i="0" dirty="0">
                <a:solidFill>
                  <a:srgbClr val="1F2933"/>
                </a:solidFill>
                <a:latin typeface="Segoe UI"/>
                <a:cs typeface="Segoe UI"/>
              </a:rPr>
              <a:t>nettoie</a:t>
            </a:r>
            <a:r>
              <a:rPr lang="fr-FR" sz="1250" b="0" i="0" dirty="0">
                <a:solidFill>
                  <a:srgbClr val="1F2933"/>
                </a:solidFill>
                <a:latin typeface="Segoe UI"/>
                <a:cs typeface="Segoe UI"/>
              </a:rPr>
              <a:t> : arrêts en double fusionnés, un jour de semaine figé, population recalée sur le recensement.</a:t>
            </a:r>
            <a:endParaRPr lang="fr-FR" sz="1250" dirty="0"/>
          </a:p>
        </p:txBody>
      </p:sp>
      <p:sp>
        <p:nvSpPr>
          <p:cNvPr id="14" name="Forme 14"/>
          <p:cNvSpPr/>
          <p:nvPr/>
        </p:nvSpPr>
        <p:spPr>
          <a:xfrm>
            <a:off x="457200" y="3429000"/>
            <a:ext cx="502920" cy="502920"/>
          </a:xfrm>
          <a:prstGeom prst="ellipse">
            <a:avLst/>
          </a:prstGeom>
          <a:solidFill>
            <a:srgbClr val="0E9F8E"/>
          </a:solidFill>
          <a:ln>
            <a:noFill/>
          </a:ln>
        </p:spPr>
        <p:txBody>
          <a:bodyPr wrap="square" lIns="0" tIns="0" rIns="0" bIns="0" anchor="ctr" rtlCol="0">
            <a:noAutofit/>
          </a:bodyPr>
          <a:lstStyle/>
          <a:p>
            <a:pPr algn="ctr">
              <a:lnSpc>
                <a:spcPct val="100000"/>
              </a:lnSpc>
              <a:spcBef>
                <a:spcPts val="0"/>
              </a:spcBef>
              <a:spcAft>
                <a:spcPts val="0"/>
              </a:spcAft>
              <a:buNone/>
            </a:pPr>
            <a:r>
              <a:rPr lang="fr-FR" sz="1700" b="1" i="0" dirty="0">
                <a:solidFill>
                  <a:srgbClr val="FFFFFF"/>
                </a:solidFill>
                <a:latin typeface="Segoe UI"/>
                <a:cs typeface="Segoe UI"/>
              </a:rPr>
              <a:t>3</a:t>
            </a:r>
            <a:endParaRPr lang="fr-FR" sz="1700" dirty="0"/>
          </a:p>
        </p:txBody>
      </p:sp>
      <p:sp>
        <p:nvSpPr>
          <p:cNvPr id="15" name="Forme 15"/>
          <p:cNvSpPr/>
          <p:nvPr/>
        </p:nvSpPr>
        <p:spPr>
          <a:xfrm>
            <a:off x="1143000" y="3383280"/>
            <a:ext cx="5120640" cy="868680"/>
          </a:xfrm>
          <a:prstGeom prst="rect">
            <a:avLst/>
          </a:prstGeom>
          <a:noFill/>
          <a:ln>
            <a:noFill/>
          </a:ln>
        </p:spPr>
        <p:txBody>
          <a:bodyPr wrap="square" lIns="18288" tIns="18288" rIns="18288" bIns="18288" anchor="ctr" rtlCol="0">
            <a:noAutofit/>
          </a:bodyPr>
          <a:lstStyle/>
          <a:p>
            <a:pPr algn="l">
              <a:lnSpc>
                <a:spcPct val="100000"/>
              </a:lnSpc>
              <a:spcBef>
                <a:spcPts val="0"/>
              </a:spcBef>
              <a:spcAft>
                <a:spcPts val="0"/>
              </a:spcAft>
              <a:buNone/>
            </a:pPr>
            <a:r>
              <a:rPr lang="fr-FR" sz="1250" b="0" i="0" dirty="0">
                <a:solidFill>
                  <a:srgbClr val="1F2933"/>
                </a:solidFill>
                <a:latin typeface="Segoe UI"/>
                <a:cs typeface="Segoe UI"/>
              </a:rPr>
              <a:t>Pour chaque carreau habité de 200 m, on </a:t>
            </a:r>
            <a:r>
              <a:rPr lang="fr-FR" sz="1250" b="1" i="0" dirty="0">
                <a:solidFill>
                  <a:srgbClr val="1F2933"/>
                </a:solidFill>
                <a:latin typeface="Segoe UI"/>
                <a:cs typeface="Segoe UI"/>
              </a:rPr>
              <a:t>compte les options de mobilité à 5 minutes de vraie marche</a:t>
            </a:r>
            <a:r>
              <a:rPr lang="fr-FR" sz="1250" b="0" i="0" dirty="0">
                <a:solidFill>
                  <a:srgbClr val="1F2933"/>
                </a:solidFill>
                <a:latin typeface="Segoe UI"/>
                <a:cs typeface="Segoe UI"/>
              </a:rPr>
              <a:t> (400 m par les rues).</a:t>
            </a:r>
            <a:endParaRPr lang="fr-FR" sz="1250" dirty="0"/>
          </a:p>
        </p:txBody>
      </p:sp>
      <p:sp>
        <p:nvSpPr>
          <p:cNvPr id="16" name="Forme 16"/>
          <p:cNvSpPr/>
          <p:nvPr/>
        </p:nvSpPr>
        <p:spPr>
          <a:xfrm>
            <a:off x="457200" y="4389120"/>
            <a:ext cx="502920" cy="502920"/>
          </a:xfrm>
          <a:prstGeom prst="ellipse">
            <a:avLst/>
          </a:prstGeom>
          <a:solidFill>
            <a:srgbClr val="0E9F8E"/>
          </a:solidFill>
          <a:ln>
            <a:noFill/>
          </a:ln>
        </p:spPr>
        <p:txBody>
          <a:bodyPr wrap="square" lIns="0" tIns="0" rIns="0" bIns="0" anchor="ctr" rtlCol="0">
            <a:noAutofit/>
          </a:bodyPr>
          <a:lstStyle/>
          <a:p>
            <a:pPr algn="ctr">
              <a:lnSpc>
                <a:spcPct val="100000"/>
              </a:lnSpc>
              <a:spcBef>
                <a:spcPts val="0"/>
              </a:spcBef>
              <a:spcAft>
                <a:spcPts val="0"/>
              </a:spcAft>
              <a:buNone/>
            </a:pPr>
            <a:r>
              <a:rPr lang="fr-FR" sz="1700" b="1" i="0" dirty="0">
                <a:solidFill>
                  <a:srgbClr val="FFFFFF"/>
                </a:solidFill>
                <a:latin typeface="Segoe UI"/>
                <a:cs typeface="Segoe UI"/>
              </a:rPr>
              <a:t>4</a:t>
            </a:r>
            <a:endParaRPr lang="fr-FR" sz="1700" dirty="0"/>
          </a:p>
        </p:txBody>
      </p:sp>
      <p:sp>
        <p:nvSpPr>
          <p:cNvPr id="17" name="Forme 17"/>
          <p:cNvSpPr/>
          <p:nvPr/>
        </p:nvSpPr>
        <p:spPr>
          <a:xfrm>
            <a:off x="1143000" y="4343400"/>
            <a:ext cx="5120640" cy="868680"/>
          </a:xfrm>
          <a:prstGeom prst="rect">
            <a:avLst/>
          </a:prstGeom>
          <a:noFill/>
          <a:ln>
            <a:noFill/>
          </a:ln>
        </p:spPr>
        <p:txBody>
          <a:bodyPr wrap="square" lIns="18288" tIns="18288" rIns="18288" bIns="18288" anchor="ctr" rtlCol="0">
            <a:noAutofit/>
          </a:bodyPr>
          <a:lstStyle/>
          <a:p>
            <a:pPr algn="l">
              <a:lnSpc>
                <a:spcPct val="100000"/>
              </a:lnSpc>
              <a:spcBef>
                <a:spcPts val="0"/>
              </a:spcBef>
              <a:spcAft>
                <a:spcPts val="0"/>
              </a:spcAft>
              <a:buNone/>
            </a:pPr>
            <a:r>
              <a:rPr lang="fr-FR" sz="1250" b="0" i="0" dirty="0">
                <a:solidFill>
                  <a:srgbClr val="1F2933"/>
                </a:solidFill>
                <a:latin typeface="Segoe UI"/>
                <a:cs typeface="Segoe UI"/>
              </a:rPr>
              <a:t>Un </a:t>
            </a:r>
            <a:r>
              <a:rPr lang="fr-FR" sz="1250" b="1" i="0" dirty="0">
                <a:solidFill>
                  <a:srgbClr val="1F2933"/>
                </a:solidFill>
                <a:latin typeface="Segoe UI"/>
                <a:cs typeface="Segoe UI"/>
              </a:rPr>
              <a:t>modèle</a:t>
            </a:r>
            <a:r>
              <a:rPr lang="fr-FR" sz="1250" b="0" i="0" dirty="0">
                <a:solidFill>
                  <a:srgbClr val="1F2933"/>
                </a:solidFill>
                <a:latin typeface="Segoe UI"/>
                <a:cs typeface="Segoe UI"/>
              </a:rPr>
              <a:t> apprend, sur 106 intercommunalités où Citiz est présent, où une station a le plus de chances de fonctionner.</a:t>
            </a:r>
            <a:endParaRPr lang="fr-FR" sz="1250" dirty="0"/>
          </a:p>
        </p:txBody>
      </p:sp>
      <p:sp>
        <p:nvSpPr>
          <p:cNvPr id="18" name="Forme 18"/>
          <p:cNvSpPr/>
          <p:nvPr/>
        </p:nvSpPr>
        <p:spPr>
          <a:xfrm>
            <a:off x="457200" y="5349240"/>
            <a:ext cx="502920" cy="502920"/>
          </a:xfrm>
          <a:prstGeom prst="ellipse">
            <a:avLst/>
          </a:prstGeom>
          <a:solidFill>
            <a:srgbClr val="0E9F8E"/>
          </a:solidFill>
          <a:ln>
            <a:noFill/>
          </a:ln>
        </p:spPr>
        <p:txBody>
          <a:bodyPr wrap="square" lIns="0" tIns="0" rIns="0" bIns="0" anchor="ctr" rtlCol="0">
            <a:noAutofit/>
          </a:bodyPr>
          <a:lstStyle/>
          <a:p>
            <a:pPr algn="ctr">
              <a:lnSpc>
                <a:spcPct val="100000"/>
              </a:lnSpc>
              <a:spcBef>
                <a:spcPts val="0"/>
              </a:spcBef>
              <a:spcAft>
                <a:spcPts val="0"/>
              </a:spcAft>
              <a:buNone/>
            </a:pPr>
            <a:r>
              <a:rPr lang="fr-FR" sz="1700" b="1" i="0" dirty="0">
                <a:solidFill>
                  <a:srgbClr val="FFFFFF"/>
                </a:solidFill>
                <a:latin typeface="Segoe UI"/>
                <a:cs typeface="Segoe UI"/>
              </a:rPr>
              <a:t>5</a:t>
            </a:r>
            <a:endParaRPr lang="fr-FR" sz="1700" dirty="0"/>
          </a:p>
        </p:txBody>
      </p:sp>
      <p:sp>
        <p:nvSpPr>
          <p:cNvPr id="19" name="Forme 19"/>
          <p:cNvSpPr/>
          <p:nvPr/>
        </p:nvSpPr>
        <p:spPr>
          <a:xfrm>
            <a:off x="1143000" y="5303520"/>
            <a:ext cx="5120640" cy="868680"/>
          </a:xfrm>
          <a:prstGeom prst="rect">
            <a:avLst/>
          </a:prstGeom>
          <a:noFill/>
          <a:ln>
            <a:noFill/>
          </a:ln>
        </p:spPr>
        <p:txBody>
          <a:bodyPr wrap="square" lIns="18288" tIns="18288" rIns="18288" bIns="18288" anchor="ctr" rtlCol="0">
            <a:noAutofit/>
          </a:bodyPr>
          <a:lstStyle/>
          <a:p>
            <a:pPr algn="l">
              <a:lnSpc>
                <a:spcPct val="100000"/>
              </a:lnSpc>
              <a:spcBef>
                <a:spcPts val="0"/>
              </a:spcBef>
              <a:spcAft>
                <a:spcPts val="0"/>
              </a:spcAft>
              <a:buNone/>
            </a:pPr>
            <a:r>
              <a:rPr lang="fr-FR" sz="1250" b="0" i="0" dirty="0">
                <a:solidFill>
                  <a:srgbClr val="1F2933"/>
                </a:solidFill>
                <a:latin typeface="Segoe UI"/>
                <a:cs typeface="Segoe UI"/>
              </a:rPr>
              <a:t>Sous un budget, l'</a:t>
            </a:r>
            <a:r>
              <a:rPr lang="fr-FR" sz="1250" b="1" i="0" dirty="0">
                <a:solidFill>
                  <a:srgbClr val="1F2933"/>
                </a:solidFill>
                <a:latin typeface="Segoe UI"/>
                <a:cs typeface="Segoe UI"/>
              </a:rPr>
              <a:t>optimiseur</a:t>
            </a:r>
            <a:r>
              <a:rPr lang="fr-FR" sz="1250" b="0" i="0" dirty="0">
                <a:solidFill>
                  <a:srgbClr val="1F2933"/>
                </a:solidFill>
                <a:latin typeface="Segoe UI"/>
                <a:cs typeface="Segoe UI"/>
              </a:rPr>
              <a:t> choisit les emplacements qui gagnent le plus d'habitants : </a:t>
            </a:r>
            <a:r>
              <a:rPr lang="fr-FR" sz="1250" b="1" i="0" dirty="0">
                <a:solidFill>
                  <a:srgbClr val="1F2933"/>
                </a:solidFill>
                <a:latin typeface="Segoe UI"/>
                <a:cs typeface="Segoe UI"/>
              </a:rPr>
              <a:t>12 stations pour 500 000 € à Nantes, +34 979 habitants</a:t>
            </a:r>
            <a:r>
              <a:rPr lang="fr-FR" sz="1250" b="0" i="0" dirty="0">
                <a:solidFill>
                  <a:srgbClr val="1F2933"/>
                </a:solidFill>
                <a:latin typeface="Segoe UI"/>
                <a:cs typeface="Segoe UI"/>
              </a:rPr>
              <a:t>.</a:t>
            </a:r>
            <a:endParaRPr lang="fr-FR" sz="1250" dirty="0"/>
          </a:p>
        </p:txBody>
      </p:sp>
      <p:sp>
        <p:nvSpPr>
          <p:cNvPr id="20" name="Forme 20"/>
          <p:cNvSpPr/>
          <p:nvPr/>
        </p:nvSpPr>
        <p:spPr>
          <a:xfrm>
            <a:off x="6583680" y="1417320"/>
            <a:ext cx="5148072" cy="1481328"/>
          </a:xfrm>
          <a:prstGeom prst="roundRect">
            <a:avLst>
              <a:gd name="adj" fmla="val 4000"/>
            </a:avLst>
          </a:prstGeom>
          <a:solidFill>
            <a:srgbClr val="F5E9DE"/>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21" name="Forme 21"/>
          <p:cNvSpPr/>
          <p:nvPr/>
        </p:nvSpPr>
        <p:spPr>
          <a:xfrm>
            <a:off x="6583680" y="1417320"/>
            <a:ext cx="64008" cy="1481328"/>
          </a:xfrm>
          <a:prstGeom prst="rect">
            <a:avLst/>
          </a:prstGeom>
          <a:solidFill>
            <a:srgbClr val="B87333"/>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22" name="Forme 22"/>
          <p:cNvSpPr/>
          <p:nvPr/>
        </p:nvSpPr>
        <p:spPr>
          <a:xfrm>
            <a:off x="6766560" y="1508760"/>
            <a:ext cx="4855464" cy="1344168"/>
          </a:xfrm>
          <a:prstGeom prst="rect">
            <a:avLst/>
          </a:prstGeom>
          <a:noFill/>
          <a:ln>
            <a:noFill/>
          </a:ln>
        </p:spPr>
        <p:txBody>
          <a:bodyPr wrap="square" lIns="18288" tIns="18288" rIns="18288" bIns="18288" anchor="t" rtlCol="0">
            <a:noAutofit/>
          </a:bodyPr>
          <a:lstStyle/>
          <a:p>
            <a:pPr algn="l">
              <a:lnSpc>
                <a:spcPct val="100000"/>
              </a:lnSpc>
              <a:spcBef>
                <a:spcPts val="0"/>
              </a:spcBef>
              <a:spcAft>
                <a:spcPts val="300"/>
              </a:spcAft>
              <a:buNone/>
            </a:pPr>
            <a:r>
              <a:rPr lang="fr-FR" sz="1300" b="1" i="0" dirty="0">
                <a:solidFill>
                  <a:srgbClr val="B87333"/>
                </a:solidFill>
                <a:latin typeface="Segoe UI"/>
                <a:cs typeface="Segoe UI"/>
              </a:rPr>
              <a:t>BRONZE = data/raw</a:t>
            </a:r>
            <a:endParaRPr lang="fr-FR" sz="1300" dirty="0"/>
          </a:p>
          <a:p>
            <a:pPr algn="l">
              <a:lnSpc>
                <a:spcPct val="100000"/>
              </a:lnSpc>
              <a:spcBef>
                <a:spcPts val="200"/>
              </a:spcBef>
              <a:spcAft>
                <a:spcPts val="0"/>
              </a:spcAft>
              <a:buNone/>
            </a:pPr>
            <a:r>
              <a:rPr lang="fr-FR" sz="1050" b="0" i="0" dirty="0">
                <a:solidFill>
                  <a:srgbClr val="1F2933"/>
                </a:solidFill>
                <a:latin typeface="Segoe UI"/>
                <a:cs typeface="Segoe UI"/>
              </a:rPr>
              <a:t>Les fichiers bruts, jamais modifiés : GTFS (zip), GBFS (json), INSEE et IGN (GPKG, parquet, xlsx), OSM (pbf), SSMSI. Plus </a:t>
            </a:r>
            <a:r>
              <a:rPr lang="fr-FR" sz="1050" b="0" i="0" dirty="0">
                <a:solidFill>
                  <a:srgbClr val="0B7A6E"/>
                </a:solidFill>
                <a:latin typeface="Consolas"/>
                <a:cs typeface="Consolas"/>
              </a:rPr>
              <a:t>manifest.csv</a:t>
            </a:r>
            <a:r>
              <a:rPr lang="fr-FR" sz="1050" b="0" i="0" dirty="0">
                <a:solidFill>
                  <a:srgbClr val="1F2933"/>
                </a:solidFill>
                <a:latin typeface="Segoe UI"/>
                <a:cs typeface="Segoe UI"/>
              </a:rPr>
              <a:t> : URL, taille, date.</a:t>
            </a:r>
            <a:endParaRPr lang="fr-FR" sz="1050" dirty="0"/>
          </a:p>
          <a:p>
            <a:pPr algn="l">
              <a:lnSpc>
                <a:spcPct val="100000"/>
              </a:lnSpc>
              <a:spcBef>
                <a:spcPts val="400"/>
              </a:spcBef>
              <a:spcAft>
                <a:spcPts val="0"/>
              </a:spcAft>
              <a:buNone/>
            </a:pPr>
            <a:r>
              <a:rPr lang="fr-FR" sz="1000" b="1" i="0" dirty="0">
                <a:solidFill>
                  <a:srgbClr val="B87333"/>
                </a:solidFill>
                <a:latin typeface="Segoe UI"/>
                <a:cs typeface="Segoe UI"/>
              </a:rPr>
              <a:t>Fabric : lakehouse </a:t>
            </a:r>
            <a:r>
              <a:rPr lang="fr-FR" sz="1000" b="1" i="0" dirty="0">
                <a:solidFill>
                  <a:srgbClr val="0B7A6E"/>
                </a:solidFill>
                <a:latin typeface="Consolas"/>
                <a:cs typeface="Consolas"/>
              </a:rPr>
              <a:t>bronze</a:t>
            </a:r>
            <a:endParaRPr lang="fr-FR" sz="1000" dirty="0"/>
          </a:p>
        </p:txBody>
      </p:sp>
      <p:sp>
        <p:nvSpPr>
          <p:cNvPr id="23" name="Forme 23"/>
          <p:cNvSpPr/>
          <p:nvPr/>
        </p:nvSpPr>
        <p:spPr>
          <a:xfrm>
            <a:off x="6583680" y="3044952"/>
            <a:ext cx="5148072" cy="1481328"/>
          </a:xfrm>
          <a:prstGeom prst="roundRect">
            <a:avLst>
              <a:gd name="adj" fmla="val 4000"/>
            </a:avLst>
          </a:prstGeom>
          <a:solidFill>
            <a:srgbClr val="ECEFF2"/>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24" name="Forme 24"/>
          <p:cNvSpPr/>
          <p:nvPr/>
        </p:nvSpPr>
        <p:spPr>
          <a:xfrm>
            <a:off x="6583680" y="3044952"/>
            <a:ext cx="64008" cy="1481328"/>
          </a:xfrm>
          <a:prstGeom prst="rect">
            <a:avLst/>
          </a:prstGeom>
          <a:solidFill>
            <a:srgbClr val="7D8A99"/>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25" name="Forme 25"/>
          <p:cNvSpPr/>
          <p:nvPr/>
        </p:nvSpPr>
        <p:spPr>
          <a:xfrm>
            <a:off x="6766560" y="3136392"/>
            <a:ext cx="4855464" cy="1344168"/>
          </a:xfrm>
          <a:prstGeom prst="rect">
            <a:avLst/>
          </a:prstGeom>
          <a:noFill/>
          <a:ln>
            <a:noFill/>
          </a:ln>
        </p:spPr>
        <p:txBody>
          <a:bodyPr wrap="square" lIns="18288" tIns="18288" rIns="18288" bIns="18288" anchor="t" rtlCol="0">
            <a:noAutofit/>
          </a:bodyPr>
          <a:lstStyle/>
          <a:p>
            <a:pPr algn="l">
              <a:lnSpc>
                <a:spcPct val="100000"/>
              </a:lnSpc>
              <a:spcBef>
                <a:spcPts val="0"/>
              </a:spcBef>
              <a:spcAft>
                <a:spcPts val="300"/>
              </a:spcAft>
              <a:buNone/>
            </a:pPr>
            <a:r>
              <a:rPr lang="fr-FR" sz="1300" b="1" i="0" dirty="0">
                <a:solidFill>
                  <a:srgbClr val="7D8A99"/>
                </a:solidFill>
                <a:latin typeface="Segoe UI"/>
                <a:cs typeface="Segoe UI"/>
              </a:rPr>
              <a:t>SILVER = data/processed/&lt;ville&gt;</a:t>
            </a:r>
            <a:endParaRPr lang="fr-FR" sz="1300" dirty="0"/>
          </a:p>
          <a:p>
            <a:pPr algn="l">
              <a:lnSpc>
                <a:spcPct val="100000"/>
              </a:lnSpc>
              <a:spcBef>
                <a:spcPts val="200"/>
              </a:spcBef>
              <a:spcAft>
                <a:spcPts val="0"/>
              </a:spcAft>
              <a:buNone/>
            </a:pPr>
            <a:r>
              <a:rPr lang="fr-FR" sz="1050" b="0" i="0" dirty="0">
                <a:solidFill>
                  <a:srgbClr val="1F2933"/>
                </a:solidFill>
                <a:latin typeface="Segoe UI"/>
                <a:cs typeface="Segoe UI"/>
              </a:rPr>
              <a:t>Données nettoyées et rattachées : </a:t>
            </a:r>
            <a:r>
              <a:rPr lang="fr-FR" sz="1050" b="0" i="0" dirty="0">
                <a:solidFill>
                  <a:srgbClr val="0B7A6E"/>
                </a:solidFill>
                <a:latin typeface="Consolas"/>
                <a:cs typeface="Consolas"/>
              </a:rPr>
              <a:t>zone.gpkg</a:t>
            </a:r>
            <a:r>
              <a:rPr lang="fr-FR" sz="1050" b="0" i="0" dirty="0">
                <a:solidFill>
                  <a:srgbClr val="1F2933"/>
                </a:solidFill>
                <a:latin typeface="Segoe UI"/>
                <a:cs typeface="Segoe UI"/>
              </a:rPr>
              <a:t>, </a:t>
            </a:r>
            <a:r>
              <a:rPr lang="fr-FR" sz="1050" b="0" i="0" dirty="0">
                <a:solidFill>
                  <a:srgbClr val="0B7A6E"/>
                </a:solidFill>
                <a:latin typeface="Consolas"/>
                <a:cs typeface="Consolas"/>
              </a:rPr>
              <a:t>population.parquet</a:t>
            </a:r>
            <a:r>
              <a:rPr lang="fr-FR" sz="1050" b="0" i="0" dirty="0">
                <a:solidFill>
                  <a:srgbClr val="1F2933"/>
                </a:solidFill>
                <a:latin typeface="Segoe UI"/>
                <a:cs typeface="Segoe UI"/>
              </a:rPr>
              <a:t> (calée), </a:t>
            </a:r>
            <a:r>
              <a:rPr lang="fr-FR" sz="1050" b="0" i="0" dirty="0">
                <a:solidFill>
                  <a:srgbClr val="0B7A6E"/>
                </a:solidFill>
                <a:latin typeface="Consolas"/>
                <a:cs typeface="Consolas"/>
              </a:rPr>
              <a:t>offer.parquet</a:t>
            </a:r>
            <a:r>
              <a:rPr lang="fr-FR" sz="1050" b="0" i="0" dirty="0">
                <a:solidFill>
                  <a:srgbClr val="1F2933"/>
                </a:solidFill>
                <a:latin typeface="Segoe UI"/>
                <a:cs typeface="Segoe UI"/>
              </a:rPr>
              <a:t> (dédoublonnée), réseau piéton en cache.</a:t>
            </a:r>
            <a:endParaRPr lang="fr-FR" sz="1050" dirty="0"/>
          </a:p>
          <a:p>
            <a:pPr algn="l">
              <a:lnSpc>
                <a:spcPct val="100000"/>
              </a:lnSpc>
              <a:spcBef>
                <a:spcPts val="400"/>
              </a:spcBef>
              <a:spcAft>
                <a:spcPts val="0"/>
              </a:spcAft>
              <a:buNone/>
            </a:pPr>
            <a:r>
              <a:rPr lang="fr-FR" sz="1000" b="1" i="0" dirty="0">
                <a:solidFill>
                  <a:srgbClr val="7D8A99"/>
                </a:solidFill>
                <a:latin typeface="Segoe UI"/>
                <a:cs typeface="Segoe UI"/>
              </a:rPr>
              <a:t>Fabric : lakehouse </a:t>
            </a:r>
            <a:r>
              <a:rPr lang="fr-FR" sz="1000" b="1" i="0" dirty="0">
                <a:solidFill>
                  <a:srgbClr val="0B7A6E"/>
                </a:solidFill>
                <a:latin typeface="Consolas"/>
                <a:cs typeface="Consolas"/>
              </a:rPr>
              <a:t>silver</a:t>
            </a:r>
            <a:endParaRPr lang="fr-FR" sz="1000" dirty="0"/>
          </a:p>
        </p:txBody>
      </p:sp>
      <p:sp>
        <p:nvSpPr>
          <p:cNvPr id="26" name="Forme 26"/>
          <p:cNvSpPr/>
          <p:nvPr/>
        </p:nvSpPr>
        <p:spPr>
          <a:xfrm>
            <a:off x="6583680" y="4672584"/>
            <a:ext cx="5148072" cy="1481328"/>
          </a:xfrm>
          <a:prstGeom prst="roundRect">
            <a:avLst>
              <a:gd name="adj" fmla="val 4000"/>
            </a:avLst>
          </a:prstGeom>
          <a:solidFill>
            <a:srgbClr val="F8F1D6"/>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27" name="Forme 27"/>
          <p:cNvSpPr/>
          <p:nvPr/>
        </p:nvSpPr>
        <p:spPr>
          <a:xfrm>
            <a:off x="6583680" y="4672584"/>
            <a:ext cx="64008" cy="1481328"/>
          </a:xfrm>
          <a:prstGeom prst="rect">
            <a:avLst/>
          </a:prstGeom>
          <a:solidFill>
            <a:srgbClr val="C9A227"/>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28" name="Forme 28"/>
          <p:cNvSpPr/>
          <p:nvPr/>
        </p:nvSpPr>
        <p:spPr>
          <a:xfrm>
            <a:off x="6766560" y="4764024"/>
            <a:ext cx="4855464" cy="1344168"/>
          </a:xfrm>
          <a:prstGeom prst="rect">
            <a:avLst/>
          </a:prstGeom>
          <a:noFill/>
          <a:ln>
            <a:noFill/>
          </a:ln>
        </p:spPr>
        <p:txBody>
          <a:bodyPr wrap="square" lIns="18288" tIns="18288" rIns="18288" bIns="18288" anchor="t" rtlCol="0">
            <a:noAutofit/>
          </a:bodyPr>
          <a:lstStyle/>
          <a:p>
            <a:pPr algn="l">
              <a:lnSpc>
                <a:spcPct val="100000"/>
              </a:lnSpc>
              <a:spcBef>
                <a:spcPts val="0"/>
              </a:spcBef>
              <a:spcAft>
                <a:spcPts val="300"/>
              </a:spcAft>
              <a:buNone/>
            </a:pPr>
            <a:r>
              <a:rPr lang="fr-FR" sz="1300" b="1" i="0" dirty="0">
                <a:solidFill>
                  <a:srgbClr val="C9A227"/>
                </a:solidFill>
                <a:latin typeface="Segoe UI"/>
                <a:cs typeface="Segoe UI"/>
              </a:rPr>
              <a:t>GOLD = indicateurs et recommandations</a:t>
            </a:r>
            <a:endParaRPr lang="fr-FR" sz="1300" dirty="0"/>
          </a:p>
          <a:p>
            <a:pPr algn="l">
              <a:lnSpc>
                <a:spcPct val="100000"/>
              </a:lnSpc>
              <a:spcBef>
                <a:spcPts val="200"/>
              </a:spcBef>
              <a:spcAft>
                <a:spcPts val="0"/>
              </a:spcAft>
              <a:buNone/>
            </a:pPr>
            <a:r>
              <a:rPr lang="fr-FR" sz="1050" b="0" i="0" dirty="0">
                <a:solidFill>
                  <a:srgbClr val="0B7A6E"/>
                </a:solidFill>
                <a:latin typeface="Consolas"/>
                <a:cs typeface="Consolas"/>
              </a:rPr>
              <a:t>access_cells</a:t>
            </a:r>
            <a:r>
              <a:rPr lang="fr-FR" sz="1050" b="0" i="0" dirty="0">
                <a:solidFill>
                  <a:srgbClr val="1F2933"/>
                </a:solidFill>
                <a:latin typeface="Segoe UI"/>
                <a:cs typeface="Segoe UI"/>
              </a:rPr>
              <a:t> (options à 5 min), </a:t>
            </a:r>
            <a:r>
              <a:rPr lang="fr-FR" sz="1050" b="0" i="0" dirty="0">
                <a:solidFill>
                  <a:srgbClr val="0B7A6E"/>
                </a:solidFill>
                <a:latin typeface="Consolas"/>
                <a:cs typeface="Consolas"/>
              </a:rPr>
              <a:t>offer_served</a:t>
            </a:r>
            <a:r>
              <a:rPr lang="fr-FR" sz="1050" b="0" i="0" dirty="0">
                <a:solidFill>
                  <a:srgbClr val="1F2933"/>
                </a:solidFill>
                <a:latin typeface="Segoe UI"/>
                <a:cs typeface="Segoe UI"/>
              </a:rPr>
              <a:t>, </a:t>
            </a:r>
            <a:r>
              <a:rPr lang="fr-FR" sz="1050" b="0" i="0" dirty="0">
                <a:solidFill>
                  <a:srgbClr val="0B7A6E"/>
                </a:solidFill>
                <a:latin typeface="Consolas"/>
                <a:cs typeface="Consolas"/>
              </a:rPr>
              <a:t>model/predictions</a:t>
            </a:r>
            <a:r>
              <a:rPr lang="fr-FR" sz="1050" b="0" i="0" dirty="0">
                <a:solidFill>
                  <a:srgbClr val="1F2933"/>
                </a:solidFill>
                <a:latin typeface="Segoe UI"/>
                <a:cs typeface="Segoe UI"/>
              </a:rPr>
              <a:t>, </a:t>
            </a:r>
            <a:r>
              <a:rPr lang="fr-FR" sz="1050" b="0" i="0" dirty="0">
                <a:solidFill>
                  <a:srgbClr val="0B7A6E"/>
                </a:solidFill>
                <a:latin typeface="Consolas"/>
                <a:cs typeface="Consolas"/>
              </a:rPr>
              <a:t>candidates</a:t>
            </a:r>
            <a:r>
              <a:rPr lang="fr-FR" sz="1050" b="0" i="0" dirty="0">
                <a:solidFill>
                  <a:srgbClr val="1F2933"/>
                </a:solidFill>
                <a:latin typeface="Segoe UI"/>
                <a:cs typeface="Segoe UI"/>
              </a:rPr>
              <a:t>, </a:t>
            </a:r>
            <a:r>
              <a:rPr lang="fr-FR" sz="1050" b="0" i="0" dirty="0">
                <a:solidFill>
                  <a:srgbClr val="0B7A6E"/>
                </a:solidFill>
                <a:latin typeface="Consolas"/>
                <a:cs typeface="Consolas"/>
              </a:rPr>
              <a:t>recommandations_*.csv</a:t>
            </a:r>
            <a:r>
              <a:rPr lang="fr-FR" sz="1050" b="0" i="0" dirty="0">
                <a:solidFill>
                  <a:srgbClr val="1F2933"/>
                </a:solidFill>
                <a:latin typeface="Segoe UI"/>
                <a:cs typeface="Segoe UI"/>
              </a:rPr>
              <a:t>, </a:t>
            </a:r>
            <a:r>
              <a:rPr lang="fr-FR" sz="1050" b="0" i="0" dirty="0">
                <a:solidFill>
                  <a:srgbClr val="0B7A6E"/>
                </a:solidFill>
                <a:latin typeface="Consolas"/>
                <a:cs typeface="Consolas"/>
              </a:rPr>
              <a:t>national/agg_*</a:t>
            </a:r>
            <a:r>
              <a:rPr lang="fr-FR" sz="1050" b="0" i="0" dirty="0">
                <a:solidFill>
                  <a:srgbClr val="1F2933"/>
                </a:solidFill>
                <a:latin typeface="Segoe UI"/>
                <a:cs typeface="Segoe UI"/>
              </a:rPr>
              <a:t>.</a:t>
            </a:r>
            <a:endParaRPr lang="fr-FR" sz="1050" dirty="0"/>
          </a:p>
          <a:p>
            <a:pPr algn="l">
              <a:lnSpc>
                <a:spcPct val="100000"/>
              </a:lnSpc>
              <a:spcBef>
                <a:spcPts val="400"/>
              </a:spcBef>
              <a:spcAft>
                <a:spcPts val="0"/>
              </a:spcAft>
              <a:buNone/>
            </a:pPr>
            <a:r>
              <a:rPr lang="fr-FR" sz="1000" b="1" i="0" dirty="0">
                <a:solidFill>
                  <a:srgbClr val="C9A227"/>
                </a:solidFill>
                <a:latin typeface="Segoe UI"/>
                <a:cs typeface="Segoe UI"/>
              </a:rPr>
              <a:t>Fabric : lakehouse </a:t>
            </a:r>
            <a:r>
              <a:rPr lang="fr-FR" sz="1000" b="1" i="0" dirty="0">
                <a:solidFill>
                  <a:srgbClr val="0B7A6E"/>
                </a:solidFill>
                <a:latin typeface="Consolas"/>
                <a:cs typeface="Consolas"/>
              </a:rPr>
              <a:t>gold</a:t>
            </a:r>
            <a:r>
              <a:rPr lang="fr-FR" sz="1000" b="1" i="0" dirty="0">
                <a:solidFill>
                  <a:srgbClr val="C9A227"/>
                </a:solidFill>
                <a:latin typeface="Segoe UI"/>
                <a:cs typeface="Segoe UI"/>
              </a:rPr>
              <a:t> → Power BI (Direct Lake)</a:t>
            </a:r>
            <a:endParaRPr lang="fr-FR"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rme 3"/>
          <p:cNvSpPr/>
          <p:nvPr/>
        </p:nvSpPr>
        <p:spPr>
          <a:xfrm>
            <a:off x="0" y="0"/>
            <a:ext cx="128016" cy="6858000"/>
          </a:xfrm>
          <a:prstGeom prst="rect">
            <a:avLst/>
          </a:prstGeom>
          <a:solidFill>
            <a:srgbClr val="3D7DD8"/>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4" name="Forme 4"/>
          <p:cNvSpPr/>
          <p:nvPr/>
        </p:nvSpPr>
        <p:spPr>
          <a:xfrm>
            <a:off x="457200" y="256032"/>
            <a:ext cx="7315200" cy="2743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050" b="1" i="0" dirty="0">
                <a:solidFill>
                  <a:srgbClr val="3D7DD8"/>
                </a:solidFill>
                <a:latin typeface="Segoe UI"/>
                <a:cs typeface="Segoe UI"/>
              </a:rPr>
              <a:t>PARTIE 2 · LES SOURCES</a:t>
            </a:r>
            <a:endParaRPr lang="fr-FR" sz="1050" dirty="0"/>
          </a:p>
        </p:txBody>
      </p:sp>
      <p:sp>
        <p:nvSpPr>
          <p:cNvPr id="5" name="Forme 5"/>
          <p:cNvSpPr/>
          <p:nvPr/>
        </p:nvSpPr>
        <p:spPr>
          <a:xfrm>
            <a:off x="457200" y="502920"/>
            <a:ext cx="11247120" cy="5486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2500" b="1" i="0" dirty="0">
                <a:solidFill>
                  <a:srgbClr val="14213D"/>
                </a:solidFill>
                <a:latin typeface="Segoe UI"/>
                <a:cs typeface="Segoe UI"/>
              </a:rPr>
              <a:t>Les 14 sources en un coup d'œil</a:t>
            </a:r>
            <a:endParaRPr lang="fr-FR" sz="2500" dirty="0"/>
          </a:p>
        </p:txBody>
      </p:sp>
      <p:sp>
        <p:nvSpPr>
          <p:cNvPr id="6" name="Forme 6"/>
          <p:cNvSpPr/>
          <p:nvPr/>
        </p:nvSpPr>
        <p:spPr>
          <a:xfrm>
            <a:off x="457200" y="987552"/>
            <a:ext cx="11247120" cy="3200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250" b="0" i="0" dirty="0">
                <a:solidFill>
                  <a:srgbClr val="5B6573"/>
                </a:solidFill>
                <a:latin typeface="Segoe UI"/>
                <a:cs typeface="Segoe UI"/>
              </a:rPr>
              <a:t>Toutes ouvertes ; téléchargées les 19 et 20/10/2026 ; tailles lues dans data/raw/manifest.csv.</a:t>
            </a:r>
            <a:endParaRPr lang="fr-FR" sz="1250" dirty="0"/>
          </a:p>
        </p:txBody>
      </p:sp>
      <p:sp>
        <p:nvSpPr>
          <p:cNvPr id="7" name="Forme 7"/>
          <p:cNvSpPr/>
          <p:nvPr/>
        </p:nvSpPr>
        <p:spPr>
          <a:xfrm>
            <a:off x="457200" y="6446520"/>
            <a:ext cx="11274552" cy="10973"/>
          </a:xfrm>
          <a:prstGeom prst="rect">
            <a:avLst/>
          </a:prstGeom>
          <a:solidFill>
            <a:srgbClr val="D5DAE1"/>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8" name="Forme 8"/>
          <p:cNvSpPr/>
          <p:nvPr/>
        </p:nvSpPr>
        <p:spPr>
          <a:xfrm>
            <a:off x="457200" y="6492240"/>
            <a:ext cx="7315200" cy="256032"/>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00" b="0" i="0" dirty="0">
                <a:solidFill>
                  <a:srgbClr val="5B6573"/>
                </a:solidFill>
                <a:latin typeface="Segoe UI"/>
                <a:cs typeface="Segoe UI"/>
              </a:rPr>
              <a:t>Hackathon Mobility × Citiz · Nos données, de A à Z</a:t>
            </a:r>
            <a:endParaRPr lang="fr-FR" sz="900" dirty="0"/>
          </a:p>
        </p:txBody>
      </p:sp>
      <p:sp>
        <p:nvSpPr>
          <p:cNvPr id="9" name="Forme 9"/>
          <p:cNvSpPr/>
          <p:nvPr/>
        </p:nvSpPr>
        <p:spPr>
          <a:xfrm>
            <a:off x="10360152" y="6492240"/>
            <a:ext cx="1371600" cy="256032"/>
          </a:xfrm>
          <a:prstGeom prst="rect">
            <a:avLst/>
          </a:prstGeom>
          <a:noFill/>
          <a:ln>
            <a:noFill/>
          </a:ln>
        </p:spPr>
        <p:txBody>
          <a:bodyPr wrap="square" lIns="18288" tIns="18288" rIns="18288" bIns="18288" anchor="t" rtlCol="0">
            <a:noAutofit/>
          </a:bodyPr>
          <a:lstStyle/>
          <a:p>
            <a:pPr algn="r">
              <a:lnSpc>
                <a:spcPct val="100000"/>
              </a:lnSpc>
              <a:spcBef>
                <a:spcPts val="0"/>
              </a:spcBef>
              <a:spcAft>
                <a:spcPts val="0"/>
              </a:spcAft>
              <a:buNone/>
            </a:pPr>
            <a:r>
              <a:rPr lang="fr-FR" sz="900" b="0" i="0" dirty="0">
                <a:solidFill>
                  <a:srgbClr val="5B6573"/>
                </a:solidFill>
                <a:latin typeface="Segoe UI"/>
                <a:cs typeface="Segoe UI"/>
              </a:rPr>
              <a:t>5</a:t>
            </a:r>
            <a:endParaRPr lang="fr-FR" sz="900" dirty="0"/>
          </a:p>
        </p:txBody>
      </p:sp>
      <p:graphicFrame>
        <p:nvGraphicFramePr>
          <p:cNvPr id="10" name="Tableau 10"/>
          <p:cNvGraphicFramePr>
            <a:graphicFrameLocks noGrp="1"/>
          </p:cNvGraphicFramePr>
          <p:nvPr/>
        </p:nvGraphicFramePr>
        <p:xfrm>
          <a:off x="457200" y="1417320"/>
          <a:ext cx="11274552" cy="4663440"/>
        </p:xfrm>
        <a:graphic>
          <a:graphicData uri="http://schemas.openxmlformats.org/drawingml/2006/table">
            <a:tbl>
              <a:tblPr firstRow="1" bandRow="1"/>
              <a:tblGrid>
                <a:gridCol w="2057400"/>
                <a:gridCol w="2331720"/>
                <a:gridCol w="960120"/>
                <a:gridCol w="1097280"/>
                <a:gridCol w="1371600"/>
                <a:gridCol w="777240"/>
                <a:gridCol w="2679192"/>
              </a:tblGrid>
              <a:tr h="310896">
                <a:tc>
                  <a:txBody>
                    <a:bodyPr wrap="square" lIns="109728" tIns="54864" rIns="109728" bIns="54864" anchor="t" rtlCol="0">
                      <a:noAutofit/>
                    </a:bodyPr>
                    <a:lstStyle/>
                    <a:p>
                      <a:pPr algn="l">
                        <a:lnSpc>
                          <a:spcPct val="95000"/>
                        </a:lnSpc>
                        <a:spcBef>
                          <a:spcPts val="0"/>
                        </a:spcBef>
                        <a:spcAft>
                          <a:spcPts val="0"/>
                        </a:spcAft>
                        <a:buNone/>
                      </a:pPr>
                      <a:r>
                        <a:rPr lang="fr-FR" sz="950" b="1" i="0" dirty="0">
                          <a:solidFill>
                            <a:srgbClr val="FFFFFF"/>
                          </a:solidFill>
                          <a:latin typeface="Segoe UI"/>
                          <a:cs typeface="Segoe UI"/>
                        </a:rPr>
                        <a:t>Source</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14213D"/>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1" i="0" dirty="0">
                          <a:solidFill>
                            <a:srgbClr val="FFFFFF"/>
                          </a:solidFill>
                          <a:latin typeface="Segoe UI"/>
                          <a:cs typeface="Segoe UI"/>
                        </a:rPr>
                        <a:t>Producteur</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14213D"/>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1" i="0" dirty="0">
                          <a:solidFill>
                            <a:srgbClr val="FFFFFF"/>
                          </a:solidFill>
                          <a:latin typeface="Segoe UI"/>
                          <a:cs typeface="Segoe UI"/>
                        </a:rPr>
                        <a:t>Format</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14213D"/>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1" i="0" dirty="0">
                          <a:solidFill>
                            <a:srgbClr val="FFFFFF"/>
                          </a:solidFill>
                          <a:latin typeface="Segoe UI"/>
                          <a:cs typeface="Segoe UI"/>
                        </a:rPr>
                        <a:t>Licence</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14213D"/>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1" i="0" dirty="0">
                          <a:solidFill>
                            <a:srgbClr val="FFFFFF"/>
                          </a:solidFill>
                          <a:latin typeface="Segoe UI"/>
                          <a:cs typeface="Segoe UI"/>
                        </a:rPr>
                        <a:t>Édition</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14213D"/>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1" i="0" dirty="0">
                          <a:solidFill>
                            <a:srgbClr val="FFFFFF"/>
                          </a:solidFill>
                          <a:latin typeface="Segoe UI"/>
                          <a:cs typeface="Segoe UI"/>
                        </a:rPr>
                        <a:t>Taille</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14213D"/>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1" i="0" dirty="0">
                          <a:solidFill>
                            <a:srgbClr val="FFFFFF"/>
                          </a:solidFill>
                          <a:latin typeface="Segoe UI"/>
                          <a:cs typeface="Segoe UI"/>
                        </a:rPr>
                        <a:t>Ce qu'on en tire</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14213D"/>
                    </a:solidFill>
                  </a:tcPr>
                </a:tc>
              </a:tr>
              <a:tr h="310896">
                <a:tc>
                  <a:txBody>
                    <a:bodyPr wrap="square" lIns="109728" tIns="54864" rIns="109728" bIns="54864" anchor="t" rtlCol="0">
                      <a:noAutofit/>
                    </a:bodyPr>
                    <a:lstStyle/>
                    <a:p>
                      <a:pPr algn="l">
                        <a:lnSpc>
                          <a:spcPct val="95000"/>
                        </a:lnSpc>
                        <a:spcBef>
                          <a:spcPts val="0"/>
                        </a:spcBef>
                        <a:spcAft>
                          <a:spcPts val="0"/>
                        </a:spcAft>
                        <a:buNone/>
                      </a:pPr>
                      <a:r>
                        <a:rPr lang="fr-FR" sz="950" b="1" i="0" dirty="0">
                          <a:solidFill>
                            <a:srgbClr val="1F2933"/>
                          </a:solidFill>
                          <a:latin typeface="Segoe UI"/>
                          <a:cs typeface="Segoe UI"/>
                        </a:rPr>
                        <a:t>GTFS (horaires)</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Réseaux, via transport.data.gouv.fr</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zip GTFS</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LO 2.0 / ODbL</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19/10/2026</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2,1 Go</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arrêts, mode, passages par jour</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r h="310896">
                <a:tc>
                  <a:txBody>
                    <a:bodyPr wrap="square" lIns="109728" tIns="54864" rIns="109728" bIns="54864" anchor="t" rtlCol="0">
                      <a:noAutofit/>
                    </a:bodyPr>
                    <a:lstStyle/>
                    <a:p>
                      <a:pPr algn="l">
                        <a:lnSpc>
                          <a:spcPct val="95000"/>
                        </a:lnSpc>
                        <a:spcBef>
                          <a:spcPts val="0"/>
                        </a:spcBef>
                        <a:spcAft>
                          <a:spcPts val="0"/>
                        </a:spcAft>
                        <a:buNone/>
                      </a:pPr>
                      <a:r>
                        <a:rPr lang="fr-FR" sz="950" b="1" i="0" dirty="0">
                          <a:solidFill>
                            <a:srgbClr val="1F2933"/>
                          </a:solidFill>
                          <a:latin typeface="Segoe UI"/>
                          <a:cs typeface="Segoe UI"/>
                        </a:rPr>
                        <a:t>GBFS Citiz</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Citiz (15 réseaux)</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JSON</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LO 2.0</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19/10/2026</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2,4 Mo</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1 617 stations Citiz</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r>
              <a:tr h="310896">
                <a:tc>
                  <a:txBody>
                    <a:bodyPr wrap="square" lIns="109728" tIns="54864" rIns="109728" bIns="54864" anchor="t" rtlCol="0">
                      <a:noAutofit/>
                    </a:bodyPr>
                    <a:lstStyle/>
                    <a:p>
                      <a:pPr algn="l">
                        <a:lnSpc>
                          <a:spcPct val="95000"/>
                        </a:lnSpc>
                        <a:spcBef>
                          <a:spcPts val="0"/>
                        </a:spcBef>
                        <a:spcAft>
                          <a:spcPts val="0"/>
                        </a:spcAft>
                        <a:buNone/>
                      </a:pPr>
                      <a:r>
                        <a:rPr lang="fr-FR" sz="950" b="1" i="0" dirty="0">
                          <a:solidFill>
                            <a:srgbClr val="1F2933"/>
                          </a:solidFill>
                          <a:latin typeface="Segoe UI"/>
                          <a:cs typeface="Segoe UI"/>
                        </a:rPr>
                        <a:t>GBFS autres opérateurs</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151 flux (vélos, trottinettes…)</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JSON</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LO 2.0 / ODbL</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19/10/2026</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77 Mo</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vélos, trottinettes, autopartage</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r h="310896">
                <a:tc>
                  <a:txBody>
                    <a:bodyPr wrap="square" lIns="109728" tIns="54864" rIns="109728" bIns="54864" anchor="t" rtlCol="0">
                      <a:noAutofit/>
                    </a:bodyPr>
                    <a:lstStyle/>
                    <a:p>
                      <a:pPr algn="l">
                        <a:lnSpc>
                          <a:spcPct val="95000"/>
                        </a:lnSpc>
                        <a:spcBef>
                          <a:spcPts val="0"/>
                        </a:spcBef>
                        <a:spcAft>
                          <a:spcPts val="0"/>
                        </a:spcAft>
                        <a:buNone/>
                      </a:pPr>
                      <a:r>
                        <a:rPr lang="fr-FR" sz="950" b="1" i="0" dirty="0">
                          <a:solidFill>
                            <a:srgbClr val="1F2933"/>
                          </a:solidFill>
                          <a:latin typeface="Segoe UI"/>
                          <a:cs typeface="Segoe UI"/>
                        </a:rPr>
                        <a:t>Arrêts nationaux</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transport.data.gouv.fr</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CSV</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LO 2.0</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19/10/2026</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437 Mo</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contrôle seulement</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r>
              <a:tr h="310896">
                <a:tc>
                  <a:txBody>
                    <a:bodyPr wrap="square" lIns="109728" tIns="54864" rIns="109728" bIns="54864" anchor="t" rtlCol="0">
                      <a:noAutofit/>
                    </a:bodyPr>
                    <a:lstStyle/>
                    <a:p>
                      <a:pPr algn="l">
                        <a:lnSpc>
                          <a:spcPct val="95000"/>
                        </a:lnSpc>
                        <a:spcBef>
                          <a:spcPts val="0"/>
                        </a:spcBef>
                        <a:spcAft>
                          <a:spcPts val="0"/>
                        </a:spcAft>
                        <a:buNone/>
                      </a:pPr>
                      <a:r>
                        <a:rPr lang="fr-FR" sz="950" b="1" i="0" dirty="0">
                          <a:solidFill>
                            <a:srgbClr val="1F2933"/>
                          </a:solidFill>
                          <a:latin typeface="Segoe UI"/>
                          <a:cs typeface="Segoe UI"/>
                        </a:rPr>
                        <a:t>Filosofi carreaux 200 m</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INSEE</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GPKG (zip)</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LO</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2021</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309 Mo</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habitants, ménages, revenus</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r h="310896">
                <a:tc>
                  <a:txBody>
                    <a:bodyPr wrap="square" lIns="109728" tIns="54864" rIns="109728" bIns="54864" anchor="t" rtlCol="0">
                      <a:noAutofit/>
                    </a:bodyPr>
                    <a:lstStyle/>
                    <a:p>
                      <a:pPr algn="l">
                        <a:lnSpc>
                          <a:spcPct val="95000"/>
                        </a:lnSpc>
                        <a:spcBef>
                          <a:spcPts val="0"/>
                        </a:spcBef>
                        <a:spcAft>
                          <a:spcPts val="0"/>
                        </a:spcAft>
                        <a:buNone/>
                      </a:pPr>
                      <a:r>
                        <a:rPr lang="fr-FR" sz="950" b="1" i="0" dirty="0">
                          <a:solidFill>
                            <a:srgbClr val="1F2933"/>
                          </a:solidFill>
                          <a:latin typeface="Segoe UI"/>
                          <a:cs typeface="Segoe UI"/>
                        </a:rPr>
                        <a:t>Logement par IRIS</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INSEE (recensement)</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XLSX (zip)</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LO</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2023</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34 Mo</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ménages sans voiture</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r>
              <a:tr h="310896">
                <a:tc>
                  <a:txBody>
                    <a:bodyPr wrap="square" lIns="109728" tIns="54864" rIns="109728" bIns="54864" anchor="t" rtlCol="0">
                      <a:noAutofit/>
                    </a:bodyPr>
                    <a:lstStyle/>
                    <a:p>
                      <a:pPr algn="l">
                        <a:lnSpc>
                          <a:spcPct val="95000"/>
                        </a:lnSpc>
                        <a:spcBef>
                          <a:spcPts val="0"/>
                        </a:spcBef>
                        <a:spcAft>
                          <a:spcPts val="0"/>
                        </a:spcAft>
                        <a:buNone/>
                      </a:pPr>
                      <a:r>
                        <a:rPr lang="fr-FR" sz="950" b="1" i="0" dirty="0">
                          <a:solidFill>
                            <a:srgbClr val="1F2933"/>
                          </a:solidFill>
                          <a:latin typeface="Segoe UI"/>
                          <a:cs typeface="Segoe UI"/>
                        </a:rPr>
                        <a:t>BPE</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INSEE</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Parquet</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LO</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2025</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172 Mo</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équipements (modèle)</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r h="310896">
                <a:tc>
                  <a:txBody>
                    <a:bodyPr wrap="square" lIns="109728" tIns="54864" rIns="109728" bIns="54864" anchor="t" rtlCol="0">
                      <a:noAutofit/>
                    </a:bodyPr>
                    <a:lstStyle/>
                    <a:p>
                      <a:pPr algn="l">
                        <a:lnSpc>
                          <a:spcPct val="95000"/>
                        </a:lnSpc>
                        <a:spcBef>
                          <a:spcPts val="0"/>
                        </a:spcBef>
                        <a:spcAft>
                          <a:spcPts val="0"/>
                        </a:spcAft>
                        <a:buNone/>
                      </a:pPr>
                      <a:r>
                        <a:rPr lang="fr-FR" sz="950" b="1" i="0" dirty="0">
                          <a:solidFill>
                            <a:srgbClr val="1F2933"/>
                          </a:solidFill>
                          <a:latin typeface="Segoe UI"/>
                          <a:cs typeface="Segoe UI"/>
                        </a:rPr>
                        <a:t>Omphale</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INSEE</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XLSX (zip)</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LO</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2021-2070</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0,9 Mo</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horizon de population (Fabric)</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r>
              <a:tr h="310896">
                <a:tc>
                  <a:txBody>
                    <a:bodyPr wrap="square" lIns="109728" tIns="54864" rIns="109728" bIns="54864" anchor="t" rtlCol="0">
                      <a:noAutofit/>
                    </a:bodyPr>
                    <a:lstStyle/>
                    <a:p>
                      <a:pPr algn="l">
                        <a:lnSpc>
                          <a:spcPct val="95000"/>
                        </a:lnSpc>
                        <a:spcBef>
                          <a:spcPts val="0"/>
                        </a:spcBef>
                        <a:spcAft>
                          <a:spcPts val="0"/>
                        </a:spcAft>
                        <a:buNone/>
                      </a:pPr>
                      <a:r>
                        <a:rPr lang="fr-FR" sz="950" b="1" i="0" dirty="0">
                          <a:solidFill>
                            <a:srgbClr val="1F2933"/>
                          </a:solidFill>
                          <a:latin typeface="Segoe UI"/>
                          <a:cs typeface="Segoe UI"/>
                        </a:rPr>
                        <a:t>ADMIN EXPRESS COG</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IGN</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GPKG (7z)</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LO 2.0</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01/01/2026</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607 Mo</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communes, EPCI, population légale</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r h="310896">
                <a:tc>
                  <a:txBody>
                    <a:bodyPr wrap="square" lIns="109728" tIns="54864" rIns="109728" bIns="54864" anchor="t" rtlCol="0">
                      <a:noAutofit/>
                    </a:bodyPr>
                    <a:lstStyle/>
                    <a:p>
                      <a:pPr algn="l">
                        <a:lnSpc>
                          <a:spcPct val="95000"/>
                        </a:lnSpc>
                        <a:spcBef>
                          <a:spcPts val="0"/>
                        </a:spcBef>
                        <a:spcAft>
                          <a:spcPts val="0"/>
                        </a:spcAft>
                        <a:buNone/>
                      </a:pPr>
                      <a:r>
                        <a:rPr lang="fr-FR" sz="950" b="1" i="0" dirty="0">
                          <a:solidFill>
                            <a:srgbClr val="1F2933"/>
                          </a:solidFill>
                          <a:latin typeface="Segoe UI"/>
                          <a:cs typeface="Segoe UI"/>
                        </a:rPr>
                        <a:t>CONTOURS IRIS</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IGN</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GPKG (7z)</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LO 2.0</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01/01/2026</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88 Mo</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quartiers IRIS</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r>
              <a:tr h="310896">
                <a:tc>
                  <a:txBody>
                    <a:bodyPr wrap="square" lIns="109728" tIns="54864" rIns="109728" bIns="54864" anchor="t" rtlCol="0">
                      <a:noAutofit/>
                    </a:bodyPr>
                    <a:lstStyle/>
                    <a:p>
                      <a:pPr algn="l">
                        <a:lnSpc>
                          <a:spcPct val="95000"/>
                        </a:lnSpc>
                        <a:spcBef>
                          <a:spcPts val="0"/>
                        </a:spcBef>
                        <a:spcAft>
                          <a:spcPts val="0"/>
                        </a:spcAft>
                        <a:buNone/>
                      </a:pPr>
                      <a:r>
                        <a:rPr lang="fr-FR" sz="950" b="1" i="0" dirty="0">
                          <a:solidFill>
                            <a:srgbClr val="1F2933"/>
                          </a:solidFill>
                          <a:latin typeface="Segoe UI"/>
                          <a:cs typeface="Segoe UI"/>
                        </a:rPr>
                        <a:t>OpenStreetMap</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Contributeurs OSM, via Geofabrik</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PBF</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ODbL</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19 et 20/10/2026</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905 Mo</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rues et chemins (marche réelle)</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r h="310896">
                <a:tc>
                  <a:txBody>
                    <a:bodyPr wrap="square" lIns="109728" tIns="54864" rIns="109728" bIns="54864" anchor="t" rtlCol="0">
                      <a:noAutofit/>
                    </a:bodyPr>
                    <a:lstStyle/>
                    <a:p>
                      <a:pPr algn="l">
                        <a:lnSpc>
                          <a:spcPct val="95000"/>
                        </a:lnSpc>
                        <a:spcBef>
                          <a:spcPts val="0"/>
                        </a:spcBef>
                        <a:spcAft>
                          <a:spcPts val="0"/>
                        </a:spcAft>
                        <a:buNone/>
                      </a:pPr>
                      <a:r>
                        <a:rPr lang="fr-FR" sz="950" b="1" i="0" dirty="0">
                          <a:solidFill>
                            <a:srgbClr val="1F2933"/>
                          </a:solidFill>
                          <a:latin typeface="Segoe UI"/>
                          <a:cs typeface="Segoe UI"/>
                        </a:rPr>
                        <a:t>Délinquance communale</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SSMSI (ministère de l'Intérieur)</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Parquet</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LO 2.0</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base 2025, géo. 2026</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16 Mo</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vols liés aux véhicules</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r>
              <a:tr h="310896">
                <a:tc>
                  <a:txBody>
                    <a:bodyPr wrap="square" lIns="109728" tIns="54864" rIns="109728" bIns="54864" anchor="t" rtlCol="0">
                      <a:noAutofit/>
                    </a:bodyPr>
                    <a:lstStyle/>
                    <a:p>
                      <a:pPr algn="l">
                        <a:lnSpc>
                          <a:spcPct val="95000"/>
                        </a:lnSpc>
                        <a:spcBef>
                          <a:spcPts val="0"/>
                        </a:spcBef>
                        <a:spcAft>
                          <a:spcPts val="0"/>
                        </a:spcAft>
                        <a:buNone/>
                      </a:pPr>
                      <a:r>
                        <a:rPr lang="fr-FR" sz="950" b="1" i="0" dirty="0">
                          <a:solidFill>
                            <a:srgbClr val="1F2933"/>
                          </a:solidFill>
                          <a:latin typeface="Segoe UI"/>
                          <a:cs typeface="Segoe UI"/>
                        </a:rPr>
                        <a:t>Stations autopartage Naolib</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Nantes Métropole</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GeoJSON</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LO</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20/10/2026</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57 Ko</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61 stations Marguerite</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r h="310896">
                <a:tc>
                  <a:txBody>
                    <a:bodyPr wrap="square" lIns="109728" tIns="54864" rIns="109728" bIns="54864" anchor="t" rtlCol="0">
                      <a:noAutofit/>
                    </a:bodyPr>
                    <a:lstStyle/>
                    <a:p>
                      <a:pPr algn="l">
                        <a:lnSpc>
                          <a:spcPct val="95000"/>
                        </a:lnSpc>
                        <a:spcBef>
                          <a:spcPts val="0"/>
                        </a:spcBef>
                        <a:spcAft>
                          <a:spcPts val="0"/>
                        </a:spcAft>
                        <a:buNone/>
                      </a:pPr>
                      <a:r>
                        <a:rPr lang="fr-FR" sz="950" b="1" i="0" dirty="0">
                          <a:solidFill>
                            <a:srgbClr val="1F2933"/>
                          </a:solidFill>
                          <a:latin typeface="Segoe UI"/>
                          <a:cs typeface="Segoe UI"/>
                        </a:rPr>
                        <a:t>geo.api.gouv.fr</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Etalab</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GeoJSON</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LO</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à la demande</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&lt; 1 Mo</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contours de secours, Citiz par EPCI</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r>
            </a:tbl>
          </a:graphicData>
        </a:graphic>
      </p:graphicFrame>
      <p:sp>
        <p:nvSpPr>
          <p:cNvPr id="11" name="Forme 11"/>
          <p:cNvSpPr/>
          <p:nvPr/>
        </p:nvSpPr>
        <p:spPr>
          <a:xfrm>
            <a:off x="457200" y="6144768"/>
            <a:ext cx="11247120" cy="2743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50" b="0" i="1" dirty="0">
                <a:solidFill>
                  <a:srgbClr val="5B6573"/>
                </a:solidFill>
                <a:latin typeface="Segoe UI"/>
                <a:cs typeface="Segoe UI"/>
              </a:rPr>
              <a:t>LO = Licence Ouverte (Etalab) ; ODbL = Open Database License. Licences des GTFS : 313 jeux en LO 2.0, 163 en ODbL (catalogue transport.data.gouv.fr).</a:t>
            </a:r>
            <a:endParaRPr lang="fr-FR"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rme 3"/>
          <p:cNvSpPr/>
          <p:nvPr/>
        </p:nvSpPr>
        <p:spPr>
          <a:xfrm>
            <a:off x="0" y="0"/>
            <a:ext cx="128016" cy="6858000"/>
          </a:xfrm>
          <a:prstGeom prst="rect">
            <a:avLst/>
          </a:prstGeom>
          <a:solidFill>
            <a:srgbClr val="3D7DD8"/>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4" name="Forme 4"/>
          <p:cNvSpPr/>
          <p:nvPr/>
        </p:nvSpPr>
        <p:spPr>
          <a:xfrm>
            <a:off x="457200" y="256032"/>
            <a:ext cx="7315200" cy="2743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050" b="1" i="0" dirty="0">
                <a:solidFill>
                  <a:srgbClr val="3D7DD8"/>
                </a:solidFill>
                <a:latin typeface="Segoe UI"/>
                <a:cs typeface="Segoe UI"/>
              </a:rPr>
              <a:t>PARTIE 2 · LES SOURCES</a:t>
            </a:r>
            <a:endParaRPr lang="fr-FR" sz="1050" dirty="0"/>
          </a:p>
        </p:txBody>
      </p:sp>
      <p:sp>
        <p:nvSpPr>
          <p:cNvPr id="5" name="Forme 5"/>
          <p:cNvSpPr/>
          <p:nvPr/>
        </p:nvSpPr>
        <p:spPr>
          <a:xfrm>
            <a:off x="457200" y="502920"/>
            <a:ext cx="11247120" cy="5486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2500" b="1" i="0" dirty="0">
                <a:solidFill>
                  <a:srgbClr val="14213D"/>
                </a:solidFill>
                <a:latin typeface="Segoe UI"/>
                <a:cs typeface="Segoe UI"/>
              </a:rPr>
              <a:t>Fiche par source (1/4)</a:t>
            </a:r>
            <a:endParaRPr lang="fr-FR" sz="2500" dirty="0"/>
          </a:p>
        </p:txBody>
      </p:sp>
      <p:sp>
        <p:nvSpPr>
          <p:cNvPr id="6" name="Forme 6"/>
          <p:cNvSpPr/>
          <p:nvPr/>
        </p:nvSpPr>
        <p:spPr>
          <a:xfrm>
            <a:off x="457200" y="987552"/>
            <a:ext cx="11247120" cy="3200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250" b="0" i="0" dirty="0">
                <a:solidFill>
                  <a:srgbClr val="5B6573"/>
                </a:solidFill>
                <a:latin typeface="Segoe UI"/>
                <a:cs typeface="Segoe UI"/>
              </a:rPr>
              <a:t>Producteur, lien exact utilisé dans le code, format, licence, édition, taille, colonnes utilisées et pourquoi.</a:t>
            </a:r>
            <a:endParaRPr lang="fr-FR" sz="1250" dirty="0"/>
          </a:p>
        </p:txBody>
      </p:sp>
      <p:sp>
        <p:nvSpPr>
          <p:cNvPr id="7" name="Forme 7"/>
          <p:cNvSpPr/>
          <p:nvPr/>
        </p:nvSpPr>
        <p:spPr>
          <a:xfrm>
            <a:off x="457200" y="6446520"/>
            <a:ext cx="11274552" cy="10973"/>
          </a:xfrm>
          <a:prstGeom prst="rect">
            <a:avLst/>
          </a:prstGeom>
          <a:solidFill>
            <a:srgbClr val="D5DAE1"/>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8" name="Forme 8"/>
          <p:cNvSpPr/>
          <p:nvPr/>
        </p:nvSpPr>
        <p:spPr>
          <a:xfrm>
            <a:off x="457200" y="6492240"/>
            <a:ext cx="7315200" cy="256032"/>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00" b="0" i="0" dirty="0">
                <a:solidFill>
                  <a:srgbClr val="5B6573"/>
                </a:solidFill>
                <a:latin typeface="Segoe UI"/>
                <a:cs typeface="Segoe UI"/>
              </a:rPr>
              <a:t>Hackathon Mobility × Citiz · Nos données, de A à Z</a:t>
            </a:r>
            <a:endParaRPr lang="fr-FR" sz="900" dirty="0"/>
          </a:p>
        </p:txBody>
      </p:sp>
      <p:sp>
        <p:nvSpPr>
          <p:cNvPr id="9" name="Forme 9"/>
          <p:cNvSpPr/>
          <p:nvPr/>
        </p:nvSpPr>
        <p:spPr>
          <a:xfrm>
            <a:off x="10360152" y="6492240"/>
            <a:ext cx="1371600" cy="256032"/>
          </a:xfrm>
          <a:prstGeom prst="rect">
            <a:avLst/>
          </a:prstGeom>
          <a:noFill/>
          <a:ln>
            <a:noFill/>
          </a:ln>
        </p:spPr>
        <p:txBody>
          <a:bodyPr wrap="square" lIns="18288" tIns="18288" rIns="18288" bIns="18288" anchor="t" rtlCol="0">
            <a:noAutofit/>
          </a:bodyPr>
          <a:lstStyle/>
          <a:p>
            <a:pPr algn="r">
              <a:lnSpc>
                <a:spcPct val="100000"/>
              </a:lnSpc>
              <a:spcBef>
                <a:spcPts val="0"/>
              </a:spcBef>
              <a:spcAft>
                <a:spcPts val="0"/>
              </a:spcAft>
              <a:buNone/>
            </a:pPr>
            <a:r>
              <a:rPr lang="fr-FR" sz="900" b="0" i="0" dirty="0">
                <a:solidFill>
                  <a:srgbClr val="5B6573"/>
                </a:solidFill>
                <a:latin typeface="Segoe UI"/>
                <a:cs typeface="Segoe UI"/>
              </a:rPr>
              <a:t>6</a:t>
            </a:r>
            <a:endParaRPr lang="fr-FR" sz="900" dirty="0"/>
          </a:p>
        </p:txBody>
      </p:sp>
      <p:sp>
        <p:nvSpPr>
          <p:cNvPr id="10" name="Forme 10"/>
          <p:cNvSpPr/>
          <p:nvPr/>
        </p:nvSpPr>
        <p:spPr>
          <a:xfrm>
            <a:off x="457200" y="1371600"/>
            <a:ext cx="5559552" cy="2423160"/>
          </a:xfrm>
          <a:prstGeom prst="roundRect">
            <a:avLst>
              <a:gd name="adj" fmla="val 4000"/>
            </a:avLst>
          </a:prstGeom>
          <a:solidFill>
            <a:srgbClr val="E6EFFB"/>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1" name="Forme 11"/>
          <p:cNvSpPr/>
          <p:nvPr/>
        </p:nvSpPr>
        <p:spPr>
          <a:xfrm>
            <a:off x="457200" y="1371600"/>
            <a:ext cx="64008" cy="2423160"/>
          </a:xfrm>
          <a:prstGeom prst="rect">
            <a:avLst/>
          </a:prstGeom>
          <a:solidFill>
            <a:srgbClr val="3D7DD8"/>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2" name="Forme 12"/>
          <p:cNvSpPr/>
          <p:nvPr/>
        </p:nvSpPr>
        <p:spPr>
          <a:xfrm>
            <a:off x="640080" y="1463040"/>
            <a:ext cx="5266944" cy="228600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300"/>
              </a:spcAft>
              <a:buNone/>
            </a:pPr>
            <a:r>
              <a:rPr lang="fr-FR" sz="1300" b="1" i="0" dirty="0">
                <a:solidFill>
                  <a:srgbClr val="3D7DD8"/>
                </a:solidFill>
                <a:latin typeface="Segoe UI"/>
                <a:cs typeface="Segoe UI"/>
              </a:rPr>
              <a:t>1 · GTFS : horaires des transports en commun</a:t>
            </a:r>
            <a:endParaRPr lang="fr-FR" sz="1300" dirty="0"/>
          </a:p>
          <a:p>
            <a:pPr algn="l">
              <a:lnSpc>
                <a:spcPct val="100000"/>
              </a:lnSpc>
              <a:spcBef>
                <a:spcPts val="100"/>
              </a:spcBef>
              <a:spcAft>
                <a:spcPts val="0"/>
              </a:spcAft>
              <a:buNone/>
            </a:pPr>
            <a:r>
              <a:rPr lang="fr-FR" sz="1100" b="1" i="0" dirty="0">
                <a:solidFill>
                  <a:srgbClr val="1F2933"/>
                </a:solidFill>
                <a:latin typeface="Segoe UI"/>
                <a:cs typeface="Segoe UI"/>
              </a:rPr>
              <a:t>Producteur</a:t>
            </a:r>
            <a:r>
              <a:rPr lang="fr-FR" sz="1100" b="0" i="0" dirty="0">
                <a:solidFill>
                  <a:srgbClr val="1F2933"/>
                </a:solidFill>
                <a:latin typeface="Segoe UI"/>
                <a:cs typeface="Segoe UI"/>
              </a:rPr>
              <a:t> : Chaque réseau (Naolib, TAG, SNCF, Aléop…), publié sur transport.data.gouv.fr</a:t>
            </a:r>
            <a:endParaRPr lang="fr-FR" sz="1100" dirty="0"/>
          </a:p>
          <a:p>
            <a:pPr algn="l">
              <a:lnSpc>
                <a:spcPct val="100000"/>
              </a:lnSpc>
              <a:spcBef>
                <a:spcPts val="400"/>
              </a:spcBef>
              <a:spcAft>
                <a:spcPts val="0"/>
              </a:spcAft>
              <a:buNone/>
            </a:pPr>
            <a:r>
              <a:rPr lang="fr-FR" sz="850" b="0" i="0" dirty="0">
                <a:solidFill>
                  <a:srgbClr val="0B5C8A"/>
                </a:solidFill>
                <a:latin typeface="Consolas"/>
                <a:cs typeface="Consolas"/>
              </a:rPr>
              <a:t>https://transport.data.gouv.fr/api/datasets  (puis chaque ressource « GTFS »)</a:t>
            </a:r>
            <a:endParaRPr lang="fr-FR" sz="850" dirty="0"/>
          </a:p>
          <a:p>
            <a:pPr algn="l">
              <a:lnSpc>
                <a:spcPct val="100000"/>
              </a:lnSpc>
              <a:spcBef>
                <a:spcPts val="400"/>
              </a:spcBef>
              <a:spcAft>
                <a:spcPts val="0"/>
              </a:spcAft>
              <a:buNone/>
            </a:pPr>
            <a:r>
              <a:rPr lang="fr-FR" sz="1100" b="1" i="0" dirty="0">
                <a:solidFill>
                  <a:srgbClr val="1F2933"/>
                </a:solidFill>
                <a:latin typeface="Segoe UI"/>
                <a:cs typeface="Segoe UI"/>
              </a:rPr>
              <a:t>zip GTFS · LO 2.0 ou ODbL · téléchargé le 19/10/2026 · 2,1 Go (548 flux)</a:t>
            </a:r>
            <a:endParaRPr lang="fr-FR" sz="1100" dirty="0"/>
          </a:p>
          <a:p>
            <a:pPr algn="l">
              <a:lnSpc>
                <a:spcPct val="100000"/>
              </a:lnSpc>
              <a:spcBef>
                <a:spcPts val="400"/>
              </a:spcBef>
              <a:spcAft>
                <a:spcPts val="0"/>
              </a:spcAft>
              <a:buNone/>
            </a:pPr>
            <a:r>
              <a:rPr lang="fr-FR" sz="1100" b="1" i="0" dirty="0">
                <a:solidFill>
                  <a:srgbClr val="1F2933"/>
                </a:solidFill>
                <a:latin typeface="Segoe UI"/>
                <a:cs typeface="Segoe UI"/>
              </a:rPr>
              <a:t>On utilise</a:t>
            </a:r>
            <a:r>
              <a:rPr lang="fr-FR" sz="1100" b="0" i="0" dirty="0">
                <a:solidFill>
                  <a:srgbClr val="1F2933"/>
                </a:solidFill>
                <a:latin typeface="Segoe UI"/>
                <a:cs typeface="Segoe UI"/>
              </a:rPr>
              <a:t> : stops (stop_id, stop_name, stop_lat, stop_lon), routes (route_type), trips, calendar, calendar_dates, stop_times (trip_id, stop_id), frequencies</a:t>
            </a:r>
            <a:endParaRPr lang="fr-FR" sz="1100" dirty="0"/>
          </a:p>
          <a:p>
            <a:pPr algn="l">
              <a:lnSpc>
                <a:spcPct val="100000"/>
              </a:lnSpc>
              <a:spcBef>
                <a:spcPts val="400"/>
              </a:spcBef>
              <a:spcAft>
                <a:spcPts val="0"/>
              </a:spcAft>
              <a:buNone/>
            </a:pPr>
            <a:r>
              <a:rPr lang="fr-FR" sz="1100" b="1" i="0" dirty="0">
                <a:solidFill>
                  <a:srgbClr val="1F2933"/>
                </a:solidFill>
                <a:latin typeface="Segoe UI"/>
                <a:cs typeface="Segoe UI"/>
              </a:rPr>
              <a:t>Pourquoi</a:t>
            </a:r>
            <a:r>
              <a:rPr lang="fr-FR" sz="1100" b="0" i="0" dirty="0">
                <a:solidFill>
                  <a:srgbClr val="1F2933"/>
                </a:solidFill>
                <a:latin typeface="Segoe UI"/>
                <a:cs typeface="Segoe UI"/>
              </a:rPr>
              <a:t> : où sont les arrêts, quel mode, combien de passages un mardi type</a:t>
            </a:r>
            <a:endParaRPr lang="fr-FR" sz="1100" dirty="0"/>
          </a:p>
          <a:p>
            <a:pPr algn="l">
              <a:lnSpc>
                <a:spcPct val="100000"/>
              </a:lnSpc>
              <a:spcBef>
                <a:spcPts val="500"/>
              </a:spcBef>
              <a:spcAft>
                <a:spcPts val="0"/>
              </a:spcAft>
              <a:buNone/>
            </a:pPr>
            <a:r>
              <a:rPr lang="fr-FR" sz="950" b="0" i="0" dirty="0">
                <a:solidFill>
                  <a:srgbClr val="5B6573"/>
                </a:solidFill>
                <a:latin typeface="Consolas"/>
                <a:cs typeface="Consolas"/>
              </a:rPr>
              <a:t>download_all.py › run_gtfs · offer.py › gtfs_stop_frequencies</a:t>
            </a:r>
            <a:endParaRPr lang="fr-FR" sz="950" dirty="0"/>
          </a:p>
        </p:txBody>
      </p:sp>
      <p:sp>
        <p:nvSpPr>
          <p:cNvPr id="13" name="Forme 13"/>
          <p:cNvSpPr/>
          <p:nvPr/>
        </p:nvSpPr>
        <p:spPr>
          <a:xfrm>
            <a:off x="6172200" y="1371600"/>
            <a:ext cx="5559552" cy="2423160"/>
          </a:xfrm>
          <a:prstGeom prst="roundRect">
            <a:avLst>
              <a:gd name="adj" fmla="val 4000"/>
            </a:avLst>
          </a:prstGeom>
          <a:solidFill>
            <a:srgbClr val="E3F4F2"/>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4" name="Forme 14"/>
          <p:cNvSpPr/>
          <p:nvPr/>
        </p:nvSpPr>
        <p:spPr>
          <a:xfrm>
            <a:off x="6172200" y="1371600"/>
            <a:ext cx="64008" cy="2423160"/>
          </a:xfrm>
          <a:prstGeom prst="rect">
            <a:avLst/>
          </a:prstGeom>
          <a:solidFill>
            <a:srgbClr val="0E9F8E"/>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5" name="Forme 15"/>
          <p:cNvSpPr/>
          <p:nvPr/>
        </p:nvSpPr>
        <p:spPr>
          <a:xfrm>
            <a:off x="6355080" y="1463040"/>
            <a:ext cx="5266944" cy="228600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300"/>
              </a:spcAft>
              <a:buNone/>
            </a:pPr>
            <a:r>
              <a:rPr lang="fr-FR" sz="1300" b="1" i="0" dirty="0">
                <a:solidFill>
                  <a:srgbClr val="0E9F8E"/>
                </a:solidFill>
                <a:latin typeface="Segoe UI"/>
                <a:cs typeface="Segoe UI"/>
              </a:rPr>
              <a:t>2 · GBFS Citiz : stations d'autopartage Citiz</a:t>
            </a:r>
            <a:endParaRPr lang="fr-FR" sz="1300" dirty="0"/>
          </a:p>
          <a:p>
            <a:pPr algn="l">
              <a:lnSpc>
                <a:spcPct val="100000"/>
              </a:lnSpc>
              <a:spcBef>
                <a:spcPts val="100"/>
              </a:spcBef>
              <a:spcAft>
                <a:spcPts val="0"/>
              </a:spcAft>
              <a:buNone/>
            </a:pPr>
            <a:r>
              <a:rPr lang="fr-FR" sz="1100" b="1" i="0" dirty="0">
                <a:solidFill>
                  <a:srgbClr val="1F2933"/>
                </a:solidFill>
                <a:latin typeface="Segoe UI"/>
                <a:cs typeface="Segoe UI"/>
              </a:rPr>
              <a:t>Producteur</a:t>
            </a:r>
            <a:r>
              <a:rPr lang="fr-FR" sz="1100" b="0" i="0" dirty="0">
                <a:solidFill>
                  <a:srgbClr val="1F2933"/>
                </a:solidFill>
                <a:latin typeface="Segoe UI"/>
                <a:cs typeface="Segoe UI"/>
              </a:rPr>
              <a:t> : Citiz (15 réseaux régionaux), via transport.data.gouv.fr</a:t>
            </a:r>
            <a:endParaRPr lang="fr-FR" sz="1100" dirty="0"/>
          </a:p>
          <a:p>
            <a:pPr algn="l">
              <a:lnSpc>
                <a:spcPct val="100000"/>
              </a:lnSpc>
              <a:spcBef>
                <a:spcPts val="400"/>
              </a:spcBef>
              <a:spcAft>
                <a:spcPts val="0"/>
              </a:spcAft>
              <a:buNone/>
            </a:pPr>
            <a:r>
              <a:rPr lang="fr-FR" sz="850" b="0" i="0" dirty="0">
                <a:solidFill>
                  <a:srgbClr val="0B5C8A"/>
                </a:solidFill>
                <a:latin typeface="Consolas"/>
                <a:cs typeface="Consolas"/>
              </a:rPr>
              <a:t>même API : jeux « vehicles-sharing » contenant « citiz » → gbfs.json</a:t>
            </a:r>
            <a:endParaRPr lang="fr-FR" sz="850" dirty="0"/>
          </a:p>
          <a:p>
            <a:pPr algn="l">
              <a:lnSpc>
                <a:spcPct val="100000"/>
              </a:lnSpc>
              <a:spcBef>
                <a:spcPts val="400"/>
              </a:spcBef>
              <a:spcAft>
                <a:spcPts val="0"/>
              </a:spcAft>
              <a:buNone/>
            </a:pPr>
            <a:r>
              <a:rPr lang="fr-FR" sz="1100" b="1" i="0" dirty="0">
                <a:solidFill>
                  <a:srgbClr val="1F2933"/>
                </a:solidFill>
                <a:latin typeface="Segoe UI"/>
                <a:cs typeface="Segoe UI"/>
              </a:rPr>
              <a:t>JSON GBFS · LO 2.0 · instantané du 19/10/2026 · 2,4 Mo (150 fichiers)</a:t>
            </a:r>
            <a:endParaRPr lang="fr-FR" sz="1100" dirty="0"/>
          </a:p>
          <a:p>
            <a:pPr algn="l">
              <a:lnSpc>
                <a:spcPct val="100000"/>
              </a:lnSpc>
              <a:spcBef>
                <a:spcPts val="400"/>
              </a:spcBef>
              <a:spcAft>
                <a:spcPts val="0"/>
              </a:spcAft>
              <a:buNone/>
            </a:pPr>
            <a:r>
              <a:rPr lang="fr-FR" sz="1100" b="1" i="0" dirty="0">
                <a:solidFill>
                  <a:srgbClr val="1F2933"/>
                </a:solidFill>
                <a:latin typeface="Segoe UI"/>
                <a:cs typeface="Segoe UI"/>
              </a:rPr>
              <a:t>On utilise</a:t>
            </a:r>
            <a:r>
              <a:rPr lang="fr-FR" sz="1100" b="0" i="0" dirty="0">
                <a:solidFill>
                  <a:srgbClr val="1F2933"/>
                </a:solidFill>
                <a:latin typeface="Segoe UI"/>
                <a:cs typeface="Segoe UI"/>
              </a:rPr>
              <a:t> : station_information (station_id, name, lat, lon, capacity) ; station_status pour l'historique</a:t>
            </a:r>
            <a:endParaRPr lang="fr-FR" sz="1100" dirty="0"/>
          </a:p>
          <a:p>
            <a:pPr algn="l">
              <a:lnSpc>
                <a:spcPct val="100000"/>
              </a:lnSpc>
              <a:spcBef>
                <a:spcPts val="400"/>
              </a:spcBef>
              <a:spcAft>
                <a:spcPts val="0"/>
              </a:spcAft>
              <a:buNone/>
            </a:pPr>
            <a:r>
              <a:rPr lang="fr-FR" sz="1100" b="1" i="0" dirty="0">
                <a:solidFill>
                  <a:srgbClr val="1F2933"/>
                </a:solidFill>
                <a:latin typeface="Segoe UI"/>
                <a:cs typeface="Segoe UI"/>
              </a:rPr>
              <a:t>Pourquoi</a:t>
            </a:r>
            <a:r>
              <a:rPr lang="fr-FR" sz="1100" b="0" i="0" dirty="0">
                <a:solidFill>
                  <a:srgbClr val="1F2933"/>
                </a:solidFill>
                <a:latin typeface="Segoe UI"/>
                <a:cs typeface="Segoe UI"/>
              </a:rPr>
              <a:t> : 1 617 stations : la cible du modèle et l'autopartage déjà présent</a:t>
            </a:r>
            <a:endParaRPr lang="fr-FR" sz="1100" dirty="0"/>
          </a:p>
          <a:p>
            <a:pPr algn="l">
              <a:lnSpc>
                <a:spcPct val="100000"/>
              </a:lnSpc>
              <a:spcBef>
                <a:spcPts val="500"/>
              </a:spcBef>
              <a:spcAft>
                <a:spcPts val="0"/>
              </a:spcAft>
              <a:buNone/>
            </a:pPr>
            <a:r>
              <a:rPr lang="fr-FR" sz="950" b="0" i="0" dirty="0">
                <a:solidFill>
                  <a:srgbClr val="5B6573"/>
                </a:solidFill>
                <a:latin typeface="Consolas"/>
                <a:cs typeface="Consolas"/>
              </a:rPr>
              <a:t>download_all.py › run_gbfs(citiz_only=True) · offer.py › gbfs_offer</a:t>
            </a:r>
            <a:endParaRPr lang="fr-FR" sz="950" dirty="0"/>
          </a:p>
        </p:txBody>
      </p:sp>
      <p:sp>
        <p:nvSpPr>
          <p:cNvPr id="16" name="Forme 16"/>
          <p:cNvSpPr/>
          <p:nvPr/>
        </p:nvSpPr>
        <p:spPr>
          <a:xfrm>
            <a:off x="457200" y="3913632"/>
            <a:ext cx="5559552" cy="2423160"/>
          </a:xfrm>
          <a:prstGeom prst="roundRect">
            <a:avLst>
              <a:gd name="adj" fmla="val 4000"/>
            </a:avLst>
          </a:prstGeom>
          <a:solidFill>
            <a:srgbClr val="E6EFFB"/>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7" name="Forme 17"/>
          <p:cNvSpPr/>
          <p:nvPr/>
        </p:nvSpPr>
        <p:spPr>
          <a:xfrm>
            <a:off x="457200" y="3913632"/>
            <a:ext cx="64008" cy="2423160"/>
          </a:xfrm>
          <a:prstGeom prst="rect">
            <a:avLst/>
          </a:prstGeom>
          <a:solidFill>
            <a:srgbClr val="3D7DD8"/>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8" name="Forme 18"/>
          <p:cNvSpPr/>
          <p:nvPr/>
        </p:nvSpPr>
        <p:spPr>
          <a:xfrm>
            <a:off x="640080" y="4005072"/>
            <a:ext cx="5266944" cy="228600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300"/>
              </a:spcAft>
              <a:buNone/>
            </a:pPr>
            <a:r>
              <a:rPr lang="fr-FR" sz="1300" b="1" i="0" dirty="0">
                <a:solidFill>
                  <a:srgbClr val="3D7DD8"/>
                </a:solidFill>
                <a:latin typeface="Segoe UI"/>
                <a:cs typeface="Segoe UI"/>
              </a:rPr>
              <a:t>3 · GBFS autres opérateurs : vélos, trottinettes, voitures</a:t>
            </a:r>
            <a:endParaRPr lang="fr-FR" sz="1300" dirty="0"/>
          </a:p>
          <a:p>
            <a:pPr algn="l">
              <a:lnSpc>
                <a:spcPct val="100000"/>
              </a:lnSpc>
              <a:spcBef>
                <a:spcPts val="100"/>
              </a:spcBef>
              <a:spcAft>
                <a:spcPts val="0"/>
              </a:spcAft>
              <a:buNone/>
            </a:pPr>
            <a:r>
              <a:rPr lang="fr-FR" sz="1100" b="1" i="0" dirty="0">
                <a:solidFill>
                  <a:srgbClr val="1F2933"/>
                </a:solidFill>
                <a:latin typeface="Segoe UI"/>
                <a:cs typeface="Segoe UI"/>
              </a:rPr>
              <a:t>Producteur</a:t>
            </a:r>
            <a:r>
              <a:rPr lang="fr-FR" sz="1100" b="0" i="0" dirty="0">
                <a:solidFill>
                  <a:srgbClr val="1F2933"/>
                </a:solidFill>
                <a:latin typeface="Segoe UI"/>
                <a:cs typeface="Segoe UI"/>
              </a:rPr>
              <a:t> : 151 flux d'opérateurs (Voi, Dott, vélos Naolib, Clem…), via transport.data.gouv.fr</a:t>
            </a:r>
            <a:endParaRPr lang="fr-FR" sz="1100" dirty="0"/>
          </a:p>
          <a:p>
            <a:pPr algn="l">
              <a:lnSpc>
                <a:spcPct val="100000"/>
              </a:lnSpc>
              <a:spcBef>
                <a:spcPts val="400"/>
              </a:spcBef>
              <a:spcAft>
                <a:spcPts val="0"/>
              </a:spcAft>
              <a:buNone/>
            </a:pPr>
            <a:r>
              <a:rPr lang="fr-FR" sz="850" b="0" i="0" dirty="0">
                <a:solidFill>
                  <a:srgbClr val="0B5C8A"/>
                </a:solidFill>
                <a:latin typeface="Consolas"/>
                <a:cs typeface="Consolas"/>
              </a:rPr>
              <a:t>même API : tous les jeux « vehicles-sharing » hors Citiz</a:t>
            </a:r>
            <a:endParaRPr lang="fr-FR" sz="850" dirty="0"/>
          </a:p>
          <a:p>
            <a:pPr algn="l">
              <a:lnSpc>
                <a:spcPct val="100000"/>
              </a:lnSpc>
              <a:spcBef>
                <a:spcPts val="400"/>
              </a:spcBef>
              <a:spcAft>
                <a:spcPts val="0"/>
              </a:spcAft>
              <a:buNone/>
            </a:pPr>
            <a:r>
              <a:rPr lang="fr-FR" sz="1100" b="1" i="0" dirty="0">
                <a:solidFill>
                  <a:srgbClr val="1F2933"/>
                </a:solidFill>
                <a:latin typeface="Segoe UI"/>
                <a:cs typeface="Segoe UI"/>
              </a:rPr>
              <a:t>JSON GBFS · LO 2.0, ODbL ou non précisée · 19/10/2026 · 77 Mo (1 303 fichiers, 15 en erreur)</a:t>
            </a:r>
            <a:endParaRPr lang="fr-FR" sz="1100" dirty="0"/>
          </a:p>
          <a:p>
            <a:pPr algn="l">
              <a:lnSpc>
                <a:spcPct val="100000"/>
              </a:lnSpc>
              <a:spcBef>
                <a:spcPts val="400"/>
              </a:spcBef>
              <a:spcAft>
                <a:spcPts val="0"/>
              </a:spcAft>
              <a:buNone/>
            </a:pPr>
            <a:r>
              <a:rPr lang="fr-FR" sz="1100" b="1" i="0" dirty="0">
                <a:solidFill>
                  <a:srgbClr val="1F2933"/>
                </a:solidFill>
                <a:latin typeface="Segoe UI"/>
                <a:cs typeface="Segoe UI"/>
              </a:rPr>
              <a:t>On utilise</a:t>
            </a:r>
            <a:r>
              <a:rPr lang="fr-FR" sz="1100" b="0" i="0" dirty="0">
                <a:solidFill>
                  <a:srgbClr val="1F2933"/>
                </a:solidFill>
                <a:latin typeface="Segoe UI"/>
                <a:cs typeface="Segoe UI"/>
              </a:rPr>
              <a:t> : vehicle_types (form_factor), station_information (lat, lon, capacity, is_virtual_station)</a:t>
            </a:r>
            <a:endParaRPr lang="fr-FR" sz="1100" dirty="0"/>
          </a:p>
          <a:p>
            <a:pPr algn="l">
              <a:lnSpc>
                <a:spcPct val="100000"/>
              </a:lnSpc>
              <a:spcBef>
                <a:spcPts val="400"/>
              </a:spcBef>
              <a:spcAft>
                <a:spcPts val="0"/>
              </a:spcAft>
              <a:buNone/>
            </a:pPr>
            <a:r>
              <a:rPr lang="fr-FR" sz="1100" b="1" i="0" dirty="0">
                <a:solidFill>
                  <a:srgbClr val="1F2933"/>
                </a:solidFill>
                <a:latin typeface="Segoe UI"/>
                <a:cs typeface="Segoe UI"/>
              </a:rPr>
              <a:t>Pourquoi</a:t>
            </a:r>
            <a:r>
              <a:rPr lang="fr-FR" sz="1100" b="0" i="0" dirty="0">
                <a:solidFill>
                  <a:srgbClr val="1F2933"/>
                </a:solidFill>
                <a:latin typeface="Segoe UI"/>
                <a:cs typeface="Segoe UI"/>
              </a:rPr>
              <a:t> : ajouter vélos, trottinettes et autres voitures partagées aux options</a:t>
            </a:r>
            <a:endParaRPr lang="fr-FR" sz="1100" dirty="0"/>
          </a:p>
          <a:p>
            <a:pPr algn="l">
              <a:lnSpc>
                <a:spcPct val="100000"/>
              </a:lnSpc>
              <a:spcBef>
                <a:spcPts val="500"/>
              </a:spcBef>
              <a:spcAft>
                <a:spcPts val="0"/>
              </a:spcAft>
              <a:buNone/>
            </a:pPr>
            <a:r>
              <a:rPr lang="fr-FR" sz="950" b="0" i="0" dirty="0">
                <a:solidFill>
                  <a:srgbClr val="5B6573"/>
                </a:solidFill>
                <a:latin typeface="Consolas"/>
                <a:cs typeface="Consolas"/>
              </a:rPr>
              <a:t>download_all.py › run_gbfs · offer.py › gbfs_offer, FORM_FACTOR</a:t>
            </a:r>
            <a:endParaRPr lang="fr-FR" sz="950" dirty="0"/>
          </a:p>
        </p:txBody>
      </p:sp>
      <p:sp>
        <p:nvSpPr>
          <p:cNvPr id="19" name="Forme 19"/>
          <p:cNvSpPr/>
          <p:nvPr/>
        </p:nvSpPr>
        <p:spPr>
          <a:xfrm>
            <a:off x="6172200" y="3913632"/>
            <a:ext cx="5559552" cy="2423160"/>
          </a:xfrm>
          <a:prstGeom prst="roundRect">
            <a:avLst>
              <a:gd name="adj" fmla="val 4000"/>
            </a:avLst>
          </a:prstGeom>
          <a:solidFill>
            <a:srgbClr val="EEF0F3"/>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20" name="Forme 20"/>
          <p:cNvSpPr/>
          <p:nvPr/>
        </p:nvSpPr>
        <p:spPr>
          <a:xfrm>
            <a:off x="6172200" y="3913632"/>
            <a:ext cx="64008" cy="2423160"/>
          </a:xfrm>
          <a:prstGeom prst="rect">
            <a:avLst/>
          </a:prstGeom>
          <a:solidFill>
            <a:srgbClr val="5B6573"/>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21" name="Forme 21"/>
          <p:cNvSpPr/>
          <p:nvPr/>
        </p:nvSpPr>
        <p:spPr>
          <a:xfrm>
            <a:off x="6355080" y="4005072"/>
            <a:ext cx="5266944" cy="228600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300"/>
              </a:spcAft>
              <a:buNone/>
            </a:pPr>
            <a:r>
              <a:rPr lang="fr-FR" sz="1300" b="1" i="0" dirty="0">
                <a:solidFill>
                  <a:srgbClr val="5B6573"/>
                </a:solidFill>
                <a:latin typeface="Segoe UI"/>
                <a:cs typeface="Segoe UI"/>
              </a:rPr>
              <a:t>4 · Fichier national des arrêts</a:t>
            </a:r>
            <a:endParaRPr lang="fr-FR" sz="1300" dirty="0"/>
          </a:p>
          <a:p>
            <a:pPr algn="l">
              <a:lnSpc>
                <a:spcPct val="100000"/>
              </a:lnSpc>
              <a:spcBef>
                <a:spcPts val="100"/>
              </a:spcBef>
              <a:spcAft>
                <a:spcPts val="0"/>
              </a:spcAft>
              <a:buNone/>
            </a:pPr>
            <a:r>
              <a:rPr lang="fr-FR" sz="1100" b="1" i="0" dirty="0">
                <a:solidFill>
                  <a:srgbClr val="1F2933"/>
                </a:solidFill>
                <a:latin typeface="Segoe UI"/>
                <a:cs typeface="Segoe UI"/>
              </a:rPr>
              <a:t>Producteur</a:t>
            </a:r>
            <a:r>
              <a:rPr lang="fr-FR" sz="1100" b="0" i="0" dirty="0">
                <a:solidFill>
                  <a:srgbClr val="1F2933"/>
                </a:solidFill>
                <a:latin typeface="Segoe UI"/>
                <a:cs typeface="Segoe UI"/>
              </a:rPr>
              <a:t> : Point d'Accès National transport.data.gouv.fr (agrégat des GTFS, non dédoublonné)</a:t>
            </a:r>
            <a:endParaRPr lang="fr-FR" sz="1100" dirty="0"/>
          </a:p>
          <a:p>
            <a:pPr algn="l">
              <a:lnSpc>
                <a:spcPct val="100000"/>
              </a:lnSpc>
              <a:spcBef>
                <a:spcPts val="400"/>
              </a:spcBef>
              <a:spcAft>
                <a:spcPts val="0"/>
              </a:spcAft>
              <a:buNone/>
            </a:pPr>
            <a:r>
              <a:rPr lang="fr-FR" sz="850" b="0" i="0" dirty="0">
                <a:solidFill>
                  <a:srgbClr val="0B5C8A"/>
                </a:solidFill>
                <a:latin typeface="Consolas"/>
                <a:cs typeface="Consolas"/>
              </a:rPr>
              <a:t>https://www.data.gouv.fr/api/1/datasets/r/69cf54c6-6591-4920-b1d6-2a5292964606</a:t>
            </a:r>
            <a:endParaRPr lang="fr-FR" sz="850" dirty="0"/>
          </a:p>
          <a:p>
            <a:pPr algn="l">
              <a:lnSpc>
                <a:spcPct val="100000"/>
              </a:lnSpc>
              <a:spcBef>
                <a:spcPts val="400"/>
              </a:spcBef>
              <a:spcAft>
                <a:spcPts val="0"/>
              </a:spcAft>
              <a:buNone/>
            </a:pPr>
            <a:r>
              <a:rPr lang="fr-FR" sz="1100" b="1" i="0" dirty="0">
                <a:solidFill>
                  <a:srgbClr val="1F2933"/>
                </a:solidFill>
                <a:latin typeface="Segoe UI"/>
                <a:cs typeface="Segoe UI"/>
              </a:rPr>
              <a:t>CSV · LO 2.0 · 19/10/2026 · 437 Mo</a:t>
            </a:r>
            <a:endParaRPr lang="fr-FR" sz="1100" dirty="0"/>
          </a:p>
          <a:p>
            <a:pPr algn="l">
              <a:lnSpc>
                <a:spcPct val="100000"/>
              </a:lnSpc>
              <a:spcBef>
                <a:spcPts val="400"/>
              </a:spcBef>
              <a:spcAft>
                <a:spcPts val="0"/>
              </a:spcAft>
              <a:buNone/>
            </a:pPr>
            <a:r>
              <a:rPr lang="fr-FR" sz="1100" b="1" i="0" dirty="0">
                <a:solidFill>
                  <a:srgbClr val="1F2933"/>
                </a:solidFill>
                <a:latin typeface="Segoe UI"/>
                <a:cs typeface="Segoe UI"/>
              </a:rPr>
              <a:t>On utilise</a:t>
            </a:r>
            <a:r>
              <a:rPr lang="fr-FR" sz="1100" b="0" i="0" dirty="0">
                <a:solidFill>
                  <a:srgbClr val="1F2933"/>
                </a:solidFill>
                <a:latin typeface="Segoe UI"/>
                <a:cs typeface="Segoe UI"/>
              </a:rPr>
              <a:t> : rien dans les calculs : comparaisons seulement (Guyane : 557 arrêts dans l'agrégat, 267 chez nous)</a:t>
            </a:r>
            <a:endParaRPr lang="fr-FR" sz="1100" dirty="0"/>
          </a:p>
          <a:p>
            <a:pPr algn="l">
              <a:lnSpc>
                <a:spcPct val="100000"/>
              </a:lnSpc>
              <a:spcBef>
                <a:spcPts val="400"/>
              </a:spcBef>
              <a:spcAft>
                <a:spcPts val="0"/>
              </a:spcAft>
              <a:buNone/>
            </a:pPr>
            <a:r>
              <a:rPr lang="fr-FR" sz="1100" b="1" i="0" dirty="0">
                <a:solidFill>
                  <a:srgbClr val="1F2933"/>
                </a:solidFill>
                <a:latin typeface="Segoe UI"/>
                <a:cs typeface="Segoe UI"/>
              </a:rPr>
              <a:t>Pourquoi</a:t>
            </a:r>
            <a:r>
              <a:rPr lang="fr-FR" sz="1100" b="0" i="0" dirty="0">
                <a:solidFill>
                  <a:srgbClr val="1F2933"/>
                </a:solidFill>
                <a:latin typeface="Segoe UI"/>
                <a:cs typeface="Segoe UI"/>
              </a:rPr>
              <a:t> : ni fréquence ni mode fiable, et des doublons : on recalcule tout depuis les GTFS</a:t>
            </a:r>
            <a:endParaRPr lang="fr-FR" sz="1100" dirty="0"/>
          </a:p>
          <a:p>
            <a:pPr algn="l">
              <a:lnSpc>
                <a:spcPct val="100000"/>
              </a:lnSpc>
              <a:spcBef>
                <a:spcPts val="500"/>
              </a:spcBef>
              <a:spcAft>
                <a:spcPts val="0"/>
              </a:spcAft>
              <a:buNone/>
            </a:pPr>
            <a:r>
              <a:rPr lang="fr-FR" sz="950" b="0" i="0" dirty="0">
                <a:solidFill>
                  <a:srgbClr val="5B6573"/>
                </a:solidFill>
                <a:latin typeface="Consolas"/>
                <a:cs typeface="Consolas"/>
              </a:rPr>
              <a:t>download_all.py › STATIC["stops_national"] · check_data.py</a:t>
            </a:r>
            <a:endParaRPr lang="fr-FR"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rme 3"/>
          <p:cNvSpPr/>
          <p:nvPr/>
        </p:nvSpPr>
        <p:spPr>
          <a:xfrm>
            <a:off x="0" y="0"/>
            <a:ext cx="128016" cy="6858000"/>
          </a:xfrm>
          <a:prstGeom prst="rect">
            <a:avLst/>
          </a:prstGeom>
          <a:solidFill>
            <a:srgbClr val="3D7DD8"/>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4" name="Forme 4"/>
          <p:cNvSpPr/>
          <p:nvPr/>
        </p:nvSpPr>
        <p:spPr>
          <a:xfrm>
            <a:off x="457200" y="256032"/>
            <a:ext cx="7315200" cy="2743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050" b="1" i="0" dirty="0">
                <a:solidFill>
                  <a:srgbClr val="3D7DD8"/>
                </a:solidFill>
                <a:latin typeface="Segoe UI"/>
                <a:cs typeface="Segoe UI"/>
              </a:rPr>
              <a:t>PARTIE 2 · LES SOURCES</a:t>
            </a:r>
            <a:endParaRPr lang="fr-FR" sz="1050" dirty="0"/>
          </a:p>
        </p:txBody>
      </p:sp>
      <p:sp>
        <p:nvSpPr>
          <p:cNvPr id="5" name="Forme 5"/>
          <p:cNvSpPr/>
          <p:nvPr/>
        </p:nvSpPr>
        <p:spPr>
          <a:xfrm>
            <a:off x="457200" y="502920"/>
            <a:ext cx="11247120" cy="5486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2500" b="1" i="0" dirty="0">
                <a:solidFill>
                  <a:srgbClr val="14213D"/>
                </a:solidFill>
                <a:latin typeface="Segoe UI"/>
                <a:cs typeface="Segoe UI"/>
              </a:rPr>
              <a:t>Fiche par source (2/4)</a:t>
            </a:r>
            <a:endParaRPr lang="fr-FR" sz="2500" dirty="0"/>
          </a:p>
        </p:txBody>
      </p:sp>
      <p:sp>
        <p:nvSpPr>
          <p:cNvPr id="6" name="Forme 6"/>
          <p:cNvSpPr/>
          <p:nvPr/>
        </p:nvSpPr>
        <p:spPr>
          <a:xfrm>
            <a:off x="457200" y="987552"/>
            <a:ext cx="11247120" cy="3200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250" b="0" i="0" dirty="0">
                <a:solidFill>
                  <a:srgbClr val="5B6573"/>
                </a:solidFill>
                <a:latin typeface="Segoe UI"/>
                <a:cs typeface="Segoe UI"/>
              </a:rPr>
              <a:t>Producteur, lien exact utilisé dans le code, format, licence, édition, taille, colonnes utilisées et pourquoi.</a:t>
            </a:r>
            <a:endParaRPr lang="fr-FR" sz="1250" dirty="0"/>
          </a:p>
        </p:txBody>
      </p:sp>
      <p:sp>
        <p:nvSpPr>
          <p:cNvPr id="7" name="Forme 7"/>
          <p:cNvSpPr/>
          <p:nvPr/>
        </p:nvSpPr>
        <p:spPr>
          <a:xfrm>
            <a:off x="457200" y="6446520"/>
            <a:ext cx="11274552" cy="10973"/>
          </a:xfrm>
          <a:prstGeom prst="rect">
            <a:avLst/>
          </a:prstGeom>
          <a:solidFill>
            <a:srgbClr val="D5DAE1"/>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8" name="Forme 8"/>
          <p:cNvSpPr/>
          <p:nvPr/>
        </p:nvSpPr>
        <p:spPr>
          <a:xfrm>
            <a:off x="457200" y="6492240"/>
            <a:ext cx="7315200" cy="256032"/>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00" b="0" i="0" dirty="0">
                <a:solidFill>
                  <a:srgbClr val="5B6573"/>
                </a:solidFill>
                <a:latin typeface="Segoe UI"/>
                <a:cs typeface="Segoe UI"/>
              </a:rPr>
              <a:t>Hackathon Mobility × Citiz · Nos données, de A à Z</a:t>
            </a:r>
            <a:endParaRPr lang="fr-FR" sz="900" dirty="0"/>
          </a:p>
        </p:txBody>
      </p:sp>
      <p:sp>
        <p:nvSpPr>
          <p:cNvPr id="9" name="Forme 9"/>
          <p:cNvSpPr/>
          <p:nvPr/>
        </p:nvSpPr>
        <p:spPr>
          <a:xfrm>
            <a:off x="10360152" y="6492240"/>
            <a:ext cx="1371600" cy="256032"/>
          </a:xfrm>
          <a:prstGeom prst="rect">
            <a:avLst/>
          </a:prstGeom>
          <a:noFill/>
          <a:ln>
            <a:noFill/>
          </a:ln>
        </p:spPr>
        <p:txBody>
          <a:bodyPr wrap="square" lIns="18288" tIns="18288" rIns="18288" bIns="18288" anchor="t" rtlCol="0">
            <a:noAutofit/>
          </a:bodyPr>
          <a:lstStyle/>
          <a:p>
            <a:pPr algn="r">
              <a:lnSpc>
                <a:spcPct val="100000"/>
              </a:lnSpc>
              <a:spcBef>
                <a:spcPts val="0"/>
              </a:spcBef>
              <a:spcAft>
                <a:spcPts val="0"/>
              </a:spcAft>
              <a:buNone/>
            </a:pPr>
            <a:r>
              <a:rPr lang="fr-FR" sz="900" b="0" i="0" dirty="0">
                <a:solidFill>
                  <a:srgbClr val="5B6573"/>
                </a:solidFill>
                <a:latin typeface="Segoe UI"/>
                <a:cs typeface="Segoe UI"/>
              </a:rPr>
              <a:t>7</a:t>
            </a:r>
            <a:endParaRPr lang="fr-FR" sz="900" dirty="0"/>
          </a:p>
        </p:txBody>
      </p:sp>
      <p:sp>
        <p:nvSpPr>
          <p:cNvPr id="10" name="Forme 10"/>
          <p:cNvSpPr/>
          <p:nvPr/>
        </p:nvSpPr>
        <p:spPr>
          <a:xfrm>
            <a:off x="457200" y="1371600"/>
            <a:ext cx="5559552" cy="2423160"/>
          </a:xfrm>
          <a:prstGeom prst="roundRect">
            <a:avLst>
              <a:gd name="adj" fmla="val 4000"/>
            </a:avLst>
          </a:prstGeom>
          <a:solidFill>
            <a:srgbClr val="E6EFFB"/>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1" name="Forme 11"/>
          <p:cNvSpPr/>
          <p:nvPr/>
        </p:nvSpPr>
        <p:spPr>
          <a:xfrm>
            <a:off x="457200" y="1371600"/>
            <a:ext cx="64008" cy="2423160"/>
          </a:xfrm>
          <a:prstGeom prst="rect">
            <a:avLst/>
          </a:prstGeom>
          <a:solidFill>
            <a:srgbClr val="3D7DD8"/>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2" name="Forme 12"/>
          <p:cNvSpPr/>
          <p:nvPr/>
        </p:nvSpPr>
        <p:spPr>
          <a:xfrm>
            <a:off x="640080" y="1463040"/>
            <a:ext cx="5266944" cy="228600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300"/>
              </a:spcAft>
              <a:buNone/>
            </a:pPr>
            <a:r>
              <a:rPr lang="fr-FR" sz="1300" b="1" i="0" dirty="0">
                <a:solidFill>
                  <a:srgbClr val="3D7DD8"/>
                </a:solidFill>
                <a:latin typeface="Segoe UI"/>
                <a:cs typeface="Segoe UI"/>
              </a:rPr>
              <a:t>5 · INSEE Filosofi 2021 : population au carreau de 200 m</a:t>
            </a:r>
            <a:endParaRPr lang="fr-FR" sz="1300" dirty="0"/>
          </a:p>
          <a:p>
            <a:pPr algn="l">
              <a:lnSpc>
                <a:spcPct val="100000"/>
              </a:lnSpc>
              <a:spcBef>
                <a:spcPts val="100"/>
              </a:spcBef>
              <a:spcAft>
                <a:spcPts val="0"/>
              </a:spcAft>
              <a:buNone/>
            </a:pPr>
            <a:r>
              <a:rPr lang="fr-FR" sz="1100" b="1" i="0" dirty="0">
                <a:solidFill>
                  <a:srgbClr val="1F2933"/>
                </a:solidFill>
                <a:latin typeface="Segoe UI"/>
                <a:cs typeface="Segoe UI"/>
              </a:rPr>
              <a:t>Producteur</a:t>
            </a:r>
            <a:r>
              <a:rPr lang="fr-FR" sz="1100" b="0" i="0" dirty="0">
                <a:solidFill>
                  <a:srgbClr val="1F2933"/>
                </a:solidFill>
                <a:latin typeface="Segoe UI"/>
                <a:cs typeface="Segoe UI"/>
              </a:rPr>
              <a:t> : INSEE (données fiscales)</a:t>
            </a:r>
            <a:endParaRPr lang="fr-FR" sz="1100" dirty="0"/>
          </a:p>
          <a:p>
            <a:pPr algn="l">
              <a:lnSpc>
                <a:spcPct val="100000"/>
              </a:lnSpc>
              <a:spcBef>
                <a:spcPts val="400"/>
              </a:spcBef>
              <a:spcAft>
                <a:spcPts val="0"/>
              </a:spcAft>
              <a:buNone/>
            </a:pPr>
            <a:r>
              <a:rPr lang="fr-FR" sz="850" b="0" i="0" dirty="0">
                <a:solidFill>
                  <a:srgbClr val="0B5C8A"/>
                </a:solidFill>
                <a:latin typeface="Consolas"/>
                <a:cs typeface="Consolas"/>
              </a:rPr>
              <a:t>https://www.insee.fr/fr/statistiques/fichier/8735162/Filosofi2021_carreaux_200m_gpkg.zip</a:t>
            </a:r>
            <a:endParaRPr lang="fr-FR" sz="850" dirty="0"/>
          </a:p>
          <a:p>
            <a:pPr algn="l">
              <a:lnSpc>
                <a:spcPct val="100000"/>
              </a:lnSpc>
              <a:spcBef>
                <a:spcPts val="400"/>
              </a:spcBef>
              <a:spcAft>
                <a:spcPts val="0"/>
              </a:spcAft>
              <a:buNone/>
            </a:pPr>
            <a:r>
              <a:rPr lang="fr-FR" sz="1100" b="1" i="0" dirty="0">
                <a:solidFill>
                  <a:srgbClr val="1F2933"/>
                </a:solidFill>
                <a:latin typeface="Segoe UI"/>
                <a:cs typeface="Segoe UI"/>
              </a:rPr>
              <a:t>GeoPackage zippé · LO · millésime 2021 · 309 Mo</a:t>
            </a:r>
            <a:endParaRPr lang="fr-FR" sz="1100" dirty="0"/>
          </a:p>
          <a:p>
            <a:pPr algn="l">
              <a:lnSpc>
                <a:spcPct val="100000"/>
              </a:lnSpc>
              <a:spcBef>
                <a:spcPts val="400"/>
              </a:spcBef>
              <a:spcAft>
                <a:spcPts val="0"/>
              </a:spcAft>
              <a:buNone/>
            </a:pPr>
            <a:r>
              <a:rPr lang="fr-FR" sz="1100" b="1" i="0" dirty="0">
                <a:solidFill>
                  <a:srgbClr val="1F2933"/>
                </a:solidFill>
                <a:latin typeface="Segoe UI"/>
                <a:cs typeface="Segoe UI"/>
              </a:rPr>
              <a:t>On utilise</a:t>
            </a:r>
            <a:r>
              <a:rPr lang="fr-FR" sz="1100" b="0" i="0" dirty="0">
                <a:solidFill>
                  <a:srgbClr val="1F2933"/>
                </a:solidFill>
                <a:latin typeface="Segoe UI"/>
                <a:cs typeface="Segoe UI"/>
              </a:rPr>
              <a:t> : idcar_200m, ind (habitants), men (ménages), men_pauv, ind_snv (niveaux de vie), men_prop, log_soc, i_est_200, lcog_geo</a:t>
            </a:r>
            <a:endParaRPr lang="fr-FR" sz="1100" dirty="0"/>
          </a:p>
          <a:p>
            <a:pPr algn="l">
              <a:lnSpc>
                <a:spcPct val="100000"/>
              </a:lnSpc>
              <a:spcBef>
                <a:spcPts val="400"/>
              </a:spcBef>
              <a:spcAft>
                <a:spcPts val="0"/>
              </a:spcAft>
              <a:buNone/>
            </a:pPr>
            <a:r>
              <a:rPr lang="fr-FR" sz="1100" b="1" i="0" dirty="0">
                <a:solidFill>
                  <a:srgbClr val="1F2933"/>
                </a:solidFill>
                <a:latin typeface="Segoe UI"/>
                <a:cs typeface="Segoe UI"/>
              </a:rPr>
              <a:t>Pourquoi</a:t>
            </a:r>
            <a:r>
              <a:rPr lang="fr-FR" sz="1100" b="0" i="0" dirty="0">
                <a:solidFill>
                  <a:srgbClr val="1F2933"/>
                </a:solidFill>
                <a:latin typeface="Segoe UI"/>
                <a:cs typeface="Segoe UI"/>
              </a:rPr>
              <a:t> : combien d'habitants vivent dans chaque carreau, et leurs revenus (équité)</a:t>
            </a:r>
            <a:endParaRPr lang="fr-FR" sz="1100" dirty="0"/>
          </a:p>
          <a:p>
            <a:pPr algn="l">
              <a:lnSpc>
                <a:spcPct val="100000"/>
              </a:lnSpc>
              <a:spcBef>
                <a:spcPts val="500"/>
              </a:spcBef>
              <a:spcAft>
                <a:spcPts val="0"/>
              </a:spcAft>
              <a:buNone/>
            </a:pPr>
            <a:r>
              <a:rPr lang="fr-FR" sz="950" b="0" i="0" dirty="0">
                <a:solidFill>
                  <a:srgbClr val="5B6573"/>
                </a:solidFill>
                <a:latin typeface="Consolas"/>
                <a:cs typeface="Consolas"/>
              </a:rPr>
              <a:t>archives.py › filosofi_gpkg · population.py › load_filosofi · national/cells.py</a:t>
            </a:r>
            <a:endParaRPr lang="fr-FR" sz="950" dirty="0"/>
          </a:p>
        </p:txBody>
      </p:sp>
      <p:sp>
        <p:nvSpPr>
          <p:cNvPr id="13" name="Forme 13"/>
          <p:cNvSpPr/>
          <p:nvPr/>
        </p:nvSpPr>
        <p:spPr>
          <a:xfrm>
            <a:off x="6172200" y="1371600"/>
            <a:ext cx="5559552" cy="2423160"/>
          </a:xfrm>
          <a:prstGeom prst="roundRect">
            <a:avLst>
              <a:gd name="adj" fmla="val 4000"/>
            </a:avLst>
          </a:prstGeom>
          <a:solidFill>
            <a:srgbClr val="E3F4F2"/>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4" name="Forme 14"/>
          <p:cNvSpPr/>
          <p:nvPr/>
        </p:nvSpPr>
        <p:spPr>
          <a:xfrm>
            <a:off x="6172200" y="1371600"/>
            <a:ext cx="64008" cy="2423160"/>
          </a:xfrm>
          <a:prstGeom prst="rect">
            <a:avLst/>
          </a:prstGeom>
          <a:solidFill>
            <a:srgbClr val="0E9F8E"/>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5" name="Forme 15"/>
          <p:cNvSpPr/>
          <p:nvPr/>
        </p:nvSpPr>
        <p:spPr>
          <a:xfrm>
            <a:off x="6355080" y="1463040"/>
            <a:ext cx="5266944" cy="228600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300"/>
              </a:spcAft>
              <a:buNone/>
            </a:pPr>
            <a:r>
              <a:rPr lang="fr-FR" sz="1300" b="1" i="0" dirty="0">
                <a:solidFill>
                  <a:srgbClr val="0E9F8E"/>
                </a:solidFill>
                <a:latin typeface="Segoe UI"/>
                <a:cs typeface="Segoe UI"/>
              </a:rPr>
              <a:t>6 · INSEE Logement par IRIS 2023 : motorisation</a:t>
            </a:r>
            <a:endParaRPr lang="fr-FR" sz="1300" dirty="0"/>
          </a:p>
          <a:p>
            <a:pPr algn="l">
              <a:lnSpc>
                <a:spcPct val="100000"/>
              </a:lnSpc>
              <a:spcBef>
                <a:spcPts val="100"/>
              </a:spcBef>
              <a:spcAft>
                <a:spcPts val="0"/>
              </a:spcAft>
              <a:buNone/>
            </a:pPr>
            <a:r>
              <a:rPr lang="fr-FR" sz="1100" b="1" i="0" dirty="0">
                <a:solidFill>
                  <a:srgbClr val="1F2933"/>
                </a:solidFill>
                <a:latin typeface="Segoe UI"/>
                <a:cs typeface="Segoe UI"/>
              </a:rPr>
              <a:t>Producteur</a:t>
            </a:r>
            <a:r>
              <a:rPr lang="fr-FR" sz="1100" b="0" i="0" dirty="0">
                <a:solidFill>
                  <a:srgbClr val="1F2933"/>
                </a:solidFill>
                <a:latin typeface="Segoe UI"/>
                <a:cs typeface="Segoe UI"/>
              </a:rPr>
              <a:t> : INSEE, recensement de la population 2023</a:t>
            </a:r>
            <a:endParaRPr lang="fr-FR" sz="1100" dirty="0"/>
          </a:p>
          <a:p>
            <a:pPr algn="l">
              <a:lnSpc>
                <a:spcPct val="100000"/>
              </a:lnSpc>
              <a:spcBef>
                <a:spcPts val="400"/>
              </a:spcBef>
              <a:spcAft>
                <a:spcPts val="0"/>
              </a:spcAft>
              <a:buNone/>
            </a:pPr>
            <a:r>
              <a:rPr lang="fr-FR" sz="850" b="0" i="0" dirty="0">
                <a:solidFill>
                  <a:srgbClr val="0B5C8A"/>
                </a:solidFill>
                <a:latin typeface="Consolas"/>
                <a:cs typeface="Consolas"/>
              </a:rPr>
              <a:t>https://www.insee.fr/fr/statistiques/fichier/9061333/base_ic_logement_2023_xlsx.zip</a:t>
            </a:r>
            <a:endParaRPr lang="fr-FR" sz="850" dirty="0"/>
          </a:p>
          <a:p>
            <a:pPr algn="l">
              <a:lnSpc>
                <a:spcPct val="100000"/>
              </a:lnSpc>
              <a:spcBef>
                <a:spcPts val="400"/>
              </a:spcBef>
              <a:spcAft>
                <a:spcPts val="0"/>
              </a:spcAft>
              <a:buNone/>
            </a:pPr>
            <a:r>
              <a:rPr lang="fr-FR" sz="1100" b="1" i="0" dirty="0">
                <a:solidFill>
                  <a:srgbClr val="1F2933"/>
                </a:solidFill>
                <a:latin typeface="Segoe UI"/>
                <a:cs typeface="Segoe UI"/>
              </a:rPr>
              <a:t>Excel zippé · LO · 2023 · 34 Mo (+ fichier DOM de 0,1 Mo, téléchargé mais non utilisé)</a:t>
            </a:r>
            <a:endParaRPr lang="fr-FR" sz="1100" dirty="0"/>
          </a:p>
          <a:p>
            <a:pPr algn="l">
              <a:lnSpc>
                <a:spcPct val="100000"/>
              </a:lnSpc>
              <a:spcBef>
                <a:spcPts val="400"/>
              </a:spcBef>
              <a:spcAft>
                <a:spcPts val="0"/>
              </a:spcAft>
              <a:buNone/>
            </a:pPr>
            <a:r>
              <a:rPr lang="fr-FR" sz="1100" b="1" i="0" dirty="0">
                <a:solidFill>
                  <a:srgbClr val="1F2933"/>
                </a:solidFill>
                <a:latin typeface="Segoe UI"/>
                <a:cs typeface="Segoe UI"/>
              </a:rPr>
              <a:t>On utilise</a:t>
            </a:r>
            <a:r>
              <a:rPr lang="fr-FR" sz="1100" b="0" i="0" dirty="0">
                <a:solidFill>
                  <a:srgbClr val="1F2933"/>
                </a:solidFill>
                <a:latin typeface="Segoe UI"/>
                <a:cs typeface="Segoe UI"/>
              </a:rPr>
              <a:t> : feuilles IRIS_2023 et COM_2023_non_irisees : Code géographique, Ménages (princ), Ménages au moins une voiture</a:t>
            </a:r>
            <a:endParaRPr lang="fr-FR" sz="1100" dirty="0"/>
          </a:p>
          <a:p>
            <a:pPr algn="l">
              <a:lnSpc>
                <a:spcPct val="100000"/>
              </a:lnSpc>
              <a:spcBef>
                <a:spcPts val="400"/>
              </a:spcBef>
              <a:spcAft>
                <a:spcPts val="0"/>
              </a:spcAft>
              <a:buNone/>
            </a:pPr>
            <a:r>
              <a:rPr lang="fr-FR" sz="1100" b="1" i="0" dirty="0">
                <a:solidFill>
                  <a:srgbClr val="1F2933"/>
                </a:solidFill>
                <a:latin typeface="Segoe UI"/>
                <a:cs typeface="Segoe UI"/>
              </a:rPr>
              <a:t>Pourquoi</a:t>
            </a:r>
            <a:r>
              <a:rPr lang="fr-FR" sz="1100" b="0" i="0" dirty="0">
                <a:solidFill>
                  <a:srgbClr val="1F2933"/>
                </a:solidFill>
                <a:latin typeface="Segoe UI"/>
                <a:cs typeface="Segoe UI"/>
              </a:rPr>
              <a:t> : la part de ménages sans voiture : le public prioritaire de l'autopartage</a:t>
            </a:r>
            <a:endParaRPr lang="fr-FR" sz="1100" dirty="0"/>
          </a:p>
          <a:p>
            <a:pPr algn="l">
              <a:lnSpc>
                <a:spcPct val="100000"/>
              </a:lnSpc>
              <a:spcBef>
                <a:spcPts val="500"/>
              </a:spcBef>
              <a:spcAft>
                <a:spcPts val="0"/>
              </a:spcAft>
              <a:buNone/>
            </a:pPr>
            <a:r>
              <a:rPr lang="fr-FR" sz="950" b="0" i="0" dirty="0">
                <a:solidFill>
                  <a:srgbClr val="5B6573"/>
                </a:solidFill>
                <a:latin typeface="Consolas"/>
                <a:cs typeface="Consolas"/>
              </a:rPr>
              <a:t>population.py › logement_tables, part_sans_voiture, motorisation</a:t>
            </a:r>
            <a:endParaRPr lang="fr-FR" sz="950" dirty="0"/>
          </a:p>
        </p:txBody>
      </p:sp>
      <p:sp>
        <p:nvSpPr>
          <p:cNvPr id="16" name="Forme 16"/>
          <p:cNvSpPr/>
          <p:nvPr/>
        </p:nvSpPr>
        <p:spPr>
          <a:xfrm>
            <a:off x="457200" y="3913632"/>
            <a:ext cx="5559552" cy="2423160"/>
          </a:xfrm>
          <a:prstGeom prst="roundRect">
            <a:avLst>
              <a:gd name="adj" fmla="val 4000"/>
            </a:avLst>
          </a:prstGeom>
          <a:solidFill>
            <a:srgbClr val="E6EFFB"/>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7" name="Forme 17"/>
          <p:cNvSpPr/>
          <p:nvPr/>
        </p:nvSpPr>
        <p:spPr>
          <a:xfrm>
            <a:off x="457200" y="3913632"/>
            <a:ext cx="64008" cy="2423160"/>
          </a:xfrm>
          <a:prstGeom prst="rect">
            <a:avLst/>
          </a:prstGeom>
          <a:solidFill>
            <a:srgbClr val="3D7DD8"/>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8" name="Forme 18"/>
          <p:cNvSpPr/>
          <p:nvPr/>
        </p:nvSpPr>
        <p:spPr>
          <a:xfrm>
            <a:off x="640080" y="4005072"/>
            <a:ext cx="5266944" cy="228600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300"/>
              </a:spcAft>
              <a:buNone/>
            </a:pPr>
            <a:r>
              <a:rPr lang="fr-FR" sz="1300" b="1" i="0" dirty="0">
                <a:solidFill>
                  <a:srgbClr val="3D7DD8"/>
                </a:solidFill>
                <a:latin typeface="Segoe UI"/>
                <a:cs typeface="Segoe UI"/>
              </a:rPr>
              <a:t>7 · INSEE BPE 2025 : équipements</a:t>
            </a:r>
            <a:endParaRPr lang="fr-FR" sz="1300" dirty="0"/>
          </a:p>
          <a:p>
            <a:pPr algn="l">
              <a:lnSpc>
                <a:spcPct val="100000"/>
              </a:lnSpc>
              <a:spcBef>
                <a:spcPts val="100"/>
              </a:spcBef>
              <a:spcAft>
                <a:spcPts val="0"/>
              </a:spcAft>
              <a:buNone/>
            </a:pPr>
            <a:r>
              <a:rPr lang="fr-FR" sz="1100" b="1" i="0" dirty="0">
                <a:solidFill>
                  <a:srgbClr val="1F2933"/>
                </a:solidFill>
                <a:latin typeface="Segoe UI"/>
                <a:cs typeface="Segoe UI"/>
              </a:rPr>
              <a:t>Producteur</a:t>
            </a:r>
            <a:r>
              <a:rPr lang="fr-FR" sz="1100" b="0" i="0" dirty="0">
                <a:solidFill>
                  <a:srgbClr val="1F2933"/>
                </a:solidFill>
                <a:latin typeface="Segoe UI"/>
                <a:cs typeface="Segoe UI"/>
              </a:rPr>
              <a:t> : INSEE, Base permanente des équipements</a:t>
            </a:r>
            <a:endParaRPr lang="fr-FR" sz="1100" dirty="0"/>
          </a:p>
          <a:p>
            <a:pPr algn="l">
              <a:lnSpc>
                <a:spcPct val="100000"/>
              </a:lnSpc>
              <a:spcBef>
                <a:spcPts val="400"/>
              </a:spcBef>
              <a:spcAft>
                <a:spcPts val="0"/>
              </a:spcAft>
              <a:buNone/>
            </a:pPr>
            <a:r>
              <a:rPr lang="fr-FR" sz="850" b="0" i="0" dirty="0">
                <a:solidFill>
                  <a:srgbClr val="0B5C8A"/>
                </a:solidFill>
                <a:latin typeface="Consolas"/>
                <a:cs typeface="Consolas"/>
              </a:rPr>
              <a:t>https://www.insee.fr/fr/statistiques/fichier/8217525/BPE25.parquet</a:t>
            </a:r>
            <a:endParaRPr lang="fr-FR" sz="850" dirty="0"/>
          </a:p>
          <a:p>
            <a:pPr algn="l">
              <a:lnSpc>
                <a:spcPct val="100000"/>
              </a:lnSpc>
              <a:spcBef>
                <a:spcPts val="400"/>
              </a:spcBef>
              <a:spcAft>
                <a:spcPts val="0"/>
              </a:spcAft>
              <a:buNone/>
            </a:pPr>
            <a:r>
              <a:rPr lang="fr-FR" sz="1100" b="1" i="0" dirty="0">
                <a:solidFill>
                  <a:srgbClr val="1F2933"/>
                </a:solidFill>
                <a:latin typeface="Segoe UI"/>
                <a:cs typeface="Segoe UI"/>
              </a:rPr>
              <a:t>Parquet · LO · 2025 · 172 Mo</a:t>
            </a:r>
            <a:endParaRPr lang="fr-FR" sz="1100" dirty="0"/>
          </a:p>
          <a:p>
            <a:pPr algn="l">
              <a:lnSpc>
                <a:spcPct val="100000"/>
              </a:lnSpc>
              <a:spcBef>
                <a:spcPts val="400"/>
              </a:spcBef>
              <a:spcAft>
                <a:spcPts val="0"/>
              </a:spcAft>
              <a:buNone/>
            </a:pPr>
            <a:r>
              <a:rPr lang="fr-FR" sz="1100" b="1" i="0" dirty="0">
                <a:solidFill>
                  <a:srgbClr val="1F2933"/>
                </a:solidFill>
                <a:latin typeface="Segoe UI"/>
                <a:cs typeface="Segoe UI"/>
              </a:rPr>
              <a:t>On utilise</a:t>
            </a:r>
            <a:r>
              <a:rPr lang="fr-FR" sz="1100" b="0" i="0" dirty="0">
                <a:solidFill>
                  <a:srgbClr val="1F2933"/>
                </a:solidFill>
                <a:latin typeface="Segoe UI"/>
                <a:cs typeface="Segoe UI"/>
              </a:rPr>
              <a:t> : DEP, DOM (domaines A à G), LAMBERT_X, LAMBERT_Y, EPSG</a:t>
            </a:r>
            <a:endParaRPr lang="fr-FR" sz="1100" dirty="0"/>
          </a:p>
          <a:p>
            <a:pPr algn="l">
              <a:lnSpc>
                <a:spcPct val="100000"/>
              </a:lnSpc>
              <a:spcBef>
                <a:spcPts val="400"/>
              </a:spcBef>
              <a:spcAft>
                <a:spcPts val="0"/>
              </a:spcAft>
              <a:buNone/>
            </a:pPr>
            <a:r>
              <a:rPr lang="fr-FR" sz="1100" b="1" i="0" dirty="0">
                <a:solidFill>
                  <a:srgbClr val="1F2933"/>
                </a:solidFill>
                <a:latin typeface="Segoe UI"/>
                <a:cs typeface="Segoe UI"/>
              </a:rPr>
              <a:t>Pourquoi</a:t>
            </a:r>
            <a:r>
              <a:rPr lang="fr-FR" sz="1100" b="0" i="0" dirty="0">
                <a:solidFill>
                  <a:srgbClr val="1F2933"/>
                </a:solidFill>
                <a:latin typeface="Segoe UI"/>
                <a:cs typeface="Segoe UI"/>
              </a:rPr>
              <a:t> : commerces, écoles, santé… à 400 m : des variables du modèle</a:t>
            </a:r>
            <a:endParaRPr lang="fr-FR" sz="1100" dirty="0"/>
          </a:p>
          <a:p>
            <a:pPr algn="l">
              <a:lnSpc>
                <a:spcPct val="100000"/>
              </a:lnSpc>
              <a:spcBef>
                <a:spcPts val="500"/>
              </a:spcBef>
              <a:spcAft>
                <a:spcPts val="0"/>
              </a:spcAft>
              <a:buNone/>
            </a:pPr>
            <a:r>
              <a:rPr lang="fr-FR" sz="950" b="0" i="0" dirty="0">
                <a:solidFill>
                  <a:srgbClr val="5B6573"/>
                </a:solidFill>
                <a:latin typeface="Consolas"/>
                <a:cs typeface="Consolas"/>
              </a:rPr>
              <a:t>model/features.py › BPE_DOMAINS (7 domaines)</a:t>
            </a:r>
            <a:endParaRPr lang="fr-FR" sz="950" dirty="0"/>
          </a:p>
        </p:txBody>
      </p:sp>
      <p:sp>
        <p:nvSpPr>
          <p:cNvPr id="19" name="Forme 19"/>
          <p:cNvSpPr/>
          <p:nvPr/>
        </p:nvSpPr>
        <p:spPr>
          <a:xfrm>
            <a:off x="6172200" y="3913632"/>
            <a:ext cx="5559552" cy="2423160"/>
          </a:xfrm>
          <a:prstGeom prst="roundRect">
            <a:avLst>
              <a:gd name="adj" fmla="val 4000"/>
            </a:avLst>
          </a:prstGeom>
          <a:solidFill>
            <a:srgbClr val="E3F4F2"/>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20" name="Forme 20"/>
          <p:cNvSpPr/>
          <p:nvPr/>
        </p:nvSpPr>
        <p:spPr>
          <a:xfrm>
            <a:off x="6172200" y="3913632"/>
            <a:ext cx="64008" cy="2423160"/>
          </a:xfrm>
          <a:prstGeom prst="rect">
            <a:avLst/>
          </a:prstGeom>
          <a:solidFill>
            <a:srgbClr val="0E9F8E"/>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21" name="Forme 21"/>
          <p:cNvSpPr/>
          <p:nvPr/>
        </p:nvSpPr>
        <p:spPr>
          <a:xfrm>
            <a:off x="6355080" y="4005072"/>
            <a:ext cx="5266944" cy="228600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300"/>
              </a:spcAft>
              <a:buNone/>
            </a:pPr>
            <a:r>
              <a:rPr lang="fr-FR" sz="1300" b="1" i="0" dirty="0">
                <a:solidFill>
                  <a:srgbClr val="0E9F8E"/>
                </a:solidFill>
                <a:latin typeface="Segoe UI"/>
                <a:cs typeface="Segoe UI"/>
              </a:rPr>
              <a:t>8 · INSEE Omphale : projections de population</a:t>
            </a:r>
            <a:endParaRPr lang="fr-FR" sz="1300" dirty="0"/>
          </a:p>
          <a:p>
            <a:pPr algn="l">
              <a:lnSpc>
                <a:spcPct val="100000"/>
              </a:lnSpc>
              <a:spcBef>
                <a:spcPts val="100"/>
              </a:spcBef>
              <a:spcAft>
                <a:spcPts val="0"/>
              </a:spcAft>
              <a:buNone/>
            </a:pPr>
            <a:r>
              <a:rPr lang="fr-FR" sz="1100" b="1" i="0" dirty="0">
                <a:solidFill>
                  <a:srgbClr val="1F2933"/>
                </a:solidFill>
                <a:latin typeface="Segoe UI"/>
                <a:cs typeface="Segoe UI"/>
              </a:rPr>
              <a:t>Producteur</a:t>
            </a:r>
            <a:r>
              <a:rPr lang="fr-FR" sz="1100" b="0" i="0" dirty="0">
                <a:solidFill>
                  <a:srgbClr val="1F2933"/>
                </a:solidFill>
                <a:latin typeface="Segoe UI"/>
                <a:cs typeface="Segoe UI"/>
              </a:rPr>
              <a:t> : INSEE</a:t>
            </a:r>
            <a:endParaRPr lang="fr-FR" sz="1100" dirty="0"/>
          </a:p>
          <a:p>
            <a:pPr algn="l">
              <a:lnSpc>
                <a:spcPct val="100000"/>
              </a:lnSpc>
              <a:spcBef>
                <a:spcPts val="400"/>
              </a:spcBef>
              <a:spcAft>
                <a:spcPts val="0"/>
              </a:spcAft>
              <a:buNone/>
            </a:pPr>
            <a:r>
              <a:rPr lang="fr-FR" sz="850" b="0" i="0" dirty="0">
                <a:solidFill>
                  <a:srgbClr val="0B5C8A"/>
                </a:solidFill>
                <a:latin typeface="Consolas"/>
                <a:cs typeface="Consolas"/>
              </a:rPr>
              <a:t>https://www.insee.fr/fr/statistiques/fichier/6652134/projdepreg_2021-2070_excel.zip</a:t>
            </a:r>
            <a:endParaRPr lang="fr-FR" sz="850" dirty="0"/>
          </a:p>
          <a:p>
            <a:pPr algn="l">
              <a:lnSpc>
                <a:spcPct val="100000"/>
              </a:lnSpc>
              <a:spcBef>
                <a:spcPts val="400"/>
              </a:spcBef>
              <a:spcAft>
                <a:spcPts val="0"/>
              </a:spcAft>
              <a:buNone/>
            </a:pPr>
            <a:r>
              <a:rPr lang="fr-FR" sz="1100" b="1" i="0" dirty="0">
                <a:solidFill>
                  <a:srgbClr val="1F2933"/>
                </a:solidFill>
                <a:latin typeface="Segoe UI"/>
                <a:cs typeface="Segoe UI"/>
              </a:rPr>
              <a:t>Excel zippé · LO · 2021-2070, 11 scénarios, par département · 0,9 Mo</a:t>
            </a:r>
            <a:endParaRPr lang="fr-FR" sz="1100" dirty="0"/>
          </a:p>
          <a:p>
            <a:pPr algn="l">
              <a:lnSpc>
                <a:spcPct val="100000"/>
              </a:lnSpc>
              <a:spcBef>
                <a:spcPts val="400"/>
              </a:spcBef>
              <a:spcAft>
                <a:spcPts val="0"/>
              </a:spcAft>
              <a:buNone/>
            </a:pPr>
            <a:r>
              <a:rPr lang="fr-FR" sz="1100" b="1" i="0" dirty="0">
                <a:solidFill>
                  <a:srgbClr val="1F2933"/>
                </a:solidFill>
                <a:latin typeface="Segoe UI"/>
                <a:cs typeface="Segoe UI"/>
              </a:rPr>
              <a:t>On utilise</a:t>
            </a:r>
            <a:r>
              <a:rPr lang="fr-FR" sz="1100" b="0" i="0" dirty="0">
                <a:solidFill>
                  <a:srgbClr val="1F2933"/>
                </a:solidFill>
                <a:latin typeface="Segoe UI"/>
                <a:cs typeface="Segoe UI"/>
              </a:rPr>
              <a:t> : DEP, POP_2023, POP_2035 (scénario central)</a:t>
            </a:r>
            <a:endParaRPr lang="fr-FR" sz="1100" dirty="0"/>
          </a:p>
          <a:p>
            <a:pPr algn="l">
              <a:lnSpc>
                <a:spcPct val="100000"/>
              </a:lnSpc>
              <a:spcBef>
                <a:spcPts val="400"/>
              </a:spcBef>
              <a:spcAft>
                <a:spcPts val="0"/>
              </a:spcAft>
              <a:buNone/>
            </a:pPr>
            <a:r>
              <a:rPr lang="fr-FR" sz="1100" b="1" i="0" dirty="0">
                <a:solidFill>
                  <a:srgbClr val="1F2933"/>
                </a:solidFill>
                <a:latin typeface="Segoe UI"/>
                <a:cs typeface="Segoe UI"/>
              </a:rPr>
              <a:t>Pourquoi</a:t>
            </a:r>
            <a:r>
              <a:rPr lang="fr-FR" sz="1100" b="0" i="0" dirty="0">
                <a:solidFill>
                  <a:srgbClr val="1F2933"/>
                </a:solidFill>
                <a:latin typeface="Segoe UI"/>
                <a:cs typeface="Segoe UI"/>
              </a:rPr>
              <a:t> : l'horizon de population dans Fabric ; dans le pipeline Python : téléchargé, non utilisé</a:t>
            </a:r>
            <a:endParaRPr lang="fr-FR" sz="1100" dirty="0"/>
          </a:p>
          <a:p>
            <a:pPr algn="l">
              <a:lnSpc>
                <a:spcPct val="100000"/>
              </a:lnSpc>
              <a:spcBef>
                <a:spcPts val="500"/>
              </a:spcBef>
              <a:spcAft>
                <a:spcPts val="0"/>
              </a:spcAft>
              <a:buNone/>
            </a:pPr>
            <a:r>
              <a:rPr lang="fr-FR" sz="950" b="0" i="0" dirty="0">
                <a:solidFill>
                  <a:srgbClr val="5B6573"/>
                </a:solidFill>
                <a:latin typeface="Consolas"/>
                <a:cs typeface="Consolas"/>
              </a:rPr>
              <a:t>fabric/bronze_notebook (table projections_omphale_dep) · optimisation_notebook</a:t>
            </a:r>
            <a:endParaRPr lang="fr-FR"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rme 3"/>
          <p:cNvSpPr/>
          <p:nvPr/>
        </p:nvSpPr>
        <p:spPr>
          <a:xfrm>
            <a:off x="0" y="0"/>
            <a:ext cx="128016" cy="6858000"/>
          </a:xfrm>
          <a:prstGeom prst="rect">
            <a:avLst/>
          </a:prstGeom>
          <a:solidFill>
            <a:srgbClr val="3D7DD8"/>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4" name="Forme 4"/>
          <p:cNvSpPr/>
          <p:nvPr/>
        </p:nvSpPr>
        <p:spPr>
          <a:xfrm>
            <a:off x="457200" y="256032"/>
            <a:ext cx="7315200" cy="2743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050" b="1" i="0" dirty="0">
                <a:solidFill>
                  <a:srgbClr val="3D7DD8"/>
                </a:solidFill>
                <a:latin typeface="Segoe UI"/>
                <a:cs typeface="Segoe UI"/>
              </a:rPr>
              <a:t>PARTIE 2 · LES SOURCES</a:t>
            </a:r>
            <a:endParaRPr lang="fr-FR" sz="1050" dirty="0"/>
          </a:p>
        </p:txBody>
      </p:sp>
      <p:sp>
        <p:nvSpPr>
          <p:cNvPr id="5" name="Forme 5"/>
          <p:cNvSpPr/>
          <p:nvPr/>
        </p:nvSpPr>
        <p:spPr>
          <a:xfrm>
            <a:off x="457200" y="502920"/>
            <a:ext cx="11247120" cy="5486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2500" b="1" i="0" dirty="0">
                <a:solidFill>
                  <a:srgbClr val="14213D"/>
                </a:solidFill>
                <a:latin typeface="Segoe UI"/>
                <a:cs typeface="Segoe UI"/>
              </a:rPr>
              <a:t>Fiche par source (3/4)</a:t>
            </a:r>
            <a:endParaRPr lang="fr-FR" sz="2500" dirty="0"/>
          </a:p>
        </p:txBody>
      </p:sp>
      <p:sp>
        <p:nvSpPr>
          <p:cNvPr id="6" name="Forme 6"/>
          <p:cNvSpPr/>
          <p:nvPr/>
        </p:nvSpPr>
        <p:spPr>
          <a:xfrm>
            <a:off x="457200" y="987552"/>
            <a:ext cx="11247120" cy="3200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250" b="0" i="0" dirty="0">
                <a:solidFill>
                  <a:srgbClr val="5B6573"/>
                </a:solidFill>
                <a:latin typeface="Segoe UI"/>
                <a:cs typeface="Segoe UI"/>
              </a:rPr>
              <a:t>Producteur, lien exact utilisé dans le code, format, licence, édition, taille, colonnes utilisées et pourquoi.</a:t>
            </a:r>
            <a:endParaRPr lang="fr-FR" sz="1250" dirty="0"/>
          </a:p>
        </p:txBody>
      </p:sp>
      <p:sp>
        <p:nvSpPr>
          <p:cNvPr id="7" name="Forme 7"/>
          <p:cNvSpPr/>
          <p:nvPr/>
        </p:nvSpPr>
        <p:spPr>
          <a:xfrm>
            <a:off x="457200" y="6446520"/>
            <a:ext cx="11274552" cy="10973"/>
          </a:xfrm>
          <a:prstGeom prst="rect">
            <a:avLst/>
          </a:prstGeom>
          <a:solidFill>
            <a:srgbClr val="D5DAE1"/>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8" name="Forme 8"/>
          <p:cNvSpPr/>
          <p:nvPr/>
        </p:nvSpPr>
        <p:spPr>
          <a:xfrm>
            <a:off x="457200" y="6492240"/>
            <a:ext cx="7315200" cy="256032"/>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00" b="0" i="0" dirty="0">
                <a:solidFill>
                  <a:srgbClr val="5B6573"/>
                </a:solidFill>
                <a:latin typeface="Segoe UI"/>
                <a:cs typeface="Segoe UI"/>
              </a:rPr>
              <a:t>Hackathon Mobility × Citiz · Nos données, de A à Z</a:t>
            </a:r>
            <a:endParaRPr lang="fr-FR" sz="900" dirty="0"/>
          </a:p>
        </p:txBody>
      </p:sp>
      <p:sp>
        <p:nvSpPr>
          <p:cNvPr id="9" name="Forme 9"/>
          <p:cNvSpPr/>
          <p:nvPr/>
        </p:nvSpPr>
        <p:spPr>
          <a:xfrm>
            <a:off x="10360152" y="6492240"/>
            <a:ext cx="1371600" cy="256032"/>
          </a:xfrm>
          <a:prstGeom prst="rect">
            <a:avLst/>
          </a:prstGeom>
          <a:noFill/>
          <a:ln>
            <a:noFill/>
          </a:ln>
        </p:spPr>
        <p:txBody>
          <a:bodyPr wrap="square" lIns="18288" tIns="18288" rIns="18288" bIns="18288" anchor="t" rtlCol="0">
            <a:noAutofit/>
          </a:bodyPr>
          <a:lstStyle/>
          <a:p>
            <a:pPr algn="r">
              <a:lnSpc>
                <a:spcPct val="100000"/>
              </a:lnSpc>
              <a:spcBef>
                <a:spcPts val="0"/>
              </a:spcBef>
              <a:spcAft>
                <a:spcPts val="0"/>
              </a:spcAft>
              <a:buNone/>
            </a:pPr>
            <a:r>
              <a:rPr lang="fr-FR" sz="900" b="0" i="0" dirty="0">
                <a:solidFill>
                  <a:srgbClr val="5B6573"/>
                </a:solidFill>
                <a:latin typeface="Segoe UI"/>
                <a:cs typeface="Segoe UI"/>
              </a:rPr>
              <a:t>8</a:t>
            </a:r>
            <a:endParaRPr lang="fr-FR" sz="900" dirty="0"/>
          </a:p>
        </p:txBody>
      </p:sp>
      <p:sp>
        <p:nvSpPr>
          <p:cNvPr id="10" name="Forme 10"/>
          <p:cNvSpPr/>
          <p:nvPr/>
        </p:nvSpPr>
        <p:spPr>
          <a:xfrm>
            <a:off x="457200" y="1371600"/>
            <a:ext cx="5559552" cy="2423160"/>
          </a:xfrm>
          <a:prstGeom prst="roundRect">
            <a:avLst>
              <a:gd name="adj" fmla="val 4000"/>
            </a:avLst>
          </a:prstGeom>
          <a:solidFill>
            <a:srgbClr val="E6EFFB"/>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1" name="Forme 11"/>
          <p:cNvSpPr/>
          <p:nvPr/>
        </p:nvSpPr>
        <p:spPr>
          <a:xfrm>
            <a:off x="457200" y="1371600"/>
            <a:ext cx="64008" cy="2423160"/>
          </a:xfrm>
          <a:prstGeom prst="rect">
            <a:avLst/>
          </a:prstGeom>
          <a:solidFill>
            <a:srgbClr val="3D7DD8"/>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2" name="Forme 12"/>
          <p:cNvSpPr/>
          <p:nvPr/>
        </p:nvSpPr>
        <p:spPr>
          <a:xfrm>
            <a:off x="640080" y="1463040"/>
            <a:ext cx="5266944" cy="228600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300"/>
              </a:spcAft>
              <a:buNone/>
            </a:pPr>
            <a:r>
              <a:rPr lang="fr-FR" sz="1300" b="1" i="0" dirty="0">
                <a:solidFill>
                  <a:srgbClr val="3D7DD8"/>
                </a:solidFill>
                <a:latin typeface="Segoe UI"/>
                <a:cs typeface="Segoe UI"/>
              </a:rPr>
              <a:t>9 · IGN ADMIN EXPRESS COG : communes et EPCI</a:t>
            </a:r>
            <a:endParaRPr lang="fr-FR" sz="1300" dirty="0"/>
          </a:p>
          <a:p>
            <a:pPr algn="l">
              <a:lnSpc>
                <a:spcPct val="100000"/>
              </a:lnSpc>
              <a:spcBef>
                <a:spcPts val="100"/>
              </a:spcBef>
              <a:spcAft>
                <a:spcPts val="0"/>
              </a:spcAft>
              <a:buNone/>
            </a:pPr>
            <a:r>
              <a:rPr lang="fr-FR" sz="1100" b="1" i="0" dirty="0">
                <a:solidFill>
                  <a:srgbClr val="1F2933"/>
                </a:solidFill>
                <a:latin typeface="Segoe UI"/>
                <a:cs typeface="Segoe UI"/>
              </a:rPr>
              <a:t>Producteur</a:t>
            </a:r>
            <a:r>
              <a:rPr lang="fr-FR" sz="1100" b="0" i="0" dirty="0">
                <a:solidFill>
                  <a:srgbClr val="1F2933"/>
                </a:solidFill>
                <a:latin typeface="Segoe UI"/>
                <a:cs typeface="Segoe UI"/>
              </a:rPr>
              <a:t> : IGN</a:t>
            </a:r>
            <a:endParaRPr lang="fr-FR" sz="1100" dirty="0"/>
          </a:p>
          <a:p>
            <a:pPr algn="l">
              <a:lnSpc>
                <a:spcPct val="100000"/>
              </a:lnSpc>
              <a:spcBef>
                <a:spcPts val="400"/>
              </a:spcBef>
              <a:spcAft>
                <a:spcPts val="0"/>
              </a:spcAft>
              <a:buNone/>
            </a:pPr>
            <a:r>
              <a:rPr lang="fr-FR" sz="850" b="0" i="0" dirty="0">
                <a:solidFill>
                  <a:srgbClr val="0B5C8A"/>
                </a:solidFill>
                <a:latin typeface="Consolas"/>
                <a:cs typeface="Consolas"/>
              </a:rPr>
              <a:t>Atom : https://data.geopf.fr/telechargement/resource/ADMIN-EXPRESS-COG → ADMIN-EXPRESS-COG_4-0__GPKG_WGS84G_FRA_2026-01-01</a:t>
            </a:r>
            <a:endParaRPr lang="fr-FR" sz="850" dirty="0"/>
          </a:p>
          <a:p>
            <a:pPr algn="l">
              <a:lnSpc>
                <a:spcPct val="100000"/>
              </a:lnSpc>
              <a:spcBef>
                <a:spcPts val="400"/>
              </a:spcBef>
              <a:spcAft>
                <a:spcPts val="0"/>
              </a:spcAft>
              <a:buNone/>
            </a:pPr>
            <a:r>
              <a:rPr lang="fr-FR" sz="1100" b="1" i="0" dirty="0">
                <a:solidFill>
                  <a:srgbClr val="1F2933"/>
                </a:solidFill>
                <a:latin typeface="Segoe UI"/>
                <a:cs typeface="Segoe UI"/>
              </a:rPr>
              <a:t>GeoPackage en .7z · LO 2.0 · édition du 01/01/2026 · 607 Mo</a:t>
            </a:r>
            <a:endParaRPr lang="fr-FR" sz="1100" dirty="0"/>
          </a:p>
          <a:p>
            <a:pPr algn="l">
              <a:lnSpc>
                <a:spcPct val="100000"/>
              </a:lnSpc>
              <a:spcBef>
                <a:spcPts val="400"/>
              </a:spcBef>
              <a:spcAft>
                <a:spcPts val="0"/>
              </a:spcAft>
              <a:buNone/>
            </a:pPr>
            <a:r>
              <a:rPr lang="fr-FR" sz="1100" b="1" i="0" dirty="0">
                <a:solidFill>
                  <a:srgbClr val="1F2933"/>
                </a:solidFill>
                <a:latin typeface="Segoe UI"/>
                <a:cs typeface="Segoe UI"/>
              </a:rPr>
              <a:t>On utilise</a:t>
            </a:r>
            <a:r>
              <a:rPr lang="fr-FR" sz="1100" b="0" i="0" dirty="0">
                <a:solidFill>
                  <a:srgbClr val="1F2933"/>
                </a:solidFill>
                <a:latin typeface="Segoe UI"/>
                <a:cs typeface="Segoe UI"/>
              </a:rPr>
              <a:t> : couche commune (code_insee, nom_officiel, population, codes_siren_des_epci, date_du_recensement), couche departement</a:t>
            </a:r>
            <a:endParaRPr lang="fr-FR" sz="1100" dirty="0"/>
          </a:p>
          <a:p>
            <a:pPr algn="l">
              <a:lnSpc>
                <a:spcPct val="100000"/>
              </a:lnSpc>
              <a:spcBef>
                <a:spcPts val="400"/>
              </a:spcBef>
              <a:spcAft>
                <a:spcPts val="0"/>
              </a:spcAft>
              <a:buNone/>
            </a:pPr>
            <a:r>
              <a:rPr lang="fr-FR" sz="1100" b="1" i="0" dirty="0">
                <a:solidFill>
                  <a:srgbClr val="1F2933"/>
                </a:solidFill>
                <a:latin typeface="Segoe UI"/>
                <a:cs typeface="Segoe UI"/>
              </a:rPr>
              <a:t>Pourquoi</a:t>
            </a:r>
            <a:r>
              <a:rPr lang="fr-FR" sz="1100" b="0" i="0" dirty="0">
                <a:solidFill>
                  <a:srgbClr val="1F2933"/>
                </a:solidFill>
                <a:latin typeface="Segoe UI"/>
                <a:cs typeface="Segoe UI"/>
              </a:rPr>
              <a:t> : contours de la zone, rattachement des carreaux, population légale pour le calage</a:t>
            </a:r>
            <a:endParaRPr lang="fr-FR" sz="1100" dirty="0"/>
          </a:p>
          <a:p>
            <a:pPr algn="l">
              <a:lnSpc>
                <a:spcPct val="100000"/>
              </a:lnSpc>
              <a:spcBef>
                <a:spcPts val="500"/>
              </a:spcBef>
              <a:spcAft>
                <a:spcPts val="0"/>
              </a:spcAft>
              <a:buNone/>
            </a:pPr>
            <a:r>
              <a:rPr lang="fr-FR" sz="950" b="0" i="0" dirty="0">
                <a:solidFill>
                  <a:srgbClr val="5B6573"/>
                </a:solidFill>
                <a:latin typeface="Consolas"/>
                <a:cs typeface="Consolas"/>
              </a:rPr>
              <a:t>download_all.py › run_ign · archives.py › ign_gpkg · zone.py › build_zone</a:t>
            </a:r>
            <a:endParaRPr lang="fr-FR" sz="950" dirty="0"/>
          </a:p>
        </p:txBody>
      </p:sp>
      <p:sp>
        <p:nvSpPr>
          <p:cNvPr id="13" name="Forme 13"/>
          <p:cNvSpPr/>
          <p:nvPr/>
        </p:nvSpPr>
        <p:spPr>
          <a:xfrm>
            <a:off x="6172200" y="1371600"/>
            <a:ext cx="5559552" cy="2423160"/>
          </a:xfrm>
          <a:prstGeom prst="roundRect">
            <a:avLst>
              <a:gd name="adj" fmla="val 4000"/>
            </a:avLst>
          </a:prstGeom>
          <a:solidFill>
            <a:srgbClr val="E3F4F2"/>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4" name="Forme 14"/>
          <p:cNvSpPr/>
          <p:nvPr/>
        </p:nvSpPr>
        <p:spPr>
          <a:xfrm>
            <a:off x="6172200" y="1371600"/>
            <a:ext cx="64008" cy="2423160"/>
          </a:xfrm>
          <a:prstGeom prst="rect">
            <a:avLst/>
          </a:prstGeom>
          <a:solidFill>
            <a:srgbClr val="0E9F8E"/>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5" name="Forme 15"/>
          <p:cNvSpPr/>
          <p:nvPr/>
        </p:nvSpPr>
        <p:spPr>
          <a:xfrm>
            <a:off x="6355080" y="1463040"/>
            <a:ext cx="5266944" cy="228600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300"/>
              </a:spcAft>
              <a:buNone/>
            </a:pPr>
            <a:r>
              <a:rPr lang="fr-FR" sz="1300" b="1" i="0" dirty="0">
                <a:solidFill>
                  <a:srgbClr val="0E9F8E"/>
                </a:solidFill>
                <a:latin typeface="Segoe UI"/>
                <a:cs typeface="Segoe UI"/>
              </a:rPr>
              <a:t>10 · IGN CONTOURS IRIS : quartiers</a:t>
            </a:r>
            <a:endParaRPr lang="fr-FR" sz="1300" dirty="0"/>
          </a:p>
          <a:p>
            <a:pPr algn="l">
              <a:lnSpc>
                <a:spcPct val="100000"/>
              </a:lnSpc>
              <a:spcBef>
                <a:spcPts val="100"/>
              </a:spcBef>
              <a:spcAft>
                <a:spcPts val="0"/>
              </a:spcAft>
              <a:buNone/>
            </a:pPr>
            <a:r>
              <a:rPr lang="fr-FR" sz="1100" b="1" i="0" dirty="0">
                <a:solidFill>
                  <a:srgbClr val="1F2933"/>
                </a:solidFill>
                <a:latin typeface="Segoe UI"/>
                <a:cs typeface="Segoe UI"/>
              </a:rPr>
              <a:t>Producteur</a:t>
            </a:r>
            <a:r>
              <a:rPr lang="fr-FR" sz="1100" b="0" i="0" dirty="0">
                <a:solidFill>
                  <a:srgbClr val="1F2933"/>
                </a:solidFill>
                <a:latin typeface="Segoe UI"/>
                <a:cs typeface="Segoe UI"/>
              </a:rPr>
              <a:t> : IGN (découpage INSEE)</a:t>
            </a:r>
            <a:endParaRPr lang="fr-FR" sz="1100" dirty="0"/>
          </a:p>
          <a:p>
            <a:pPr algn="l">
              <a:lnSpc>
                <a:spcPct val="100000"/>
              </a:lnSpc>
              <a:spcBef>
                <a:spcPts val="400"/>
              </a:spcBef>
              <a:spcAft>
                <a:spcPts val="0"/>
              </a:spcAft>
              <a:buNone/>
            </a:pPr>
            <a:r>
              <a:rPr lang="fr-FR" sz="850" b="0" i="0" dirty="0">
                <a:solidFill>
                  <a:srgbClr val="0B5C8A"/>
                </a:solidFill>
                <a:latin typeface="Consolas"/>
                <a:cs typeface="Consolas"/>
              </a:rPr>
              <a:t>Atom : https://data.geopf.fr/telechargement/resource/CONTOURS-IRIS → CONTOURS-IRIS_3-0__GPKG_WGS84G_FRA_2026-01-01</a:t>
            </a:r>
            <a:endParaRPr lang="fr-FR" sz="850" dirty="0"/>
          </a:p>
          <a:p>
            <a:pPr algn="l">
              <a:lnSpc>
                <a:spcPct val="100000"/>
              </a:lnSpc>
              <a:spcBef>
                <a:spcPts val="400"/>
              </a:spcBef>
              <a:spcAft>
                <a:spcPts val="0"/>
              </a:spcAft>
              <a:buNone/>
            </a:pPr>
            <a:r>
              <a:rPr lang="fr-FR" sz="1100" b="1" i="0" dirty="0">
                <a:solidFill>
                  <a:srgbClr val="1F2933"/>
                </a:solidFill>
                <a:latin typeface="Segoe UI"/>
                <a:cs typeface="Segoe UI"/>
              </a:rPr>
              <a:t>GeoPackage en .7z · LO 2.0 · édition du 01/01/2026 · 88 Mo</a:t>
            </a:r>
            <a:endParaRPr lang="fr-FR" sz="1100" dirty="0"/>
          </a:p>
          <a:p>
            <a:pPr algn="l">
              <a:lnSpc>
                <a:spcPct val="100000"/>
              </a:lnSpc>
              <a:spcBef>
                <a:spcPts val="400"/>
              </a:spcBef>
              <a:spcAft>
                <a:spcPts val="0"/>
              </a:spcAft>
              <a:buNone/>
            </a:pPr>
            <a:r>
              <a:rPr lang="fr-FR" sz="1100" b="1" i="0" dirty="0">
                <a:solidFill>
                  <a:srgbClr val="1F2933"/>
                </a:solidFill>
                <a:latin typeface="Segoe UI"/>
                <a:cs typeface="Segoe UI"/>
              </a:rPr>
              <a:t>On utilise</a:t>
            </a:r>
            <a:r>
              <a:rPr lang="fr-FR" sz="1100" b="0" i="0" dirty="0">
                <a:solidFill>
                  <a:srgbClr val="1F2933"/>
                </a:solidFill>
                <a:latin typeface="Segoe UI"/>
                <a:cs typeface="Segoe UI"/>
              </a:rPr>
              <a:t> : code_iris, nom_iris, code_insee, nom_commune</a:t>
            </a:r>
            <a:endParaRPr lang="fr-FR" sz="1100" dirty="0"/>
          </a:p>
          <a:p>
            <a:pPr algn="l">
              <a:lnSpc>
                <a:spcPct val="100000"/>
              </a:lnSpc>
              <a:spcBef>
                <a:spcPts val="400"/>
              </a:spcBef>
              <a:spcAft>
                <a:spcPts val="0"/>
              </a:spcAft>
              <a:buNone/>
            </a:pPr>
            <a:r>
              <a:rPr lang="fr-FR" sz="1100" b="1" i="0" dirty="0">
                <a:solidFill>
                  <a:srgbClr val="1F2933"/>
                </a:solidFill>
                <a:latin typeface="Segoe UI"/>
                <a:cs typeface="Segoe UI"/>
              </a:rPr>
              <a:t>Pourquoi</a:t>
            </a:r>
            <a:r>
              <a:rPr lang="fr-FR" sz="1100" b="0" i="0" dirty="0">
                <a:solidFill>
                  <a:srgbClr val="1F2933"/>
                </a:solidFill>
                <a:latin typeface="Segoe UI"/>
                <a:cs typeface="Segoe UI"/>
              </a:rPr>
              <a:t> : rattacher chaque carreau à son IRIS (motorisation) et afficher des quartiers</a:t>
            </a:r>
            <a:endParaRPr lang="fr-FR" sz="1100" dirty="0"/>
          </a:p>
          <a:p>
            <a:pPr algn="l">
              <a:lnSpc>
                <a:spcPct val="100000"/>
              </a:lnSpc>
              <a:spcBef>
                <a:spcPts val="500"/>
              </a:spcBef>
              <a:spcAft>
                <a:spcPts val="0"/>
              </a:spcAft>
              <a:buNone/>
            </a:pPr>
            <a:r>
              <a:rPr lang="fr-FR" sz="950" b="0" i="0" dirty="0">
                <a:solidFill>
                  <a:srgbClr val="5B6573"/>
                </a:solidFill>
                <a:latin typeface="Consolas"/>
                <a:cs typeface="Consolas"/>
              </a:rPr>
              <a:t>population.py › motorisation · build_access.py (agrégat IRIS)</a:t>
            </a:r>
            <a:endParaRPr lang="fr-FR" sz="950" dirty="0"/>
          </a:p>
        </p:txBody>
      </p:sp>
      <p:sp>
        <p:nvSpPr>
          <p:cNvPr id="16" name="Forme 16"/>
          <p:cNvSpPr/>
          <p:nvPr/>
        </p:nvSpPr>
        <p:spPr>
          <a:xfrm>
            <a:off x="457200" y="3913632"/>
            <a:ext cx="5559552" cy="2423160"/>
          </a:xfrm>
          <a:prstGeom prst="roundRect">
            <a:avLst>
              <a:gd name="adj" fmla="val 4000"/>
            </a:avLst>
          </a:prstGeom>
          <a:solidFill>
            <a:srgbClr val="E6EFFB"/>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7" name="Forme 17"/>
          <p:cNvSpPr/>
          <p:nvPr/>
        </p:nvSpPr>
        <p:spPr>
          <a:xfrm>
            <a:off x="457200" y="3913632"/>
            <a:ext cx="64008" cy="2423160"/>
          </a:xfrm>
          <a:prstGeom prst="rect">
            <a:avLst/>
          </a:prstGeom>
          <a:solidFill>
            <a:srgbClr val="3D7DD8"/>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8" name="Forme 18"/>
          <p:cNvSpPr/>
          <p:nvPr/>
        </p:nvSpPr>
        <p:spPr>
          <a:xfrm>
            <a:off x="640080" y="4005072"/>
            <a:ext cx="5266944" cy="228600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300"/>
              </a:spcAft>
              <a:buNone/>
            </a:pPr>
            <a:r>
              <a:rPr lang="fr-FR" sz="1300" b="1" i="0" dirty="0">
                <a:solidFill>
                  <a:srgbClr val="3D7DD8"/>
                </a:solidFill>
                <a:latin typeface="Segoe UI"/>
                <a:cs typeface="Segoe UI"/>
              </a:rPr>
              <a:t>11 · OpenStreetMap (Geofabrik) : rues et chemins</a:t>
            </a:r>
            <a:endParaRPr lang="fr-FR" sz="1300" dirty="0"/>
          </a:p>
          <a:p>
            <a:pPr algn="l">
              <a:lnSpc>
                <a:spcPct val="100000"/>
              </a:lnSpc>
              <a:spcBef>
                <a:spcPts val="100"/>
              </a:spcBef>
              <a:spcAft>
                <a:spcPts val="0"/>
              </a:spcAft>
              <a:buNone/>
            </a:pPr>
            <a:r>
              <a:rPr lang="fr-FR" sz="1100" b="1" i="0" dirty="0">
                <a:solidFill>
                  <a:srgbClr val="1F2933"/>
                </a:solidFill>
                <a:latin typeface="Segoe UI"/>
                <a:cs typeface="Segoe UI"/>
              </a:rPr>
              <a:t>Producteur</a:t>
            </a:r>
            <a:r>
              <a:rPr lang="fr-FR" sz="1100" b="0" i="0" dirty="0">
                <a:solidFill>
                  <a:srgbClr val="1F2933"/>
                </a:solidFill>
                <a:latin typeface="Segoe UI"/>
                <a:cs typeface="Segoe UI"/>
              </a:rPr>
              <a:t> : Contributeurs OpenStreetMap ; extraits régionaux Geofabrik</a:t>
            </a:r>
            <a:endParaRPr lang="fr-FR" sz="1100" dirty="0"/>
          </a:p>
          <a:p>
            <a:pPr algn="l">
              <a:lnSpc>
                <a:spcPct val="100000"/>
              </a:lnSpc>
              <a:spcBef>
                <a:spcPts val="400"/>
              </a:spcBef>
              <a:spcAft>
                <a:spcPts val="0"/>
              </a:spcAft>
              <a:buNone/>
            </a:pPr>
            <a:r>
              <a:rPr lang="fr-FR" sz="850" b="0" i="0" dirty="0">
                <a:solidFill>
                  <a:srgbClr val="0B5C8A"/>
                </a:solidFill>
                <a:latin typeface="Consolas"/>
                <a:cs typeface="Consolas"/>
              </a:rPr>
              <a:t>https://download.geofabrik.de/europe/france/pays-de-la-loire-latest.osm.pbf  (et rhone-alpes-latest.osm.pbf)</a:t>
            </a:r>
            <a:endParaRPr lang="fr-FR" sz="850" dirty="0"/>
          </a:p>
          <a:p>
            <a:pPr algn="l">
              <a:lnSpc>
                <a:spcPct val="100000"/>
              </a:lnSpc>
              <a:spcBef>
                <a:spcPts val="400"/>
              </a:spcBef>
              <a:spcAft>
                <a:spcPts val="0"/>
              </a:spcAft>
              <a:buNone/>
            </a:pPr>
            <a:r>
              <a:rPr lang="fr-FR" sz="1100" b="1" i="0" dirty="0">
                <a:solidFill>
                  <a:srgbClr val="1F2933"/>
                </a:solidFill>
                <a:latin typeface="Segoe UI"/>
                <a:cs typeface="Segoe UI"/>
              </a:rPr>
              <a:t>PBF · ODbL · extraits du 19/10 (Rhône-Alpes) et du 20/10/2026 (Pays de la Loire) · 905 Mo</a:t>
            </a:r>
            <a:endParaRPr lang="fr-FR" sz="1100" dirty="0"/>
          </a:p>
          <a:p>
            <a:pPr algn="l">
              <a:lnSpc>
                <a:spcPct val="100000"/>
              </a:lnSpc>
              <a:spcBef>
                <a:spcPts val="400"/>
              </a:spcBef>
              <a:spcAft>
                <a:spcPts val="0"/>
              </a:spcAft>
              <a:buNone/>
            </a:pPr>
            <a:r>
              <a:rPr lang="fr-FR" sz="1100" b="1" i="0" dirty="0">
                <a:solidFill>
                  <a:srgbClr val="1F2933"/>
                </a:solidFill>
                <a:latin typeface="Segoe UI"/>
                <a:cs typeface="Segoe UI"/>
              </a:rPr>
              <a:t>On utilise</a:t>
            </a:r>
            <a:r>
              <a:rPr lang="fr-FR" sz="1100" b="0" i="0" dirty="0">
                <a:solidFill>
                  <a:srgbClr val="1F2933"/>
                </a:solidFill>
                <a:latin typeface="Segoe UI"/>
                <a:cs typeface="Segoe UI"/>
              </a:rPr>
              <a:t> : couche lines : osm_id, highway, other_tags (foot, access, service, area)</a:t>
            </a:r>
            <a:endParaRPr lang="fr-FR" sz="1100" dirty="0"/>
          </a:p>
          <a:p>
            <a:pPr algn="l">
              <a:lnSpc>
                <a:spcPct val="100000"/>
              </a:lnSpc>
              <a:spcBef>
                <a:spcPts val="400"/>
              </a:spcBef>
              <a:spcAft>
                <a:spcPts val="0"/>
              </a:spcAft>
              <a:buNone/>
            </a:pPr>
            <a:r>
              <a:rPr lang="fr-FR" sz="1100" b="1" i="0" dirty="0">
                <a:solidFill>
                  <a:srgbClr val="1F2933"/>
                </a:solidFill>
                <a:latin typeface="Segoe UI"/>
                <a:cs typeface="Segoe UI"/>
              </a:rPr>
              <a:t>Pourquoi</a:t>
            </a:r>
            <a:r>
              <a:rPr lang="fr-FR" sz="1100" b="0" i="0" dirty="0">
                <a:solidFill>
                  <a:srgbClr val="1F2933"/>
                </a:solidFill>
                <a:latin typeface="Segoe UI"/>
                <a:cs typeface="Segoe UI"/>
              </a:rPr>
              <a:t> : la marche réelle (V2) : 400 m par les rues, pas à vol d'oiseau</a:t>
            </a:r>
            <a:endParaRPr lang="fr-FR" sz="1100" dirty="0"/>
          </a:p>
          <a:p>
            <a:pPr algn="l">
              <a:lnSpc>
                <a:spcPct val="100000"/>
              </a:lnSpc>
              <a:spcBef>
                <a:spcPts val="500"/>
              </a:spcBef>
              <a:spcAft>
                <a:spcPts val="0"/>
              </a:spcAft>
              <a:buNone/>
            </a:pPr>
            <a:r>
              <a:rPr lang="fr-FR" sz="950" b="0" i="0" dirty="0">
                <a:solidFill>
                  <a:srgbClr val="5B6573"/>
                </a:solidFill>
                <a:latin typeface="Consolas"/>
                <a:cs typeface="Consolas"/>
              </a:rPr>
              <a:t>download_all.py › run_osm · network.py › load_walk_edges</a:t>
            </a:r>
            <a:endParaRPr lang="fr-FR" sz="950" dirty="0"/>
          </a:p>
        </p:txBody>
      </p:sp>
      <p:sp>
        <p:nvSpPr>
          <p:cNvPr id="19" name="Forme 19"/>
          <p:cNvSpPr/>
          <p:nvPr/>
        </p:nvSpPr>
        <p:spPr>
          <a:xfrm>
            <a:off x="6172200" y="3913632"/>
            <a:ext cx="5559552" cy="2423160"/>
          </a:xfrm>
          <a:prstGeom prst="roundRect">
            <a:avLst>
              <a:gd name="adj" fmla="val 4000"/>
            </a:avLst>
          </a:prstGeom>
          <a:solidFill>
            <a:srgbClr val="E3F4F2"/>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20" name="Forme 20"/>
          <p:cNvSpPr/>
          <p:nvPr/>
        </p:nvSpPr>
        <p:spPr>
          <a:xfrm>
            <a:off x="6172200" y="3913632"/>
            <a:ext cx="64008" cy="2423160"/>
          </a:xfrm>
          <a:prstGeom prst="rect">
            <a:avLst/>
          </a:prstGeom>
          <a:solidFill>
            <a:srgbClr val="0E9F8E"/>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21" name="Forme 21"/>
          <p:cNvSpPr/>
          <p:nvPr/>
        </p:nvSpPr>
        <p:spPr>
          <a:xfrm>
            <a:off x="6355080" y="4005072"/>
            <a:ext cx="5266944" cy="228600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300"/>
              </a:spcAft>
              <a:buNone/>
            </a:pPr>
            <a:r>
              <a:rPr lang="fr-FR" sz="1300" b="1" i="0" dirty="0">
                <a:solidFill>
                  <a:srgbClr val="0E9F8E"/>
                </a:solidFill>
                <a:latin typeface="Segoe UI"/>
                <a:cs typeface="Segoe UI"/>
              </a:rPr>
              <a:t>12 · SSMSI : délinquance enregistrée par commune</a:t>
            </a:r>
            <a:endParaRPr lang="fr-FR" sz="1300" dirty="0"/>
          </a:p>
          <a:p>
            <a:pPr algn="l">
              <a:lnSpc>
                <a:spcPct val="100000"/>
              </a:lnSpc>
              <a:spcBef>
                <a:spcPts val="100"/>
              </a:spcBef>
              <a:spcAft>
                <a:spcPts val="0"/>
              </a:spcAft>
              <a:buNone/>
            </a:pPr>
            <a:r>
              <a:rPr lang="fr-FR" sz="1100" b="1" i="0" dirty="0">
                <a:solidFill>
                  <a:srgbClr val="1F2933"/>
                </a:solidFill>
                <a:latin typeface="Segoe UI"/>
                <a:cs typeface="Segoe UI"/>
              </a:rPr>
              <a:t>Producteur</a:t>
            </a:r>
            <a:r>
              <a:rPr lang="fr-FR" sz="1100" b="0" i="0" dirty="0">
                <a:solidFill>
                  <a:srgbClr val="1F2933"/>
                </a:solidFill>
                <a:latin typeface="Segoe UI"/>
                <a:cs typeface="Segoe UI"/>
              </a:rPr>
              <a:t> : SSMSI, ministère de l'Intérieur</a:t>
            </a:r>
            <a:endParaRPr lang="fr-FR" sz="1100" dirty="0"/>
          </a:p>
          <a:p>
            <a:pPr algn="l">
              <a:lnSpc>
                <a:spcPct val="100000"/>
              </a:lnSpc>
              <a:spcBef>
                <a:spcPts val="400"/>
              </a:spcBef>
              <a:spcAft>
                <a:spcPts val="0"/>
              </a:spcAft>
              <a:buNone/>
            </a:pPr>
            <a:r>
              <a:rPr lang="fr-FR" sz="850" b="0" i="0" dirty="0">
                <a:solidFill>
                  <a:srgbClr val="0B5C8A"/>
                </a:solidFill>
                <a:latin typeface="Consolas"/>
                <a:cs typeface="Consolas"/>
              </a:rPr>
              <a:t>https://static.data.gouv.fr/resources/bases-statistiques-communale-departementale-et-regionale-de-la-delinquance-enregistree-par-la-police-et-la-gendarmerie-nationales/20260709-120017/donnee-comm-data.gouv-parquet-2025-geographie2026-produit-le2026-06-25.parquet</a:t>
            </a:r>
            <a:endParaRPr lang="fr-FR" sz="850" dirty="0"/>
          </a:p>
          <a:p>
            <a:pPr algn="l">
              <a:lnSpc>
                <a:spcPct val="100000"/>
              </a:lnSpc>
              <a:spcBef>
                <a:spcPts val="400"/>
              </a:spcBef>
              <a:spcAft>
                <a:spcPts val="0"/>
              </a:spcAft>
              <a:buNone/>
            </a:pPr>
            <a:r>
              <a:rPr lang="fr-FR" sz="1100" b="1" i="0" dirty="0">
                <a:solidFill>
                  <a:srgbClr val="1F2933"/>
                </a:solidFill>
                <a:latin typeface="Segoe UI"/>
                <a:cs typeface="Segoe UI"/>
              </a:rPr>
              <a:t>Parquet · LO 2.0 · base 2025, géographie 2026 · 16 Mo</a:t>
            </a:r>
            <a:endParaRPr lang="fr-FR" sz="1100" dirty="0"/>
          </a:p>
          <a:p>
            <a:pPr algn="l">
              <a:lnSpc>
                <a:spcPct val="100000"/>
              </a:lnSpc>
              <a:spcBef>
                <a:spcPts val="400"/>
              </a:spcBef>
              <a:spcAft>
                <a:spcPts val="0"/>
              </a:spcAft>
              <a:buNone/>
            </a:pPr>
            <a:r>
              <a:rPr lang="fr-FR" sz="1100" b="1" i="0" dirty="0">
                <a:solidFill>
                  <a:srgbClr val="1F2933"/>
                </a:solidFill>
                <a:latin typeface="Segoe UI"/>
                <a:cs typeface="Segoe UI"/>
              </a:rPr>
              <a:t>On utilise</a:t>
            </a:r>
            <a:r>
              <a:rPr lang="fr-FR" sz="1100" b="0" i="0" dirty="0">
                <a:solidFill>
                  <a:srgbClr val="1F2933"/>
                </a:solidFill>
                <a:latin typeface="Segoe UI"/>
                <a:cs typeface="Segoe UI"/>
              </a:rPr>
              <a:t> : CODGEO_2026, annee (2023 à 2025), indicateur (vols de / dans / sur les véhicules, dégradations), nombre, insee_pop</a:t>
            </a:r>
            <a:endParaRPr lang="fr-FR" sz="1100" dirty="0"/>
          </a:p>
          <a:p>
            <a:pPr algn="l">
              <a:lnSpc>
                <a:spcPct val="100000"/>
              </a:lnSpc>
              <a:spcBef>
                <a:spcPts val="400"/>
              </a:spcBef>
              <a:spcAft>
                <a:spcPts val="0"/>
              </a:spcAft>
              <a:buNone/>
            </a:pPr>
            <a:r>
              <a:rPr lang="fr-FR" sz="1100" b="1" i="0" dirty="0">
                <a:solidFill>
                  <a:srgbClr val="1F2933"/>
                </a:solidFill>
                <a:latin typeface="Segoe UI"/>
                <a:cs typeface="Segoe UI"/>
              </a:rPr>
              <a:t>Pourquoi</a:t>
            </a:r>
            <a:r>
              <a:rPr lang="fr-FR" sz="1100" b="0" i="0" dirty="0">
                <a:solidFill>
                  <a:srgbClr val="1F2933"/>
                </a:solidFill>
                <a:latin typeface="Segoe UI"/>
                <a:cs typeface="Segoe UI"/>
              </a:rPr>
              <a:t> : surcoût d'une station où les vols de véhicules sont fréquents ; jamais dans le score principal</a:t>
            </a:r>
            <a:endParaRPr lang="fr-FR" sz="1100" dirty="0"/>
          </a:p>
          <a:p>
            <a:pPr algn="l">
              <a:lnSpc>
                <a:spcPct val="100000"/>
              </a:lnSpc>
              <a:spcBef>
                <a:spcPts val="500"/>
              </a:spcBef>
              <a:spcAft>
                <a:spcPts val="0"/>
              </a:spcAft>
              <a:buNone/>
            </a:pPr>
            <a:r>
              <a:rPr lang="fr-FR" sz="950" b="0" i="0" dirty="0">
                <a:solidFill>
                  <a:srgbClr val="5B6573"/>
                </a:solidFill>
                <a:latin typeface="Consolas"/>
                <a:cs typeface="Consolas"/>
              </a:rPr>
              <a:t>national/ranking.py › security_by_commune · model/features.py</a:t>
            </a:r>
            <a:endParaRPr lang="fr-FR"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rme 3"/>
          <p:cNvSpPr/>
          <p:nvPr/>
        </p:nvSpPr>
        <p:spPr>
          <a:xfrm>
            <a:off x="0" y="0"/>
            <a:ext cx="128016" cy="6858000"/>
          </a:xfrm>
          <a:prstGeom prst="rect">
            <a:avLst/>
          </a:prstGeom>
          <a:solidFill>
            <a:srgbClr val="3D7DD8"/>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4" name="Forme 4"/>
          <p:cNvSpPr/>
          <p:nvPr/>
        </p:nvSpPr>
        <p:spPr>
          <a:xfrm>
            <a:off x="457200" y="256032"/>
            <a:ext cx="7315200" cy="2743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050" b="1" i="0" dirty="0">
                <a:solidFill>
                  <a:srgbClr val="3D7DD8"/>
                </a:solidFill>
                <a:latin typeface="Segoe UI"/>
                <a:cs typeface="Segoe UI"/>
              </a:rPr>
              <a:t>PARTIE 2 · LES SOURCES</a:t>
            </a:r>
            <a:endParaRPr lang="fr-FR" sz="1050" dirty="0"/>
          </a:p>
        </p:txBody>
      </p:sp>
      <p:sp>
        <p:nvSpPr>
          <p:cNvPr id="5" name="Forme 5"/>
          <p:cNvSpPr/>
          <p:nvPr/>
        </p:nvSpPr>
        <p:spPr>
          <a:xfrm>
            <a:off x="457200" y="502920"/>
            <a:ext cx="11247120" cy="5486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2500" b="1" i="0" dirty="0">
                <a:solidFill>
                  <a:srgbClr val="14213D"/>
                </a:solidFill>
                <a:latin typeface="Segoe UI"/>
                <a:cs typeface="Segoe UI"/>
              </a:rPr>
              <a:t>Fiche par source (4/4)</a:t>
            </a:r>
            <a:endParaRPr lang="fr-FR" sz="2500" dirty="0"/>
          </a:p>
        </p:txBody>
      </p:sp>
      <p:sp>
        <p:nvSpPr>
          <p:cNvPr id="6" name="Forme 6"/>
          <p:cNvSpPr/>
          <p:nvPr/>
        </p:nvSpPr>
        <p:spPr>
          <a:xfrm>
            <a:off x="457200" y="987552"/>
            <a:ext cx="11247120" cy="3200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250" b="0" i="0" dirty="0">
                <a:solidFill>
                  <a:srgbClr val="5B6573"/>
                </a:solidFill>
                <a:latin typeface="Segoe UI"/>
                <a:cs typeface="Segoe UI"/>
              </a:rPr>
              <a:t>Deux sources locales, un catalogue de contrôle, et ce qui n'existe pas en open data.</a:t>
            </a:r>
            <a:endParaRPr lang="fr-FR" sz="1250" dirty="0"/>
          </a:p>
        </p:txBody>
      </p:sp>
      <p:sp>
        <p:nvSpPr>
          <p:cNvPr id="7" name="Forme 7"/>
          <p:cNvSpPr/>
          <p:nvPr/>
        </p:nvSpPr>
        <p:spPr>
          <a:xfrm>
            <a:off x="457200" y="6446520"/>
            <a:ext cx="11274552" cy="10973"/>
          </a:xfrm>
          <a:prstGeom prst="rect">
            <a:avLst/>
          </a:prstGeom>
          <a:solidFill>
            <a:srgbClr val="D5DAE1"/>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8" name="Forme 8"/>
          <p:cNvSpPr/>
          <p:nvPr/>
        </p:nvSpPr>
        <p:spPr>
          <a:xfrm>
            <a:off x="457200" y="6492240"/>
            <a:ext cx="7315200" cy="256032"/>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00" b="0" i="0" dirty="0">
                <a:solidFill>
                  <a:srgbClr val="5B6573"/>
                </a:solidFill>
                <a:latin typeface="Segoe UI"/>
                <a:cs typeface="Segoe UI"/>
              </a:rPr>
              <a:t>Hackathon Mobility × Citiz · Nos données, de A à Z</a:t>
            </a:r>
            <a:endParaRPr lang="fr-FR" sz="900" dirty="0"/>
          </a:p>
        </p:txBody>
      </p:sp>
      <p:sp>
        <p:nvSpPr>
          <p:cNvPr id="9" name="Forme 9"/>
          <p:cNvSpPr/>
          <p:nvPr/>
        </p:nvSpPr>
        <p:spPr>
          <a:xfrm>
            <a:off x="10360152" y="6492240"/>
            <a:ext cx="1371600" cy="256032"/>
          </a:xfrm>
          <a:prstGeom prst="rect">
            <a:avLst/>
          </a:prstGeom>
          <a:noFill/>
          <a:ln>
            <a:noFill/>
          </a:ln>
        </p:spPr>
        <p:txBody>
          <a:bodyPr wrap="square" lIns="18288" tIns="18288" rIns="18288" bIns="18288" anchor="t" rtlCol="0">
            <a:noAutofit/>
          </a:bodyPr>
          <a:lstStyle/>
          <a:p>
            <a:pPr algn="r">
              <a:lnSpc>
                <a:spcPct val="100000"/>
              </a:lnSpc>
              <a:spcBef>
                <a:spcPts val="0"/>
              </a:spcBef>
              <a:spcAft>
                <a:spcPts val="0"/>
              </a:spcAft>
              <a:buNone/>
            </a:pPr>
            <a:r>
              <a:rPr lang="fr-FR" sz="900" b="0" i="0" dirty="0">
                <a:solidFill>
                  <a:srgbClr val="5B6573"/>
                </a:solidFill>
                <a:latin typeface="Segoe UI"/>
                <a:cs typeface="Segoe UI"/>
              </a:rPr>
              <a:t>9</a:t>
            </a:r>
            <a:endParaRPr lang="fr-FR" sz="900" dirty="0"/>
          </a:p>
        </p:txBody>
      </p:sp>
      <p:sp>
        <p:nvSpPr>
          <p:cNvPr id="10" name="Forme 10"/>
          <p:cNvSpPr/>
          <p:nvPr/>
        </p:nvSpPr>
        <p:spPr>
          <a:xfrm>
            <a:off x="457200" y="1371600"/>
            <a:ext cx="5559552" cy="2423160"/>
          </a:xfrm>
          <a:prstGeom prst="roundRect">
            <a:avLst>
              <a:gd name="adj" fmla="val 4000"/>
            </a:avLst>
          </a:prstGeom>
          <a:solidFill>
            <a:srgbClr val="E6EFFB"/>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1" name="Forme 11"/>
          <p:cNvSpPr/>
          <p:nvPr/>
        </p:nvSpPr>
        <p:spPr>
          <a:xfrm>
            <a:off x="457200" y="1371600"/>
            <a:ext cx="64008" cy="2423160"/>
          </a:xfrm>
          <a:prstGeom prst="rect">
            <a:avLst/>
          </a:prstGeom>
          <a:solidFill>
            <a:srgbClr val="3D7DD8"/>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2" name="Forme 12"/>
          <p:cNvSpPr/>
          <p:nvPr/>
        </p:nvSpPr>
        <p:spPr>
          <a:xfrm>
            <a:off x="640080" y="1463040"/>
            <a:ext cx="5266944" cy="228600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300"/>
              </a:spcAft>
              <a:buNone/>
            </a:pPr>
            <a:r>
              <a:rPr lang="fr-FR" sz="1300" b="1" i="0" dirty="0">
                <a:solidFill>
                  <a:srgbClr val="3D7DD8"/>
                </a:solidFill>
                <a:latin typeface="Segoe UI"/>
                <a:cs typeface="Segoe UI"/>
              </a:rPr>
              <a:t>13 · Nantes Métropole : stations d'autopartage (Marguerite)</a:t>
            </a:r>
            <a:endParaRPr lang="fr-FR" sz="1300" dirty="0"/>
          </a:p>
          <a:p>
            <a:pPr algn="l">
              <a:lnSpc>
                <a:spcPct val="100000"/>
              </a:lnSpc>
              <a:spcBef>
                <a:spcPts val="100"/>
              </a:spcBef>
              <a:spcAft>
                <a:spcPts val="0"/>
              </a:spcAft>
              <a:buNone/>
            </a:pPr>
            <a:r>
              <a:rPr lang="fr-FR" sz="1100" b="1" i="0" dirty="0">
                <a:solidFill>
                  <a:srgbClr val="1F2933"/>
                </a:solidFill>
                <a:latin typeface="Segoe UI"/>
                <a:cs typeface="Segoe UI"/>
              </a:rPr>
              <a:t>Producteur</a:t>
            </a:r>
            <a:r>
              <a:rPr lang="fr-FR" sz="1100" b="0" i="0" dirty="0">
                <a:solidFill>
                  <a:srgbClr val="1F2933"/>
                </a:solidFill>
                <a:latin typeface="Segoe UI"/>
                <a:cs typeface="Segoe UI"/>
              </a:rPr>
              <a:t> : Nantes Métropole (open data)</a:t>
            </a:r>
            <a:endParaRPr lang="fr-FR" sz="1100" dirty="0"/>
          </a:p>
          <a:p>
            <a:pPr algn="l">
              <a:lnSpc>
                <a:spcPct val="100000"/>
              </a:lnSpc>
              <a:spcBef>
                <a:spcPts val="400"/>
              </a:spcBef>
              <a:spcAft>
                <a:spcPts val="0"/>
              </a:spcAft>
              <a:buNone/>
            </a:pPr>
            <a:r>
              <a:rPr lang="fr-FR" sz="850" b="0" i="0" dirty="0">
                <a:solidFill>
                  <a:srgbClr val="0B5C8A"/>
                </a:solidFill>
                <a:latin typeface="Consolas"/>
                <a:cs typeface="Consolas"/>
              </a:rPr>
              <a:t>https://data.nantesmetropole.fr/api/explore/v2.1/catalog/datasets/244400404_stations-autopartage-naolib-nantes-metropole/exports/geojson</a:t>
            </a:r>
            <a:endParaRPr lang="fr-FR" sz="850" dirty="0"/>
          </a:p>
          <a:p>
            <a:pPr algn="l">
              <a:lnSpc>
                <a:spcPct val="100000"/>
              </a:lnSpc>
              <a:spcBef>
                <a:spcPts val="400"/>
              </a:spcBef>
              <a:spcAft>
                <a:spcPts val="0"/>
              </a:spcAft>
              <a:buNone/>
            </a:pPr>
            <a:r>
              <a:rPr lang="fr-FR" sz="1100" b="1" i="0" dirty="0">
                <a:solidFill>
                  <a:srgbClr val="1F2933"/>
                </a:solidFill>
                <a:latin typeface="Segoe UI"/>
                <a:cs typeface="Segoe UI"/>
              </a:rPr>
              <a:t>GeoJSON · Licence Ouverte · téléchargé le 20/10/2026 · 57 Ko</a:t>
            </a:r>
            <a:endParaRPr lang="fr-FR" sz="1100" dirty="0"/>
          </a:p>
          <a:p>
            <a:pPr algn="l">
              <a:lnSpc>
                <a:spcPct val="100000"/>
              </a:lnSpc>
              <a:spcBef>
                <a:spcPts val="400"/>
              </a:spcBef>
              <a:spcAft>
                <a:spcPts val="0"/>
              </a:spcAft>
              <a:buNone/>
            </a:pPr>
            <a:r>
              <a:rPr lang="fr-FR" sz="1100" b="1" i="0" dirty="0">
                <a:solidFill>
                  <a:srgbClr val="1F2933"/>
                </a:solidFill>
                <a:latin typeface="Segoe UI"/>
                <a:cs typeface="Segoe UI"/>
              </a:rPr>
              <a:t>On utilise</a:t>
            </a:r>
            <a:r>
              <a:rPr lang="fr-FR" sz="1100" b="0" i="0" dirty="0">
                <a:solidFill>
                  <a:srgbClr val="1F2933"/>
                </a:solidFill>
                <a:latin typeface="Segoe UI"/>
                <a:cs typeface="Segoe UI"/>
              </a:rPr>
              <a:t> : gid, nom, exploitant, capacite, géométrie ; exploitant Citiz exclu (déjà dans le GBFS)</a:t>
            </a:r>
            <a:endParaRPr lang="fr-FR" sz="1100" dirty="0"/>
          </a:p>
          <a:p>
            <a:pPr algn="l">
              <a:lnSpc>
                <a:spcPct val="100000"/>
              </a:lnSpc>
              <a:spcBef>
                <a:spcPts val="400"/>
              </a:spcBef>
              <a:spcAft>
                <a:spcPts val="0"/>
              </a:spcAft>
              <a:buNone/>
            </a:pPr>
            <a:r>
              <a:rPr lang="fr-FR" sz="1100" b="1" i="0" dirty="0">
                <a:solidFill>
                  <a:srgbClr val="1F2933"/>
                </a:solidFill>
                <a:latin typeface="Segoe UI"/>
                <a:cs typeface="Segoe UI"/>
              </a:rPr>
              <a:t>Pourquoi</a:t>
            </a:r>
            <a:r>
              <a:rPr lang="fr-FR" sz="1100" b="0" i="0" dirty="0">
                <a:solidFill>
                  <a:srgbClr val="1F2933"/>
                </a:solidFill>
                <a:latin typeface="Segoe UI"/>
                <a:cs typeface="Segoe UI"/>
              </a:rPr>
              <a:t> : Marguerite n'a pas de GBFS : sans ce fichier, 61 stations seraient invisibles</a:t>
            </a:r>
            <a:endParaRPr lang="fr-FR" sz="1100" dirty="0"/>
          </a:p>
          <a:p>
            <a:pPr algn="l">
              <a:lnSpc>
                <a:spcPct val="100000"/>
              </a:lnSpc>
              <a:spcBef>
                <a:spcPts val="500"/>
              </a:spcBef>
              <a:spcAft>
                <a:spcPts val="0"/>
              </a:spcAft>
              <a:buNone/>
            </a:pPr>
            <a:r>
              <a:rPr lang="fr-FR" sz="950" b="0" i="0" dirty="0">
                <a:solidFill>
                  <a:srgbClr val="5B6573"/>
                </a:solidFill>
                <a:latin typeface="Consolas"/>
                <a:cs typeface="Consolas"/>
              </a:rPr>
              <a:t>settings.yaml › autopartage_local · offer.py › local_carsharing_offer</a:t>
            </a:r>
            <a:endParaRPr lang="fr-FR" sz="950" dirty="0"/>
          </a:p>
        </p:txBody>
      </p:sp>
      <p:sp>
        <p:nvSpPr>
          <p:cNvPr id="13" name="Forme 13"/>
          <p:cNvSpPr/>
          <p:nvPr/>
        </p:nvSpPr>
        <p:spPr>
          <a:xfrm>
            <a:off x="6172200" y="1371600"/>
            <a:ext cx="5559552" cy="2423160"/>
          </a:xfrm>
          <a:prstGeom prst="roundRect">
            <a:avLst>
              <a:gd name="adj" fmla="val 4000"/>
            </a:avLst>
          </a:prstGeom>
          <a:solidFill>
            <a:srgbClr val="E3F4F2"/>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4" name="Forme 14"/>
          <p:cNvSpPr/>
          <p:nvPr/>
        </p:nvSpPr>
        <p:spPr>
          <a:xfrm>
            <a:off x="6172200" y="1371600"/>
            <a:ext cx="64008" cy="2423160"/>
          </a:xfrm>
          <a:prstGeom prst="rect">
            <a:avLst/>
          </a:prstGeom>
          <a:solidFill>
            <a:srgbClr val="0E9F8E"/>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5" name="Forme 15"/>
          <p:cNvSpPr/>
          <p:nvPr/>
        </p:nvSpPr>
        <p:spPr>
          <a:xfrm>
            <a:off x="6355080" y="1463040"/>
            <a:ext cx="5266944" cy="228600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300"/>
              </a:spcAft>
              <a:buNone/>
            </a:pPr>
            <a:r>
              <a:rPr lang="fr-FR" sz="1300" b="1" i="0" dirty="0">
                <a:solidFill>
                  <a:srgbClr val="0E9F8E"/>
                </a:solidFill>
                <a:latin typeface="Segoe UI"/>
                <a:cs typeface="Segoe UI"/>
              </a:rPr>
              <a:t>14 · geo.api.gouv.fr : contours et communes</a:t>
            </a:r>
            <a:endParaRPr lang="fr-FR" sz="1300" dirty="0"/>
          </a:p>
          <a:p>
            <a:pPr algn="l">
              <a:lnSpc>
                <a:spcPct val="100000"/>
              </a:lnSpc>
              <a:spcBef>
                <a:spcPts val="100"/>
              </a:spcBef>
              <a:spcAft>
                <a:spcPts val="0"/>
              </a:spcAft>
              <a:buNone/>
            </a:pPr>
            <a:r>
              <a:rPr lang="fr-FR" sz="1100" b="1" i="0" dirty="0">
                <a:solidFill>
                  <a:srgbClr val="1F2933"/>
                </a:solidFill>
                <a:latin typeface="Segoe UI"/>
                <a:cs typeface="Segoe UI"/>
              </a:rPr>
              <a:t>Producteur</a:t>
            </a:r>
            <a:r>
              <a:rPr lang="fr-FR" sz="1100" b="0" i="0" dirty="0">
                <a:solidFill>
                  <a:srgbClr val="1F2933"/>
                </a:solidFill>
                <a:latin typeface="Segoe UI"/>
                <a:cs typeface="Segoe UI"/>
              </a:rPr>
              <a:t> : Etalab (API Découpage administratif)</a:t>
            </a:r>
            <a:endParaRPr lang="fr-FR" sz="1100" dirty="0"/>
          </a:p>
          <a:p>
            <a:pPr algn="l">
              <a:lnSpc>
                <a:spcPct val="100000"/>
              </a:lnSpc>
              <a:spcBef>
                <a:spcPts val="400"/>
              </a:spcBef>
              <a:spcAft>
                <a:spcPts val="0"/>
              </a:spcAft>
              <a:buNone/>
            </a:pPr>
            <a:r>
              <a:rPr lang="fr-FR" sz="850" b="0" i="0" dirty="0">
                <a:solidFill>
                  <a:srgbClr val="0B5C8A"/>
                </a:solidFill>
                <a:latin typeface="Consolas"/>
                <a:cs typeface="Consolas"/>
              </a:rPr>
              <a:t>https://geo.api.gouv.fr/epcis/{siren}?format=geojson&amp;geometry=contour  ·  https://geo.api.gouv.fr/communes</a:t>
            </a:r>
            <a:endParaRPr lang="fr-FR" sz="850" dirty="0"/>
          </a:p>
          <a:p>
            <a:pPr algn="l">
              <a:lnSpc>
                <a:spcPct val="100000"/>
              </a:lnSpc>
              <a:spcBef>
                <a:spcPts val="400"/>
              </a:spcBef>
              <a:spcAft>
                <a:spcPts val="0"/>
              </a:spcAft>
              <a:buNone/>
            </a:pPr>
            <a:r>
              <a:rPr lang="fr-FR" sz="1100" b="1" i="0" dirty="0">
                <a:solidFill>
                  <a:srgbClr val="1F2933"/>
                </a:solidFill>
                <a:latin typeface="Segoe UI"/>
                <a:cs typeface="Segoe UI"/>
              </a:rPr>
              <a:t>GeoJSON / JSON · sans clé · à la demande, en cache dans data/raw/geo_cache · &lt; 1 Mo</a:t>
            </a:r>
            <a:endParaRPr lang="fr-FR" sz="1100" dirty="0"/>
          </a:p>
          <a:p>
            <a:pPr algn="l">
              <a:lnSpc>
                <a:spcPct val="100000"/>
              </a:lnSpc>
              <a:spcBef>
                <a:spcPts val="400"/>
              </a:spcBef>
              <a:spcAft>
                <a:spcPts val="0"/>
              </a:spcAft>
              <a:buNone/>
            </a:pPr>
            <a:r>
              <a:rPr lang="fr-FR" sz="1100" b="1" i="0" dirty="0">
                <a:solidFill>
                  <a:srgbClr val="1F2933"/>
                </a:solidFill>
                <a:latin typeface="Segoe UI"/>
                <a:cs typeface="Segoe UI"/>
              </a:rPr>
              <a:t>On utilise</a:t>
            </a:r>
            <a:r>
              <a:rPr lang="fr-FR" sz="1100" b="0" i="0" dirty="0">
                <a:solidFill>
                  <a:srgbClr val="1F2933"/>
                </a:solidFill>
                <a:latin typeface="Segoe UI"/>
                <a:cs typeface="Segoe UI"/>
              </a:rPr>
              <a:t> : contour de l'EPCI ; commune et EPCI de chaque station Citiz</a:t>
            </a:r>
            <a:endParaRPr lang="fr-FR" sz="1100" dirty="0"/>
          </a:p>
          <a:p>
            <a:pPr algn="l">
              <a:lnSpc>
                <a:spcPct val="100000"/>
              </a:lnSpc>
              <a:spcBef>
                <a:spcPts val="400"/>
              </a:spcBef>
              <a:spcAft>
                <a:spcPts val="0"/>
              </a:spcAft>
              <a:buNone/>
            </a:pPr>
            <a:r>
              <a:rPr lang="fr-FR" sz="1100" b="1" i="0" dirty="0">
                <a:solidFill>
                  <a:srgbClr val="1F2933"/>
                </a:solidFill>
                <a:latin typeface="Segoe UI"/>
                <a:cs typeface="Segoe UI"/>
              </a:rPr>
              <a:t>Pourquoi</a:t>
            </a:r>
            <a:r>
              <a:rPr lang="fr-FR" sz="1100" b="0" i="0" dirty="0">
                <a:solidFill>
                  <a:srgbClr val="1F2933"/>
                </a:solidFill>
                <a:latin typeface="Segoe UI"/>
                <a:cs typeface="Segoe UI"/>
              </a:rPr>
              <a:t> : secours si ADMIN EXPRESS manque, et le premier tableau « Citiz par EPCI » pour choisir la ville</a:t>
            </a:r>
            <a:endParaRPr lang="fr-FR" sz="1100" dirty="0"/>
          </a:p>
          <a:p>
            <a:pPr algn="l">
              <a:lnSpc>
                <a:spcPct val="100000"/>
              </a:lnSpc>
              <a:spcBef>
                <a:spcPts val="500"/>
              </a:spcBef>
              <a:spcAft>
                <a:spcPts val="0"/>
              </a:spcAft>
              <a:buNone/>
            </a:pPr>
            <a:r>
              <a:rPr lang="fr-FR" sz="950" b="0" i="0" dirty="0">
                <a:solidFill>
                  <a:srgbClr val="5B6573"/>
                </a:solidFill>
                <a:latin typeface="Consolas"/>
                <a:cs typeface="Consolas"/>
              </a:rPr>
              <a:t>zone.py › _epci_contour · citiz_overview.py</a:t>
            </a:r>
            <a:endParaRPr lang="fr-FR" sz="950" dirty="0"/>
          </a:p>
        </p:txBody>
      </p:sp>
      <p:sp>
        <p:nvSpPr>
          <p:cNvPr id="16" name="Forme 16"/>
          <p:cNvSpPr/>
          <p:nvPr/>
        </p:nvSpPr>
        <p:spPr>
          <a:xfrm>
            <a:off x="457200" y="3913632"/>
            <a:ext cx="5559552" cy="2377440"/>
          </a:xfrm>
          <a:prstGeom prst="roundRect">
            <a:avLst>
              <a:gd name="adj" fmla="val 4000"/>
            </a:avLst>
          </a:prstGeom>
          <a:solidFill>
            <a:srgbClr val="EEF0F3"/>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7" name="Forme 17"/>
          <p:cNvSpPr/>
          <p:nvPr/>
        </p:nvSpPr>
        <p:spPr>
          <a:xfrm>
            <a:off x="457200" y="3913632"/>
            <a:ext cx="64008" cy="2377440"/>
          </a:xfrm>
          <a:prstGeom prst="rect">
            <a:avLst/>
          </a:prstGeom>
          <a:solidFill>
            <a:srgbClr val="5B6573"/>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8" name="Forme 18"/>
          <p:cNvSpPr/>
          <p:nvPr/>
        </p:nvSpPr>
        <p:spPr>
          <a:xfrm>
            <a:off x="640080" y="4005072"/>
            <a:ext cx="5266944" cy="224028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300"/>
              </a:spcAft>
              <a:buNone/>
            </a:pPr>
            <a:r>
              <a:rPr lang="fr-FR" sz="1300" b="1" i="0" dirty="0">
                <a:solidFill>
                  <a:srgbClr val="5B6573"/>
                </a:solidFill>
                <a:latin typeface="Segoe UI"/>
                <a:cs typeface="Segoe UI"/>
              </a:rPr>
              <a:t>+ Catalogue mondial GBFS (MobilityData)</a:t>
            </a:r>
            <a:endParaRPr lang="fr-FR" sz="1300" dirty="0"/>
          </a:p>
          <a:p>
            <a:pPr algn="l">
              <a:lnSpc>
                <a:spcPct val="100000"/>
              </a:lnSpc>
              <a:spcBef>
                <a:spcPts val="200"/>
              </a:spcBef>
              <a:spcAft>
                <a:spcPts val="0"/>
              </a:spcAft>
              <a:buNone/>
            </a:pPr>
            <a:r>
              <a:rPr lang="fr-FR" sz="850" b="0" i="0" dirty="0">
                <a:solidFill>
                  <a:srgbClr val="0B5C8A"/>
                </a:solidFill>
                <a:latin typeface="Consolas"/>
                <a:cs typeface="Consolas"/>
              </a:rPr>
              <a:t>https://raw.githubusercontent.com/MobilityData/gbfs/master/systems.csv</a:t>
            </a:r>
            <a:endParaRPr lang="fr-FR" sz="850" dirty="0"/>
          </a:p>
          <a:p>
            <a:pPr algn="l">
              <a:lnSpc>
                <a:spcPct val="100000"/>
              </a:lnSpc>
              <a:spcBef>
                <a:spcPts val="400"/>
              </a:spcBef>
              <a:spcAft>
                <a:spcPts val="0"/>
              </a:spcAft>
              <a:buNone/>
            </a:pPr>
            <a:r>
              <a:rPr lang="fr-FR" sz="1000" b="1" i="0" dirty="0">
                <a:solidFill>
                  <a:srgbClr val="1F2933"/>
                </a:solidFill>
                <a:latin typeface="Segoe UI"/>
                <a:cs typeface="Segoe UI"/>
              </a:rPr>
              <a:t>CSV · 0,2 Mo · 19/10/2026</a:t>
            </a:r>
            <a:endParaRPr lang="fr-FR" sz="1000" dirty="0"/>
          </a:p>
          <a:p>
            <a:pPr algn="l">
              <a:lnSpc>
                <a:spcPct val="100000"/>
              </a:lnSpc>
              <a:spcBef>
                <a:spcPts val="400"/>
              </a:spcBef>
              <a:spcAft>
                <a:spcPts val="0"/>
              </a:spcAft>
              <a:buNone/>
            </a:pPr>
            <a:r>
              <a:rPr lang="fr-FR" sz="1000" b="1" i="0" dirty="0">
                <a:solidFill>
                  <a:srgbClr val="1F2933"/>
                </a:solidFill>
                <a:latin typeface="Segoe UI"/>
                <a:cs typeface="Segoe UI"/>
              </a:rPr>
              <a:t>Usage</a:t>
            </a:r>
            <a:r>
              <a:rPr lang="fr-FR" sz="1000" b="0" i="0" dirty="0">
                <a:solidFill>
                  <a:srgbClr val="1F2933"/>
                </a:solidFill>
                <a:latin typeface="Segoe UI"/>
                <a:cs typeface="Segoe UI"/>
              </a:rPr>
              <a:t> : contrôle uniquement. </a:t>
            </a:r>
            <a:r>
              <a:rPr lang="fr-FR" sz="1000" b="0" i="0" dirty="0">
                <a:solidFill>
                  <a:srgbClr val="0B7A6E"/>
                </a:solidFill>
                <a:latin typeface="Consolas"/>
                <a:cs typeface="Consolas"/>
              </a:rPr>
              <a:t>check_data.py</a:t>
            </a:r>
            <a:r>
              <a:rPr lang="fr-FR" sz="1000" b="0" i="0" dirty="0">
                <a:solidFill>
                  <a:srgbClr val="1F2933"/>
                </a:solidFill>
                <a:latin typeface="Segoe UI"/>
                <a:cs typeface="Segoe UI"/>
              </a:rPr>
              <a:t> vérifie son contenu ; il permet de savoir si un opérateur publie un GBFS ailleurs dans le monde.</a:t>
            </a:r>
            <a:endParaRPr lang="fr-FR" sz="1000" dirty="0"/>
          </a:p>
          <a:p>
            <a:pPr algn="l">
              <a:lnSpc>
                <a:spcPct val="100000"/>
              </a:lnSpc>
              <a:spcBef>
                <a:spcPts val="500"/>
              </a:spcBef>
              <a:spcAft>
                <a:spcPts val="0"/>
              </a:spcAft>
              <a:buNone/>
            </a:pPr>
            <a:r>
              <a:rPr lang="fr-FR" sz="900" b="0" i="0" dirty="0">
                <a:solidFill>
                  <a:srgbClr val="5B6573"/>
                </a:solidFill>
                <a:latin typeface="Consolas"/>
                <a:cs typeface="Consolas"/>
              </a:rPr>
              <a:t>download_all.py › STATIC["gbfs_catalog"]</a:t>
            </a:r>
            <a:endParaRPr lang="fr-FR" sz="900" dirty="0"/>
          </a:p>
        </p:txBody>
      </p:sp>
      <p:sp>
        <p:nvSpPr>
          <p:cNvPr id="19" name="Forme 19"/>
          <p:cNvSpPr/>
          <p:nvPr/>
        </p:nvSpPr>
        <p:spPr>
          <a:xfrm>
            <a:off x="6172200" y="3913632"/>
            <a:ext cx="5559552" cy="2377440"/>
          </a:xfrm>
          <a:prstGeom prst="roundRect">
            <a:avLst>
              <a:gd name="adj" fmla="val 4000"/>
            </a:avLst>
          </a:prstGeom>
          <a:solidFill>
            <a:srgbClr val="FBE7E7"/>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20" name="Forme 20"/>
          <p:cNvSpPr/>
          <p:nvPr/>
        </p:nvSpPr>
        <p:spPr>
          <a:xfrm>
            <a:off x="6172200" y="3913632"/>
            <a:ext cx="64008" cy="2377440"/>
          </a:xfrm>
          <a:prstGeom prst="rect">
            <a:avLst/>
          </a:prstGeom>
          <a:solidFill>
            <a:srgbClr val="D64545"/>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21" name="Forme 21"/>
          <p:cNvSpPr/>
          <p:nvPr/>
        </p:nvSpPr>
        <p:spPr>
          <a:xfrm>
            <a:off x="6355080" y="4005072"/>
            <a:ext cx="5266944" cy="224028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300"/>
              </a:spcAft>
              <a:buNone/>
            </a:pPr>
            <a:r>
              <a:rPr lang="fr-FR" sz="1300" b="1" i="0" dirty="0">
                <a:solidFill>
                  <a:srgbClr val="D64545"/>
                </a:solidFill>
                <a:latin typeface="Segoe UI"/>
                <a:cs typeface="Segoe UI"/>
              </a:rPr>
              <a:t>Ce que nous n'avons PAS trouvé en open data</a:t>
            </a:r>
            <a:endParaRPr lang="fr-FR" sz="1300" dirty="0"/>
          </a:p>
          <a:p>
            <a:pPr algn="l" marL="201168" indent="-201168">
              <a:lnSpc>
                <a:spcPct val="100000"/>
              </a:lnSpc>
              <a:spcBef>
                <a:spcPts val="300"/>
              </a:spcBef>
              <a:spcAft>
                <a:spcPts val="0"/>
              </a:spcAft>
              <a:buClr>
                <a:srgbClr val="D64545"/>
              </a:buClr>
              <a:buFont typeface="Segoe UI"/>
              <a:buChar char="•"/>
            </a:pPr>
            <a:r>
              <a:rPr lang="fr-FR" sz="1050" b="1" i="0" dirty="0">
                <a:solidFill>
                  <a:srgbClr val="1F2933"/>
                </a:solidFill>
                <a:latin typeface="Segoe UI"/>
                <a:cs typeface="Segoe UI"/>
              </a:rPr>
              <a:t>Getaround, Zity, Free2Move, Communauto, Ubeeqo, Marcel</a:t>
            </a:r>
            <a:r>
              <a:rPr lang="fr-FR" sz="1050" b="0" i="0" dirty="0">
                <a:solidFill>
                  <a:srgbClr val="1F2933"/>
                </a:solidFill>
                <a:latin typeface="Segoe UI"/>
                <a:cs typeface="Segoe UI"/>
              </a:rPr>
              <a:t> : aucun flux public → autopartage invisible.</a:t>
            </a:r>
            <a:endParaRPr lang="fr-FR" sz="1050" dirty="0"/>
          </a:p>
          <a:p>
            <a:pPr algn="l" marL="201168" indent="-201168">
              <a:lnSpc>
                <a:spcPct val="100000"/>
              </a:lnSpc>
              <a:spcBef>
                <a:spcPts val="300"/>
              </a:spcBef>
              <a:spcAft>
                <a:spcPts val="0"/>
              </a:spcAft>
              <a:buClr>
                <a:srgbClr val="D64545"/>
              </a:buClr>
              <a:buFont typeface="Segoe UI"/>
              <a:buChar char="•"/>
            </a:pPr>
            <a:r>
              <a:rPr lang="fr-FR" sz="1050" b="1" i="0" dirty="0">
                <a:solidFill>
                  <a:srgbClr val="1F2933"/>
                </a:solidFill>
                <a:latin typeface="Segoe UI"/>
                <a:cs typeface="Segoe UI"/>
              </a:rPr>
              <a:t>La fréquentation réelle des stations Citiz</a:t>
            </a:r>
            <a:r>
              <a:rPr lang="fr-FR" sz="1050" b="0" i="0" dirty="0">
                <a:solidFill>
                  <a:srgbClr val="1F2933"/>
                </a:solidFill>
                <a:latin typeface="Segoe UI"/>
                <a:cs typeface="Segoe UI"/>
              </a:rPr>
              <a:t> (réservations) : non publiée ; notre collecte d'instantanés est trop courte.</a:t>
            </a:r>
            <a:endParaRPr lang="fr-FR" sz="1050" dirty="0"/>
          </a:p>
          <a:p>
            <a:pPr algn="l" marL="201168" indent="-201168">
              <a:lnSpc>
                <a:spcPct val="100000"/>
              </a:lnSpc>
              <a:spcBef>
                <a:spcPts val="300"/>
              </a:spcBef>
              <a:spcAft>
                <a:spcPts val="0"/>
              </a:spcAft>
              <a:buClr>
                <a:srgbClr val="D64545"/>
              </a:buClr>
              <a:buFont typeface="Segoe UI"/>
              <a:buChar char="•"/>
            </a:pPr>
            <a:r>
              <a:rPr lang="fr-FR" sz="1050" b="1" i="0" dirty="0">
                <a:solidFill>
                  <a:srgbClr val="1F2933"/>
                </a:solidFill>
                <a:latin typeface="Segoe UI"/>
                <a:cs typeface="Segoe UI"/>
              </a:rPr>
              <a:t>Le coût réel d'une station</a:t>
            </a:r>
            <a:r>
              <a:rPr lang="fr-FR" sz="1050" b="0" i="0" dirty="0">
                <a:solidFill>
                  <a:srgbClr val="1F2933"/>
                </a:solidFill>
                <a:latin typeface="Segoe UI"/>
                <a:cs typeface="Segoe UI"/>
              </a:rPr>
              <a:t> : hypothèses sourcées dans </a:t>
            </a:r>
            <a:r>
              <a:rPr lang="fr-FR" sz="1050" b="0" i="0" dirty="0">
                <a:solidFill>
                  <a:srgbClr val="0B7A6E"/>
                </a:solidFill>
                <a:latin typeface="Consolas"/>
                <a:cs typeface="Consolas"/>
              </a:rPr>
              <a:t>config/costs.yaml</a:t>
            </a:r>
            <a:r>
              <a:rPr lang="fr-FR" sz="1050" b="0" i="0" dirty="0">
                <a:solidFill>
                  <a:srgbClr val="1F2933"/>
                </a:solidFill>
                <a:latin typeface="Segoe UI"/>
                <a:cs typeface="Segoe UI"/>
              </a:rPr>
              <a:t>, à valider avec Citiz.</a:t>
            </a:r>
            <a:endParaRPr lang="fr-FR"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rme 3"/>
          <p:cNvSpPr/>
          <p:nvPr/>
        </p:nvSpPr>
        <p:spPr>
          <a:xfrm>
            <a:off x="0" y="0"/>
            <a:ext cx="128016" cy="6858000"/>
          </a:xfrm>
          <a:prstGeom prst="rect">
            <a:avLst/>
          </a:prstGeom>
          <a:solidFill>
            <a:srgbClr val="7B61C9"/>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4" name="Forme 4"/>
          <p:cNvSpPr/>
          <p:nvPr/>
        </p:nvSpPr>
        <p:spPr>
          <a:xfrm>
            <a:off x="457200" y="256032"/>
            <a:ext cx="7315200" cy="2743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050" b="1" i="0" dirty="0">
                <a:solidFill>
                  <a:srgbClr val="7B61C9"/>
                </a:solidFill>
                <a:latin typeface="Segoe UI"/>
                <a:cs typeface="Segoe UI"/>
              </a:rPr>
              <a:t>PARTIE 3 · L'EXTRACTION</a:t>
            </a:r>
            <a:endParaRPr lang="fr-FR" sz="1050" dirty="0"/>
          </a:p>
        </p:txBody>
      </p:sp>
      <p:sp>
        <p:nvSpPr>
          <p:cNvPr id="5" name="Forme 5"/>
          <p:cNvSpPr/>
          <p:nvPr/>
        </p:nvSpPr>
        <p:spPr>
          <a:xfrm>
            <a:off x="457200" y="502920"/>
            <a:ext cx="11247120" cy="5486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2500" b="1" i="0" dirty="0">
                <a:solidFill>
                  <a:srgbClr val="14213D"/>
                </a:solidFill>
                <a:latin typeface="Segoe UI"/>
                <a:cs typeface="Segoe UI"/>
              </a:rPr>
              <a:t>Découvrir automatiquement tous les GTFS et GBFS</a:t>
            </a:r>
            <a:endParaRPr lang="fr-FR" sz="2500" dirty="0"/>
          </a:p>
        </p:txBody>
      </p:sp>
      <p:sp>
        <p:nvSpPr>
          <p:cNvPr id="6" name="Forme 6"/>
          <p:cNvSpPr/>
          <p:nvPr/>
        </p:nvSpPr>
        <p:spPr>
          <a:xfrm>
            <a:off x="457200" y="987552"/>
            <a:ext cx="11247120" cy="3200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250" b="0" i="0" dirty="0">
                <a:solidFill>
                  <a:srgbClr val="5B6573"/>
                </a:solidFill>
                <a:latin typeface="Segoe UI"/>
                <a:cs typeface="Segoe UI"/>
              </a:rPr>
              <a:t>Un seul appel à l'API nationale donne tout le catalogue ; le script trie ensuite par type.</a:t>
            </a:r>
            <a:endParaRPr lang="fr-FR" sz="1250" dirty="0"/>
          </a:p>
        </p:txBody>
      </p:sp>
      <p:sp>
        <p:nvSpPr>
          <p:cNvPr id="7" name="Forme 7"/>
          <p:cNvSpPr/>
          <p:nvPr/>
        </p:nvSpPr>
        <p:spPr>
          <a:xfrm>
            <a:off x="457200" y="6446520"/>
            <a:ext cx="11274552" cy="10973"/>
          </a:xfrm>
          <a:prstGeom prst="rect">
            <a:avLst/>
          </a:prstGeom>
          <a:solidFill>
            <a:srgbClr val="D5DAE1"/>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8" name="Forme 8"/>
          <p:cNvSpPr/>
          <p:nvPr/>
        </p:nvSpPr>
        <p:spPr>
          <a:xfrm>
            <a:off x="457200" y="6492240"/>
            <a:ext cx="7315200" cy="256032"/>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00" b="0" i="0" dirty="0">
                <a:solidFill>
                  <a:srgbClr val="5B6573"/>
                </a:solidFill>
                <a:latin typeface="Segoe UI"/>
                <a:cs typeface="Segoe UI"/>
              </a:rPr>
              <a:t>Hackathon Mobility × Citiz · Nos données, de A à Z</a:t>
            </a:r>
            <a:endParaRPr lang="fr-FR" sz="900" dirty="0"/>
          </a:p>
        </p:txBody>
      </p:sp>
      <p:sp>
        <p:nvSpPr>
          <p:cNvPr id="9" name="Forme 9"/>
          <p:cNvSpPr/>
          <p:nvPr/>
        </p:nvSpPr>
        <p:spPr>
          <a:xfrm>
            <a:off x="10360152" y="6492240"/>
            <a:ext cx="1371600" cy="256032"/>
          </a:xfrm>
          <a:prstGeom prst="rect">
            <a:avLst/>
          </a:prstGeom>
          <a:noFill/>
          <a:ln>
            <a:noFill/>
          </a:ln>
        </p:spPr>
        <p:txBody>
          <a:bodyPr wrap="square" lIns="18288" tIns="18288" rIns="18288" bIns="18288" anchor="t" rtlCol="0">
            <a:noAutofit/>
          </a:bodyPr>
          <a:lstStyle/>
          <a:p>
            <a:pPr algn="r">
              <a:lnSpc>
                <a:spcPct val="100000"/>
              </a:lnSpc>
              <a:spcBef>
                <a:spcPts val="0"/>
              </a:spcBef>
              <a:spcAft>
                <a:spcPts val="0"/>
              </a:spcAft>
              <a:buNone/>
            </a:pPr>
            <a:r>
              <a:rPr lang="fr-FR" sz="900" b="0" i="0" dirty="0">
                <a:solidFill>
                  <a:srgbClr val="5B6573"/>
                </a:solidFill>
                <a:latin typeface="Segoe UI"/>
                <a:cs typeface="Segoe UI"/>
              </a:rPr>
              <a:t>10</a:t>
            </a:r>
            <a:endParaRPr lang="fr-FR" sz="900" dirty="0"/>
          </a:p>
        </p:txBody>
      </p:sp>
      <p:sp>
        <p:nvSpPr>
          <p:cNvPr id="10" name="Forme 10"/>
          <p:cNvSpPr/>
          <p:nvPr/>
        </p:nvSpPr>
        <p:spPr>
          <a:xfrm>
            <a:off x="457200" y="1463040"/>
            <a:ext cx="3017520" cy="1737360"/>
          </a:xfrm>
          <a:prstGeom prst="roundRect">
            <a:avLst>
              <a:gd name="adj" fmla="val 6000"/>
            </a:avLst>
          </a:prstGeom>
          <a:solidFill>
            <a:srgbClr val="7B61C9"/>
          </a:solidFill>
          <a:ln>
            <a:noFill/>
          </a:ln>
        </p:spPr>
        <p:txBody>
          <a:bodyPr wrap="square" lIns="164592" tIns="109728" rIns="164592" bIns="91440" anchor="t" rtlCol="0">
            <a:noAutofit/>
          </a:bodyPr>
          <a:lstStyle/>
          <a:p>
            <a:pPr algn="l">
              <a:lnSpc>
                <a:spcPct val="100000"/>
              </a:lnSpc>
              <a:spcBef>
                <a:spcPts val="0"/>
              </a:spcBef>
              <a:spcAft>
                <a:spcPts val="0"/>
              </a:spcAft>
              <a:buNone/>
            </a:pPr>
            <a:r>
              <a:rPr lang="fr-FR" sz="1300" b="1" i="0" dirty="0">
                <a:solidFill>
                  <a:srgbClr val="FFFFFF"/>
                </a:solidFill>
                <a:latin typeface="Segoe UI"/>
                <a:cs typeface="Segoe UI"/>
              </a:rPr>
              <a:t>API transport.data.gouv.fr</a:t>
            </a:r>
            <a:endParaRPr lang="fr-FR" sz="1300" dirty="0"/>
          </a:p>
          <a:p>
            <a:pPr algn="l">
              <a:lnSpc>
                <a:spcPct val="100000"/>
              </a:lnSpc>
              <a:spcBef>
                <a:spcPts val="400"/>
              </a:spcBef>
              <a:spcAft>
                <a:spcPts val="0"/>
              </a:spcAft>
              <a:buNone/>
            </a:pPr>
            <a:r>
              <a:rPr lang="fr-FR" sz="900" b="0" i="0" dirty="0">
                <a:solidFill>
                  <a:srgbClr val="BFE9E4"/>
                </a:solidFill>
                <a:latin typeface="Consolas"/>
                <a:cs typeface="Consolas"/>
              </a:rPr>
              <a:t>https://transport.data.gouv.fr/api/datasets</a:t>
            </a:r>
            <a:endParaRPr lang="fr-FR" sz="900" dirty="0"/>
          </a:p>
          <a:p>
            <a:pPr algn="l">
              <a:lnSpc>
                <a:spcPct val="100000"/>
              </a:lnSpc>
              <a:spcBef>
                <a:spcPts val="600"/>
              </a:spcBef>
              <a:spcAft>
                <a:spcPts val="0"/>
              </a:spcAft>
              <a:buNone/>
            </a:pPr>
            <a:r>
              <a:rPr lang="fr-FR" sz="1050" b="0" i="0" dirty="0">
                <a:solidFill>
                  <a:srgbClr val="FFFFFF"/>
                </a:solidFill>
                <a:latin typeface="Segoe UI"/>
                <a:cs typeface="Segoe UI"/>
              </a:rPr>
              <a:t>1 appel = tout le catalogue → </a:t>
            </a:r>
            <a:r>
              <a:rPr lang="fr-FR" sz="1050" b="0" i="0" dirty="0">
                <a:solidFill>
                  <a:srgbClr val="FFE7A3"/>
                </a:solidFill>
                <a:latin typeface="Consolas"/>
                <a:cs typeface="Consolas"/>
              </a:rPr>
              <a:t>catalogue_datasets.json</a:t>
            </a:r>
            <a:endParaRPr lang="fr-FR" sz="1050" dirty="0"/>
          </a:p>
          <a:p>
            <a:pPr algn="l">
              <a:lnSpc>
                <a:spcPct val="100000"/>
              </a:lnSpc>
              <a:spcBef>
                <a:spcPts val="400"/>
              </a:spcBef>
              <a:spcAft>
                <a:spcPts val="0"/>
              </a:spcAft>
              <a:buNone/>
            </a:pPr>
            <a:r>
              <a:rPr lang="fr-FR" sz="1000" b="0" i="0" dirty="0">
                <a:solidFill>
                  <a:srgbClr val="FFE7A3"/>
                </a:solidFill>
                <a:latin typeface="Consolas"/>
                <a:cs typeface="Consolas"/>
              </a:rPr>
              <a:t>tdg_catalog()</a:t>
            </a:r>
            <a:endParaRPr lang="fr-FR" sz="1000" dirty="0"/>
          </a:p>
        </p:txBody>
      </p:sp>
      <p:cxnSp>
        <p:nvCxnSpPr>
          <p:cNvPr id="11" name="Flèche 11"/>
          <p:cNvCxnSpPr/>
          <p:nvPr/>
        </p:nvCxnSpPr>
        <p:spPr>
          <a:xfrm flipV="1">
            <a:off x="3520440" y="1783080"/>
            <a:ext cx="594360" cy="228600"/>
          </a:xfrm>
          <a:prstGeom prst="straightConnector1">
            <a:avLst/>
          </a:prstGeom>
          <a:ln w="25400">
            <a:solidFill>
              <a:srgbClr val="5B6573"/>
            </a:solidFill>
            <a:tailEnd type="triangle" w="med" len="med"/>
          </a:ln>
        </p:spPr>
      </p:cxnSp>
      <p:cxnSp>
        <p:nvCxnSpPr>
          <p:cNvPr id="12" name="Flèche 12"/>
          <p:cNvCxnSpPr/>
          <p:nvPr/>
        </p:nvCxnSpPr>
        <p:spPr>
          <a:xfrm>
            <a:off x="3520440" y="2651760"/>
            <a:ext cx="594360" cy="228600"/>
          </a:xfrm>
          <a:prstGeom prst="straightConnector1">
            <a:avLst/>
          </a:prstGeom>
          <a:ln w="25400">
            <a:solidFill>
              <a:srgbClr val="5B6573"/>
            </a:solidFill>
            <a:tailEnd type="triangle" w="med" len="med"/>
          </a:ln>
        </p:spPr>
      </p:cxnSp>
      <p:sp>
        <p:nvSpPr>
          <p:cNvPr id="13" name="Forme 13"/>
          <p:cNvSpPr/>
          <p:nvPr/>
        </p:nvSpPr>
        <p:spPr>
          <a:xfrm>
            <a:off x="4160520" y="1417320"/>
            <a:ext cx="3291840" cy="777240"/>
          </a:xfrm>
          <a:prstGeom prst="roundRect">
            <a:avLst>
              <a:gd name="adj" fmla="val 8000"/>
            </a:avLst>
          </a:prstGeom>
          <a:solidFill>
            <a:srgbClr val="E6EFFB"/>
          </a:solidFill>
          <a:ln>
            <a:noFill/>
          </a:ln>
        </p:spPr>
        <p:txBody>
          <a:bodyPr wrap="square" lIns="109728" tIns="54864" rIns="109728" bIns="54864" anchor="ctr" rtlCol="0">
            <a:noAutofit/>
          </a:bodyPr>
          <a:lstStyle/>
          <a:p>
            <a:pPr algn="l">
              <a:lnSpc>
                <a:spcPct val="100000"/>
              </a:lnSpc>
              <a:spcBef>
                <a:spcPts val="0"/>
              </a:spcBef>
              <a:spcAft>
                <a:spcPts val="0"/>
              </a:spcAft>
              <a:buNone/>
            </a:pPr>
            <a:r>
              <a:rPr lang="fr-FR" sz="1100" b="0" i="0" dirty="0">
                <a:solidFill>
                  <a:srgbClr val="1F2933"/>
                </a:solidFill>
                <a:latin typeface="Segoe UI"/>
                <a:cs typeface="Segoe UI"/>
              </a:rPr>
              <a:t>type = </a:t>
            </a:r>
            <a:r>
              <a:rPr lang="fr-FR" sz="1100" b="1" i="0" dirty="0">
                <a:solidFill>
                  <a:srgbClr val="1F2933"/>
                </a:solidFill>
                <a:latin typeface="Segoe UI"/>
                <a:cs typeface="Segoe UI"/>
              </a:rPr>
              <a:t>public-transit</a:t>
            </a:r>
            <a:r>
              <a:rPr lang="fr-FR" sz="1100" b="0" i="0" dirty="0">
                <a:solidFill>
                  <a:srgbClr val="1F2933"/>
                </a:solidFill>
                <a:latin typeface="Segoe UI"/>
                <a:cs typeface="Segoe UI"/>
              </a:rPr>
              <a:t> + ressource </a:t>
            </a:r>
            <a:r>
              <a:rPr lang="fr-FR" sz="1100" b="1" i="0" dirty="0">
                <a:solidFill>
                  <a:srgbClr val="1F2933"/>
                </a:solidFill>
                <a:latin typeface="Segoe UI"/>
                <a:cs typeface="Segoe UI"/>
              </a:rPr>
              <a:t>GTFS</a:t>
            </a:r>
            <a:endParaRPr lang="fr-FR" sz="1100" dirty="0"/>
          </a:p>
          <a:p>
            <a:pPr algn="l">
              <a:lnSpc>
                <a:spcPct val="100000"/>
              </a:lnSpc>
              <a:spcBef>
                <a:spcPts val="200"/>
              </a:spcBef>
              <a:spcAft>
                <a:spcPts val="0"/>
              </a:spcAft>
              <a:buNone/>
            </a:pPr>
            <a:r>
              <a:rPr lang="fr-FR" sz="1000" b="0" i="0" dirty="0">
                <a:solidFill>
                  <a:srgbClr val="0B7A6E"/>
                </a:solidFill>
                <a:latin typeface="Consolas"/>
                <a:cs typeface="Consolas"/>
              </a:rPr>
              <a:t>run_gtfs()</a:t>
            </a:r>
            <a:r>
              <a:rPr lang="fr-FR" sz="1000" b="0" i="0" dirty="0">
                <a:solidFill>
                  <a:srgbClr val="1F2933"/>
                </a:solidFill>
                <a:latin typeface="Segoe UI"/>
                <a:cs typeface="Segoe UI"/>
              </a:rPr>
              <a:t> · option </a:t>
            </a:r>
            <a:r>
              <a:rPr lang="fr-FR" sz="1000" b="0" i="0" dirty="0">
                <a:solidFill>
                  <a:srgbClr val="0B7A6E"/>
                </a:solidFill>
                <a:latin typeface="Consolas"/>
                <a:cs typeface="Consolas"/>
              </a:rPr>
              <a:t>--gtfs-filter</a:t>
            </a:r>
            <a:endParaRPr lang="fr-FR" sz="1000" dirty="0"/>
          </a:p>
        </p:txBody>
      </p:sp>
      <p:sp>
        <p:nvSpPr>
          <p:cNvPr id="14" name="Forme 14"/>
          <p:cNvSpPr/>
          <p:nvPr/>
        </p:nvSpPr>
        <p:spPr>
          <a:xfrm>
            <a:off x="4160520" y="2514600"/>
            <a:ext cx="3291840" cy="777240"/>
          </a:xfrm>
          <a:prstGeom prst="roundRect">
            <a:avLst>
              <a:gd name="adj" fmla="val 8000"/>
            </a:avLst>
          </a:prstGeom>
          <a:solidFill>
            <a:srgbClr val="E3F4F2"/>
          </a:solidFill>
          <a:ln>
            <a:noFill/>
          </a:ln>
        </p:spPr>
        <p:txBody>
          <a:bodyPr wrap="square" lIns="109728" tIns="54864" rIns="109728" bIns="54864" anchor="ctr" rtlCol="0">
            <a:noAutofit/>
          </a:bodyPr>
          <a:lstStyle/>
          <a:p>
            <a:pPr algn="l">
              <a:lnSpc>
                <a:spcPct val="100000"/>
              </a:lnSpc>
              <a:spcBef>
                <a:spcPts val="0"/>
              </a:spcBef>
              <a:spcAft>
                <a:spcPts val="0"/>
              </a:spcAft>
              <a:buNone/>
            </a:pPr>
            <a:r>
              <a:rPr lang="fr-FR" sz="1100" b="0" i="0" dirty="0">
                <a:solidFill>
                  <a:srgbClr val="1F2933"/>
                </a:solidFill>
                <a:latin typeface="Segoe UI"/>
                <a:cs typeface="Segoe UI"/>
              </a:rPr>
              <a:t>type = </a:t>
            </a:r>
            <a:r>
              <a:rPr lang="fr-FR" sz="1100" b="1" i="0" dirty="0">
                <a:solidFill>
                  <a:srgbClr val="1F2933"/>
                </a:solidFill>
                <a:latin typeface="Segoe UI"/>
                <a:cs typeface="Segoe UI"/>
              </a:rPr>
              <a:t>vehicles-sharing</a:t>
            </a:r>
            <a:r>
              <a:rPr lang="fr-FR" sz="1100" b="0" i="0" dirty="0">
                <a:solidFill>
                  <a:srgbClr val="1F2933"/>
                </a:solidFill>
                <a:latin typeface="Segoe UI"/>
                <a:cs typeface="Segoe UI"/>
              </a:rPr>
              <a:t> + ressource </a:t>
            </a:r>
            <a:r>
              <a:rPr lang="fr-FR" sz="1100" b="1" i="0" dirty="0">
                <a:solidFill>
                  <a:srgbClr val="1F2933"/>
                </a:solidFill>
                <a:latin typeface="Segoe UI"/>
                <a:cs typeface="Segoe UI"/>
              </a:rPr>
              <a:t>gbfs</a:t>
            </a:r>
            <a:endParaRPr lang="fr-FR" sz="1100" dirty="0"/>
          </a:p>
          <a:p>
            <a:pPr algn="l">
              <a:lnSpc>
                <a:spcPct val="100000"/>
              </a:lnSpc>
              <a:spcBef>
                <a:spcPts val="200"/>
              </a:spcBef>
              <a:spcAft>
                <a:spcPts val="0"/>
              </a:spcAft>
              <a:buNone/>
            </a:pPr>
            <a:r>
              <a:rPr lang="fr-FR" sz="1000" b="0" i="0" dirty="0">
                <a:solidFill>
                  <a:srgbClr val="0B7A6E"/>
                </a:solidFill>
                <a:latin typeface="Consolas"/>
                <a:cs typeface="Consolas"/>
              </a:rPr>
              <a:t>run_gbfs()</a:t>
            </a:r>
            <a:r>
              <a:rPr lang="fr-FR" sz="1000" b="0" i="0" dirty="0">
                <a:solidFill>
                  <a:srgbClr val="1F2933"/>
                </a:solidFill>
                <a:latin typeface="Segoe UI"/>
                <a:cs typeface="Segoe UI"/>
              </a:rPr>
              <a:t> · Citiz si « citiz » dans le titre</a:t>
            </a:r>
            <a:endParaRPr lang="fr-FR" sz="1000" dirty="0"/>
          </a:p>
        </p:txBody>
      </p:sp>
      <p:cxnSp>
        <p:nvCxnSpPr>
          <p:cNvPr id="15" name="Flèche 15"/>
          <p:cNvCxnSpPr/>
          <p:nvPr/>
        </p:nvCxnSpPr>
        <p:spPr>
          <a:xfrm>
            <a:off x="7498080" y="1801368"/>
            <a:ext cx="502920" cy="0"/>
          </a:xfrm>
          <a:prstGeom prst="straightConnector1">
            <a:avLst/>
          </a:prstGeom>
          <a:ln w="25400">
            <a:solidFill>
              <a:srgbClr val="5B6573"/>
            </a:solidFill>
            <a:tailEnd type="triangle" w="med" len="med"/>
          </a:ln>
        </p:spPr>
      </p:cxnSp>
      <p:cxnSp>
        <p:nvCxnSpPr>
          <p:cNvPr id="16" name="Flèche 16"/>
          <p:cNvCxnSpPr/>
          <p:nvPr/>
        </p:nvCxnSpPr>
        <p:spPr>
          <a:xfrm>
            <a:off x="7498080" y="2898648"/>
            <a:ext cx="502920" cy="0"/>
          </a:xfrm>
          <a:prstGeom prst="straightConnector1">
            <a:avLst/>
          </a:prstGeom>
          <a:ln w="25400">
            <a:solidFill>
              <a:srgbClr val="5B6573"/>
            </a:solidFill>
            <a:tailEnd type="triangle" w="med" len="med"/>
          </a:ln>
        </p:spPr>
      </p:cxnSp>
      <p:sp>
        <p:nvSpPr>
          <p:cNvPr id="17" name="Forme 17"/>
          <p:cNvSpPr/>
          <p:nvPr/>
        </p:nvSpPr>
        <p:spPr>
          <a:xfrm>
            <a:off x="8046720" y="1417320"/>
            <a:ext cx="3685032" cy="777240"/>
          </a:xfrm>
          <a:prstGeom prst="roundRect">
            <a:avLst>
              <a:gd name="adj" fmla="val 8000"/>
            </a:avLst>
          </a:prstGeom>
          <a:solidFill>
            <a:srgbClr val="F4F6F9"/>
          </a:solidFill>
          <a:ln>
            <a:noFill/>
          </a:ln>
        </p:spPr>
        <p:txBody>
          <a:bodyPr wrap="square" lIns="109728" tIns="54864" rIns="109728" bIns="54864" anchor="ctr" rtlCol="0">
            <a:noAutofit/>
          </a:bodyPr>
          <a:lstStyle/>
          <a:p>
            <a:pPr algn="l">
              <a:lnSpc>
                <a:spcPct val="100000"/>
              </a:lnSpc>
              <a:spcBef>
                <a:spcPts val="0"/>
              </a:spcBef>
              <a:spcAft>
                <a:spcPts val="0"/>
              </a:spcAft>
              <a:buNone/>
            </a:pPr>
            <a:r>
              <a:rPr lang="fr-FR" sz="1100" b="1" i="0" dirty="0">
                <a:solidFill>
                  <a:srgbClr val="1F2933"/>
                </a:solidFill>
                <a:latin typeface="Segoe UI"/>
                <a:cs typeface="Segoe UI"/>
              </a:rPr>
              <a:t>548 zip</a:t>
            </a:r>
            <a:r>
              <a:rPr lang="fr-FR" sz="1100" b="0" i="0" dirty="0">
                <a:solidFill>
                  <a:srgbClr val="1F2933"/>
                </a:solidFill>
                <a:latin typeface="Segoe UI"/>
                <a:cs typeface="Segoe UI"/>
              </a:rPr>
              <a:t> dans </a:t>
            </a:r>
            <a:r>
              <a:rPr lang="fr-FR" sz="1100" b="0" i="0" dirty="0">
                <a:solidFill>
                  <a:srgbClr val="0B7A6E"/>
                </a:solidFill>
                <a:latin typeface="Consolas"/>
                <a:cs typeface="Consolas"/>
              </a:rPr>
              <a:t>data/raw/gtfs/</a:t>
            </a:r>
            <a:endParaRPr lang="fr-FR" sz="1100" dirty="0"/>
          </a:p>
          <a:p>
            <a:pPr algn="l">
              <a:lnSpc>
                <a:spcPct val="100000"/>
              </a:lnSpc>
              <a:spcBef>
                <a:spcPts val="200"/>
              </a:spcBef>
              <a:spcAft>
                <a:spcPts val="0"/>
              </a:spcAft>
              <a:buNone/>
            </a:pPr>
            <a:r>
              <a:rPr lang="fr-FR" sz="1000" b="0" i="0" dirty="0">
                <a:solidFill>
                  <a:srgbClr val="5B6573"/>
                </a:solidFill>
                <a:latin typeface="Segoe UI"/>
                <a:cs typeface="Segoe UI"/>
              </a:rPr>
              <a:t>nommés </a:t>
            </a:r>
            <a:r>
              <a:rPr lang="fr-FR" sz="1000" b="0" i="0" dirty="0">
                <a:solidFill>
                  <a:srgbClr val="0B7A6E"/>
                </a:solidFill>
                <a:latin typeface="Consolas"/>
                <a:cs typeface="Consolas"/>
              </a:rPr>
              <a:t>&lt;jeu&gt;__&lt;id&gt;.zip</a:t>
            </a:r>
            <a:endParaRPr lang="fr-FR" sz="1000" dirty="0"/>
          </a:p>
        </p:txBody>
      </p:sp>
      <p:sp>
        <p:nvSpPr>
          <p:cNvPr id="18" name="Forme 18"/>
          <p:cNvSpPr/>
          <p:nvPr/>
        </p:nvSpPr>
        <p:spPr>
          <a:xfrm>
            <a:off x="8046720" y="2514600"/>
            <a:ext cx="3685032" cy="777240"/>
          </a:xfrm>
          <a:prstGeom prst="roundRect">
            <a:avLst>
              <a:gd name="adj" fmla="val 8000"/>
            </a:avLst>
          </a:prstGeom>
          <a:solidFill>
            <a:srgbClr val="F4F6F9"/>
          </a:solidFill>
          <a:ln>
            <a:noFill/>
          </a:ln>
        </p:spPr>
        <p:txBody>
          <a:bodyPr wrap="square" lIns="109728" tIns="54864" rIns="109728" bIns="54864" anchor="ctr" rtlCol="0">
            <a:noAutofit/>
          </a:bodyPr>
          <a:lstStyle/>
          <a:p>
            <a:pPr algn="l">
              <a:lnSpc>
                <a:spcPct val="100000"/>
              </a:lnSpc>
              <a:spcBef>
                <a:spcPts val="0"/>
              </a:spcBef>
              <a:spcAft>
                <a:spcPts val="0"/>
              </a:spcAft>
              <a:buNone/>
            </a:pPr>
            <a:r>
              <a:rPr lang="fr-FR" sz="1100" b="0" i="0" dirty="0">
                <a:solidFill>
                  <a:srgbClr val="0B7A6E"/>
                </a:solidFill>
                <a:latin typeface="Consolas"/>
                <a:cs typeface="Consolas"/>
              </a:rPr>
              <a:t>gbfs_citiz/</a:t>
            </a:r>
            <a:r>
              <a:rPr lang="fr-FR" sz="1100" b="0" i="0" dirty="0">
                <a:solidFill>
                  <a:srgbClr val="1F2933"/>
                </a:solidFill>
                <a:latin typeface="Segoe UI"/>
                <a:cs typeface="Segoe UI"/>
              </a:rPr>
              <a:t> (15 réseaux) et </a:t>
            </a:r>
            <a:r>
              <a:rPr lang="fr-FR" sz="1100" b="0" i="0" dirty="0">
                <a:solidFill>
                  <a:srgbClr val="0B7A6E"/>
                </a:solidFill>
                <a:latin typeface="Consolas"/>
                <a:cs typeface="Consolas"/>
              </a:rPr>
              <a:t>gbfs_all/</a:t>
            </a:r>
            <a:r>
              <a:rPr lang="fr-FR" sz="1100" b="0" i="0" dirty="0">
                <a:solidFill>
                  <a:srgbClr val="1F2933"/>
                </a:solidFill>
                <a:latin typeface="Segoe UI"/>
                <a:cs typeface="Segoe UI"/>
              </a:rPr>
              <a:t> (151 flux)</a:t>
            </a:r>
            <a:endParaRPr lang="fr-FR" sz="1100" dirty="0"/>
          </a:p>
          <a:p>
            <a:pPr algn="l">
              <a:lnSpc>
                <a:spcPct val="100000"/>
              </a:lnSpc>
              <a:spcBef>
                <a:spcPts val="200"/>
              </a:spcBef>
              <a:spcAft>
                <a:spcPts val="0"/>
              </a:spcAft>
              <a:buNone/>
            </a:pPr>
            <a:r>
              <a:rPr lang="fr-FR" sz="1000" b="0" i="0" dirty="0">
                <a:solidFill>
                  <a:srgbClr val="5B6573"/>
                </a:solidFill>
                <a:latin typeface="Segoe UI"/>
                <a:cs typeface="Segoe UI"/>
              </a:rPr>
              <a:t>8 téléchargements en parallèle (</a:t>
            </a:r>
            <a:r>
              <a:rPr lang="fr-FR" sz="1000" b="0" i="0" dirty="0">
                <a:solidFill>
                  <a:srgbClr val="0B7A6E"/>
                </a:solidFill>
                <a:latin typeface="Consolas"/>
                <a:cs typeface="Consolas"/>
              </a:rPr>
              <a:t>--workers 8</a:t>
            </a:r>
            <a:r>
              <a:rPr lang="fr-FR" sz="1000" b="0" i="0" dirty="0">
                <a:solidFill>
                  <a:srgbClr val="5B6573"/>
                </a:solidFill>
                <a:latin typeface="Segoe UI"/>
                <a:cs typeface="Segoe UI"/>
              </a:rPr>
              <a:t>)</a:t>
            </a:r>
            <a:endParaRPr lang="fr-FR" sz="1000" dirty="0"/>
          </a:p>
        </p:txBody>
      </p:sp>
      <p:sp>
        <p:nvSpPr>
          <p:cNvPr id="19" name="Forme 19"/>
          <p:cNvSpPr/>
          <p:nvPr/>
        </p:nvSpPr>
        <p:spPr>
          <a:xfrm>
            <a:off x="457200" y="3611880"/>
            <a:ext cx="10972800" cy="3200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400" b="1" i="0" dirty="0">
                <a:solidFill>
                  <a:srgbClr val="7B61C9"/>
                </a:solidFill>
                <a:latin typeface="Segoe UI"/>
                <a:cs typeface="Segoe UI"/>
              </a:rPr>
              <a:t>Lecture d'un flux GBFS, étape par étape</a:t>
            </a:r>
            <a:endParaRPr lang="fr-FR" sz="1400" dirty="0"/>
          </a:p>
        </p:txBody>
      </p:sp>
      <p:sp>
        <p:nvSpPr>
          <p:cNvPr id="20" name="Forme 20"/>
          <p:cNvSpPr/>
          <p:nvPr/>
        </p:nvSpPr>
        <p:spPr>
          <a:xfrm>
            <a:off x="457200" y="4023360"/>
            <a:ext cx="2606040" cy="1143000"/>
          </a:xfrm>
          <a:prstGeom prst="roundRect">
            <a:avLst>
              <a:gd name="adj" fmla="val 8000"/>
            </a:avLst>
          </a:prstGeom>
          <a:solidFill>
            <a:srgbClr val="EEEAF8"/>
          </a:solidFill>
          <a:ln>
            <a:noFill/>
          </a:ln>
        </p:spPr>
        <p:txBody>
          <a:bodyPr wrap="square" lIns="91440" tIns="45720" rIns="91440" bIns="45720" anchor="ctr" rtlCol="0">
            <a:noAutofit/>
          </a:bodyPr>
          <a:lstStyle/>
          <a:p>
            <a:pPr algn="ctr">
              <a:lnSpc>
                <a:spcPct val="100000"/>
              </a:lnSpc>
              <a:spcBef>
                <a:spcPts val="0"/>
              </a:spcBef>
              <a:spcAft>
                <a:spcPts val="0"/>
              </a:spcAft>
              <a:buNone/>
            </a:pPr>
            <a:r>
              <a:rPr lang="fr-FR" sz="1100" b="1" i="0" dirty="0">
                <a:solidFill>
                  <a:srgbClr val="14213D"/>
                </a:solidFill>
                <a:latin typeface="Segoe UI"/>
                <a:cs typeface="Segoe UI"/>
              </a:rPr>
              <a:t>gbfs.json</a:t>
            </a:r>
            <a:endParaRPr lang="fr-FR" sz="1100" dirty="0"/>
          </a:p>
          <a:p>
            <a:pPr algn="ctr">
              <a:lnSpc>
                <a:spcPct val="100000"/>
              </a:lnSpc>
              <a:spcBef>
                <a:spcPts val="400"/>
              </a:spcBef>
              <a:spcAft>
                <a:spcPts val="0"/>
              </a:spcAft>
              <a:buNone/>
            </a:pPr>
            <a:r>
              <a:rPr lang="fr-FR" sz="950" b="0" i="0" dirty="0">
                <a:solidFill>
                  <a:srgbClr val="5B6573"/>
                </a:solidFill>
                <a:latin typeface="Segoe UI"/>
                <a:cs typeface="Segoe UI"/>
              </a:rPr>
              <a:t>fichier d'autodécouverte : la liste des sous-flux</a:t>
            </a:r>
            <a:endParaRPr lang="fr-FR" sz="950" dirty="0"/>
          </a:p>
        </p:txBody>
      </p:sp>
      <p:cxnSp>
        <p:nvCxnSpPr>
          <p:cNvPr id="21" name="Flèche 21"/>
          <p:cNvCxnSpPr/>
          <p:nvPr/>
        </p:nvCxnSpPr>
        <p:spPr>
          <a:xfrm>
            <a:off x="3081528" y="4590288"/>
            <a:ext cx="210312" cy="0"/>
          </a:xfrm>
          <a:prstGeom prst="straightConnector1">
            <a:avLst/>
          </a:prstGeom>
          <a:ln w="25400">
            <a:solidFill>
              <a:srgbClr val="5B6573"/>
            </a:solidFill>
            <a:tailEnd type="triangle" w="med" len="med"/>
          </a:ln>
        </p:spPr>
      </p:cxnSp>
      <p:sp>
        <p:nvSpPr>
          <p:cNvPr id="22" name="Forme 22"/>
          <p:cNvSpPr/>
          <p:nvPr/>
        </p:nvSpPr>
        <p:spPr>
          <a:xfrm>
            <a:off x="3310128" y="4023360"/>
            <a:ext cx="2606040" cy="1143000"/>
          </a:xfrm>
          <a:prstGeom prst="roundRect">
            <a:avLst>
              <a:gd name="adj" fmla="val 8000"/>
            </a:avLst>
          </a:prstGeom>
          <a:solidFill>
            <a:srgbClr val="EEEAF8"/>
          </a:solidFill>
          <a:ln>
            <a:noFill/>
          </a:ln>
        </p:spPr>
        <p:txBody>
          <a:bodyPr wrap="square" lIns="91440" tIns="45720" rIns="91440" bIns="45720" anchor="ctr" rtlCol="0">
            <a:noAutofit/>
          </a:bodyPr>
          <a:lstStyle/>
          <a:p>
            <a:pPr algn="ctr">
              <a:lnSpc>
                <a:spcPct val="100000"/>
              </a:lnSpc>
              <a:spcBef>
                <a:spcPts val="0"/>
              </a:spcBef>
              <a:spcAft>
                <a:spcPts val="0"/>
              </a:spcAft>
              <a:buNone/>
            </a:pPr>
            <a:r>
              <a:rPr lang="fr-FR" sz="1100" b="1" i="0" dirty="0">
                <a:solidFill>
                  <a:srgbClr val="7B61C9"/>
                </a:solidFill>
                <a:latin typeface="Consolas"/>
                <a:cs typeface="Consolas"/>
              </a:rPr>
              <a:t>gbfs_feed_urls()</a:t>
            </a:r>
            <a:endParaRPr lang="fr-FR" sz="1100" dirty="0"/>
          </a:p>
          <a:p>
            <a:pPr algn="ctr">
              <a:lnSpc>
                <a:spcPct val="100000"/>
              </a:lnSpc>
              <a:spcBef>
                <a:spcPts val="400"/>
              </a:spcBef>
              <a:spcAft>
                <a:spcPts val="0"/>
              </a:spcAft>
              <a:buNone/>
            </a:pPr>
            <a:r>
              <a:rPr lang="fr-FR" sz="950" b="0" i="0" dirty="0">
                <a:solidFill>
                  <a:srgbClr val="5B6573"/>
                </a:solidFill>
                <a:latin typeface="Segoe UI"/>
                <a:cs typeface="Segoe UI"/>
              </a:rPr>
              <a:t>GBFS v1/v2 : liste par langue (fr, sinon en) ; v3 : liste directe</a:t>
            </a:r>
            <a:endParaRPr lang="fr-FR" sz="950" dirty="0"/>
          </a:p>
        </p:txBody>
      </p:sp>
      <p:cxnSp>
        <p:nvCxnSpPr>
          <p:cNvPr id="23" name="Flèche 23"/>
          <p:cNvCxnSpPr/>
          <p:nvPr/>
        </p:nvCxnSpPr>
        <p:spPr>
          <a:xfrm>
            <a:off x="5934456" y="4590288"/>
            <a:ext cx="210312" cy="0"/>
          </a:xfrm>
          <a:prstGeom prst="straightConnector1">
            <a:avLst/>
          </a:prstGeom>
          <a:ln w="25400">
            <a:solidFill>
              <a:srgbClr val="5B6573"/>
            </a:solidFill>
            <a:tailEnd type="triangle" w="med" len="med"/>
          </a:ln>
        </p:spPr>
      </p:cxnSp>
      <p:sp>
        <p:nvSpPr>
          <p:cNvPr id="24" name="Forme 24"/>
          <p:cNvSpPr/>
          <p:nvPr/>
        </p:nvSpPr>
        <p:spPr>
          <a:xfrm>
            <a:off x="6163056" y="4023360"/>
            <a:ext cx="2606040" cy="1143000"/>
          </a:xfrm>
          <a:prstGeom prst="roundRect">
            <a:avLst>
              <a:gd name="adj" fmla="val 8000"/>
            </a:avLst>
          </a:prstGeom>
          <a:solidFill>
            <a:srgbClr val="EEEAF8"/>
          </a:solidFill>
          <a:ln>
            <a:noFill/>
          </a:ln>
        </p:spPr>
        <p:txBody>
          <a:bodyPr wrap="square" lIns="91440" tIns="45720" rIns="91440" bIns="45720" anchor="ctr" rtlCol="0">
            <a:noAutofit/>
          </a:bodyPr>
          <a:lstStyle/>
          <a:p>
            <a:pPr algn="ctr">
              <a:lnSpc>
                <a:spcPct val="100000"/>
              </a:lnSpc>
              <a:spcBef>
                <a:spcPts val="0"/>
              </a:spcBef>
              <a:spcAft>
                <a:spcPts val="0"/>
              </a:spcAft>
              <a:buNone/>
            </a:pPr>
            <a:r>
              <a:rPr lang="fr-FR" sz="1100" b="1" i="0" dirty="0">
                <a:solidFill>
                  <a:srgbClr val="14213D"/>
                </a:solidFill>
                <a:latin typeface="Segoe UI"/>
                <a:cs typeface="Segoe UI"/>
              </a:rPr>
              <a:t>station_information · station_status · vehicle_types…</a:t>
            </a:r>
            <a:endParaRPr lang="fr-FR" sz="1100" dirty="0"/>
          </a:p>
          <a:p>
            <a:pPr algn="ctr">
              <a:lnSpc>
                <a:spcPct val="100000"/>
              </a:lnSpc>
              <a:spcBef>
                <a:spcPts val="400"/>
              </a:spcBef>
              <a:spcAft>
                <a:spcPts val="0"/>
              </a:spcAft>
              <a:buNone/>
            </a:pPr>
            <a:r>
              <a:rPr lang="fr-FR" sz="950" b="0" i="0" dirty="0">
                <a:solidFill>
                  <a:srgbClr val="5B6573"/>
                </a:solidFill>
                <a:latin typeface="Segoe UI"/>
                <a:cs typeface="Segoe UI"/>
              </a:rPr>
              <a:t>chaque sous-flux téléchargé par </a:t>
            </a:r>
            <a:r>
              <a:rPr lang="fr-FR" sz="950" b="0" i="0" dirty="0">
                <a:solidFill>
                  <a:srgbClr val="7B61C9"/>
                </a:solidFill>
                <a:latin typeface="Consolas"/>
                <a:cs typeface="Consolas"/>
              </a:rPr>
              <a:t>fetch_gbfs_system()</a:t>
            </a:r>
            <a:endParaRPr lang="fr-FR" sz="950" dirty="0"/>
          </a:p>
        </p:txBody>
      </p:sp>
      <p:cxnSp>
        <p:nvCxnSpPr>
          <p:cNvPr id="25" name="Flèche 25"/>
          <p:cNvCxnSpPr/>
          <p:nvPr/>
        </p:nvCxnSpPr>
        <p:spPr>
          <a:xfrm>
            <a:off x="8787384" y="4590288"/>
            <a:ext cx="210312" cy="0"/>
          </a:xfrm>
          <a:prstGeom prst="straightConnector1">
            <a:avLst/>
          </a:prstGeom>
          <a:ln w="25400">
            <a:solidFill>
              <a:srgbClr val="5B6573"/>
            </a:solidFill>
            <a:tailEnd type="triangle" w="med" len="med"/>
          </a:ln>
        </p:spPr>
      </p:cxnSp>
      <p:sp>
        <p:nvSpPr>
          <p:cNvPr id="26" name="Forme 26"/>
          <p:cNvSpPr/>
          <p:nvPr/>
        </p:nvSpPr>
        <p:spPr>
          <a:xfrm>
            <a:off x="9015984" y="4023360"/>
            <a:ext cx="2606040" cy="1143000"/>
          </a:xfrm>
          <a:prstGeom prst="roundRect">
            <a:avLst>
              <a:gd name="adj" fmla="val 8000"/>
            </a:avLst>
          </a:prstGeom>
          <a:solidFill>
            <a:srgbClr val="EEEAF8"/>
          </a:solidFill>
          <a:ln>
            <a:noFill/>
          </a:ln>
        </p:spPr>
        <p:txBody>
          <a:bodyPr wrap="square" lIns="91440" tIns="45720" rIns="91440" bIns="45720" anchor="ctr" rtlCol="0">
            <a:noAutofit/>
          </a:bodyPr>
          <a:lstStyle/>
          <a:p>
            <a:pPr algn="ctr">
              <a:lnSpc>
                <a:spcPct val="100000"/>
              </a:lnSpc>
              <a:spcBef>
                <a:spcPts val="0"/>
              </a:spcBef>
              <a:spcAft>
                <a:spcPts val="0"/>
              </a:spcAft>
              <a:buNone/>
            </a:pPr>
            <a:r>
              <a:rPr lang="fr-FR" sz="1100" b="1" i="0" dirty="0">
                <a:solidFill>
                  <a:srgbClr val="14213D"/>
                </a:solidFill>
                <a:latin typeface="Segoe UI"/>
                <a:cs typeface="Segoe UI"/>
              </a:rPr>
              <a:t>index.json</a:t>
            </a:r>
            <a:endParaRPr lang="fr-FR" sz="1100" dirty="0"/>
          </a:p>
          <a:p>
            <a:pPr algn="ctr">
              <a:lnSpc>
                <a:spcPct val="100000"/>
              </a:lnSpc>
              <a:spcBef>
                <a:spcPts val="400"/>
              </a:spcBef>
              <a:spcAft>
                <a:spcPts val="0"/>
              </a:spcAft>
              <a:buNone/>
            </a:pPr>
            <a:r>
              <a:rPr lang="fr-FR" sz="950" b="0" i="0" dirty="0">
                <a:solidFill>
                  <a:srgbClr val="5B6573"/>
                </a:solidFill>
                <a:latin typeface="Segoe UI"/>
                <a:cs typeface="Segoe UI"/>
              </a:rPr>
              <a:t>un système par ligne, avec l'URL de chaque sous-flux</a:t>
            </a:r>
            <a:endParaRPr lang="fr-FR" sz="950" dirty="0"/>
          </a:p>
        </p:txBody>
      </p:sp>
      <p:sp>
        <p:nvSpPr>
          <p:cNvPr id="27" name="Forme 27"/>
          <p:cNvSpPr/>
          <p:nvPr/>
        </p:nvSpPr>
        <p:spPr>
          <a:xfrm>
            <a:off x="457200" y="5349240"/>
            <a:ext cx="11274552" cy="914400"/>
          </a:xfrm>
          <a:prstGeom prst="roundRect">
            <a:avLst>
              <a:gd name="adj" fmla="val 6000"/>
            </a:avLst>
          </a:prstGeom>
          <a:solidFill>
            <a:srgbClr val="F4F6F9"/>
          </a:solidFill>
          <a:ln>
            <a:noFill/>
          </a:ln>
        </p:spPr>
        <p:txBody>
          <a:bodyPr wrap="square" lIns="228600" tIns="73152" rIns="228600" bIns="73152" anchor="ctr" rtlCol="0">
            <a:noAutofit/>
          </a:bodyPr>
          <a:lstStyle/>
          <a:p>
            <a:pPr algn="l">
              <a:lnSpc>
                <a:spcPct val="100000"/>
              </a:lnSpc>
              <a:spcBef>
                <a:spcPts val="0"/>
              </a:spcBef>
              <a:spcAft>
                <a:spcPts val="0"/>
              </a:spcAft>
              <a:buNone/>
            </a:pPr>
            <a:r>
              <a:rPr lang="fr-FR" sz="1100" b="1" i="0" dirty="0">
                <a:solidFill>
                  <a:srgbClr val="1F2933"/>
                </a:solidFill>
                <a:latin typeface="Segoe UI"/>
                <a:cs typeface="Segoe UI"/>
              </a:rPr>
              <a:t>Historique</a:t>
            </a:r>
            <a:r>
              <a:rPr lang="fr-FR" sz="1100" b="0" i="0" dirty="0">
                <a:solidFill>
                  <a:srgbClr val="1F2933"/>
                </a:solidFill>
                <a:latin typeface="Segoe UI"/>
                <a:cs typeface="Segoe UI"/>
              </a:rPr>
              <a:t> : </a:t>
            </a:r>
            <a:r>
              <a:rPr lang="fr-FR" sz="1100" b="0" i="0" dirty="0">
                <a:solidFill>
                  <a:srgbClr val="0B7A6E"/>
                </a:solidFill>
                <a:latin typeface="Consolas"/>
                <a:cs typeface="Consolas"/>
              </a:rPr>
              <a:t>collect_gbfs_status.py</a:t>
            </a:r>
            <a:r>
              <a:rPr lang="fr-FR" sz="1100" b="0" i="0" dirty="0">
                <a:solidFill>
                  <a:srgbClr val="1F2933"/>
                </a:solidFill>
                <a:latin typeface="Segoe UI"/>
                <a:cs typeface="Segoe UI"/>
              </a:rPr>
              <a:t> relit </a:t>
            </a:r>
            <a:r>
              <a:rPr lang="fr-FR" sz="1100" b="0" i="0" dirty="0">
                <a:solidFill>
                  <a:srgbClr val="0B7A6E"/>
                </a:solidFill>
                <a:latin typeface="Consolas"/>
                <a:cs typeface="Consolas"/>
              </a:rPr>
              <a:t>index.json</a:t>
            </a:r>
            <a:r>
              <a:rPr lang="fr-FR" sz="1100" b="0" i="0" dirty="0">
                <a:solidFill>
                  <a:srgbClr val="1F2933"/>
                </a:solidFill>
                <a:latin typeface="Segoe UI"/>
                <a:cs typeface="Segoe UI"/>
              </a:rPr>
              <a:t> et photographie </a:t>
            </a:r>
            <a:r>
              <a:rPr lang="fr-FR" sz="1100" b="0" i="0" dirty="0">
                <a:solidFill>
                  <a:srgbClr val="0B7A6E"/>
                </a:solidFill>
                <a:latin typeface="Consolas"/>
                <a:cs typeface="Consolas"/>
              </a:rPr>
              <a:t>station_status</a:t>
            </a:r>
            <a:r>
              <a:rPr lang="fr-FR" sz="1100" b="0" i="0" dirty="0">
                <a:solidFill>
                  <a:srgbClr val="1F2933"/>
                </a:solidFill>
                <a:latin typeface="Segoe UI"/>
                <a:cs typeface="Segoe UI"/>
              </a:rPr>
              <a:t> toutes les 5 minutes (</a:t>
            </a:r>
            <a:r>
              <a:rPr lang="fr-FR" sz="1100" b="0" i="0" dirty="0">
                <a:solidFill>
                  <a:srgbClr val="0B7A6E"/>
                </a:solidFill>
                <a:latin typeface="Consolas"/>
                <a:cs typeface="Consolas"/>
              </a:rPr>
              <a:t>--interval 5</a:t>
            </a:r>
            <a:r>
              <a:rPr lang="fr-FR" sz="1100" b="0" i="0" dirty="0">
                <a:solidFill>
                  <a:srgbClr val="1F2933"/>
                </a:solidFill>
                <a:latin typeface="Segoe UI"/>
                <a:cs typeface="Segoe UI"/>
              </a:rPr>
              <a:t>) → </a:t>
            </a:r>
            <a:r>
              <a:rPr lang="fr-FR" sz="1100" b="0" i="0" dirty="0">
                <a:solidFill>
                  <a:srgbClr val="0B7A6E"/>
                </a:solidFill>
                <a:latin typeface="Consolas"/>
                <a:cs typeface="Consolas"/>
              </a:rPr>
              <a:t>data/raw/gbfs_history/station_status_AAAAMMJJ.csv</a:t>
            </a:r>
            <a:r>
              <a:rPr lang="fr-FR" sz="1100" b="0" i="0" dirty="0">
                <a:solidFill>
                  <a:srgbClr val="1F2933"/>
                </a:solidFill>
                <a:latin typeface="Segoe UI"/>
                <a:cs typeface="Segoe UI"/>
              </a:rPr>
              <a:t> : snapshot_utc, station_id, num_vehicles_available, is_renting… Les flux GBFS ne donnent que l'état instantané : c'est le seul moyen d'en garder une trace.</a:t>
            </a:r>
            <a:endParaRPr lang="fr-FR"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rme 3"/>
          <p:cNvSpPr/>
          <p:nvPr/>
        </p:nvSpPr>
        <p:spPr>
          <a:xfrm>
            <a:off x="0" y="0"/>
            <a:ext cx="128016" cy="6858000"/>
          </a:xfrm>
          <a:prstGeom prst="rect">
            <a:avLst/>
          </a:prstGeom>
          <a:solidFill>
            <a:srgbClr val="7B61C9"/>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4" name="Forme 4"/>
          <p:cNvSpPr/>
          <p:nvPr/>
        </p:nvSpPr>
        <p:spPr>
          <a:xfrm>
            <a:off x="457200" y="256032"/>
            <a:ext cx="7315200" cy="2743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050" b="1" i="0" dirty="0">
                <a:solidFill>
                  <a:srgbClr val="7B61C9"/>
                </a:solidFill>
                <a:latin typeface="Segoe UI"/>
                <a:cs typeface="Segoe UI"/>
              </a:rPr>
              <a:t>PARTIE 3 · L'EXTRACTION</a:t>
            </a:r>
            <a:endParaRPr lang="fr-FR" sz="1050" dirty="0"/>
          </a:p>
        </p:txBody>
      </p:sp>
      <p:sp>
        <p:nvSpPr>
          <p:cNvPr id="5" name="Forme 5"/>
          <p:cNvSpPr/>
          <p:nvPr/>
        </p:nvSpPr>
        <p:spPr>
          <a:xfrm>
            <a:off x="457200" y="502920"/>
            <a:ext cx="11247120" cy="5486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2500" b="1" i="0" dirty="0">
                <a:solidFill>
                  <a:srgbClr val="14213D"/>
                </a:solidFill>
                <a:latin typeface="Segoe UI"/>
                <a:cs typeface="Segoe UI"/>
              </a:rPr>
              <a:t>IGN, liens directs, Geofabrik, Nantes Métropole</a:t>
            </a:r>
            <a:endParaRPr lang="fr-FR" sz="2500" dirty="0"/>
          </a:p>
        </p:txBody>
      </p:sp>
      <p:sp>
        <p:nvSpPr>
          <p:cNvPr id="6" name="Forme 6"/>
          <p:cNvSpPr/>
          <p:nvPr/>
        </p:nvSpPr>
        <p:spPr>
          <a:xfrm>
            <a:off x="457200" y="987552"/>
            <a:ext cx="11247120" cy="3200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250" b="0" i="0" dirty="0">
                <a:solidFill>
                  <a:srgbClr val="5B6573"/>
                </a:solidFill>
                <a:latin typeface="Segoe UI"/>
                <a:cs typeface="Segoe UI"/>
              </a:rPr>
              <a:t>Quatre façons de récupérer les autres sources, toutes dans download_all.py (sauf Marguerite).</a:t>
            </a:r>
            <a:endParaRPr lang="fr-FR" sz="1250" dirty="0"/>
          </a:p>
        </p:txBody>
      </p:sp>
      <p:sp>
        <p:nvSpPr>
          <p:cNvPr id="7" name="Forme 7"/>
          <p:cNvSpPr/>
          <p:nvPr/>
        </p:nvSpPr>
        <p:spPr>
          <a:xfrm>
            <a:off x="457200" y="6446520"/>
            <a:ext cx="11274552" cy="10973"/>
          </a:xfrm>
          <a:prstGeom prst="rect">
            <a:avLst/>
          </a:prstGeom>
          <a:solidFill>
            <a:srgbClr val="D5DAE1"/>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8" name="Forme 8"/>
          <p:cNvSpPr/>
          <p:nvPr/>
        </p:nvSpPr>
        <p:spPr>
          <a:xfrm>
            <a:off x="457200" y="6492240"/>
            <a:ext cx="7315200" cy="256032"/>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00" b="0" i="0" dirty="0">
                <a:solidFill>
                  <a:srgbClr val="5B6573"/>
                </a:solidFill>
                <a:latin typeface="Segoe UI"/>
                <a:cs typeface="Segoe UI"/>
              </a:rPr>
              <a:t>Hackathon Mobility × Citiz · Nos données, de A à Z</a:t>
            </a:r>
            <a:endParaRPr lang="fr-FR" sz="900" dirty="0"/>
          </a:p>
        </p:txBody>
      </p:sp>
      <p:sp>
        <p:nvSpPr>
          <p:cNvPr id="9" name="Forme 9"/>
          <p:cNvSpPr/>
          <p:nvPr/>
        </p:nvSpPr>
        <p:spPr>
          <a:xfrm>
            <a:off x="10360152" y="6492240"/>
            <a:ext cx="1371600" cy="256032"/>
          </a:xfrm>
          <a:prstGeom prst="rect">
            <a:avLst/>
          </a:prstGeom>
          <a:noFill/>
          <a:ln>
            <a:noFill/>
          </a:ln>
        </p:spPr>
        <p:txBody>
          <a:bodyPr wrap="square" lIns="18288" tIns="18288" rIns="18288" bIns="18288" anchor="t" rtlCol="0">
            <a:noAutofit/>
          </a:bodyPr>
          <a:lstStyle/>
          <a:p>
            <a:pPr algn="r">
              <a:lnSpc>
                <a:spcPct val="100000"/>
              </a:lnSpc>
              <a:spcBef>
                <a:spcPts val="0"/>
              </a:spcBef>
              <a:spcAft>
                <a:spcPts val="0"/>
              </a:spcAft>
              <a:buNone/>
            </a:pPr>
            <a:r>
              <a:rPr lang="fr-FR" sz="900" b="0" i="0" dirty="0">
                <a:solidFill>
                  <a:srgbClr val="5B6573"/>
                </a:solidFill>
                <a:latin typeface="Segoe UI"/>
                <a:cs typeface="Segoe UI"/>
              </a:rPr>
              <a:t>11</a:t>
            </a:r>
            <a:endParaRPr lang="fr-FR" sz="900" dirty="0"/>
          </a:p>
        </p:txBody>
      </p:sp>
      <p:sp>
        <p:nvSpPr>
          <p:cNvPr id="10" name="Forme 10"/>
          <p:cNvSpPr/>
          <p:nvPr/>
        </p:nvSpPr>
        <p:spPr>
          <a:xfrm>
            <a:off x="457200" y="1371600"/>
            <a:ext cx="5559552" cy="2423160"/>
          </a:xfrm>
          <a:prstGeom prst="roundRect">
            <a:avLst>
              <a:gd name="adj" fmla="val 4000"/>
            </a:avLst>
          </a:prstGeom>
          <a:solidFill>
            <a:srgbClr val="EEEAF8"/>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1" name="Forme 11"/>
          <p:cNvSpPr/>
          <p:nvPr/>
        </p:nvSpPr>
        <p:spPr>
          <a:xfrm>
            <a:off x="457200" y="1371600"/>
            <a:ext cx="64008" cy="2423160"/>
          </a:xfrm>
          <a:prstGeom prst="rect">
            <a:avLst/>
          </a:prstGeom>
          <a:solidFill>
            <a:srgbClr val="7B61C9"/>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2" name="Forme 12"/>
          <p:cNvSpPr/>
          <p:nvPr/>
        </p:nvSpPr>
        <p:spPr>
          <a:xfrm>
            <a:off x="640080" y="1463040"/>
            <a:ext cx="5266944" cy="228600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300"/>
              </a:spcAft>
              <a:buNone/>
            </a:pPr>
            <a:r>
              <a:rPr lang="fr-FR" sz="1300" b="1" i="0" dirty="0">
                <a:solidFill>
                  <a:srgbClr val="7B61C9"/>
                </a:solidFill>
                <a:latin typeface="Segoe UI"/>
                <a:cs typeface="Segoe UI"/>
              </a:rPr>
              <a:t>Flux Atom de l'IGN : toujours la dernière édition</a:t>
            </a:r>
            <a:endParaRPr lang="fr-FR" sz="1300" dirty="0"/>
          </a:p>
          <a:p>
            <a:pPr algn="l">
              <a:lnSpc>
                <a:spcPct val="100000"/>
              </a:lnSpc>
              <a:spcBef>
                <a:spcPts val="300"/>
              </a:spcBef>
              <a:spcAft>
                <a:spcPts val="0"/>
              </a:spcAft>
              <a:buNone/>
            </a:pPr>
            <a:r>
              <a:rPr lang="fr-FR" sz="1050" b="0" i="0" dirty="0">
                <a:solidFill>
                  <a:srgbClr val="1F2933"/>
                </a:solidFill>
                <a:latin typeface="Segoe UI"/>
                <a:cs typeface="Segoe UI"/>
              </a:rPr>
              <a:t>1. </a:t>
            </a:r>
            <a:r>
              <a:rPr lang="fr-FR" sz="1050" b="0" i="0" dirty="0">
                <a:solidFill>
                  <a:srgbClr val="0B7A6E"/>
                </a:solidFill>
                <a:latin typeface="Consolas"/>
                <a:cs typeface="Consolas"/>
              </a:rPr>
              <a:t>ign_entries()</a:t>
            </a:r>
            <a:r>
              <a:rPr lang="fr-FR" sz="1050" b="0" i="0" dirty="0">
                <a:solidFill>
                  <a:srgbClr val="1F2933"/>
                </a:solidFill>
                <a:latin typeface="Segoe UI"/>
                <a:cs typeface="Segoe UI"/>
              </a:rPr>
              <a:t> lit </a:t>
            </a:r>
            <a:r>
              <a:rPr lang="fr-FR" sz="1050" b="0" i="0" dirty="0">
                <a:solidFill>
                  <a:srgbClr val="0B7A6E"/>
                </a:solidFill>
                <a:latin typeface="Consolas"/>
                <a:cs typeface="Consolas"/>
              </a:rPr>
              <a:t>https://data.geopf.fr/telechargement/resource/{collection}?page=N</a:t>
            </a:r>
            <a:r>
              <a:rPr lang="fr-FR" sz="1050" b="0" i="0" dirty="0">
                <a:solidFill>
                  <a:srgbClr val="1F2933"/>
                </a:solidFill>
                <a:latin typeface="Segoe UI"/>
                <a:cs typeface="Segoe UI"/>
              </a:rPr>
              <a:t> (jusqu'à 30 pages).</a:t>
            </a:r>
            <a:endParaRPr lang="fr-FR" sz="1050" dirty="0"/>
          </a:p>
          <a:p>
            <a:pPr algn="l">
              <a:lnSpc>
                <a:spcPct val="100000"/>
              </a:lnSpc>
              <a:spcBef>
                <a:spcPts val="300"/>
              </a:spcBef>
              <a:spcAft>
                <a:spcPts val="0"/>
              </a:spcAft>
              <a:buNone/>
            </a:pPr>
            <a:r>
              <a:rPr lang="fr-FR" sz="1050" b="0" i="0" dirty="0">
                <a:solidFill>
                  <a:srgbClr val="1F2933"/>
                </a:solidFill>
                <a:latin typeface="Segoe UI"/>
                <a:cs typeface="Segoe UI"/>
              </a:rPr>
              <a:t>2. </a:t>
            </a:r>
            <a:r>
              <a:rPr lang="fr-FR" sz="1050" b="0" i="0" dirty="0">
                <a:solidFill>
                  <a:srgbClr val="0B7A6E"/>
                </a:solidFill>
                <a:latin typeface="Consolas"/>
                <a:cs typeface="Consolas"/>
              </a:rPr>
              <a:t>ign_pick_latest()</a:t>
            </a:r>
            <a:r>
              <a:rPr lang="fr-FR" sz="1050" b="0" i="0" dirty="0">
                <a:solidFill>
                  <a:srgbClr val="1F2933"/>
                </a:solidFill>
                <a:latin typeface="Segoe UI"/>
                <a:cs typeface="Segoe UI"/>
              </a:rPr>
              <a:t> garde les éditions France entière (</a:t>
            </a:r>
            <a:r>
              <a:rPr lang="fr-FR" sz="1050" b="0" i="0" dirty="0">
                <a:solidFill>
                  <a:srgbClr val="0B7A6E"/>
                </a:solidFill>
                <a:latin typeface="Consolas"/>
                <a:cs typeface="Consolas"/>
              </a:rPr>
              <a:t>_FRA_</a:t>
            </a:r>
            <a:r>
              <a:rPr lang="fr-FR" sz="1050" b="0" i="0" dirty="0">
                <a:solidFill>
                  <a:srgbClr val="1F2933"/>
                </a:solidFill>
                <a:latin typeface="Segoe UI"/>
                <a:cs typeface="Segoe UI"/>
              </a:rPr>
              <a:t> ou </a:t>
            </a:r>
            <a:r>
              <a:rPr lang="fr-FR" sz="1050" b="0" i="0" dirty="0">
                <a:solidFill>
                  <a:srgbClr val="0B7A6E"/>
                </a:solidFill>
                <a:latin typeface="Consolas"/>
                <a:cs typeface="Consolas"/>
              </a:rPr>
              <a:t>_FXX_</a:t>
            </a:r>
            <a:r>
              <a:rPr lang="fr-FR" sz="1050" b="0" i="0" dirty="0">
                <a:solidFill>
                  <a:srgbClr val="1F2933"/>
                </a:solidFill>
                <a:latin typeface="Segoe UI"/>
                <a:cs typeface="Segoe UI"/>
              </a:rPr>
              <a:t>), la </a:t>
            </a:r>
            <a:r>
              <a:rPr lang="fr-FR" sz="1050" b="1" i="0" dirty="0">
                <a:solidFill>
                  <a:srgbClr val="1F2933"/>
                </a:solidFill>
                <a:latin typeface="Segoe UI"/>
                <a:cs typeface="Segoe UI"/>
              </a:rPr>
              <a:t>date la plus récente</a:t>
            </a:r>
            <a:r>
              <a:rPr lang="fr-FR" sz="1050" b="0" i="0" dirty="0">
                <a:solidFill>
                  <a:srgbClr val="1F2933"/>
                </a:solidFill>
                <a:latin typeface="Segoe UI"/>
                <a:cs typeface="Segoe UI"/>
              </a:rPr>
              <a:t>, le GPKG de préférence.</a:t>
            </a:r>
            <a:endParaRPr lang="fr-FR" sz="1050" dirty="0"/>
          </a:p>
          <a:p>
            <a:pPr algn="l">
              <a:lnSpc>
                <a:spcPct val="100000"/>
              </a:lnSpc>
              <a:spcBef>
                <a:spcPts val="300"/>
              </a:spcBef>
              <a:spcAft>
                <a:spcPts val="0"/>
              </a:spcAft>
              <a:buNone/>
            </a:pPr>
            <a:r>
              <a:rPr lang="fr-FR" sz="1050" b="0" i="0" dirty="0">
                <a:solidFill>
                  <a:srgbClr val="1F2933"/>
                </a:solidFill>
                <a:latin typeface="Segoe UI"/>
                <a:cs typeface="Segoe UI"/>
              </a:rPr>
              <a:t>3. Il lit les liens </a:t>
            </a:r>
            <a:r>
              <a:rPr lang="fr-FR" sz="1050" b="0" i="0" dirty="0">
                <a:solidFill>
                  <a:srgbClr val="0B7A6E"/>
                </a:solidFill>
                <a:latin typeface="Consolas"/>
                <a:cs typeface="Consolas"/>
              </a:rPr>
              <a:t>.7z</a:t>
            </a:r>
            <a:r>
              <a:rPr lang="fr-FR" sz="1050" b="0" i="0" dirty="0">
                <a:solidFill>
                  <a:srgbClr val="1F2933"/>
                </a:solidFill>
                <a:latin typeface="Segoe UI"/>
                <a:cs typeface="Segoe UI"/>
              </a:rPr>
              <a:t> de l'édition choisie ; à défaut, schéma d'URL standard.</a:t>
            </a:r>
            <a:endParaRPr lang="fr-FR" sz="1050" dirty="0"/>
          </a:p>
          <a:p>
            <a:pPr algn="l">
              <a:lnSpc>
                <a:spcPct val="100000"/>
              </a:lnSpc>
              <a:spcBef>
                <a:spcPts val="400"/>
              </a:spcBef>
              <a:spcAft>
                <a:spcPts val="0"/>
              </a:spcAft>
              <a:buNone/>
            </a:pPr>
            <a:r>
              <a:rPr lang="fr-FR" sz="1050" b="0" i="0" dirty="0">
                <a:solidFill>
                  <a:srgbClr val="7B61C9"/>
                </a:solidFill>
                <a:latin typeface="Segoe UI"/>
                <a:cs typeface="Segoe UI"/>
              </a:rPr>
              <a:t>Résultat : </a:t>
            </a:r>
            <a:r>
              <a:rPr lang="fr-FR" sz="1050" b="0" i="0" dirty="0">
                <a:solidFill>
                  <a:srgbClr val="0B7A6E"/>
                </a:solidFill>
                <a:latin typeface="Consolas"/>
                <a:cs typeface="Consolas"/>
              </a:rPr>
              <a:t>ADMIN-EXPRESS-COG_4-0__GPKG_WGS84G_FRA_2026-01-01</a:t>
            </a:r>
            <a:r>
              <a:rPr lang="fr-FR" sz="1050" b="0" i="0" dirty="0">
                <a:solidFill>
                  <a:srgbClr val="7B61C9"/>
                </a:solidFill>
                <a:latin typeface="Segoe UI"/>
                <a:cs typeface="Segoe UI"/>
              </a:rPr>
              <a:t>, sans changer le code chaque année.</a:t>
            </a:r>
            <a:endParaRPr lang="fr-FR" sz="1050" dirty="0"/>
          </a:p>
        </p:txBody>
      </p:sp>
      <p:sp>
        <p:nvSpPr>
          <p:cNvPr id="13" name="Forme 13"/>
          <p:cNvSpPr/>
          <p:nvPr/>
        </p:nvSpPr>
        <p:spPr>
          <a:xfrm>
            <a:off x="6172200" y="1371600"/>
            <a:ext cx="5559552" cy="2423160"/>
          </a:xfrm>
          <a:prstGeom prst="roundRect">
            <a:avLst>
              <a:gd name="adj" fmla="val 4000"/>
            </a:avLst>
          </a:prstGeom>
          <a:solidFill>
            <a:srgbClr val="E6EFFB"/>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4" name="Forme 14"/>
          <p:cNvSpPr/>
          <p:nvPr/>
        </p:nvSpPr>
        <p:spPr>
          <a:xfrm>
            <a:off x="6172200" y="1371600"/>
            <a:ext cx="64008" cy="2423160"/>
          </a:xfrm>
          <a:prstGeom prst="rect">
            <a:avLst/>
          </a:prstGeom>
          <a:solidFill>
            <a:srgbClr val="3D7DD8"/>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5" name="Forme 15"/>
          <p:cNvSpPr/>
          <p:nvPr/>
        </p:nvSpPr>
        <p:spPr>
          <a:xfrm>
            <a:off x="6355080" y="1463040"/>
            <a:ext cx="5266944" cy="228600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300"/>
              </a:spcAft>
              <a:buNone/>
            </a:pPr>
            <a:r>
              <a:rPr lang="fr-FR" sz="1300" b="1" i="0" dirty="0">
                <a:solidFill>
                  <a:srgbClr val="3D7DD8"/>
                </a:solidFill>
                <a:latin typeface="Segoe UI"/>
                <a:cs typeface="Segoe UI"/>
              </a:rPr>
              <a:t>Liens directs : INSEE, data.gouv.fr, MobilityData</a:t>
            </a:r>
            <a:endParaRPr lang="fr-FR" sz="1300" dirty="0"/>
          </a:p>
          <a:p>
            <a:pPr algn="l">
              <a:lnSpc>
                <a:spcPct val="100000"/>
              </a:lnSpc>
              <a:spcBef>
                <a:spcPts val="300"/>
              </a:spcBef>
              <a:spcAft>
                <a:spcPts val="0"/>
              </a:spcAft>
              <a:buNone/>
            </a:pPr>
            <a:r>
              <a:rPr lang="fr-FR" sz="1050" b="0" i="0" dirty="0">
                <a:solidFill>
                  <a:srgbClr val="1F2933"/>
                </a:solidFill>
                <a:latin typeface="Segoe UI"/>
                <a:cs typeface="Segoe UI"/>
              </a:rPr>
              <a:t>Dictionnaire </a:t>
            </a:r>
            <a:r>
              <a:rPr lang="fr-FR" sz="1050" b="0" i="0" dirty="0">
                <a:solidFill>
                  <a:srgbClr val="0B7A6E"/>
                </a:solidFill>
                <a:latin typeface="Consolas"/>
                <a:cs typeface="Consolas"/>
              </a:rPr>
              <a:t>STATIC</a:t>
            </a:r>
            <a:r>
              <a:rPr lang="fr-FR" sz="1050" b="0" i="0" dirty="0">
                <a:solidFill>
                  <a:srgbClr val="1F2933"/>
                </a:solidFill>
                <a:latin typeface="Segoe UI"/>
                <a:cs typeface="Segoe UI"/>
              </a:rPr>
              <a:t> en tête de </a:t>
            </a:r>
            <a:r>
              <a:rPr lang="fr-FR" sz="1050" b="0" i="0" dirty="0">
                <a:solidFill>
                  <a:srgbClr val="0B7A6E"/>
                </a:solidFill>
                <a:latin typeface="Consolas"/>
                <a:cs typeface="Consolas"/>
              </a:rPr>
              <a:t>download_all.py</a:t>
            </a:r>
            <a:r>
              <a:rPr lang="fr-FR" sz="1050" b="0" i="0" dirty="0">
                <a:solidFill>
                  <a:srgbClr val="1F2933"/>
                </a:solidFill>
                <a:latin typeface="Segoe UI"/>
                <a:cs typeface="Segoe UI"/>
              </a:rPr>
              <a:t> : 8 liens « vérifiés le 19/10/2026 », rangés par catégorie (</a:t>
            </a:r>
            <a:r>
              <a:rPr lang="fr-FR" sz="1050" b="0" i="0" dirty="0">
                <a:solidFill>
                  <a:srgbClr val="0B7A6E"/>
                </a:solidFill>
                <a:latin typeface="Consolas"/>
                <a:cs typeface="Consolas"/>
              </a:rPr>
              <a:t>stops_national</a:t>
            </a:r>
            <a:r>
              <a:rPr lang="fr-FR" sz="1050" b="0" i="0" dirty="0">
                <a:solidFill>
                  <a:srgbClr val="1F2933"/>
                </a:solidFill>
                <a:latin typeface="Segoe UI"/>
                <a:cs typeface="Segoe UI"/>
              </a:rPr>
              <a:t>, </a:t>
            </a:r>
            <a:r>
              <a:rPr lang="fr-FR" sz="1050" b="0" i="0" dirty="0">
                <a:solidFill>
                  <a:srgbClr val="0B7A6E"/>
                </a:solidFill>
                <a:latin typeface="Consolas"/>
                <a:cs typeface="Consolas"/>
              </a:rPr>
              <a:t>gbfs_catalog</a:t>
            </a:r>
            <a:r>
              <a:rPr lang="fr-FR" sz="1050" b="0" i="0" dirty="0">
                <a:solidFill>
                  <a:srgbClr val="1F2933"/>
                </a:solidFill>
                <a:latin typeface="Segoe UI"/>
                <a:cs typeface="Segoe UI"/>
              </a:rPr>
              <a:t>, </a:t>
            </a:r>
            <a:r>
              <a:rPr lang="fr-FR" sz="1050" b="0" i="0" dirty="0">
                <a:solidFill>
                  <a:srgbClr val="0B7A6E"/>
                </a:solidFill>
                <a:latin typeface="Consolas"/>
                <a:cs typeface="Consolas"/>
              </a:rPr>
              <a:t>insee</a:t>
            </a:r>
            <a:r>
              <a:rPr lang="fr-FR" sz="1050" b="0" i="0" dirty="0">
                <a:solidFill>
                  <a:srgbClr val="1F2933"/>
                </a:solidFill>
                <a:latin typeface="Segoe UI"/>
                <a:cs typeface="Segoe UI"/>
              </a:rPr>
              <a:t>, </a:t>
            </a:r>
            <a:r>
              <a:rPr lang="fr-FR" sz="1050" b="0" i="0" dirty="0">
                <a:solidFill>
                  <a:srgbClr val="0B7A6E"/>
                </a:solidFill>
                <a:latin typeface="Consolas"/>
                <a:cs typeface="Consolas"/>
              </a:rPr>
              <a:t>securite</a:t>
            </a:r>
            <a:r>
              <a:rPr lang="fr-FR" sz="1050" b="0" i="0" dirty="0">
                <a:solidFill>
                  <a:srgbClr val="1F2933"/>
                </a:solidFill>
                <a:latin typeface="Segoe UI"/>
                <a:cs typeface="Segoe UI"/>
              </a:rPr>
              <a:t>).</a:t>
            </a:r>
            <a:endParaRPr lang="fr-FR" sz="1050" dirty="0"/>
          </a:p>
          <a:p>
            <a:pPr algn="l">
              <a:lnSpc>
                <a:spcPct val="100000"/>
              </a:lnSpc>
              <a:spcBef>
                <a:spcPts val="300"/>
              </a:spcBef>
              <a:spcAft>
                <a:spcPts val="0"/>
              </a:spcAft>
              <a:buNone/>
            </a:pPr>
            <a:r>
              <a:rPr lang="fr-FR" sz="1050" b="0" i="0" dirty="0">
                <a:solidFill>
                  <a:srgbClr val="1F2933"/>
                </a:solidFill>
                <a:latin typeface="Segoe UI"/>
                <a:cs typeface="Segoe UI"/>
              </a:rPr>
              <a:t>Téléchargés en parallèle, délai de 15 min par fichier (</a:t>
            </a:r>
            <a:r>
              <a:rPr lang="fr-FR" sz="1050" b="0" i="0" dirty="0">
                <a:solidFill>
                  <a:srgbClr val="0B7A6E"/>
                </a:solidFill>
                <a:latin typeface="Consolas"/>
                <a:cs typeface="Consolas"/>
              </a:rPr>
              <a:t>timeout=900</a:t>
            </a:r>
            <a:r>
              <a:rPr lang="fr-FR" sz="1050" b="0" i="0" dirty="0">
                <a:solidFill>
                  <a:srgbClr val="1F2933"/>
                </a:solidFill>
                <a:latin typeface="Segoe UI"/>
                <a:cs typeface="Segoe UI"/>
              </a:rPr>
              <a:t>).</a:t>
            </a:r>
            <a:endParaRPr lang="fr-FR" sz="1050" dirty="0"/>
          </a:p>
          <a:p>
            <a:pPr algn="l">
              <a:lnSpc>
                <a:spcPct val="100000"/>
              </a:lnSpc>
              <a:spcBef>
                <a:spcPts val="300"/>
              </a:spcBef>
              <a:spcAft>
                <a:spcPts val="0"/>
              </a:spcAft>
              <a:buNone/>
            </a:pPr>
            <a:r>
              <a:rPr lang="fr-FR" sz="1050" b="0" i="0" dirty="0">
                <a:solidFill>
                  <a:srgbClr val="1F2933"/>
                </a:solidFill>
                <a:latin typeface="Segoe UI"/>
                <a:cs typeface="Segoe UI"/>
              </a:rPr>
              <a:t>Si un lien casse, le serveur renvoie souvent une page HTML : </a:t>
            </a:r>
            <a:r>
              <a:rPr lang="fr-FR" sz="1050" b="0" i="0" dirty="0">
                <a:solidFill>
                  <a:srgbClr val="0B7A6E"/>
                </a:solidFill>
                <a:latin typeface="Consolas"/>
                <a:cs typeface="Consolas"/>
              </a:rPr>
              <a:t>check_data.py › looks_like_html</a:t>
            </a:r>
            <a:r>
              <a:rPr lang="fr-FR" sz="1050" b="0" i="0" dirty="0">
                <a:solidFill>
                  <a:srgbClr val="1F2933"/>
                </a:solidFill>
                <a:latin typeface="Segoe UI"/>
                <a:cs typeface="Segoe UI"/>
              </a:rPr>
              <a:t> la repère (❌ « lien probablement changé »).</a:t>
            </a:r>
            <a:endParaRPr lang="fr-FR" sz="1050" dirty="0"/>
          </a:p>
        </p:txBody>
      </p:sp>
      <p:sp>
        <p:nvSpPr>
          <p:cNvPr id="16" name="Forme 16"/>
          <p:cNvSpPr/>
          <p:nvPr/>
        </p:nvSpPr>
        <p:spPr>
          <a:xfrm>
            <a:off x="457200" y="3931920"/>
            <a:ext cx="5559552" cy="2377440"/>
          </a:xfrm>
          <a:prstGeom prst="roundRect">
            <a:avLst>
              <a:gd name="adj" fmla="val 4000"/>
            </a:avLst>
          </a:prstGeom>
          <a:solidFill>
            <a:srgbClr val="E3F4F2"/>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7" name="Forme 17"/>
          <p:cNvSpPr/>
          <p:nvPr/>
        </p:nvSpPr>
        <p:spPr>
          <a:xfrm>
            <a:off x="457200" y="3931920"/>
            <a:ext cx="64008" cy="2377440"/>
          </a:xfrm>
          <a:prstGeom prst="rect">
            <a:avLst/>
          </a:prstGeom>
          <a:solidFill>
            <a:srgbClr val="0E9F8E"/>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8" name="Forme 18"/>
          <p:cNvSpPr/>
          <p:nvPr/>
        </p:nvSpPr>
        <p:spPr>
          <a:xfrm>
            <a:off x="640080" y="4023360"/>
            <a:ext cx="5266944" cy="224028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300"/>
              </a:spcAft>
              <a:buNone/>
            </a:pPr>
            <a:r>
              <a:rPr lang="fr-FR" sz="1300" b="1" i="0" dirty="0">
                <a:solidFill>
                  <a:srgbClr val="0E9F8E"/>
                </a:solidFill>
                <a:latin typeface="Segoe UI"/>
                <a:cs typeface="Segoe UI"/>
              </a:rPr>
              <a:t>Geofabrik : OpenStreetMap par région</a:t>
            </a:r>
            <a:endParaRPr lang="fr-FR" sz="1300" dirty="0"/>
          </a:p>
          <a:p>
            <a:pPr algn="l">
              <a:lnSpc>
                <a:spcPct val="100000"/>
              </a:lnSpc>
              <a:spcBef>
                <a:spcPts val="300"/>
              </a:spcBef>
              <a:spcAft>
                <a:spcPts val="0"/>
              </a:spcAft>
              <a:buNone/>
            </a:pPr>
            <a:r>
              <a:rPr lang="fr-FR" sz="1050" b="0" i="0" dirty="0">
                <a:solidFill>
                  <a:srgbClr val="0B7A6E"/>
                </a:solidFill>
                <a:latin typeface="Consolas"/>
                <a:cs typeface="Consolas"/>
              </a:rPr>
              <a:t>run_osm()</a:t>
            </a:r>
            <a:r>
              <a:rPr lang="fr-FR" sz="1050" b="0" i="0" dirty="0">
                <a:solidFill>
                  <a:srgbClr val="1F2933"/>
                </a:solidFill>
                <a:latin typeface="Segoe UI"/>
                <a:cs typeface="Segoe UI"/>
              </a:rPr>
              <a:t> : </a:t>
            </a:r>
            <a:r>
              <a:rPr lang="fr-FR" sz="1050" b="0" i="0" dirty="0">
                <a:solidFill>
                  <a:srgbClr val="0B7A6E"/>
                </a:solidFill>
                <a:latin typeface="Consolas"/>
                <a:cs typeface="Consolas"/>
              </a:rPr>
              <a:t>--osm france</a:t>
            </a:r>
            <a:r>
              <a:rPr lang="fr-FR" sz="1050" b="0" i="0" dirty="0">
                <a:solidFill>
                  <a:srgbClr val="1F2933"/>
                </a:solidFill>
                <a:latin typeface="Segoe UI"/>
                <a:cs typeface="Segoe UI"/>
              </a:rPr>
              <a:t> (≈ 4,5 Go), </a:t>
            </a:r>
            <a:r>
              <a:rPr lang="fr-FR" sz="1050" b="0" i="0" dirty="0">
                <a:solidFill>
                  <a:srgbClr val="0B7A6E"/>
                </a:solidFill>
                <a:latin typeface="Consolas"/>
                <a:cs typeface="Consolas"/>
              </a:rPr>
              <a:t>--osm region</a:t>
            </a:r>
            <a:r>
              <a:rPr lang="fr-FR" sz="1050" b="0" i="0" dirty="0">
                <a:solidFill>
                  <a:srgbClr val="1F2933"/>
                </a:solidFill>
                <a:latin typeface="Segoe UI"/>
                <a:cs typeface="Segoe UI"/>
              </a:rPr>
              <a:t> ou </a:t>
            </a:r>
            <a:r>
              <a:rPr lang="fr-FR" sz="1050" b="0" i="0" dirty="0">
                <a:solidFill>
                  <a:srgbClr val="0B7A6E"/>
                </a:solidFill>
                <a:latin typeface="Consolas"/>
                <a:cs typeface="Consolas"/>
              </a:rPr>
              <a:t>--osm none</a:t>
            </a:r>
            <a:r>
              <a:rPr lang="fr-FR" sz="1050" b="0" i="0" dirty="0">
                <a:solidFill>
                  <a:srgbClr val="1F2933"/>
                </a:solidFill>
                <a:latin typeface="Segoe UI"/>
                <a:cs typeface="Segoe UI"/>
              </a:rPr>
              <a:t>.</a:t>
            </a:r>
            <a:endParaRPr lang="fr-FR" sz="1050" dirty="0"/>
          </a:p>
          <a:p>
            <a:pPr algn="l">
              <a:lnSpc>
                <a:spcPct val="100000"/>
              </a:lnSpc>
              <a:spcBef>
                <a:spcPts val="300"/>
              </a:spcBef>
              <a:spcAft>
                <a:spcPts val="0"/>
              </a:spcAft>
              <a:buNone/>
            </a:pPr>
            <a:r>
              <a:rPr lang="fr-FR" sz="1050" b="0" i="0" dirty="0">
                <a:solidFill>
                  <a:srgbClr val="1F2933"/>
                </a:solidFill>
                <a:latin typeface="Segoe UI"/>
                <a:cs typeface="Segoe UI"/>
              </a:rPr>
              <a:t>Geofabrik découpe encore selon les </a:t>
            </a:r>
            <a:r>
              <a:rPr lang="fr-FR" sz="1050" b="1" i="0" dirty="0">
                <a:solidFill>
                  <a:srgbClr val="1F2933"/>
                </a:solidFill>
                <a:latin typeface="Segoe UI"/>
                <a:cs typeface="Segoe UI"/>
              </a:rPr>
              <a:t>régions d'avant 2016</a:t>
            </a:r>
            <a:r>
              <a:rPr lang="fr-FR" sz="1050" b="0" i="0" dirty="0">
                <a:solidFill>
                  <a:srgbClr val="1F2933"/>
                </a:solidFill>
                <a:latin typeface="Segoe UI"/>
                <a:cs typeface="Segoe UI"/>
              </a:rPr>
              <a:t> : </a:t>
            </a:r>
            <a:r>
              <a:rPr lang="fr-FR" sz="1050" b="0" i="0" dirty="0">
                <a:solidFill>
                  <a:srgbClr val="0B7A6E"/>
                </a:solidFill>
                <a:latin typeface="Consolas"/>
                <a:cs typeface="Consolas"/>
              </a:rPr>
              <a:t>GEOFABRIK_ALIASES</a:t>
            </a:r>
            <a:r>
              <a:rPr lang="fr-FR" sz="1050" b="0" i="0" dirty="0">
                <a:solidFill>
                  <a:srgbClr val="1F2933"/>
                </a:solidFill>
                <a:latin typeface="Segoe UI"/>
                <a:cs typeface="Segoe UI"/>
              </a:rPr>
              <a:t> traduit « auvergne-rhone-alpes » en </a:t>
            </a:r>
            <a:r>
              <a:rPr lang="fr-FR" sz="1050" b="0" i="0" dirty="0">
                <a:solidFill>
                  <a:srgbClr val="0B7A6E"/>
                </a:solidFill>
                <a:latin typeface="Consolas"/>
                <a:cs typeface="Consolas"/>
              </a:rPr>
              <a:t>rhone-alpes</a:t>
            </a:r>
            <a:r>
              <a:rPr lang="fr-FR" sz="1050" b="0" i="0" dirty="0">
                <a:solidFill>
                  <a:srgbClr val="1F2933"/>
                </a:solidFill>
                <a:latin typeface="Segoe UI"/>
                <a:cs typeface="Segoe UI"/>
              </a:rPr>
              <a:t> + </a:t>
            </a:r>
            <a:r>
              <a:rPr lang="fr-FR" sz="1050" b="0" i="0" dirty="0">
                <a:solidFill>
                  <a:srgbClr val="0B7A6E"/>
                </a:solidFill>
                <a:latin typeface="Consolas"/>
                <a:cs typeface="Consolas"/>
              </a:rPr>
              <a:t>auvergne</a:t>
            </a:r>
            <a:r>
              <a:rPr lang="fr-FR" sz="1050" b="0" i="0" dirty="0">
                <a:solidFill>
                  <a:srgbClr val="1F2933"/>
                </a:solidFill>
                <a:latin typeface="Segoe UI"/>
                <a:cs typeface="Segoe UI"/>
              </a:rPr>
              <a:t>.</a:t>
            </a:r>
            <a:endParaRPr lang="fr-FR" sz="1050" dirty="0"/>
          </a:p>
          <a:p>
            <a:pPr algn="l">
              <a:lnSpc>
                <a:spcPct val="100000"/>
              </a:lnSpc>
              <a:spcBef>
                <a:spcPts val="300"/>
              </a:spcBef>
              <a:spcAft>
                <a:spcPts val="0"/>
              </a:spcAft>
              <a:buNone/>
            </a:pPr>
            <a:r>
              <a:rPr lang="fr-FR" sz="1050" b="0" i="0" dirty="0">
                <a:solidFill>
                  <a:srgbClr val="1F2933"/>
                </a:solidFill>
                <a:latin typeface="Segoe UI"/>
                <a:cs typeface="Segoe UI"/>
              </a:rPr>
              <a:t>Nous : </a:t>
            </a:r>
            <a:r>
              <a:rPr lang="fr-FR" sz="1050" b="0" i="0" dirty="0">
                <a:solidFill>
                  <a:srgbClr val="0B7A6E"/>
                </a:solidFill>
                <a:latin typeface="Consolas"/>
                <a:cs typeface="Consolas"/>
              </a:rPr>
              <a:t>rhone-alpes</a:t>
            </a:r>
            <a:r>
              <a:rPr lang="fr-FR" sz="1050" b="0" i="0" dirty="0">
                <a:solidFill>
                  <a:srgbClr val="1F2933"/>
                </a:solidFill>
                <a:latin typeface="Segoe UI"/>
                <a:cs typeface="Segoe UI"/>
              </a:rPr>
              <a:t> (531 Mo, 7 min) et </a:t>
            </a:r>
            <a:r>
              <a:rPr lang="fr-FR" sz="1050" b="0" i="0" dirty="0">
                <a:solidFill>
                  <a:srgbClr val="0B7A6E"/>
                </a:solidFill>
                <a:latin typeface="Consolas"/>
                <a:cs typeface="Consolas"/>
              </a:rPr>
              <a:t>pays-de-la-loire</a:t>
            </a:r>
            <a:r>
              <a:rPr lang="fr-FR" sz="1050" b="0" i="0" dirty="0">
                <a:solidFill>
                  <a:srgbClr val="1F2933"/>
                </a:solidFill>
                <a:latin typeface="Segoe UI"/>
                <a:cs typeface="Segoe UI"/>
              </a:rPr>
              <a:t> (373 Mo, 24 s).</a:t>
            </a:r>
            <a:endParaRPr lang="fr-FR" sz="1050" dirty="0"/>
          </a:p>
        </p:txBody>
      </p:sp>
      <p:sp>
        <p:nvSpPr>
          <p:cNvPr id="19" name="Forme 19"/>
          <p:cNvSpPr/>
          <p:nvPr/>
        </p:nvSpPr>
        <p:spPr>
          <a:xfrm>
            <a:off x="6172200" y="3931920"/>
            <a:ext cx="5559552" cy="2377440"/>
          </a:xfrm>
          <a:prstGeom prst="roundRect">
            <a:avLst>
              <a:gd name="adj" fmla="val 4000"/>
            </a:avLst>
          </a:prstGeom>
          <a:solidFill>
            <a:srgbClr val="FCF1E0"/>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20" name="Forme 20"/>
          <p:cNvSpPr/>
          <p:nvPr/>
        </p:nvSpPr>
        <p:spPr>
          <a:xfrm>
            <a:off x="6172200" y="3931920"/>
            <a:ext cx="64008" cy="2377440"/>
          </a:xfrm>
          <a:prstGeom prst="rect">
            <a:avLst/>
          </a:prstGeom>
          <a:solidFill>
            <a:srgbClr val="E08E1B"/>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21" name="Forme 21"/>
          <p:cNvSpPr/>
          <p:nvPr/>
        </p:nvSpPr>
        <p:spPr>
          <a:xfrm>
            <a:off x="6355080" y="4023360"/>
            <a:ext cx="5266944" cy="224028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300"/>
              </a:spcAft>
              <a:buNone/>
            </a:pPr>
            <a:r>
              <a:rPr lang="fr-FR" sz="1300" b="1" i="0" dirty="0">
                <a:solidFill>
                  <a:srgbClr val="E08E1B"/>
                </a:solidFill>
                <a:latin typeface="Segoe UI"/>
                <a:cs typeface="Segoe UI"/>
              </a:rPr>
              <a:t>Marguerite et archives</a:t>
            </a:r>
            <a:endParaRPr lang="fr-FR" sz="1300" dirty="0"/>
          </a:p>
          <a:p>
            <a:pPr algn="l">
              <a:lnSpc>
                <a:spcPct val="100000"/>
              </a:lnSpc>
              <a:spcBef>
                <a:spcPts val="300"/>
              </a:spcBef>
              <a:spcAft>
                <a:spcPts val="0"/>
              </a:spcAft>
              <a:buNone/>
            </a:pPr>
            <a:r>
              <a:rPr lang="fr-FR" sz="1050" b="1" i="0" dirty="0">
                <a:solidFill>
                  <a:srgbClr val="1F2933"/>
                </a:solidFill>
                <a:latin typeface="Segoe UI"/>
                <a:cs typeface="Segoe UI"/>
              </a:rPr>
              <a:t>Stations Marguerite</a:t>
            </a:r>
            <a:r>
              <a:rPr lang="fr-FR" sz="1050" b="0" i="0" dirty="0">
                <a:solidFill>
                  <a:srgbClr val="1F2933"/>
                </a:solidFill>
                <a:latin typeface="Segoe UI"/>
                <a:cs typeface="Segoe UI"/>
              </a:rPr>
              <a:t> : URL dans </a:t>
            </a:r>
            <a:r>
              <a:rPr lang="fr-FR" sz="1050" b="0" i="0" dirty="0">
                <a:solidFill>
                  <a:srgbClr val="0B7A6E"/>
                </a:solidFill>
                <a:latin typeface="Consolas"/>
                <a:cs typeface="Consolas"/>
              </a:rPr>
              <a:t>settings.yaml</a:t>
            </a:r>
            <a:r>
              <a:rPr lang="fr-FR" sz="1050" b="0" i="0" dirty="0">
                <a:solidFill>
                  <a:srgbClr val="1F2933"/>
                </a:solidFill>
                <a:latin typeface="Segoe UI"/>
                <a:cs typeface="Segoe UI"/>
              </a:rPr>
              <a:t> (</a:t>
            </a:r>
            <a:r>
              <a:rPr lang="fr-FR" sz="1050" b="0" i="0" dirty="0">
                <a:solidFill>
                  <a:srgbClr val="0B7A6E"/>
                </a:solidFill>
                <a:latin typeface="Consolas"/>
                <a:cs typeface="Consolas"/>
              </a:rPr>
              <a:t>cities.nantes.autopartage_local</a:t>
            </a:r>
            <a:r>
              <a:rPr lang="fr-FR" sz="1050" b="0" i="0" dirty="0">
                <a:solidFill>
                  <a:srgbClr val="1F2933"/>
                </a:solidFill>
                <a:latin typeface="Segoe UI"/>
                <a:cs typeface="Segoe UI"/>
              </a:rPr>
              <a:t>). </a:t>
            </a:r>
            <a:r>
              <a:rPr lang="fr-FR" sz="1050" b="0" i="0" dirty="0">
                <a:solidFill>
                  <a:srgbClr val="0B7A6E"/>
                </a:solidFill>
                <a:latin typeface="Consolas"/>
                <a:cs typeface="Consolas"/>
              </a:rPr>
              <a:t>offer.py › local_carsharing_offer</a:t>
            </a:r>
            <a:r>
              <a:rPr lang="fr-FR" sz="1050" b="0" i="0" dirty="0">
                <a:solidFill>
                  <a:srgbClr val="1F2933"/>
                </a:solidFill>
                <a:latin typeface="Segoe UI"/>
                <a:cs typeface="Segoe UI"/>
              </a:rPr>
              <a:t> télécharge le GeoJSON s'il manque, retire l'exploitant Citiz (déjà dans le GBFS) et garde la zone.</a:t>
            </a:r>
            <a:endParaRPr lang="fr-FR" sz="1050" dirty="0"/>
          </a:p>
          <a:p>
            <a:pPr algn="l">
              <a:lnSpc>
                <a:spcPct val="100000"/>
              </a:lnSpc>
              <a:spcBef>
                <a:spcPts val="300"/>
              </a:spcBef>
              <a:spcAft>
                <a:spcPts val="0"/>
              </a:spcAft>
              <a:buNone/>
            </a:pPr>
            <a:r>
              <a:rPr lang="fr-FR" sz="1050" b="1" i="0" dirty="0">
                <a:solidFill>
                  <a:srgbClr val="1F2933"/>
                </a:solidFill>
                <a:latin typeface="Segoe UI"/>
                <a:cs typeface="Segoe UI"/>
              </a:rPr>
              <a:t>Archives</a:t>
            </a:r>
            <a:r>
              <a:rPr lang="fr-FR" sz="1050" b="0" i="0" dirty="0">
                <a:solidFill>
                  <a:srgbClr val="1F2933"/>
                </a:solidFill>
                <a:latin typeface="Segoe UI"/>
                <a:cs typeface="Segoe UI"/>
              </a:rPr>
              <a:t> : </a:t>
            </a:r>
            <a:r>
              <a:rPr lang="fr-FR" sz="1050" b="0" i="0" dirty="0">
                <a:solidFill>
                  <a:srgbClr val="0B7A6E"/>
                </a:solidFill>
                <a:latin typeface="Consolas"/>
                <a:cs typeface="Consolas"/>
              </a:rPr>
              <a:t>archives.py › ign_gpkg</a:t>
            </a:r>
            <a:r>
              <a:rPr lang="fr-FR" sz="1050" b="0" i="0" dirty="0">
                <a:solidFill>
                  <a:srgbClr val="1F2933"/>
                </a:solidFill>
                <a:latin typeface="Segoe UI"/>
                <a:cs typeface="Segoe UI"/>
              </a:rPr>
              <a:t> (7z, avec py7zr) et </a:t>
            </a:r>
            <a:r>
              <a:rPr lang="fr-FR" sz="1050" b="0" i="0" dirty="0">
                <a:solidFill>
                  <a:srgbClr val="0B7A6E"/>
                </a:solidFill>
                <a:latin typeface="Consolas"/>
                <a:cs typeface="Consolas"/>
              </a:rPr>
              <a:t>filosofi_gpkg</a:t>
            </a:r>
            <a:r>
              <a:rPr lang="fr-FR" sz="1050" b="0" i="0" dirty="0">
                <a:solidFill>
                  <a:srgbClr val="1F2933"/>
                </a:solidFill>
                <a:latin typeface="Segoe UI"/>
                <a:cs typeface="Segoe UI"/>
              </a:rPr>
              <a:t> (zip) extraient le GeoPackage à la première utilisation (+ ≈ 2,4 Go).</a:t>
            </a:r>
            <a:endParaRPr lang="fr-FR"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rme 3"/>
          <p:cNvSpPr/>
          <p:nvPr/>
        </p:nvSpPr>
        <p:spPr>
          <a:xfrm>
            <a:off x="0" y="0"/>
            <a:ext cx="128016" cy="6858000"/>
          </a:xfrm>
          <a:prstGeom prst="rect">
            <a:avLst/>
          </a:prstGeom>
          <a:solidFill>
            <a:srgbClr val="7B61C9"/>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4" name="Forme 4"/>
          <p:cNvSpPr/>
          <p:nvPr/>
        </p:nvSpPr>
        <p:spPr>
          <a:xfrm>
            <a:off x="457200" y="256032"/>
            <a:ext cx="7315200" cy="2743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050" b="1" i="0" dirty="0">
                <a:solidFill>
                  <a:srgbClr val="7B61C9"/>
                </a:solidFill>
                <a:latin typeface="Segoe UI"/>
                <a:cs typeface="Segoe UI"/>
              </a:rPr>
              <a:t>PARTIE 3 · L'EXTRACTION</a:t>
            </a:r>
            <a:endParaRPr lang="fr-FR" sz="1050" dirty="0"/>
          </a:p>
        </p:txBody>
      </p:sp>
      <p:sp>
        <p:nvSpPr>
          <p:cNvPr id="5" name="Forme 5"/>
          <p:cNvSpPr/>
          <p:nvPr/>
        </p:nvSpPr>
        <p:spPr>
          <a:xfrm>
            <a:off x="457200" y="502920"/>
            <a:ext cx="11247120" cy="5486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2500" b="1" i="0" dirty="0">
                <a:solidFill>
                  <a:srgbClr val="14213D"/>
                </a:solidFill>
                <a:latin typeface="Segoe UI"/>
                <a:cs typeface="Segoe UI"/>
              </a:rPr>
              <a:t>Découper sur la zone, tampon de 800 m, réseau piéton</a:t>
            </a:r>
            <a:endParaRPr lang="fr-FR" sz="2500" dirty="0"/>
          </a:p>
        </p:txBody>
      </p:sp>
      <p:sp>
        <p:nvSpPr>
          <p:cNvPr id="6" name="Forme 6"/>
          <p:cNvSpPr/>
          <p:nvPr/>
        </p:nvSpPr>
        <p:spPr>
          <a:xfrm>
            <a:off x="457200" y="987552"/>
            <a:ext cx="11247120" cy="3200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250" b="0" i="0" dirty="0">
                <a:solidFill>
                  <a:srgbClr val="5B6573"/>
                </a:solidFill>
                <a:latin typeface="Segoe UI"/>
                <a:cs typeface="Segoe UI"/>
              </a:rPr>
              <a:t>On ne calcule que là où c'est utile, sans couper les habitants de la bordure.</a:t>
            </a:r>
            <a:endParaRPr lang="fr-FR" sz="1250" dirty="0"/>
          </a:p>
        </p:txBody>
      </p:sp>
      <p:sp>
        <p:nvSpPr>
          <p:cNvPr id="7" name="Forme 7"/>
          <p:cNvSpPr/>
          <p:nvPr/>
        </p:nvSpPr>
        <p:spPr>
          <a:xfrm>
            <a:off x="457200" y="6446520"/>
            <a:ext cx="11274552" cy="10973"/>
          </a:xfrm>
          <a:prstGeom prst="rect">
            <a:avLst/>
          </a:prstGeom>
          <a:solidFill>
            <a:srgbClr val="D5DAE1"/>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8" name="Forme 8"/>
          <p:cNvSpPr/>
          <p:nvPr/>
        </p:nvSpPr>
        <p:spPr>
          <a:xfrm>
            <a:off x="457200" y="6492240"/>
            <a:ext cx="7315200" cy="256032"/>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00" b="0" i="0" dirty="0">
                <a:solidFill>
                  <a:srgbClr val="5B6573"/>
                </a:solidFill>
                <a:latin typeface="Segoe UI"/>
                <a:cs typeface="Segoe UI"/>
              </a:rPr>
              <a:t>Hackathon Mobility × Citiz · Nos données, de A à Z</a:t>
            </a:r>
            <a:endParaRPr lang="fr-FR" sz="900" dirty="0"/>
          </a:p>
        </p:txBody>
      </p:sp>
      <p:sp>
        <p:nvSpPr>
          <p:cNvPr id="9" name="Forme 9"/>
          <p:cNvSpPr/>
          <p:nvPr/>
        </p:nvSpPr>
        <p:spPr>
          <a:xfrm>
            <a:off x="10360152" y="6492240"/>
            <a:ext cx="1371600" cy="256032"/>
          </a:xfrm>
          <a:prstGeom prst="rect">
            <a:avLst/>
          </a:prstGeom>
          <a:noFill/>
          <a:ln>
            <a:noFill/>
          </a:ln>
        </p:spPr>
        <p:txBody>
          <a:bodyPr wrap="square" lIns="18288" tIns="18288" rIns="18288" bIns="18288" anchor="t" rtlCol="0">
            <a:noAutofit/>
          </a:bodyPr>
          <a:lstStyle/>
          <a:p>
            <a:pPr algn="r">
              <a:lnSpc>
                <a:spcPct val="100000"/>
              </a:lnSpc>
              <a:spcBef>
                <a:spcPts val="0"/>
              </a:spcBef>
              <a:spcAft>
                <a:spcPts val="0"/>
              </a:spcAft>
              <a:buNone/>
            </a:pPr>
            <a:r>
              <a:rPr lang="fr-FR" sz="900" b="0" i="0" dirty="0">
                <a:solidFill>
                  <a:srgbClr val="5B6573"/>
                </a:solidFill>
                <a:latin typeface="Segoe UI"/>
                <a:cs typeface="Segoe UI"/>
              </a:rPr>
              <a:t>12</a:t>
            </a:r>
            <a:endParaRPr lang="fr-FR" sz="900" dirty="0"/>
          </a:p>
        </p:txBody>
      </p:sp>
      <p:sp>
        <p:nvSpPr>
          <p:cNvPr id="10" name="Forme 10"/>
          <p:cNvSpPr/>
          <p:nvPr/>
        </p:nvSpPr>
        <p:spPr>
          <a:xfrm>
            <a:off x="457200" y="1417320"/>
            <a:ext cx="4572000" cy="3657600"/>
          </a:xfrm>
          <a:prstGeom prst="roundRect">
            <a:avLst>
              <a:gd name="adj" fmla="val 5000"/>
            </a:avLst>
          </a:prstGeom>
          <a:solidFill>
            <a:srgbClr val="EEEAF8"/>
          </a:solidFill>
          <a:ln w="15875">
            <a:solidFill>
              <a:srgbClr val="7B61C9"/>
            </a:solid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1" name="Forme 11"/>
          <p:cNvSpPr/>
          <p:nvPr/>
        </p:nvSpPr>
        <p:spPr>
          <a:xfrm>
            <a:off x="640080" y="1481328"/>
            <a:ext cx="4206240" cy="5486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100" b="1" i="0" dirty="0">
                <a:solidFill>
                  <a:srgbClr val="7B61C9"/>
                </a:solidFill>
                <a:latin typeface="Segoe UI"/>
                <a:cs typeface="Segoe UI"/>
              </a:rPr>
              <a:t>Zone + 800 m : l'offre (arrêts, stations) est chargée ici</a:t>
            </a:r>
            <a:endParaRPr lang="fr-FR" sz="1100" dirty="0"/>
          </a:p>
        </p:txBody>
      </p:sp>
      <p:sp>
        <p:nvSpPr>
          <p:cNvPr id="12" name="Forme 12"/>
          <p:cNvSpPr/>
          <p:nvPr/>
        </p:nvSpPr>
        <p:spPr>
          <a:xfrm>
            <a:off x="1051560" y="2103120"/>
            <a:ext cx="3383280" cy="2377440"/>
          </a:xfrm>
          <a:prstGeom prst="roundRect">
            <a:avLst>
              <a:gd name="adj" fmla="val 5000"/>
            </a:avLst>
          </a:prstGeom>
          <a:solidFill>
            <a:srgbClr val="DCE8F8"/>
          </a:solidFill>
          <a:ln w="15875">
            <a:solidFill>
              <a:srgbClr val="3D7DD8"/>
            </a:solid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3" name="Forme 13"/>
          <p:cNvSpPr/>
          <p:nvPr/>
        </p:nvSpPr>
        <p:spPr>
          <a:xfrm>
            <a:off x="1188720" y="2167128"/>
            <a:ext cx="3108960" cy="45720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050" b="1" i="0" dirty="0">
                <a:solidFill>
                  <a:srgbClr val="3D7DD8"/>
                </a:solidFill>
                <a:latin typeface="Segoe UI"/>
                <a:cs typeface="Segoe UI"/>
              </a:rPr>
              <a:t>Nantes Métropole : 24 communes (EPCI 244400404)</a:t>
            </a:r>
            <a:endParaRPr lang="fr-FR" sz="1050" dirty="0"/>
          </a:p>
        </p:txBody>
      </p:sp>
      <p:sp>
        <p:nvSpPr>
          <p:cNvPr id="14" name="Forme 14"/>
          <p:cNvSpPr/>
          <p:nvPr/>
        </p:nvSpPr>
        <p:spPr>
          <a:xfrm>
            <a:off x="1371600" y="2743200"/>
            <a:ext cx="457200" cy="457200"/>
          </a:xfrm>
          <a:prstGeom prst="rect">
            <a:avLst/>
          </a:prstGeom>
          <a:solidFill>
            <a:srgbClr val="E08E1B"/>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5" name="Forme 15"/>
          <p:cNvSpPr/>
          <p:nvPr/>
        </p:nvSpPr>
        <p:spPr>
          <a:xfrm>
            <a:off x="1938528" y="2743200"/>
            <a:ext cx="457200" cy="457200"/>
          </a:xfrm>
          <a:prstGeom prst="rect">
            <a:avLst/>
          </a:prstGeom>
          <a:solidFill>
            <a:srgbClr val="F5C26B"/>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6" name="Forme 16"/>
          <p:cNvSpPr/>
          <p:nvPr/>
        </p:nvSpPr>
        <p:spPr>
          <a:xfrm>
            <a:off x="2505456" y="2743200"/>
            <a:ext cx="457200" cy="457200"/>
          </a:xfrm>
          <a:prstGeom prst="rect">
            <a:avLst/>
          </a:prstGeom>
          <a:solidFill>
            <a:srgbClr val="F5C26B"/>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7" name="Forme 17"/>
          <p:cNvSpPr/>
          <p:nvPr/>
        </p:nvSpPr>
        <p:spPr>
          <a:xfrm>
            <a:off x="3072384" y="2743200"/>
            <a:ext cx="457200" cy="457200"/>
          </a:xfrm>
          <a:prstGeom prst="rect">
            <a:avLst/>
          </a:prstGeom>
          <a:solidFill>
            <a:srgbClr val="E08E1B"/>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8" name="Forme 18"/>
          <p:cNvSpPr/>
          <p:nvPr/>
        </p:nvSpPr>
        <p:spPr>
          <a:xfrm>
            <a:off x="3639312" y="2743200"/>
            <a:ext cx="457200" cy="457200"/>
          </a:xfrm>
          <a:prstGeom prst="rect">
            <a:avLst/>
          </a:prstGeom>
          <a:solidFill>
            <a:srgbClr val="F5C26B"/>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9" name="Forme 19"/>
          <p:cNvSpPr/>
          <p:nvPr/>
        </p:nvSpPr>
        <p:spPr>
          <a:xfrm>
            <a:off x="1371600" y="3291840"/>
            <a:ext cx="457200" cy="457200"/>
          </a:xfrm>
          <a:prstGeom prst="rect">
            <a:avLst/>
          </a:prstGeom>
          <a:solidFill>
            <a:srgbClr val="F5C26B"/>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20" name="Forme 20"/>
          <p:cNvSpPr/>
          <p:nvPr/>
        </p:nvSpPr>
        <p:spPr>
          <a:xfrm>
            <a:off x="1938528" y="3291840"/>
            <a:ext cx="457200" cy="457200"/>
          </a:xfrm>
          <a:prstGeom prst="rect">
            <a:avLst/>
          </a:prstGeom>
          <a:solidFill>
            <a:srgbClr val="F5C26B"/>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21" name="Forme 21"/>
          <p:cNvSpPr/>
          <p:nvPr/>
        </p:nvSpPr>
        <p:spPr>
          <a:xfrm>
            <a:off x="2505456" y="3291840"/>
            <a:ext cx="457200" cy="457200"/>
          </a:xfrm>
          <a:prstGeom prst="rect">
            <a:avLst/>
          </a:prstGeom>
          <a:solidFill>
            <a:srgbClr val="E08E1B"/>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22" name="Forme 22"/>
          <p:cNvSpPr/>
          <p:nvPr/>
        </p:nvSpPr>
        <p:spPr>
          <a:xfrm>
            <a:off x="3072384" y="3291840"/>
            <a:ext cx="457200" cy="457200"/>
          </a:xfrm>
          <a:prstGeom prst="rect">
            <a:avLst/>
          </a:prstGeom>
          <a:solidFill>
            <a:srgbClr val="F5C26B"/>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23" name="Forme 23"/>
          <p:cNvSpPr/>
          <p:nvPr/>
        </p:nvSpPr>
        <p:spPr>
          <a:xfrm>
            <a:off x="3639312" y="3291840"/>
            <a:ext cx="457200" cy="457200"/>
          </a:xfrm>
          <a:prstGeom prst="rect">
            <a:avLst/>
          </a:prstGeom>
          <a:solidFill>
            <a:srgbClr val="F5C26B"/>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24" name="Forme 24"/>
          <p:cNvSpPr/>
          <p:nvPr/>
        </p:nvSpPr>
        <p:spPr>
          <a:xfrm>
            <a:off x="1371600" y="3840480"/>
            <a:ext cx="457200" cy="457200"/>
          </a:xfrm>
          <a:prstGeom prst="rect">
            <a:avLst/>
          </a:prstGeom>
          <a:solidFill>
            <a:srgbClr val="F5C26B"/>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25" name="Forme 25"/>
          <p:cNvSpPr/>
          <p:nvPr/>
        </p:nvSpPr>
        <p:spPr>
          <a:xfrm>
            <a:off x="1938528" y="3840480"/>
            <a:ext cx="457200" cy="457200"/>
          </a:xfrm>
          <a:prstGeom prst="rect">
            <a:avLst/>
          </a:prstGeom>
          <a:solidFill>
            <a:srgbClr val="E08E1B"/>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26" name="Forme 26"/>
          <p:cNvSpPr/>
          <p:nvPr/>
        </p:nvSpPr>
        <p:spPr>
          <a:xfrm>
            <a:off x="2505456" y="3840480"/>
            <a:ext cx="457200" cy="457200"/>
          </a:xfrm>
          <a:prstGeom prst="rect">
            <a:avLst/>
          </a:prstGeom>
          <a:solidFill>
            <a:srgbClr val="F5C26B"/>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27" name="Forme 27"/>
          <p:cNvSpPr/>
          <p:nvPr/>
        </p:nvSpPr>
        <p:spPr>
          <a:xfrm>
            <a:off x="3072384" y="3840480"/>
            <a:ext cx="457200" cy="457200"/>
          </a:xfrm>
          <a:prstGeom prst="rect">
            <a:avLst/>
          </a:prstGeom>
          <a:solidFill>
            <a:srgbClr val="F5C26B"/>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28" name="Forme 28"/>
          <p:cNvSpPr/>
          <p:nvPr/>
        </p:nvSpPr>
        <p:spPr>
          <a:xfrm>
            <a:off x="3639312" y="3840480"/>
            <a:ext cx="457200" cy="457200"/>
          </a:xfrm>
          <a:prstGeom prst="rect">
            <a:avLst/>
          </a:prstGeom>
          <a:solidFill>
            <a:srgbClr val="E08E1B"/>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29" name="Forme 29"/>
          <p:cNvSpPr/>
          <p:nvPr/>
        </p:nvSpPr>
        <p:spPr>
          <a:xfrm>
            <a:off x="1188720" y="4407408"/>
            <a:ext cx="3291840" cy="2743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endParaRPr lang="fr-FR" sz="1400" dirty="0"/>
          </a:p>
        </p:txBody>
      </p:sp>
      <p:sp>
        <p:nvSpPr>
          <p:cNvPr id="30" name="Forme 30"/>
          <p:cNvSpPr/>
          <p:nvPr/>
        </p:nvSpPr>
        <p:spPr>
          <a:xfrm>
            <a:off x="548640" y="5138928"/>
            <a:ext cx="4572000" cy="45720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000" b="0" i="1" dirty="0">
                <a:solidFill>
                  <a:srgbClr val="5B6573"/>
                </a:solidFill>
                <a:latin typeface="Segoe UI"/>
                <a:cs typeface="Segoe UI"/>
              </a:rPr>
              <a:t>Carreaux de 200 m : rattachés à la commune qui contient leur centre</a:t>
            </a:r>
            <a:endParaRPr lang="fr-FR" sz="1000" dirty="0"/>
          </a:p>
        </p:txBody>
      </p:sp>
      <p:sp>
        <p:nvSpPr>
          <p:cNvPr id="31" name="Forme 31"/>
          <p:cNvSpPr/>
          <p:nvPr/>
        </p:nvSpPr>
        <p:spPr>
          <a:xfrm>
            <a:off x="5349240" y="1371600"/>
            <a:ext cx="6400800" cy="86868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200" b="1" i="0" dirty="0">
                <a:solidFill>
                  <a:srgbClr val="7B61C9"/>
                </a:solidFill>
                <a:latin typeface="Segoe UI"/>
                <a:cs typeface="Segoe UI"/>
              </a:rPr>
              <a:t>Zone</a:t>
            </a:r>
            <a:endParaRPr lang="fr-FR" sz="1200" dirty="0"/>
          </a:p>
          <a:p>
            <a:pPr algn="l">
              <a:lnSpc>
                <a:spcPct val="100000"/>
              </a:lnSpc>
              <a:spcBef>
                <a:spcPts val="100"/>
              </a:spcBef>
              <a:spcAft>
                <a:spcPts val="0"/>
              </a:spcAft>
              <a:buNone/>
            </a:pPr>
            <a:r>
              <a:rPr lang="fr-FR" sz="1050" b="0" i="0" dirty="0">
                <a:solidFill>
                  <a:srgbClr val="0B7A6E"/>
                </a:solidFill>
                <a:latin typeface="Consolas"/>
                <a:cs typeface="Consolas"/>
              </a:rPr>
              <a:t>zone.py › build_zone</a:t>
            </a:r>
            <a:r>
              <a:rPr lang="fr-FR" sz="1050" b="0" i="0" dirty="0">
                <a:solidFill>
                  <a:srgbClr val="1F2933"/>
                </a:solidFill>
                <a:latin typeface="Segoe UI"/>
                <a:cs typeface="Segoe UI"/>
              </a:rPr>
              <a:t> : communes d'ADMIN EXPRESS dont l'EPCI est celui de la ville. Nantes : 24 communes, 689 456 hab. ; Grenoble : 49 communes, 450 608 hab.</a:t>
            </a:r>
            <a:endParaRPr lang="fr-FR" sz="1050" dirty="0"/>
          </a:p>
        </p:txBody>
      </p:sp>
      <p:sp>
        <p:nvSpPr>
          <p:cNvPr id="32" name="Forme 32"/>
          <p:cNvSpPr/>
          <p:nvPr/>
        </p:nvSpPr>
        <p:spPr>
          <a:xfrm>
            <a:off x="5349240" y="2267712"/>
            <a:ext cx="6400800" cy="86868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200" b="1" i="0" dirty="0">
                <a:solidFill>
                  <a:srgbClr val="7B61C9"/>
                </a:solidFill>
                <a:latin typeface="Segoe UI"/>
                <a:cs typeface="Segoe UI"/>
              </a:rPr>
              <a:t>Tampon de 800 m</a:t>
            </a:r>
            <a:endParaRPr lang="fr-FR" sz="1200" dirty="0"/>
          </a:p>
          <a:p>
            <a:pPr algn="l">
              <a:lnSpc>
                <a:spcPct val="100000"/>
              </a:lnSpc>
              <a:spcBef>
                <a:spcPts val="100"/>
              </a:spcBef>
              <a:spcAft>
                <a:spcPts val="0"/>
              </a:spcAft>
              <a:buNone/>
            </a:pPr>
            <a:r>
              <a:rPr lang="fr-FR" sz="1050" b="0" i="0" dirty="0">
                <a:solidFill>
                  <a:srgbClr val="0B7A6E"/>
                </a:solidFill>
                <a:latin typeface="Consolas"/>
                <a:cs typeface="Consolas"/>
              </a:rPr>
              <a:t>zone.py › buffer_area</a:t>
            </a:r>
            <a:r>
              <a:rPr lang="fr-FR" sz="1050" b="0" i="0" dirty="0">
                <a:solidFill>
                  <a:srgbClr val="1F2933"/>
                </a:solidFill>
                <a:latin typeface="Segoe UI"/>
                <a:cs typeface="Segoe UI"/>
              </a:rPr>
              <a:t> (</a:t>
            </a:r>
            <a:r>
              <a:rPr lang="fr-FR" sz="1050" b="0" i="0" dirty="0">
                <a:solidFill>
                  <a:srgbClr val="0B7A6E"/>
                </a:solidFill>
                <a:latin typeface="Consolas"/>
                <a:cs typeface="Consolas"/>
              </a:rPr>
              <a:t>offer.buffer_m = 800</a:t>
            </a:r>
            <a:r>
              <a:rPr lang="fr-FR" sz="1050" b="0" i="0" dirty="0">
                <a:solidFill>
                  <a:srgbClr val="1F2933"/>
                </a:solidFill>
                <a:latin typeface="Segoe UI"/>
                <a:cs typeface="Segoe UI"/>
              </a:rPr>
              <a:t>) : un arrêt juste de l'autre côté de la limite dessert les habitants de la bordure. Colonne </a:t>
            </a:r>
            <a:r>
              <a:rPr lang="fr-FR" sz="1050" b="0" i="0" dirty="0">
                <a:solidFill>
                  <a:srgbClr val="0B7A6E"/>
                </a:solidFill>
                <a:latin typeface="Consolas"/>
                <a:cs typeface="Consolas"/>
              </a:rPr>
              <a:t>dans_zone</a:t>
            </a:r>
            <a:r>
              <a:rPr lang="fr-FR" sz="1050" b="0" i="0" dirty="0">
                <a:solidFill>
                  <a:srgbClr val="1F2933"/>
                </a:solidFill>
                <a:latin typeface="Segoe UI"/>
                <a:cs typeface="Segoe UI"/>
              </a:rPr>
              <a:t> pour les distinguer.</a:t>
            </a:r>
            <a:endParaRPr lang="fr-FR" sz="1050" dirty="0"/>
          </a:p>
        </p:txBody>
      </p:sp>
      <p:sp>
        <p:nvSpPr>
          <p:cNvPr id="33" name="Forme 33"/>
          <p:cNvSpPr/>
          <p:nvPr/>
        </p:nvSpPr>
        <p:spPr>
          <a:xfrm>
            <a:off x="5349240" y="3163824"/>
            <a:ext cx="6400800" cy="86868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200" b="1" i="0" dirty="0">
                <a:solidFill>
                  <a:srgbClr val="7B61C9"/>
                </a:solidFill>
                <a:latin typeface="Segoe UI"/>
                <a:cs typeface="Segoe UI"/>
              </a:rPr>
              <a:t>Carreaux</a:t>
            </a:r>
            <a:endParaRPr lang="fr-FR" sz="1200" dirty="0"/>
          </a:p>
          <a:p>
            <a:pPr algn="l">
              <a:lnSpc>
                <a:spcPct val="100000"/>
              </a:lnSpc>
              <a:spcBef>
                <a:spcPts val="100"/>
              </a:spcBef>
              <a:spcAft>
                <a:spcPts val="0"/>
              </a:spcAft>
              <a:buNone/>
            </a:pPr>
            <a:r>
              <a:rPr lang="fr-FR" sz="1050" b="0" i="0" dirty="0">
                <a:solidFill>
                  <a:srgbClr val="0B7A6E"/>
                </a:solidFill>
                <a:latin typeface="Consolas"/>
                <a:cs typeface="Consolas"/>
              </a:rPr>
              <a:t>population.py › load_filosofi</a:t>
            </a:r>
            <a:r>
              <a:rPr lang="fr-FR" sz="1050" b="0" i="0" dirty="0">
                <a:solidFill>
                  <a:srgbClr val="1F2933"/>
                </a:solidFill>
                <a:latin typeface="Segoe UI"/>
                <a:cs typeface="Segoe UI"/>
              </a:rPr>
              <a:t> : un carreau compte pour la commune qui contient son centre, donc jamais deux fois.</a:t>
            </a:r>
            <a:endParaRPr lang="fr-FR" sz="1050" dirty="0"/>
          </a:p>
        </p:txBody>
      </p:sp>
      <p:sp>
        <p:nvSpPr>
          <p:cNvPr id="34" name="Forme 34"/>
          <p:cNvSpPr/>
          <p:nvPr/>
        </p:nvSpPr>
        <p:spPr>
          <a:xfrm>
            <a:off x="5349240" y="4059936"/>
            <a:ext cx="6400800" cy="86868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200" b="1" i="0" dirty="0">
                <a:solidFill>
                  <a:srgbClr val="7B61C9"/>
                </a:solidFill>
                <a:latin typeface="Segoe UI"/>
                <a:cs typeface="Segoe UI"/>
              </a:rPr>
              <a:t>Réseau piéton</a:t>
            </a:r>
            <a:endParaRPr lang="fr-FR" sz="1200" dirty="0"/>
          </a:p>
          <a:p>
            <a:pPr algn="l">
              <a:lnSpc>
                <a:spcPct val="100000"/>
              </a:lnSpc>
              <a:spcBef>
                <a:spcPts val="100"/>
              </a:spcBef>
              <a:spcAft>
                <a:spcPts val="0"/>
              </a:spcAft>
              <a:buNone/>
            </a:pPr>
            <a:r>
              <a:rPr lang="fr-FR" sz="1050" b="0" i="0" dirty="0">
                <a:solidFill>
                  <a:srgbClr val="0B7A6E"/>
                </a:solidFill>
                <a:latin typeface="Consolas"/>
                <a:cs typeface="Consolas"/>
              </a:rPr>
              <a:t>network.py › load_walk_edges</a:t>
            </a:r>
            <a:r>
              <a:rPr lang="fr-FR" sz="1050" b="0" i="0" dirty="0">
                <a:solidFill>
                  <a:srgbClr val="1F2933"/>
                </a:solidFill>
                <a:latin typeface="Segoe UI"/>
                <a:cs typeface="Segoe UI"/>
              </a:rPr>
              <a:t> : lit le fichier OSM local (couche lines, emprise zone + 800 m) → filtre piéton repris d'osmnx (</a:t>
            </a:r>
            <a:r>
              <a:rPr lang="fr-FR" sz="1050" b="0" i="0" dirty="0">
                <a:solidFill>
                  <a:srgbClr val="0B7A6E"/>
                </a:solidFill>
                <a:latin typeface="Consolas"/>
                <a:cs typeface="Consolas"/>
              </a:rPr>
              <a:t>walkable</a:t>
            </a:r>
            <a:r>
              <a:rPr lang="fr-FR" sz="1050" b="0" i="0" dirty="0">
                <a:solidFill>
                  <a:srgbClr val="1F2933"/>
                </a:solidFill>
                <a:latin typeface="Segoe UI"/>
                <a:cs typeface="Segoe UI"/>
              </a:rPr>
              <a:t>) → découpe aux intersections (</a:t>
            </a:r>
            <a:r>
              <a:rPr lang="fr-FR" sz="1050" b="0" i="0" dirty="0">
                <a:solidFill>
                  <a:srgbClr val="0B7A6E"/>
                </a:solidFill>
                <a:latin typeface="Consolas"/>
                <a:cs typeface="Consolas"/>
              </a:rPr>
              <a:t>split_at_nodes</a:t>
            </a:r>
            <a:r>
              <a:rPr lang="fr-FR" sz="1050" b="0" i="0" dirty="0">
                <a:solidFill>
                  <a:srgbClr val="1F2933"/>
                </a:solidFill>
                <a:latin typeface="Segoe UI"/>
                <a:cs typeface="Segoe UI"/>
              </a:rPr>
              <a:t>) → garde le plus grand réseau connecté (</a:t>
            </a:r>
            <a:r>
              <a:rPr lang="fr-FR" sz="1050" b="0" i="0" dirty="0">
                <a:solidFill>
                  <a:srgbClr val="0B7A6E"/>
                </a:solidFill>
                <a:latin typeface="Consolas"/>
                <a:cs typeface="Consolas"/>
              </a:rPr>
              <a:t>largest_component</a:t>
            </a:r>
            <a:r>
              <a:rPr lang="fr-FR" sz="1050" b="0" i="0" dirty="0">
                <a:solidFill>
                  <a:srgbClr val="1F2933"/>
                </a:solidFill>
                <a:latin typeface="Segoe UI"/>
                <a:cs typeface="Segoe UI"/>
              </a:rPr>
              <a:t>).</a:t>
            </a:r>
            <a:endParaRPr lang="fr-FR" sz="1050" dirty="0"/>
          </a:p>
        </p:txBody>
      </p:sp>
      <p:graphicFrame>
        <p:nvGraphicFramePr>
          <p:cNvPr id="35" name="Tableau 35"/>
          <p:cNvGraphicFramePr>
            <a:graphicFrameLocks noGrp="1"/>
          </p:cNvGraphicFramePr>
          <p:nvPr/>
        </p:nvGraphicFramePr>
        <p:xfrm>
          <a:off x="5349240" y="5166360"/>
          <a:ext cx="4754880" cy="1207008"/>
        </p:xfrm>
        <a:graphic>
          <a:graphicData uri="http://schemas.openxmlformats.org/drawingml/2006/table">
            <a:tbl>
              <a:tblPr firstRow="1" bandRow="1"/>
              <a:tblGrid>
                <a:gridCol w="2377440"/>
                <a:gridCol w="1188720"/>
                <a:gridCol w="1188720"/>
              </a:tblGrid>
              <a:tr h="201168">
                <a:tc>
                  <a:txBody>
                    <a:bodyPr wrap="square" lIns="109728" tIns="54864" rIns="109728" bIns="54864" anchor="t" rtlCol="0">
                      <a:noAutofit/>
                    </a:bodyPr>
                    <a:lstStyle/>
                    <a:p>
                      <a:pPr algn="l">
                        <a:lnSpc>
                          <a:spcPct val="95000"/>
                        </a:lnSpc>
                        <a:spcBef>
                          <a:spcPts val="0"/>
                        </a:spcBef>
                        <a:spcAft>
                          <a:spcPts val="0"/>
                        </a:spcAft>
                        <a:buNone/>
                      </a:pPr>
                      <a:r>
                        <a:rPr lang="fr-FR" sz="900" b="1" i="0" dirty="0">
                          <a:solidFill>
                            <a:srgbClr val="FFFFFF"/>
                          </a:solidFill>
                          <a:latin typeface="Segoe UI"/>
                          <a:cs typeface="Segoe UI"/>
                        </a:rPr>
                        <a:t>Réseau piéton</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7B61C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1" i="0" dirty="0">
                          <a:solidFill>
                            <a:srgbClr val="FFFFFF"/>
                          </a:solidFill>
                          <a:latin typeface="Segoe UI"/>
                          <a:cs typeface="Segoe UI"/>
                        </a:rPr>
                        <a:t>Nantes</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7B61C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1" i="0" dirty="0">
                          <a:solidFill>
                            <a:srgbClr val="FFFFFF"/>
                          </a:solidFill>
                          <a:latin typeface="Segoe UI"/>
                          <a:cs typeface="Segoe UI"/>
                        </a:rPr>
                        <a:t>Grenoble</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7B61C9"/>
                    </a:solidFill>
                  </a:tcPr>
                </a:tc>
              </a:tr>
              <a:tr h="201168">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Voies lues dans OSM</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160 543</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159 783</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r h="201168">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Voies piétonnes gardées</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89 623</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75 221</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r>
              <a:tr h="201168">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Tronçons (arêtes)</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172 891</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141 360</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r h="201168">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Longueur totale</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8 202 km</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7 472 km</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r>
              <a:tr h="201168">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Tronçons isolés écartés</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1 835</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2 225</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bl>
          </a:graphicData>
        </a:graphic>
      </p:graphicFrame>
      <p:sp>
        <p:nvSpPr>
          <p:cNvPr id="36" name="Forme 36"/>
          <p:cNvSpPr/>
          <p:nvPr/>
        </p:nvSpPr>
        <p:spPr>
          <a:xfrm>
            <a:off x="10241280" y="5166360"/>
            <a:ext cx="1508760" cy="12344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50" b="0" i="0" dirty="0">
                <a:solidFill>
                  <a:srgbClr val="5B6573"/>
                </a:solidFill>
                <a:latin typeface="Segoe UI"/>
                <a:cs typeface="Segoe UI"/>
              </a:rPr>
              <a:t>Fichier local, pas l'API Overpass : </a:t>
            </a:r>
            <a:r>
              <a:rPr lang="fr-FR" sz="950" b="1" i="0" dirty="0">
                <a:solidFill>
                  <a:srgbClr val="5B6573"/>
                </a:solidFill>
                <a:latin typeface="Segoe UI"/>
                <a:cs typeface="Segoe UI"/>
              </a:rPr>
              <a:t>hors ligne et reproductible</a:t>
            </a:r>
            <a:r>
              <a:rPr lang="fr-FR" sz="950" b="0" i="0" dirty="0">
                <a:solidFill>
                  <a:srgbClr val="5B6573"/>
                </a:solidFill>
                <a:latin typeface="Segoe UI"/>
                <a:cs typeface="Segoe UI"/>
              </a:rPr>
              <a:t> (date de l'extrait dans </a:t>
            </a:r>
            <a:r>
              <a:rPr lang="fr-FR" sz="950" b="0" i="0" dirty="0">
                <a:solidFill>
                  <a:srgbClr val="0B7A6E"/>
                </a:solidFill>
                <a:latin typeface="Consolas"/>
                <a:cs typeface="Consolas"/>
              </a:rPr>
              <a:t>walk_edges_meta.json</a:t>
            </a:r>
            <a:r>
              <a:rPr lang="fr-FR" sz="950" b="0" i="0" dirty="0">
                <a:solidFill>
                  <a:srgbClr val="5B6573"/>
                </a:solidFill>
                <a:latin typeface="Segoe UI"/>
                <a:cs typeface="Segoe UI"/>
              </a:rPr>
              <a:t>).</a:t>
            </a:r>
            <a:endParaRPr lang="fr-FR"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rme 3"/>
          <p:cNvSpPr/>
          <p:nvPr/>
        </p:nvSpPr>
        <p:spPr>
          <a:xfrm>
            <a:off x="0" y="0"/>
            <a:ext cx="128016" cy="6858000"/>
          </a:xfrm>
          <a:prstGeom prst="rect">
            <a:avLst/>
          </a:prstGeom>
          <a:solidFill>
            <a:srgbClr val="7B61C9"/>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4" name="Forme 4"/>
          <p:cNvSpPr/>
          <p:nvPr/>
        </p:nvSpPr>
        <p:spPr>
          <a:xfrm>
            <a:off x="457200" y="256032"/>
            <a:ext cx="7315200" cy="2743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050" b="1" i="0" dirty="0">
                <a:solidFill>
                  <a:srgbClr val="7B61C9"/>
                </a:solidFill>
                <a:latin typeface="Segoe UI"/>
                <a:cs typeface="Segoe UI"/>
              </a:rPr>
              <a:t>PARTIE 3 · L'EXTRACTION</a:t>
            </a:r>
            <a:endParaRPr lang="fr-FR" sz="1050" dirty="0"/>
          </a:p>
        </p:txBody>
      </p:sp>
      <p:sp>
        <p:nvSpPr>
          <p:cNvPr id="5" name="Forme 5"/>
          <p:cNvSpPr/>
          <p:nvPr/>
        </p:nvSpPr>
        <p:spPr>
          <a:xfrm>
            <a:off x="457200" y="502920"/>
            <a:ext cx="11247120" cy="5486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2500" b="1" i="0" dirty="0">
                <a:solidFill>
                  <a:srgbClr val="14213D"/>
                </a:solidFill>
                <a:latin typeface="Segoe UI"/>
                <a:cs typeface="Segoe UI"/>
              </a:rPr>
              <a:t>Pourquoi le réseau piéton change tout : V1 contre V2</a:t>
            </a:r>
            <a:endParaRPr lang="fr-FR" sz="2500" dirty="0"/>
          </a:p>
        </p:txBody>
      </p:sp>
      <p:sp>
        <p:nvSpPr>
          <p:cNvPr id="6" name="Forme 6"/>
          <p:cNvSpPr/>
          <p:nvPr/>
        </p:nvSpPr>
        <p:spPr>
          <a:xfrm>
            <a:off x="457200" y="987552"/>
            <a:ext cx="11247120" cy="3200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250" b="0" i="0" dirty="0">
                <a:solidFill>
                  <a:srgbClr val="5B6573"/>
                </a:solidFill>
                <a:latin typeface="Segoe UI"/>
                <a:cs typeface="Segoe UI"/>
              </a:rPr>
              <a:t>Même échelle de couleurs ; source : data/processed/nantes/access_comparaison.json.</a:t>
            </a:r>
            <a:endParaRPr lang="fr-FR" sz="1250" dirty="0"/>
          </a:p>
        </p:txBody>
      </p:sp>
      <p:sp>
        <p:nvSpPr>
          <p:cNvPr id="7" name="Forme 7"/>
          <p:cNvSpPr/>
          <p:nvPr/>
        </p:nvSpPr>
        <p:spPr>
          <a:xfrm>
            <a:off x="457200" y="6446520"/>
            <a:ext cx="11274552" cy="10973"/>
          </a:xfrm>
          <a:prstGeom prst="rect">
            <a:avLst/>
          </a:prstGeom>
          <a:solidFill>
            <a:srgbClr val="D5DAE1"/>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8" name="Forme 8"/>
          <p:cNvSpPr/>
          <p:nvPr/>
        </p:nvSpPr>
        <p:spPr>
          <a:xfrm>
            <a:off x="457200" y="6492240"/>
            <a:ext cx="7315200" cy="256032"/>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00" b="0" i="0" dirty="0">
                <a:solidFill>
                  <a:srgbClr val="5B6573"/>
                </a:solidFill>
                <a:latin typeface="Segoe UI"/>
                <a:cs typeface="Segoe UI"/>
              </a:rPr>
              <a:t>Hackathon Mobility × Citiz · Nos données, de A à Z</a:t>
            </a:r>
            <a:endParaRPr lang="fr-FR" sz="900" dirty="0"/>
          </a:p>
        </p:txBody>
      </p:sp>
      <p:sp>
        <p:nvSpPr>
          <p:cNvPr id="9" name="Forme 9"/>
          <p:cNvSpPr/>
          <p:nvPr/>
        </p:nvSpPr>
        <p:spPr>
          <a:xfrm>
            <a:off x="10360152" y="6492240"/>
            <a:ext cx="1371600" cy="256032"/>
          </a:xfrm>
          <a:prstGeom prst="rect">
            <a:avLst/>
          </a:prstGeom>
          <a:noFill/>
          <a:ln>
            <a:noFill/>
          </a:ln>
        </p:spPr>
        <p:txBody>
          <a:bodyPr wrap="square" lIns="18288" tIns="18288" rIns="18288" bIns="18288" anchor="t" rtlCol="0">
            <a:noAutofit/>
          </a:bodyPr>
          <a:lstStyle/>
          <a:p>
            <a:pPr algn="r">
              <a:lnSpc>
                <a:spcPct val="100000"/>
              </a:lnSpc>
              <a:spcBef>
                <a:spcPts val="0"/>
              </a:spcBef>
              <a:spcAft>
                <a:spcPts val="0"/>
              </a:spcAft>
              <a:buNone/>
            </a:pPr>
            <a:r>
              <a:rPr lang="fr-FR" sz="900" b="0" i="0" dirty="0">
                <a:solidFill>
                  <a:srgbClr val="5B6573"/>
                </a:solidFill>
                <a:latin typeface="Segoe UI"/>
                <a:cs typeface="Segoe UI"/>
              </a:rPr>
              <a:t>13</a:t>
            </a:r>
            <a:endParaRPr lang="fr-FR" sz="900" dirty="0"/>
          </a:p>
        </p:txBody>
      </p:sp>
      <p:sp>
        <p:nvSpPr>
          <p:cNvPr id="10" name="Forme 10"/>
          <p:cNvSpPr/>
          <p:nvPr/>
        </p:nvSpPr>
        <p:spPr>
          <a:xfrm>
            <a:off x="457200" y="1371600"/>
            <a:ext cx="3657600" cy="320040"/>
          </a:xfrm>
          <a:prstGeom prst="rect">
            <a:avLst/>
          </a:prstGeom>
          <a:noFill/>
          <a:ln>
            <a:noFill/>
          </a:ln>
        </p:spPr>
        <p:txBody>
          <a:bodyPr wrap="square" lIns="18288" tIns="18288" rIns="18288" bIns="18288" anchor="t" rtlCol="0">
            <a:noAutofit/>
          </a:bodyPr>
          <a:lstStyle/>
          <a:p>
            <a:pPr algn="ctr">
              <a:lnSpc>
                <a:spcPct val="100000"/>
              </a:lnSpc>
              <a:spcBef>
                <a:spcPts val="0"/>
              </a:spcBef>
              <a:spcAft>
                <a:spcPts val="0"/>
              </a:spcAft>
              <a:buNone/>
            </a:pPr>
            <a:r>
              <a:rPr lang="fr-FR" sz="1300" b="1" i="0" dirty="0">
                <a:solidFill>
                  <a:srgbClr val="14213D"/>
                </a:solidFill>
                <a:latin typeface="Segoe UI"/>
                <a:cs typeface="Segoe UI"/>
              </a:rPr>
              <a:t>V1 : 400 m à vol d'oiseau</a:t>
            </a:r>
            <a:endParaRPr lang="fr-FR" sz="1300" dirty="0"/>
          </a:p>
        </p:txBody>
      </p:sp>
      <p:pic>
        <p:nvPicPr>
          <p:cNvPr id="11" name="Image 11"/>
          <p:cNvPicPr>
            <a:picLocks noChangeAspect="1"/>
          </p:cNvPicPr>
          <p:nvPr/>
        </p:nvPicPr>
        <p:blipFill>
          <a:blip r:embed="rId2"/>
          <a:stretch>
            <a:fillRect/>
          </a:stretch>
        </p:blipFill>
        <p:spPr>
          <a:xfrm>
            <a:off x="457200" y="1737360"/>
            <a:ext cx="3657600" cy="3657600"/>
          </a:xfrm>
          <a:prstGeom prst="rect">
            <a:avLst/>
          </a:prstGeom>
          <a:ln w="9525">
            <a:solidFill>
              <a:srgbClr val="D5DAE1"/>
            </a:solidFill>
          </a:ln>
        </p:spPr>
      </p:pic>
      <p:sp>
        <p:nvSpPr>
          <p:cNvPr id="12" name="Forme 12"/>
          <p:cNvSpPr/>
          <p:nvPr/>
        </p:nvSpPr>
        <p:spPr>
          <a:xfrm>
            <a:off x="4297680" y="1371600"/>
            <a:ext cx="3657600" cy="320040"/>
          </a:xfrm>
          <a:prstGeom prst="rect">
            <a:avLst/>
          </a:prstGeom>
          <a:noFill/>
          <a:ln>
            <a:noFill/>
          </a:ln>
        </p:spPr>
        <p:txBody>
          <a:bodyPr wrap="square" lIns="18288" tIns="18288" rIns="18288" bIns="18288" anchor="t" rtlCol="0">
            <a:noAutofit/>
          </a:bodyPr>
          <a:lstStyle/>
          <a:p>
            <a:pPr algn="ctr">
              <a:lnSpc>
                <a:spcPct val="100000"/>
              </a:lnSpc>
              <a:spcBef>
                <a:spcPts val="0"/>
              </a:spcBef>
              <a:spcAft>
                <a:spcPts val="0"/>
              </a:spcAft>
              <a:buNone/>
            </a:pPr>
            <a:r>
              <a:rPr lang="fr-FR" sz="1300" b="1" i="0" dirty="0">
                <a:solidFill>
                  <a:srgbClr val="14213D"/>
                </a:solidFill>
                <a:latin typeface="Segoe UI"/>
                <a:cs typeface="Segoe UI"/>
              </a:rPr>
              <a:t>V2 : 400 m de marche réelle</a:t>
            </a:r>
            <a:endParaRPr lang="fr-FR" sz="1300" dirty="0"/>
          </a:p>
        </p:txBody>
      </p:sp>
      <p:pic>
        <p:nvPicPr>
          <p:cNvPr id="13" name="Image 13"/>
          <p:cNvPicPr>
            <a:picLocks noChangeAspect="1"/>
          </p:cNvPicPr>
          <p:nvPr/>
        </p:nvPicPr>
        <p:blipFill>
          <a:blip r:embed="rId3"/>
          <a:stretch>
            <a:fillRect/>
          </a:stretch>
        </p:blipFill>
        <p:spPr>
          <a:xfrm>
            <a:off x="4297680" y="1737360"/>
            <a:ext cx="3657600" cy="3657600"/>
          </a:xfrm>
          <a:prstGeom prst="rect">
            <a:avLst/>
          </a:prstGeom>
          <a:ln w="9525">
            <a:solidFill>
              <a:srgbClr val="D5DAE1"/>
            </a:solidFill>
          </a:ln>
        </p:spPr>
      </p:pic>
      <p:sp>
        <p:nvSpPr>
          <p:cNvPr id="14" name="Forme 14"/>
          <p:cNvSpPr/>
          <p:nvPr/>
        </p:nvSpPr>
        <p:spPr>
          <a:xfrm>
            <a:off x="8229600" y="1417320"/>
            <a:ext cx="3502152" cy="1097280"/>
          </a:xfrm>
          <a:prstGeom prst="roundRect">
            <a:avLst>
              <a:gd name="adj" fmla="val 8000"/>
            </a:avLst>
          </a:prstGeom>
          <a:solidFill>
            <a:srgbClr val="EEEAF8"/>
          </a:solidFill>
          <a:ln>
            <a:noFill/>
          </a:ln>
        </p:spPr>
        <p:txBody>
          <a:bodyPr wrap="square" lIns="182880" tIns="45720" rIns="137160" bIns="45720" anchor="ctr" rtlCol="0">
            <a:noAutofit/>
          </a:bodyPr>
          <a:lstStyle/>
          <a:p>
            <a:pPr algn="l">
              <a:lnSpc>
                <a:spcPct val="100000"/>
              </a:lnSpc>
              <a:spcBef>
                <a:spcPts val="0"/>
              </a:spcBef>
              <a:spcAft>
                <a:spcPts val="0"/>
              </a:spcAft>
              <a:buNone/>
            </a:pPr>
            <a:r>
              <a:rPr lang="fr-FR" sz="2000" b="1" i="0" dirty="0">
                <a:solidFill>
                  <a:srgbClr val="7B61C9"/>
                </a:solidFill>
                <a:latin typeface="Segoe UI"/>
                <a:cs typeface="Segoe UI"/>
              </a:rPr>
              <a:t>93,3 % → 80,6 %</a:t>
            </a:r>
            <a:endParaRPr lang="fr-FR" sz="2000" dirty="0"/>
          </a:p>
          <a:p>
            <a:pPr algn="l">
              <a:lnSpc>
                <a:spcPct val="100000"/>
              </a:lnSpc>
              <a:spcBef>
                <a:spcPts val="200"/>
              </a:spcBef>
              <a:spcAft>
                <a:spcPts val="0"/>
              </a:spcAft>
              <a:buNone/>
            </a:pPr>
            <a:r>
              <a:rPr lang="fr-FR" sz="1050" b="0" i="0" dirty="0">
                <a:solidFill>
                  <a:srgbClr val="1F2933"/>
                </a:solidFill>
                <a:latin typeface="Segoe UI"/>
                <a:cs typeface="Segoe UI"/>
              </a:rPr>
              <a:t>des Nantais ont au moins une option à 5 min</a:t>
            </a:r>
            <a:endParaRPr lang="fr-FR" sz="1050" dirty="0"/>
          </a:p>
        </p:txBody>
      </p:sp>
      <p:sp>
        <p:nvSpPr>
          <p:cNvPr id="15" name="Forme 15"/>
          <p:cNvSpPr/>
          <p:nvPr/>
        </p:nvSpPr>
        <p:spPr>
          <a:xfrm>
            <a:off x="8229600" y="2633472"/>
            <a:ext cx="3502152" cy="1097280"/>
          </a:xfrm>
          <a:prstGeom prst="roundRect">
            <a:avLst>
              <a:gd name="adj" fmla="val 8000"/>
            </a:avLst>
          </a:prstGeom>
          <a:solidFill>
            <a:srgbClr val="EEEAF8"/>
          </a:solidFill>
          <a:ln>
            <a:noFill/>
          </a:ln>
        </p:spPr>
        <p:txBody>
          <a:bodyPr wrap="square" lIns="182880" tIns="45720" rIns="137160" bIns="45720" anchor="ctr" rtlCol="0">
            <a:noAutofit/>
          </a:bodyPr>
          <a:lstStyle/>
          <a:p>
            <a:pPr algn="l">
              <a:lnSpc>
                <a:spcPct val="100000"/>
              </a:lnSpc>
              <a:spcBef>
                <a:spcPts val="0"/>
              </a:spcBef>
              <a:spcAft>
                <a:spcPts val="0"/>
              </a:spcAft>
              <a:buNone/>
            </a:pPr>
            <a:r>
              <a:rPr lang="fr-FR" sz="2000" b="1" i="0" dirty="0">
                <a:solidFill>
                  <a:srgbClr val="7B61C9"/>
                </a:solidFill>
                <a:latin typeface="Segoe UI"/>
                <a:cs typeface="Segoe UI"/>
              </a:rPr>
              <a:t>9,05 → 4,68</a:t>
            </a:r>
            <a:endParaRPr lang="fr-FR" sz="2000" dirty="0"/>
          </a:p>
          <a:p>
            <a:pPr algn="l">
              <a:lnSpc>
                <a:spcPct val="100000"/>
              </a:lnSpc>
              <a:spcBef>
                <a:spcPts val="200"/>
              </a:spcBef>
              <a:spcAft>
                <a:spcPts val="0"/>
              </a:spcAft>
              <a:buNone/>
            </a:pPr>
            <a:r>
              <a:rPr lang="fr-FR" sz="1050" b="0" i="0" dirty="0">
                <a:solidFill>
                  <a:srgbClr val="1F2933"/>
                </a:solidFill>
                <a:latin typeface="Segoe UI"/>
                <a:cs typeface="Segoe UI"/>
              </a:rPr>
              <a:t>options par habitant : la V1 surestime de 93 % (Grenoble : 80 %)</a:t>
            </a:r>
            <a:endParaRPr lang="fr-FR" sz="1050" dirty="0"/>
          </a:p>
        </p:txBody>
      </p:sp>
      <p:sp>
        <p:nvSpPr>
          <p:cNvPr id="16" name="Forme 16"/>
          <p:cNvSpPr/>
          <p:nvPr/>
        </p:nvSpPr>
        <p:spPr>
          <a:xfrm>
            <a:off x="8229600" y="3849624"/>
            <a:ext cx="3502152" cy="1097280"/>
          </a:xfrm>
          <a:prstGeom prst="roundRect">
            <a:avLst>
              <a:gd name="adj" fmla="val 8000"/>
            </a:avLst>
          </a:prstGeom>
          <a:solidFill>
            <a:srgbClr val="EEEAF8"/>
          </a:solidFill>
          <a:ln>
            <a:noFill/>
          </a:ln>
        </p:spPr>
        <p:txBody>
          <a:bodyPr wrap="square" lIns="182880" tIns="45720" rIns="137160" bIns="45720" anchor="ctr" rtlCol="0">
            <a:noAutofit/>
          </a:bodyPr>
          <a:lstStyle/>
          <a:p>
            <a:pPr algn="l">
              <a:lnSpc>
                <a:spcPct val="100000"/>
              </a:lnSpc>
              <a:spcBef>
                <a:spcPts val="0"/>
              </a:spcBef>
              <a:spcAft>
                <a:spcPts val="0"/>
              </a:spcAft>
              <a:buNone/>
            </a:pPr>
            <a:r>
              <a:rPr lang="fr-FR" sz="2000" b="1" i="0" dirty="0">
                <a:solidFill>
                  <a:srgbClr val="7B61C9"/>
                </a:solidFill>
                <a:latin typeface="Segoe UI"/>
                <a:cs typeface="Segoe UI"/>
              </a:rPr>
              <a:t>87 591</a:t>
            </a:r>
            <a:endParaRPr lang="fr-FR" sz="2000" dirty="0"/>
          </a:p>
          <a:p>
            <a:pPr algn="l">
              <a:lnSpc>
                <a:spcPct val="100000"/>
              </a:lnSpc>
              <a:spcBef>
                <a:spcPts val="200"/>
              </a:spcBef>
              <a:spcAft>
                <a:spcPts val="0"/>
              </a:spcAft>
              <a:buNone/>
            </a:pPr>
            <a:r>
              <a:rPr lang="fr-FR" sz="1050" b="0" i="0" dirty="0">
                <a:solidFill>
                  <a:srgbClr val="1F2933"/>
                </a:solidFill>
                <a:latin typeface="Segoe UI"/>
                <a:cs typeface="Segoe UI"/>
              </a:rPr>
              <a:t>habitants « couverts » à vol d'oiseau mais pas à pied</a:t>
            </a:r>
            <a:endParaRPr lang="fr-FR" sz="1050" dirty="0"/>
          </a:p>
        </p:txBody>
      </p:sp>
      <p:sp>
        <p:nvSpPr>
          <p:cNvPr id="17" name="Forme 17"/>
          <p:cNvSpPr/>
          <p:nvPr/>
        </p:nvSpPr>
        <p:spPr>
          <a:xfrm>
            <a:off x="8229600" y="5065776"/>
            <a:ext cx="3502152" cy="1097280"/>
          </a:xfrm>
          <a:prstGeom prst="roundRect">
            <a:avLst>
              <a:gd name="adj" fmla="val 8000"/>
            </a:avLst>
          </a:prstGeom>
          <a:solidFill>
            <a:srgbClr val="EEEAF8"/>
          </a:solidFill>
          <a:ln>
            <a:noFill/>
          </a:ln>
        </p:spPr>
        <p:txBody>
          <a:bodyPr wrap="square" lIns="182880" tIns="45720" rIns="137160" bIns="45720" anchor="ctr" rtlCol="0">
            <a:noAutofit/>
          </a:bodyPr>
          <a:lstStyle/>
          <a:p>
            <a:pPr algn="l">
              <a:lnSpc>
                <a:spcPct val="100000"/>
              </a:lnSpc>
              <a:spcBef>
                <a:spcPts val="0"/>
              </a:spcBef>
              <a:spcAft>
                <a:spcPts val="0"/>
              </a:spcAft>
              <a:buNone/>
            </a:pPr>
            <a:r>
              <a:rPr lang="fr-FR" sz="2000" b="1" i="0" dirty="0">
                <a:solidFill>
                  <a:srgbClr val="7B61C9"/>
                </a:solidFill>
                <a:latin typeface="Segoe UI"/>
                <a:cs typeface="Segoe UI"/>
              </a:rPr>
              <a:t>11,8 % → 7,5 %</a:t>
            </a:r>
            <a:endParaRPr lang="fr-FR" sz="2000" dirty="0"/>
          </a:p>
          <a:p>
            <a:pPr algn="l">
              <a:lnSpc>
                <a:spcPct val="100000"/>
              </a:lnSpc>
              <a:spcBef>
                <a:spcPts val="200"/>
              </a:spcBef>
              <a:spcAft>
                <a:spcPts val="0"/>
              </a:spcAft>
              <a:buNone/>
            </a:pPr>
            <a:r>
              <a:rPr lang="fr-FR" sz="1050" b="0" i="0" dirty="0">
                <a:solidFill>
                  <a:srgbClr val="1F2933"/>
                </a:solidFill>
                <a:latin typeface="Segoe UI"/>
                <a:cs typeface="Segoe UI"/>
              </a:rPr>
              <a:t>des Nantais à 5 min d'une station Citiz</a:t>
            </a:r>
            <a:endParaRPr lang="fr-FR"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rme 3"/>
          <p:cNvSpPr/>
          <p:nvPr/>
        </p:nvSpPr>
        <p:spPr>
          <a:xfrm>
            <a:off x="0" y="0"/>
            <a:ext cx="128016" cy="6858000"/>
          </a:xfrm>
          <a:prstGeom prst="rect">
            <a:avLst/>
          </a:prstGeom>
          <a:solidFill>
            <a:srgbClr val="7B61C9"/>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4" name="Forme 4"/>
          <p:cNvSpPr/>
          <p:nvPr/>
        </p:nvSpPr>
        <p:spPr>
          <a:xfrm>
            <a:off x="457200" y="256032"/>
            <a:ext cx="7315200" cy="2743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050" b="1" i="0" dirty="0">
                <a:solidFill>
                  <a:srgbClr val="7B61C9"/>
                </a:solidFill>
                <a:latin typeface="Segoe UI"/>
                <a:cs typeface="Segoe UI"/>
              </a:rPr>
              <a:t>PARTIE 3 · L'EXTRACTION</a:t>
            </a:r>
            <a:endParaRPr lang="fr-FR" sz="1050" dirty="0"/>
          </a:p>
        </p:txBody>
      </p:sp>
      <p:sp>
        <p:nvSpPr>
          <p:cNvPr id="5" name="Forme 5"/>
          <p:cNvSpPr/>
          <p:nvPr/>
        </p:nvSpPr>
        <p:spPr>
          <a:xfrm>
            <a:off x="457200" y="502920"/>
            <a:ext cx="11247120" cy="5486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2500" b="1" i="0" dirty="0">
                <a:solidFill>
                  <a:srgbClr val="14213D"/>
                </a:solidFill>
                <a:latin typeface="Segoe UI"/>
                <a:cs typeface="Segoe UI"/>
              </a:rPr>
              <a:t>Reprise automatique, fichiers .part et manifeste</a:t>
            </a:r>
            <a:endParaRPr lang="fr-FR" sz="2500" dirty="0"/>
          </a:p>
        </p:txBody>
      </p:sp>
      <p:sp>
        <p:nvSpPr>
          <p:cNvPr id="6" name="Forme 6"/>
          <p:cNvSpPr/>
          <p:nvPr/>
        </p:nvSpPr>
        <p:spPr>
          <a:xfrm>
            <a:off x="457200" y="987552"/>
            <a:ext cx="11247120" cy="3200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250" b="0" i="0" dirty="0">
                <a:solidFill>
                  <a:srgbClr val="5B6573"/>
                </a:solidFill>
                <a:latin typeface="Segoe UI"/>
                <a:cs typeface="Segoe UI"/>
              </a:rPr>
              <a:t>Un téléchargement coupé ne laisse jamais un fichier à moitié écrit, et chaque fichier garde sa trace.</a:t>
            </a:r>
            <a:endParaRPr lang="fr-FR" sz="1250" dirty="0"/>
          </a:p>
        </p:txBody>
      </p:sp>
      <p:sp>
        <p:nvSpPr>
          <p:cNvPr id="7" name="Forme 7"/>
          <p:cNvSpPr/>
          <p:nvPr/>
        </p:nvSpPr>
        <p:spPr>
          <a:xfrm>
            <a:off x="457200" y="6446520"/>
            <a:ext cx="11274552" cy="10973"/>
          </a:xfrm>
          <a:prstGeom prst="rect">
            <a:avLst/>
          </a:prstGeom>
          <a:solidFill>
            <a:srgbClr val="D5DAE1"/>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8" name="Forme 8"/>
          <p:cNvSpPr/>
          <p:nvPr/>
        </p:nvSpPr>
        <p:spPr>
          <a:xfrm>
            <a:off x="457200" y="6492240"/>
            <a:ext cx="7315200" cy="256032"/>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00" b="0" i="0" dirty="0">
                <a:solidFill>
                  <a:srgbClr val="5B6573"/>
                </a:solidFill>
                <a:latin typeface="Segoe UI"/>
                <a:cs typeface="Segoe UI"/>
              </a:rPr>
              <a:t>Hackathon Mobility × Citiz · Nos données, de A à Z</a:t>
            </a:r>
            <a:endParaRPr lang="fr-FR" sz="900" dirty="0"/>
          </a:p>
        </p:txBody>
      </p:sp>
      <p:sp>
        <p:nvSpPr>
          <p:cNvPr id="9" name="Forme 9"/>
          <p:cNvSpPr/>
          <p:nvPr/>
        </p:nvSpPr>
        <p:spPr>
          <a:xfrm>
            <a:off x="10360152" y="6492240"/>
            <a:ext cx="1371600" cy="256032"/>
          </a:xfrm>
          <a:prstGeom prst="rect">
            <a:avLst/>
          </a:prstGeom>
          <a:noFill/>
          <a:ln>
            <a:noFill/>
          </a:ln>
        </p:spPr>
        <p:txBody>
          <a:bodyPr wrap="square" lIns="18288" tIns="18288" rIns="18288" bIns="18288" anchor="t" rtlCol="0">
            <a:noAutofit/>
          </a:bodyPr>
          <a:lstStyle/>
          <a:p>
            <a:pPr algn="r">
              <a:lnSpc>
                <a:spcPct val="100000"/>
              </a:lnSpc>
              <a:spcBef>
                <a:spcPts val="0"/>
              </a:spcBef>
              <a:spcAft>
                <a:spcPts val="0"/>
              </a:spcAft>
              <a:buNone/>
            </a:pPr>
            <a:r>
              <a:rPr lang="fr-FR" sz="900" b="0" i="0" dirty="0">
                <a:solidFill>
                  <a:srgbClr val="5B6573"/>
                </a:solidFill>
                <a:latin typeface="Segoe UI"/>
                <a:cs typeface="Segoe UI"/>
              </a:rPr>
              <a:t>14</a:t>
            </a:r>
            <a:endParaRPr lang="fr-FR" sz="900" dirty="0"/>
          </a:p>
        </p:txBody>
      </p:sp>
      <p:sp>
        <p:nvSpPr>
          <p:cNvPr id="10" name="Forme 10"/>
          <p:cNvSpPr/>
          <p:nvPr/>
        </p:nvSpPr>
        <p:spPr>
          <a:xfrm>
            <a:off x="457200" y="1371600"/>
            <a:ext cx="3611880" cy="3429000"/>
          </a:xfrm>
          <a:prstGeom prst="roundRect">
            <a:avLst>
              <a:gd name="adj" fmla="val 4000"/>
            </a:avLst>
          </a:prstGeom>
          <a:solidFill>
            <a:srgbClr val="EEEAF8"/>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1" name="Forme 11"/>
          <p:cNvSpPr/>
          <p:nvPr/>
        </p:nvSpPr>
        <p:spPr>
          <a:xfrm>
            <a:off x="457200" y="1371600"/>
            <a:ext cx="64008" cy="3429000"/>
          </a:xfrm>
          <a:prstGeom prst="rect">
            <a:avLst/>
          </a:prstGeom>
          <a:solidFill>
            <a:srgbClr val="7B61C9"/>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2" name="Forme 12"/>
          <p:cNvSpPr/>
          <p:nvPr/>
        </p:nvSpPr>
        <p:spPr>
          <a:xfrm>
            <a:off x="640080" y="1463040"/>
            <a:ext cx="3319272" cy="32918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300"/>
              </a:spcAft>
              <a:buNone/>
            </a:pPr>
            <a:r>
              <a:rPr lang="fr-FR" sz="1300" b="1" i="0" dirty="0">
                <a:solidFill>
                  <a:srgbClr val="7B61C9"/>
                </a:solidFill>
                <a:latin typeface="Segoe UI"/>
                <a:cs typeface="Segoe UI"/>
              </a:rPr>
              <a:t>Reprise automatique</a:t>
            </a:r>
            <a:endParaRPr lang="fr-FR" sz="1300" dirty="0"/>
          </a:p>
          <a:p>
            <a:pPr algn="l">
              <a:lnSpc>
                <a:spcPct val="100000"/>
              </a:lnSpc>
              <a:spcBef>
                <a:spcPts val="600"/>
              </a:spcBef>
              <a:spcAft>
                <a:spcPts val="0"/>
              </a:spcAft>
              <a:buNone/>
            </a:pPr>
            <a:r>
              <a:rPr lang="fr-FR" sz="1200" b="0" i="0" dirty="0">
                <a:solidFill>
                  <a:srgbClr val="0B7A6E"/>
                </a:solidFill>
                <a:latin typeface="Consolas"/>
                <a:cs typeface="Consolas"/>
              </a:rPr>
              <a:t>download()</a:t>
            </a:r>
            <a:r>
              <a:rPr lang="fr-FR" sz="1200" b="0" i="0" dirty="0">
                <a:solidFill>
                  <a:srgbClr val="1F2933"/>
                </a:solidFill>
                <a:latin typeface="Segoe UI"/>
                <a:cs typeface="Segoe UI"/>
              </a:rPr>
              <a:t> saute tout fichier </a:t>
            </a:r>
            <a:r>
              <a:rPr lang="fr-FR" sz="1200" b="1" i="0" dirty="0">
                <a:solidFill>
                  <a:srgbClr val="1F2933"/>
                </a:solidFill>
                <a:latin typeface="Segoe UI"/>
                <a:cs typeface="Segoe UI"/>
              </a:rPr>
              <a:t>déjà présent et non vide</a:t>
            </a:r>
            <a:r>
              <a:rPr lang="fr-FR" sz="1200" b="0" i="0" dirty="0">
                <a:solidFill>
                  <a:srgbClr val="1F2933"/>
                </a:solidFill>
                <a:latin typeface="Segoe UI"/>
                <a:cs typeface="Segoe UI"/>
              </a:rPr>
              <a:t> (statut </a:t>
            </a:r>
            <a:r>
              <a:rPr lang="fr-FR" sz="1200" b="0" i="0" dirty="0">
                <a:solidFill>
                  <a:srgbClr val="0B7A6E"/>
                </a:solidFill>
                <a:latin typeface="Consolas"/>
                <a:cs typeface="Consolas"/>
              </a:rPr>
              <a:t>deja_present</a:t>
            </a:r>
            <a:r>
              <a:rPr lang="fr-FR" sz="1200" b="0" i="0" dirty="0">
                <a:solidFill>
                  <a:srgbClr val="1F2933"/>
                </a:solidFill>
                <a:latin typeface="Segoe UI"/>
                <a:cs typeface="Segoe UI"/>
              </a:rPr>
              <a:t>).</a:t>
            </a:r>
            <a:endParaRPr lang="fr-FR" sz="1200" dirty="0"/>
          </a:p>
          <a:p>
            <a:pPr algn="l">
              <a:lnSpc>
                <a:spcPct val="100000"/>
              </a:lnSpc>
              <a:spcBef>
                <a:spcPts val="600"/>
              </a:spcBef>
              <a:spcAft>
                <a:spcPts val="0"/>
              </a:spcAft>
              <a:buNone/>
            </a:pPr>
            <a:r>
              <a:rPr lang="fr-FR" sz="1200" b="0" i="0" dirty="0">
                <a:solidFill>
                  <a:srgbClr val="1F2933"/>
                </a:solidFill>
                <a:latin typeface="Segoe UI"/>
                <a:cs typeface="Segoe UI"/>
              </a:rPr>
              <a:t>Coupure ou Ctrl+C : le script affiche « relance la même commande pour reprendre ».</a:t>
            </a:r>
            <a:endParaRPr lang="fr-FR" sz="1200" dirty="0"/>
          </a:p>
          <a:p>
            <a:pPr algn="l">
              <a:lnSpc>
                <a:spcPct val="100000"/>
              </a:lnSpc>
              <a:spcBef>
                <a:spcPts val="600"/>
              </a:spcBef>
              <a:spcAft>
                <a:spcPts val="0"/>
              </a:spcAft>
              <a:buNone/>
            </a:pPr>
            <a:r>
              <a:rPr lang="fr-FR" sz="1200" b="0" i="0" dirty="0">
                <a:solidFill>
                  <a:srgbClr val="1F2933"/>
                </a:solidFill>
                <a:latin typeface="Segoe UI"/>
                <a:cs typeface="Segoe UI"/>
              </a:rPr>
              <a:t>Les fichiers déjà là ne sont pas retéléchargés : on reprend où on s'était arrêté.</a:t>
            </a:r>
            <a:endParaRPr lang="fr-FR" sz="1200" dirty="0"/>
          </a:p>
        </p:txBody>
      </p:sp>
      <p:sp>
        <p:nvSpPr>
          <p:cNvPr id="13" name="Forme 13"/>
          <p:cNvSpPr/>
          <p:nvPr/>
        </p:nvSpPr>
        <p:spPr>
          <a:xfrm>
            <a:off x="4288536" y="1371600"/>
            <a:ext cx="3611880" cy="3429000"/>
          </a:xfrm>
          <a:prstGeom prst="roundRect">
            <a:avLst>
              <a:gd name="adj" fmla="val 4000"/>
            </a:avLst>
          </a:prstGeom>
          <a:solidFill>
            <a:srgbClr val="E6EFFB"/>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4" name="Forme 14"/>
          <p:cNvSpPr/>
          <p:nvPr/>
        </p:nvSpPr>
        <p:spPr>
          <a:xfrm>
            <a:off x="4288536" y="1371600"/>
            <a:ext cx="64008" cy="3429000"/>
          </a:xfrm>
          <a:prstGeom prst="rect">
            <a:avLst/>
          </a:prstGeom>
          <a:solidFill>
            <a:srgbClr val="3D7DD8"/>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5" name="Forme 15"/>
          <p:cNvSpPr/>
          <p:nvPr/>
        </p:nvSpPr>
        <p:spPr>
          <a:xfrm>
            <a:off x="4471416" y="1463040"/>
            <a:ext cx="3319272" cy="32918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300"/>
              </a:spcAft>
              <a:buNone/>
            </a:pPr>
            <a:r>
              <a:rPr lang="fr-FR" sz="1300" b="1" i="0" dirty="0">
                <a:solidFill>
                  <a:srgbClr val="3D7DD8"/>
                </a:solidFill>
                <a:latin typeface="Segoe UI"/>
                <a:cs typeface="Segoe UI"/>
              </a:rPr>
              <a:t>Fichiers .part</a:t>
            </a:r>
            <a:endParaRPr lang="fr-FR" sz="1300" dirty="0"/>
          </a:p>
          <a:p>
            <a:pPr algn="l">
              <a:lnSpc>
                <a:spcPct val="100000"/>
              </a:lnSpc>
              <a:spcBef>
                <a:spcPts val="600"/>
              </a:spcBef>
              <a:spcAft>
                <a:spcPts val="0"/>
              </a:spcAft>
              <a:buNone/>
            </a:pPr>
            <a:r>
              <a:rPr lang="fr-FR" sz="1200" b="0" i="0" dirty="0">
                <a:solidFill>
                  <a:srgbClr val="1F2933"/>
                </a:solidFill>
                <a:latin typeface="Segoe UI"/>
                <a:cs typeface="Segoe UI"/>
              </a:rPr>
              <a:t>Le téléchargement s'écrit dans </a:t>
            </a:r>
            <a:r>
              <a:rPr lang="fr-FR" sz="1200" b="0" i="0" dirty="0">
                <a:solidFill>
                  <a:srgbClr val="0B7A6E"/>
                </a:solidFill>
                <a:latin typeface="Consolas"/>
                <a:cs typeface="Consolas"/>
              </a:rPr>
              <a:t>fichier.zip.part</a:t>
            </a:r>
            <a:r>
              <a:rPr lang="fr-FR" sz="1200" b="0" i="0" dirty="0">
                <a:solidFill>
                  <a:srgbClr val="1F2933"/>
                </a:solidFill>
                <a:latin typeface="Segoe UI"/>
                <a:cs typeface="Segoe UI"/>
              </a:rPr>
              <a:t>.</a:t>
            </a:r>
            <a:endParaRPr lang="fr-FR" sz="1200" dirty="0"/>
          </a:p>
          <a:p>
            <a:pPr algn="l">
              <a:lnSpc>
                <a:spcPct val="100000"/>
              </a:lnSpc>
              <a:spcBef>
                <a:spcPts val="600"/>
              </a:spcBef>
              <a:spcAft>
                <a:spcPts val="0"/>
              </a:spcAft>
              <a:buNone/>
            </a:pPr>
            <a:r>
              <a:rPr lang="fr-FR" sz="1200" b="0" i="0" dirty="0">
                <a:solidFill>
                  <a:srgbClr val="1F2933"/>
                </a:solidFill>
                <a:latin typeface="Segoe UI"/>
                <a:cs typeface="Segoe UI"/>
              </a:rPr>
              <a:t>Il est renommé en </a:t>
            </a:r>
            <a:r>
              <a:rPr lang="fr-FR" sz="1200" b="0" i="0" dirty="0">
                <a:solidFill>
                  <a:srgbClr val="0B7A6E"/>
                </a:solidFill>
                <a:latin typeface="Consolas"/>
                <a:cs typeface="Consolas"/>
              </a:rPr>
              <a:t>fichier.zip</a:t>
            </a:r>
            <a:r>
              <a:rPr lang="fr-FR" sz="1200" b="0" i="0" dirty="0">
                <a:solidFill>
                  <a:srgbClr val="1F2933"/>
                </a:solidFill>
                <a:latin typeface="Segoe UI"/>
                <a:cs typeface="Segoe UI"/>
              </a:rPr>
              <a:t> </a:t>
            </a:r>
            <a:r>
              <a:rPr lang="fr-FR" sz="1200" b="1" i="0" dirty="0">
                <a:solidFill>
                  <a:srgbClr val="1F2933"/>
                </a:solidFill>
                <a:latin typeface="Segoe UI"/>
                <a:cs typeface="Segoe UI"/>
              </a:rPr>
              <a:t>seulement s'il est complet</a:t>
            </a:r>
            <a:r>
              <a:rPr lang="fr-FR" sz="1200" b="0" i="0" dirty="0">
                <a:solidFill>
                  <a:srgbClr val="1F2933"/>
                </a:solidFill>
                <a:latin typeface="Segoe UI"/>
                <a:cs typeface="Segoe UI"/>
              </a:rPr>
              <a:t> (</a:t>
            </a:r>
            <a:r>
              <a:rPr lang="fr-FR" sz="1200" b="0" i="0" dirty="0">
                <a:solidFill>
                  <a:srgbClr val="0B7A6E"/>
                </a:solidFill>
                <a:latin typeface="Consolas"/>
                <a:cs typeface="Consolas"/>
              </a:rPr>
              <a:t>tmp.replace(dest)</a:t>
            </a:r>
            <a:r>
              <a:rPr lang="fr-FR" sz="1200" b="0" i="0" dirty="0">
                <a:solidFill>
                  <a:srgbClr val="1F2933"/>
                </a:solidFill>
                <a:latin typeface="Segoe UI"/>
                <a:cs typeface="Segoe UI"/>
              </a:rPr>
              <a:t>, opération atomique).</a:t>
            </a:r>
            <a:endParaRPr lang="fr-FR" sz="1200" dirty="0"/>
          </a:p>
          <a:p>
            <a:pPr algn="l">
              <a:lnSpc>
                <a:spcPct val="100000"/>
              </a:lnSpc>
              <a:spcBef>
                <a:spcPts val="600"/>
              </a:spcBef>
              <a:spcAft>
                <a:spcPts val="0"/>
              </a:spcAft>
              <a:buNone/>
            </a:pPr>
            <a:r>
              <a:rPr lang="fr-FR" sz="1200" b="0" i="0" dirty="0">
                <a:solidFill>
                  <a:srgbClr val="1F2933"/>
                </a:solidFill>
                <a:latin typeface="Segoe UI"/>
                <a:cs typeface="Segoe UI"/>
              </a:rPr>
              <a:t>3 essais (pause de 2 s puis 4 s) ; en cas d'échec, le </a:t>
            </a:r>
            <a:r>
              <a:rPr lang="fr-FR" sz="1200" b="0" i="0" dirty="0">
                <a:solidFill>
                  <a:srgbClr val="0B7A6E"/>
                </a:solidFill>
                <a:latin typeface="Consolas"/>
                <a:cs typeface="Consolas"/>
              </a:rPr>
              <a:t>.part</a:t>
            </a:r>
            <a:r>
              <a:rPr lang="fr-FR" sz="1200" b="0" i="0" dirty="0">
                <a:solidFill>
                  <a:srgbClr val="1F2933"/>
                </a:solidFill>
                <a:latin typeface="Segoe UI"/>
                <a:cs typeface="Segoe UI"/>
              </a:rPr>
              <a:t> est supprimé et l'erreur notée.</a:t>
            </a:r>
            <a:endParaRPr lang="fr-FR" sz="1200" dirty="0"/>
          </a:p>
          <a:p>
            <a:pPr algn="l">
              <a:lnSpc>
                <a:spcPct val="100000"/>
              </a:lnSpc>
              <a:spcBef>
                <a:spcPts val="600"/>
              </a:spcBef>
              <a:spcAft>
                <a:spcPts val="0"/>
              </a:spcAft>
              <a:buNone/>
            </a:pPr>
            <a:r>
              <a:rPr lang="fr-FR" sz="1200" b="0" i="0" dirty="0">
                <a:solidFill>
                  <a:srgbClr val="0B7A6E"/>
                </a:solidFill>
                <a:latin typeface="Consolas"/>
                <a:cs typeface="Consolas"/>
              </a:rPr>
              <a:t>*.part</a:t>
            </a:r>
            <a:r>
              <a:rPr lang="fr-FR" sz="1200" b="0" i="0" dirty="0">
                <a:solidFill>
                  <a:srgbClr val="5B6573"/>
                </a:solidFill>
                <a:latin typeface="Segoe UI"/>
                <a:cs typeface="Segoe UI"/>
              </a:rPr>
              <a:t> est ignoré par Git.</a:t>
            </a:r>
            <a:endParaRPr lang="fr-FR" sz="1200" dirty="0"/>
          </a:p>
        </p:txBody>
      </p:sp>
      <p:sp>
        <p:nvSpPr>
          <p:cNvPr id="16" name="Forme 16"/>
          <p:cNvSpPr/>
          <p:nvPr/>
        </p:nvSpPr>
        <p:spPr>
          <a:xfrm>
            <a:off x="8119872" y="1371600"/>
            <a:ext cx="3611880" cy="3429000"/>
          </a:xfrm>
          <a:prstGeom prst="roundRect">
            <a:avLst>
              <a:gd name="adj" fmla="val 4000"/>
            </a:avLst>
          </a:prstGeom>
          <a:solidFill>
            <a:srgbClr val="E3F4F2"/>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7" name="Forme 17"/>
          <p:cNvSpPr/>
          <p:nvPr/>
        </p:nvSpPr>
        <p:spPr>
          <a:xfrm>
            <a:off x="8119872" y="1371600"/>
            <a:ext cx="64008" cy="3429000"/>
          </a:xfrm>
          <a:prstGeom prst="rect">
            <a:avLst/>
          </a:prstGeom>
          <a:solidFill>
            <a:srgbClr val="0E9F8E"/>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8" name="Forme 18"/>
          <p:cNvSpPr/>
          <p:nvPr/>
        </p:nvSpPr>
        <p:spPr>
          <a:xfrm>
            <a:off x="8302752" y="1463040"/>
            <a:ext cx="3319272" cy="32918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300"/>
              </a:spcAft>
              <a:buNone/>
            </a:pPr>
            <a:r>
              <a:rPr lang="fr-FR" sz="1300" b="1" i="0" dirty="0">
                <a:solidFill>
                  <a:srgbClr val="0E9F8E"/>
                </a:solidFill>
                <a:latin typeface="Segoe UI"/>
                <a:cs typeface="Segoe UI"/>
              </a:rPr>
              <a:t>Manifeste</a:t>
            </a:r>
            <a:endParaRPr lang="fr-FR" sz="1300" dirty="0"/>
          </a:p>
          <a:p>
            <a:pPr algn="l">
              <a:lnSpc>
                <a:spcPct val="100000"/>
              </a:lnSpc>
              <a:spcBef>
                <a:spcPts val="600"/>
              </a:spcBef>
              <a:spcAft>
                <a:spcPts val="0"/>
              </a:spcAft>
              <a:buNone/>
            </a:pPr>
            <a:r>
              <a:rPr lang="fr-FR" sz="1200" b="0" i="0" dirty="0">
                <a:solidFill>
                  <a:srgbClr val="0B7A6E"/>
                </a:solidFill>
                <a:latin typeface="Consolas"/>
                <a:cs typeface="Consolas"/>
              </a:rPr>
              <a:t>write_outputs()</a:t>
            </a:r>
            <a:r>
              <a:rPr lang="fr-FR" sz="1200" b="0" i="0" dirty="0">
                <a:solidFill>
                  <a:srgbClr val="1F2933"/>
                </a:solidFill>
                <a:latin typeface="Segoe UI"/>
                <a:cs typeface="Segoe UI"/>
              </a:rPr>
              <a:t> écrit </a:t>
            </a:r>
            <a:r>
              <a:rPr lang="fr-FR" sz="1200" b="0" i="0" dirty="0">
                <a:solidFill>
                  <a:srgbClr val="0B7A6E"/>
                </a:solidFill>
                <a:latin typeface="Consolas"/>
                <a:cs typeface="Consolas"/>
              </a:rPr>
              <a:t>data/raw/manifest.csv</a:t>
            </a:r>
            <a:r>
              <a:rPr lang="fr-FR" sz="1200" b="0" i="0" dirty="0">
                <a:solidFill>
                  <a:srgbClr val="1F2933"/>
                </a:solidFill>
                <a:latin typeface="Segoe UI"/>
                <a:cs typeface="Segoe UI"/>
              </a:rPr>
              <a:t> : catégorie, source, url, fichier, taille, statut, date.</a:t>
            </a:r>
            <a:endParaRPr lang="fr-FR" sz="1200" dirty="0"/>
          </a:p>
          <a:p>
            <a:pPr algn="l">
              <a:lnSpc>
                <a:spcPct val="100000"/>
              </a:lnSpc>
              <a:spcBef>
                <a:spcPts val="600"/>
              </a:spcBef>
              <a:spcAft>
                <a:spcPts val="0"/>
              </a:spcAft>
              <a:buNone/>
            </a:pPr>
            <a:r>
              <a:rPr lang="fr-FR" sz="1200" b="0" i="0" dirty="0">
                <a:solidFill>
                  <a:srgbClr val="1F2933"/>
                </a:solidFill>
                <a:latin typeface="Segoe UI"/>
                <a:cs typeface="Segoe UI"/>
              </a:rPr>
              <a:t>Fusion avec l'ancien manifeste ; une catégorie relancée efface ses anciennes erreurs.</a:t>
            </a:r>
            <a:endParaRPr lang="fr-FR" sz="1200" dirty="0"/>
          </a:p>
          <a:p>
            <a:pPr algn="l">
              <a:lnSpc>
                <a:spcPct val="100000"/>
              </a:lnSpc>
              <a:spcBef>
                <a:spcPts val="600"/>
              </a:spcBef>
              <a:spcAft>
                <a:spcPts val="0"/>
              </a:spcAft>
              <a:buNone/>
            </a:pPr>
            <a:r>
              <a:rPr lang="fr-FR" sz="1200" b="0" i="0" dirty="0">
                <a:solidFill>
                  <a:srgbClr val="1F2933"/>
                </a:solidFill>
                <a:latin typeface="Segoe UI"/>
                <a:cs typeface="Segoe UI"/>
              </a:rPr>
              <a:t>Il génère aussi </a:t>
            </a:r>
            <a:r>
              <a:rPr lang="fr-FR" sz="1200" b="0" i="0" dirty="0">
                <a:solidFill>
                  <a:srgbClr val="0B7A6E"/>
                </a:solidFill>
                <a:latin typeface="Consolas"/>
                <a:cs typeface="Consolas"/>
              </a:rPr>
              <a:t>docs/sources.md</a:t>
            </a:r>
            <a:r>
              <a:rPr lang="fr-FR" sz="1200" b="0" i="0" dirty="0">
                <a:solidFill>
                  <a:srgbClr val="1F2933"/>
                </a:solidFill>
                <a:latin typeface="Segoe UI"/>
                <a:cs typeface="Segoe UI"/>
              </a:rPr>
              <a:t>, avec les clés d'API masquées.</a:t>
            </a:r>
            <a:endParaRPr lang="fr-FR" sz="1200" dirty="0"/>
          </a:p>
        </p:txBody>
      </p:sp>
      <p:sp>
        <p:nvSpPr>
          <p:cNvPr id="19" name="Forme 19"/>
          <p:cNvSpPr/>
          <p:nvPr/>
        </p:nvSpPr>
        <p:spPr>
          <a:xfrm>
            <a:off x="457200" y="4983480"/>
            <a:ext cx="11274552" cy="1325880"/>
          </a:xfrm>
          <a:prstGeom prst="roundRect">
            <a:avLst>
              <a:gd name="adj" fmla="val 6000"/>
            </a:avLst>
          </a:prstGeom>
          <a:solidFill>
            <a:srgbClr val="14213D"/>
          </a:solidFill>
          <a:ln>
            <a:noFill/>
          </a:ln>
        </p:spPr>
        <p:txBody>
          <a:bodyPr wrap="square" lIns="274320" tIns="91440" rIns="274320" bIns="91440" anchor="ctr" rtlCol="0">
            <a:noAutofit/>
          </a:bodyPr>
          <a:lstStyle/>
          <a:p>
            <a:pPr algn="l">
              <a:lnSpc>
                <a:spcPct val="100000"/>
              </a:lnSpc>
              <a:spcBef>
                <a:spcPts val="0"/>
              </a:spcBef>
              <a:spcAft>
                <a:spcPts val="0"/>
              </a:spcAft>
              <a:buNone/>
            </a:pPr>
            <a:r>
              <a:rPr lang="fr-FR" sz="1300" b="1" i="0" dirty="0">
                <a:solidFill>
                  <a:srgbClr val="FFFFFF"/>
                </a:solidFill>
                <a:latin typeface="Segoe UI"/>
                <a:cs typeface="Segoe UI"/>
              </a:rPr>
              <a:t>Puis </a:t>
            </a:r>
            <a:r>
              <a:rPr lang="fr-FR" sz="1300" b="1" i="0" dirty="0">
                <a:solidFill>
                  <a:srgbClr val="0B7A6E"/>
                </a:solidFill>
                <a:latin typeface="Consolas"/>
                <a:cs typeface="Consolas"/>
              </a:rPr>
              <a:t>check_data.py</a:t>
            </a:r>
            <a:r>
              <a:rPr lang="fr-FR" sz="1300" b="1" i="0" dirty="0">
                <a:solidFill>
                  <a:srgbClr val="FFFFFF"/>
                </a:solidFill>
                <a:latin typeface="Segoe UI"/>
                <a:cs typeface="Segoe UI"/>
              </a:rPr>
              <a:t> contrôle tout</a:t>
            </a:r>
            <a:endParaRPr lang="fr-FR" sz="1300" dirty="0"/>
          </a:p>
          <a:p>
            <a:pPr algn="l">
              <a:lnSpc>
                <a:spcPct val="100000"/>
              </a:lnSpc>
              <a:spcBef>
                <a:spcPts val="400"/>
              </a:spcBef>
              <a:spcAft>
                <a:spcPts val="0"/>
              </a:spcAft>
              <a:buNone/>
            </a:pPr>
            <a:r>
              <a:rPr lang="fr-FR" sz="1050" b="0" i="0" dirty="0">
                <a:solidFill>
                  <a:srgbClr val="FFFFFF"/>
                </a:solidFill>
                <a:latin typeface="Segoe UI"/>
                <a:cs typeface="Segoe UI"/>
              </a:rPr>
              <a:t>Manifeste, Citiz (JSON, coordonnées), autres GBFS, historique (dernière photo de moins de 15 min), fichiers attendus. Avec </a:t>
            </a:r>
            <a:r>
              <a:rPr lang="fr-FR" sz="1050" b="0" i="0" dirty="0">
                <a:solidFill>
                  <a:srgbClr val="FFE7A3"/>
                </a:solidFill>
                <a:latin typeface="Consolas"/>
                <a:cs typeface="Consolas"/>
              </a:rPr>
              <a:t>--deep</a:t>
            </a:r>
            <a:r>
              <a:rPr lang="fr-FR" sz="1050" b="0" i="0" dirty="0">
                <a:solidFill>
                  <a:srgbClr val="FFFFFF"/>
                </a:solidFill>
                <a:latin typeface="Segoe UI"/>
                <a:cs typeface="Segoe UI"/>
              </a:rPr>
              <a:t> : intégrité des zip, signature 7z, en-tête PBF, signature PAR1 des parquet, page HTML servie à la place des données. </a:t>
            </a:r>
            <a:r>
              <a:rPr lang="fr-FR" sz="1050" b="1" i="0" dirty="0">
                <a:solidFill>
                  <a:srgbClr val="FFFFFF"/>
                </a:solidFill>
                <a:latin typeface="Segoe UI"/>
                <a:cs typeface="Segoe UI"/>
              </a:rPr>
              <a:t>Résultat du 19/10/2026 : 26 ✅ · 1 ⚠️ · 0 ❌</a:t>
            </a:r>
            <a:r>
              <a:rPr lang="fr-FR" sz="1050" b="0" i="0" dirty="0">
                <a:solidFill>
                  <a:srgbClr val="FFFFFF"/>
                </a:solidFill>
                <a:latin typeface="Segoe UI"/>
                <a:cs typeface="Segoe UI"/>
              </a:rPr>
              <a:t> (l'avertissement : 2 flux vélos hors zone indisponibles).</a:t>
            </a:r>
            <a:endParaRPr lang="fr-FR"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rme 3"/>
          <p:cNvSpPr/>
          <p:nvPr/>
        </p:nvSpPr>
        <p:spPr>
          <a:xfrm>
            <a:off x="0" y="0"/>
            <a:ext cx="128016" cy="6858000"/>
          </a:xfrm>
          <a:prstGeom prst="rect">
            <a:avLst/>
          </a:prstGeom>
          <a:solidFill>
            <a:srgbClr val="E08E1B"/>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4" name="Forme 4"/>
          <p:cNvSpPr/>
          <p:nvPr/>
        </p:nvSpPr>
        <p:spPr>
          <a:xfrm>
            <a:off x="457200" y="256032"/>
            <a:ext cx="7315200" cy="2743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050" b="1" i="0" dirty="0">
                <a:solidFill>
                  <a:srgbClr val="E08E1B"/>
                </a:solidFill>
                <a:latin typeface="Segoe UI"/>
                <a:cs typeface="Segoe UI"/>
              </a:rPr>
              <a:t>PARTIE 4 · LE NETTOYAGE</a:t>
            </a:r>
            <a:endParaRPr lang="fr-FR" sz="1050" dirty="0"/>
          </a:p>
        </p:txBody>
      </p:sp>
      <p:sp>
        <p:nvSpPr>
          <p:cNvPr id="5" name="Forme 5"/>
          <p:cNvSpPr/>
          <p:nvPr/>
        </p:nvSpPr>
        <p:spPr>
          <a:xfrm>
            <a:off x="457200" y="502920"/>
            <a:ext cx="11247120" cy="5486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2500" b="1" i="0" dirty="0">
                <a:solidFill>
                  <a:srgbClr val="14213D"/>
                </a:solidFill>
                <a:latin typeface="Segoe UI"/>
                <a:cs typeface="Segoe UI"/>
              </a:rPr>
              <a:t>Le nettoyage, étape par étape (1/3)</a:t>
            </a:r>
            <a:endParaRPr lang="fr-FR" sz="2500" dirty="0"/>
          </a:p>
        </p:txBody>
      </p:sp>
      <p:sp>
        <p:nvSpPr>
          <p:cNvPr id="6" name="Forme 6"/>
          <p:cNvSpPr/>
          <p:nvPr/>
        </p:nvSpPr>
        <p:spPr>
          <a:xfrm>
            <a:off x="457200" y="987552"/>
            <a:ext cx="11247120" cy="3200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250" b="0" i="0" dirty="0">
                <a:solidFill>
                  <a:srgbClr val="5B6573"/>
                </a:solidFill>
                <a:latin typeface="Segoe UI"/>
                <a:cs typeface="Segoe UI"/>
              </a:rPr>
              <a:t>Pour chaque traitement : le problème, ce qu'on fait, le résultat chiffré, le code.</a:t>
            </a:r>
            <a:endParaRPr lang="fr-FR" sz="1250" dirty="0"/>
          </a:p>
        </p:txBody>
      </p:sp>
      <p:sp>
        <p:nvSpPr>
          <p:cNvPr id="7" name="Forme 7"/>
          <p:cNvSpPr/>
          <p:nvPr/>
        </p:nvSpPr>
        <p:spPr>
          <a:xfrm>
            <a:off x="457200" y="6446520"/>
            <a:ext cx="11274552" cy="10973"/>
          </a:xfrm>
          <a:prstGeom prst="rect">
            <a:avLst/>
          </a:prstGeom>
          <a:solidFill>
            <a:srgbClr val="D5DAE1"/>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8" name="Forme 8"/>
          <p:cNvSpPr/>
          <p:nvPr/>
        </p:nvSpPr>
        <p:spPr>
          <a:xfrm>
            <a:off x="457200" y="6492240"/>
            <a:ext cx="7315200" cy="256032"/>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00" b="0" i="0" dirty="0">
                <a:solidFill>
                  <a:srgbClr val="5B6573"/>
                </a:solidFill>
                <a:latin typeface="Segoe UI"/>
                <a:cs typeface="Segoe UI"/>
              </a:rPr>
              <a:t>Hackathon Mobility × Citiz · Nos données, de A à Z</a:t>
            </a:r>
            <a:endParaRPr lang="fr-FR" sz="900" dirty="0"/>
          </a:p>
        </p:txBody>
      </p:sp>
      <p:sp>
        <p:nvSpPr>
          <p:cNvPr id="9" name="Forme 9"/>
          <p:cNvSpPr/>
          <p:nvPr/>
        </p:nvSpPr>
        <p:spPr>
          <a:xfrm>
            <a:off x="10360152" y="6492240"/>
            <a:ext cx="1371600" cy="256032"/>
          </a:xfrm>
          <a:prstGeom prst="rect">
            <a:avLst/>
          </a:prstGeom>
          <a:noFill/>
          <a:ln>
            <a:noFill/>
          </a:ln>
        </p:spPr>
        <p:txBody>
          <a:bodyPr wrap="square" lIns="18288" tIns="18288" rIns="18288" bIns="18288" anchor="t" rtlCol="0">
            <a:noAutofit/>
          </a:bodyPr>
          <a:lstStyle/>
          <a:p>
            <a:pPr algn="r">
              <a:lnSpc>
                <a:spcPct val="100000"/>
              </a:lnSpc>
              <a:spcBef>
                <a:spcPts val="0"/>
              </a:spcBef>
              <a:spcAft>
                <a:spcPts val="0"/>
              </a:spcAft>
              <a:buNone/>
            </a:pPr>
            <a:r>
              <a:rPr lang="fr-FR" sz="900" b="0" i="0" dirty="0">
                <a:solidFill>
                  <a:srgbClr val="5B6573"/>
                </a:solidFill>
                <a:latin typeface="Segoe UI"/>
                <a:cs typeface="Segoe UI"/>
              </a:rPr>
              <a:t>15</a:t>
            </a:r>
            <a:endParaRPr lang="fr-FR" sz="900" dirty="0"/>
          </a:p>
        </p:txBody>
      </p:sp>
      <p:sp>
        <p:nvSpPr>
          <p:cNvPr id="10" name="Forme 10"/>
          <p:cNvSpPr/>
          <p:nvPr/>
        </p:nvSpPr>
        <p:spPr>
          <a:xfrm>
            <a:off x="457200" y="1371600"/>
            <a:ext cx="3657600" cy="4937760"/>
          </a:xfrm>
          <a:prstGeom prst="roundRect">
            <a:avLst>
              <a:gd name="adj" fmla="val 3000"/>
            </a:avLst>
          </a:prstGeom>
          <a:solidFill>
            <a:srgbClr val="F4F6F9"/>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1" name="Forme 11"/>
          <p:cNvSpPr/>
          <p:nvPr/>
        </p:nvSpPr>
        <p:spPr>
          <a:xfrm>
            <a:off x="457200" y="1371600"/>
            <a:ext cx="3657600" cy="685800"/>
          </a:xfrm>
          <a:prstGeom prst="roundRect">
            <a:avLst>
              <a:gd name="adj" fmla="val 12000"/>
            </a:avLst>
          </a:prstGeom>
          <a:solidFill>
            <a:srgbClr val="E08E1B"/>
          </a:solidFill>
          <a:ln>
            <a:noFill/>
          </a:ln>
        </p:spPr>
        <p:txBody>
          <a:bodyPr wrap="square" lIns="164592" tIns="36576" rIns="109728" bIns="36576" anchor="ctr" rtlCol="0">
            <a:noAutofit/>
          </a:bodyPr>
          <a:lstStyle/>
          <a:p>
            <a:pPr algn="l">
              <a:lnSpc>
                <a:spcPct val="100000"/>
              </a:lnSpc>
              <a:spcBef>
                <a:spcPts val="0"/>
              </a:spcBef>
              <a:spcAft>
                <a:spcPts val="0"/>
              </a:spcAft>
              <a:buNone/>
            </a:pPr>
            <a:r>
              <a:rPr lang="fr-FR" sz="1250" b="1" i="0" dirty="0">
                <a:solidFill>
                  <a:srgbClr val="FFFFFF"/>
                </a:solidFill>
                <a:latin typeface="Segoe UI"/>
                <a:cs typeface="Segoe UI"/>
              </a:rPr>
              <a:t>1. Dédoublonnage des arrêts</a:t>
            </a:r>
            <a:endParaRPr lang="fr-FR" sz="1250" dirty="0"/>
          </a:p>
        </p:txBody>
      </p:sp>
      <p:sp>
        <p:nvSpPr>
          <p:cNvPr id="12" name="Forme 12"/>
          <p:cNvSpPr/>
          <p:nvPr/>
        </p:nvSpPr>
        <p:spPr>
          <a:xfrm>
            <a:off x="621792" y="2148840"/>
            <a:ext cx="3364992" cy="219456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50" b="1" i="0" dirty="0">
                <a:solidFill>
                  <a:srgbClr val="E08E1B"/>
                </a:solidFill>
                <a:latin typeface="Segoe UI"/>
                <a:cs typeface="Segoe UI"/>
              </a:rPr>
              <a:t>PROBLÈME</a:t>
            </a:r>
            <a:endParaRPr lang="fr-FR" sz="950" dirty="0"/>
          </a:p>
          <a:p>
            <a:pPr algn="l">
              <a:lnSpc>
                <a:spcPct val="100000"/>
              </a:lnSpc>
              <a:spcBef>
                <a:spcPts val="100"/>
              </a:spcBef>
              <a:spcAft>
                <a:spcPts val="0"/>
              </a:spcAft>
              <a:buNone/>
            </a:pPr>
            <a:r>
              <a:rPr lang="fr-FR" sz="1150" b="0" i="0" dirty="0">
                <a:solidFill>
                  <a:srgbClr val="1F2933"/>
                </a:solidFill>
                <a:latin typeface="Segoe UI"/>
                <a:cs typeface="Segoe UI"/>
              </a:rPr>
              <a:t>Un même arrêt apparaît plusieurs fois : un point par quai, par sens, par réseau.</a:t>
            </a:r>
            <a:endParaRPr lang="fr-FR" sz="1150" dirty="0"/>
          </a:p>
          <a:p>
            <a:pPr algn="l">
              <a:lnSpc>
                <a:spcPct val="100000"/>
              </a:lnSpc>
              <a:spcBef>
                <a:spcPts val="800"/>
              </a:spcBef>
              <a:spcAft>
                <a:spcPts val="0"/>
              </a:spcAft>
              <a:buNone/>
            </a:pPr>
            <a:r>
              <a:rPr lang="fr-FR" sz="950" b="1" i="0" dirty="0">
                <a:solidFill>
                  <a:srgbClr val="E08E1B"/>
                </a:solidFill>
                <a:latin typeface="Segoe UI"/>
                <a:cs typeface="Segoe UI"/>
              </a:rPr>
              <a:t>CE QU'ON FAIT</a:t>
            </a:r>
            <a:endParaRPr lang="fr-FR" sz="950" dirty="0"/>
          </a:p>
          <a:p>
            <a:pPr algn="l">
              <a:lnSpc>
                <a:spcPct val="100000"/>
              </a:lnSpc>
              <a:spcBef>
                <a:spcPts val="100"/>
              </a:spcBef>
              <a:spcAft>
                <a:spcPts val="0"/>
              </a:spcAft>
              <a:buNone/>
            </a:pPr>
            <a:r>
              <a:rPr lang="fr-FR" sz="1150" b="0" i="0" dirty="0">
                <a:solidFill>
                  <a:srgbClr val="1F2933"/>
                </a:solidFill>
                <a:latin typeface="Segoe UI"/>
                <a:cs typeface="Segoe UI"/>
              </a:rPr>
              <a:t>Fusion des points d'un </a:t>
            </a:r>
            <a:r>
              <a:rPr lang="fr-FR" sz="1150" b="1" i="0" dirty="0">
                <a:solidFill>
                  <a:srgbClr val="1F2933"/>
                </a:solidFill>
                <a:latin typeface="Segoe UI"/>
                <a:cs typeface="Segoe UI"/>
              </a:rPr>
              <a:t>même mode</a:t>
            </a:r>
            <a:r>
              <a:rPr lang="fr-FR" sz="1150" b="0" i="0" dirty="0">
                <a:solidFill>
                  <a:srgbClr val="1F2933"/>
                </a:solidFill>
                <a:latin typeface="Segoe UI"/>
                <a:cs typeface="Segoe UI"/>
              </a:rPr>
              <a:t> à moins de </a:t>
            </a:r>
            <a:r>
              <a:rPr lang="fr-FR" sz="1150" b="1" i="0" dirty="0">
                <a:solidFill>
                  <a:srgbClr val="1F2933"/>
                </a:solidFill>
                <a:latin typeface="Segoe UI"/>
                <a:cs typeface="Segoe UI"/>
              </a:rPr>
              <a:t>40 m</a:t>
            </a:r>
            <a:r>
              <a:rPr lang="fr-FR" sz="1150" b="0" i="0" dirty="0">
                <a:solidFill>
                  <a:srgbClr val="1F2933"/>
                </a:solidFill>
                <a:latin typeface="Segoe UI"/>
                <a:cs typeface="Segoe UI"/>
              </a:rPr>
              <a:t> (150 m pour les gares) ; point au barycentre, passages additionnés. Au national : somme dans une source, </a:t>
            </a:r>
            <a:r>
              <a:rPr lang="fr-FR" sz="1150" b="1" i="0" dirty="0">
                <a:solidFill>
                  <a:srgbClr val="1F2933"/>
                </a:solidFill>
                <a:latin typeface="Segoe UI"/>
                <a:cs typeface="Segoe UI"/>
              </a:rPr>
              <a:t>maximum</a:t>
            </a:r>
            <a:r>
              <a:rPr lang="fr-FR" sz="1150" b="0" i="0" dirty="0">
                <a:solidFill>
                  <a:srgbClr val="1F2933"/>
                </a:solidFill>
                <a:latin typeface="Segoe UI"/>
                <a:cs typeface="Segoe UI"/>
              </a:rPr>
              <a:t> entre sources.</a:t>
            </a:r>
            <a:endParaRPr lang="fr-FR" sz="1150" dirty="0"/>
          </a:p>
        </p:txBody>
      </p:sp>
      <p:sp>
        <p:nvSpPr>
          <p:cNvPr id="13" name="Forme 13"/>
          <p:cNvSpPr/>
          <p:nvPr/>
        </p:nvSpPr>
        <p:spPr>
          <a:xfrm>
            <a:off x="594360" y="4434840"/>
            <a:ext cx="3383280" cy="1298448"/>
          </a:xfrm>
          <a:prstGeom prst="roundRect">
            <a:avLst>
              <a:gd name="adj" fmla="val 8000"/>
            </a:avLst>
          </a:prstGeom>
          <a:solidFill>
            <a:srgbClr val="FCE9C8"/>
          </a:solidFill>
          <a:ln>
            <a:noFill/>
          </a:ln>
        </p:spPr>
        <p:txBody>
          <a:bodyPr wrap="square" lIns="137160" tIns="45720" rIns="109728" bIns="45720" anchor="ctr" rtlCol="0">
            <a:noAutofit/>
          </a:bodyPr>
          <a:lstStyle/>
          <a:p>
            <a:pPr algn="l">
              <a:lnSpc>
                <a:spcPct val="100000"/>
              </a:lnSpc>
              <a:spcBef>
                <a:spcPts val="0"/>
              </a:spcBef>
              <a:spcAft>
                <a:spcPts val="0"/>
              </a:spcAft>
              <a:buNone/>
            </a:pPr>
            <a:r>
              <a:rPr lang="fr-FR" sz="1800" b="1" i="0" dirty="0">
                <a:solidFill>
                  <a:srgbClr val="A35F00"/>
                </a:solidFill>
                <a:latin typeface="Segoe UI"/>
                <a:cs typeface="Segoe UI"/>
              </a:rPr>
              <a:t>2 536 → 1 682</a:t>
            </a:r>
            <a:endParaRPr lang="fr-FR" sz="1800" dirty="0"/>
          </a:p>
          <a:p>
            <a:pPr algn="l">
              <a:lnSpc>
                <a:spcPct val="100000"/>
              </a:lnSpc>
              <a:spcBef>
                <a:spcPts val="200"/>
              </a:spcBef>
              <a:spcAft>
                <a:spcPts val="0"/>
              </a:spcAft>
              <a:buNone/>
            </a:pPr>
            <a:r>
              <a:rPr lang="fr-FR" sz="950" b="0" i="0" dirty="0">
                <a:solidFill>
                  <a:srgbClr val="1F2933"/>
                </a:solidFill>
                <a:latin typeface="Segoe UI"/>
                <a:cs typeface="Segoe UI"/>
              </a:rPr>
              <a:t>arrêts de bus à Nantes (tram 175 → 131, vélos 236 → 118). France : 533 613 → 231 092 points.</a:t>
            </a:r>
            <a:endParaRPr lang="fr-FR" sz="950" dirty="0"/>
          </a:p>
        </p:txBody>
      </p:sp>
      <p:sp>
        <p:nvSpPr>
          <p:cNvPr id="14" name="Forme 14"/>
          <p:cNvSpPr/>
          <p:nvPr/>
        </p:nvSpPr>
        <p:spPr>
          <a:xfrm>
            <a:off x="621792" y="5806440"/>
            <a:ext cx="3364992" cy="457200"/>
          </a:xfrm>
          <a:prstGeom prst="rect">
            <a:avLst/>
          </a:prstGeom>
          <a:noFill/>
          <a:ln>
            <a:noFill/>
          </a:ln>
        </p:spPr>
        <p:txBody>
          <a:bodyPr wrap="square" lIns="18288" tIns="18288" rIns="18288" bIns="18288" anchor="ctr" rtlCol="0">
            <a:noAutofit/>
          </a:bodyPr>
          <a:lstStyle/>
          <a:p>
            <a:pPr algn="l">
              <a:lnSpc>
                <a:spcPct val="100000"/>
              </a:lnSpc>
              <a:spcBef>
                <a:spcPts val="0"/>
              </a:spcBef>
              <a:spcAft>
                <a:spcPts val="0"/>
              </a:spcAft>
              <a:buNone/>
            </a:pPr>
            <a:r>
              <a:rPr lang="fr-FR" sz="900" b="0" i="0" dirty="0">
                <a:solidFill>
                  <a:srgbClr val="5B6573"/>
                </a:solidFill>
                <a:latin typeface="Consolas"/>
                <a:cs typeface="Consolas"/>
              </a:rPr>
              <a:t>geo.py › dedup_points, cluster_labels</a:t>
            </a:r>
            <a:endParaRPr lang="fr-FR" sz="900" dirty="0"/>
          </a:p>
        </p:txBody>
      </p:sp>
      <p:sp>
        <p:nvSpPr>
          <p:cNvPr id="15" name="Forme 15"/>
          <p:cNvSpPr/>
          <p:nvPr/>
        </p:nvSpPr>
        <p:spPr>
          <a:xfrm>
            <a:off x="4270248" y="1371600"/>
            <a:ext cx="3657600" cy="4937760"/>
          </a:xfrm>
          <a:prstGeom prst="roundRect">
            <a:avLst>
              <a:gd name="adj" fmla="val 3000"/>
            </a:avLst>
          </a:prstGeom>
          <a:solidFill>
            <a:srgbClr val="F4F6F9"/>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6" name="Forme 16"/>
          <p:cNvSpPr/>
          <p:nvPr/>
        </p:nvSpPr>
        <p:spPr>
          <a:xfrm>
            <a:off x="4270248" y="1371600"/>
            <a:ext cx="3657600" cy="685800"/>
          </a:xfrm>
          <a:prstGeom prst="roundRect">
            <a:avLst>
              <a:gd name="adj" fmla="val 12000"/>
            </a:avLst>
          </a:prstGeom>
          <a:solidFill>
            <a:srgbClr val="E08E1B"/>
          </a:solidFill>
          <a:ln>
            <a:noFill/>
          </a:ln>
        </p:spPr>
        <p:txBody>
          <a:bodyPr wrap="square" lIns="164592" tIns="36576" rIns="109728" bIns="36576" anchor="ctr" rtlCol="0">
            <a:noAutofit/>
          </a:bodyPr>
          <a:lstStyle/>
          <a:p>
            <a:pPr algn="l">
              <a:lnSpc>
                <a:spcPct val="100000"/>
              </a:lnSpc>
              <a:spcBef>
                <a:spcPts val="0"/>
              </a:spcBef>
              <a:spcAft>
                <a:spcPts val="0"/>
              </a:spcAft>
              <a:buNone/>
            </a:pPr>
            <a:r>
              <a:rPr lang="fr-FR" sz="1250" b="1" i="0" dirty="0">
                <a:solidFill>
                  <a:srgbClr val="FFFFFF"/>
                </a:solidFill>
                <a:latin typeface="Segoe UI"/>
                <a:cs typeface="Segoe UI"/>
              </a:rPr>
              <a:t>2. Jour type figé</a:t>
            </a:r>
            <a:endParaRPr lang="fr-FR" sz="1250" dirty="0"/>
          </a:p>
        </p:txBody>
      </p:sp>
      <p:sp>
        <p:nvSpPr>
          <p:cNvPr id="17" name="Forme 17"/>
          <p:cNvSpPr/>
          <p:nvPr/>
        </p:nvSpPr>
        <p:spPr>
          <a:xfrm>
            <a:off x="4434840" y="2148840"/>
            <a:ext cx="3364992" cy="219456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50" b="1" i="0" dirty="0">
                <a:solidFill>
                  <a:srgbClr val="E08E1B"/>
                </a:solidFill>
                <a:latin typeface="Segoe UI"/>
                <a:cs typeface="Segoe UI"/>
              </a:rPr>
              <a:t>PROBLÈME</a:t>
            </a:r>
            <a:endParaRPr lang="fr-FR" sz="950" dirty="0"/>
          </a:p>
          <a:p>
            <a:pPr algn="l">
              <a:lnSpc>
                <a:spcPct val="100000"/>
              </a:lnSpc>
              <a:spcBef>
                <a:spcPts val="100"/>
              </a:spcBef>
              <a:spcAft>
                <a:spcPts val="0"/>
              </a:spcAft>
              <a:buNone/>
            </a:pPr>
            <a:r>
              <a:rPr lang="fr-FR" sz="1150" b="0" i="0" dirty="0">
                <a:solidFill>
                  <a:srgbClr val="1F2933"/>
                </a:solidFill>
                <a:latin typeface="Segoe UI"/>
                <a:cs typeface="Segoe UI"/>
              </a:rPr>
              <a:t>Les horaires changent selon le jour (vacances, week-end) et selon la date du téléchargement.</a:t>
            </a:r>
            <a:endParaRPr lang="fr-FR" sz="1150" dirty="0"/>
          </a:p>
          <a:p>
            <a:pPr algn="l">
              <a:lnSpc>
                <a:spcPct val="100000"/>
              </a:lnSpc>
              <a:spcBef>
                <a:spcPts val="800"/>
              </a:spcBef>
              <a:spcAft>
                <a:spcPts val="0"/>
              </a:spcAft>
              <a:buNone/>
            </a:pPr>
            <a:r>
              <a:rPr lang="fr-FR" sz="950" b="1" i="0" dirty="0">
                <a:solidFill>
                  <a:srgbClr val="E08E1B"/>
                </a:solidFill>
                <a:latin typeface="Segoe UI"/>
                <a:cs typeface="Segoe UI"/>
              </a:rPr>
              <a:t>CE QU'ON FAIT</a:t>
            </a:r>
            <a:endParaRPr lang="fr-FR" sz="950" dirty="0"/>
          </a:p>
          <a:p>
            <a:pPr algn="l">
              <a:lnSpc>
                <a:spcPct val="100000"/>
              </a:lnSpc>
              <a:spcBef>
                <a:spcPts val="100"/>
              </a:spcBef>
              <a:spcAft>
                <a:spcPts val="0"/>
              </a:spcAft>
              <a:buNone/>
            </a:pPr>
            <a:r>
              <a:rPr lang="fr-FR" sz="1150" b="0" i="0" dirty="0">
                <a:solidFill>
                  <a:srgbClr val="1F2933"/>
                </a:solidFill>
                <a:latin typeface="Segoe UI"/>
                <a:cs typeface="Segoe UI"/>
              </a:rPr>
              <a:t>Un </a:t>
            </a:r>
            <a:r>
              <a:rPr lang="fr-FR" sz="1150" b="1" i="0" dirty="0">
                <a:solidFill>
                  <a:srgbClr val="1F2933"/>
                </a:solidFill>
                <a:latin typeface="Segoe UI"/>
                <a:cs typeface="Segoe UI"/>
              </a:rPr>
              <a:t>mardi hors vacances, le 17/11/2026</a:t>
            </a:r>
            <a:r>
              <a:rPr lang="fr-FR" sz="1150" b="0" i="0" dirty="0">
                <a:solidFill>
                  <a:srgbClr val="1F2933"/>
                </a:solidFill>
                <a:latin typeface="Segoe UI"/>
                <a:cs typeface="Segoe UI"/>
              </a:rPr>
              <a:t>, figé dans </a:t>
            </a:r>
            <a:r>
              <a:rPr lang="fr-FR" sz="1150" b="0" i="0" dirty="0">
                <a:solidFill>
                  <a:srgbClr val="0B7A6E"/>
                </a:solidFill>
                <a:latin typeface="Consolas"/>
                <a:cs typeface="Consolas"/>
              </a:rPr>
              <a:t>settings.yaml</a:t>
            </a:r>
            <a:r>
              <a:rPr lang="fr-FR" sz="1150" b="0" i="0" dirty="0">
                <a:solidFill>
                  <a:srgbClr val="1F2933"/>
                </a:solidFill>
                <a:latin typeface="Segoe UI"/>
                <a:cs typeface="Segoe UI"/>
              </a:rPr>
              <a:t>. Un flux expiré est lu sur son propre dernier mardi valide, et c'est signalé.</a:t>
            </a:r>
            <a:endParaRPr lang="fr-FR" sz="1150" dirty="0"/>
          </a:p>
        </p:txBody>
      </p:sp>
      <p:sp>
        <p:nvSpPr>
          <p:cNvPr id="18" name="Forme 18"/>
          <p:cNvSpPr/>
          <p:nvPr/>
        </p:nvSpPr>
        <p:spPr>
          <a:xfrm>
            <a:off x="4407408" y="4434840"/>
            <a:ext cx="3383280" cy="1298448"/>
          </a:xfrm>
          <a:prstGeom prst="roundRect">
            <a:avLst>
              <a:gd name="adj" fmla="val 8000"/>
            </a:avLst>
          </a:prstGeom>
          <a:solidFill>
            <a:srgbClr val="FCE9C8"/>
          </a:solidFill>
          <a:ln>
            <a:noFill/>
          </a:ln>
        </p:spPr>
        <p:txBody>
          <a:bodyPr wrap="square" lIns="137160" tIns="45720" rIns="109728" bIns="45720" anchor="ctr" rtlCol="0">
            <a:noAutofit/>
          </a:bodyPr>
          <a:lstStyle/>
          <a:p>
            <a:pPr algn="l">
              <a:lnSpc>
                <a:spcPct val="100000"/>
              </a:lnSpc>
              <a:spcBef>
                <a:spcPts val="0"/>
              </a:spcBef>
              <a:spcAft>
                <a:spcPts val="0"/>
              </a:spcAft>
              <a:buNone/>
            </a:pPr>
            <a:r>
              <a:rPr lang="fr-FR" sz="1800" b="1" i="0" dirty="0">
                <a:solidFill>
                  <a:srgbClr val="A35F00"/>
                </a:solidFill>
                <a:latin typeface="Segoe UI"/>
                <a:cs typeface="Segoe UI"/>
              </a:rPr>
              <a:t>mardi 17/11/2026</a:t>
            </a:r>
            <a:endParaRPr lang="fr-FR" sz="1800" dirty="0"/>
          </a:p>
          <a:p>
            <a:pPr algn="l">
              <a:lnSpc>
                <a:spcPct val="100000"/>
              </a:lnSpc>
              <a:spcBef>
                <a:spcPts val="200"/>
              </a:spcBef>
              <a:spcAft>
                <a:spcPts val="0"/>
              </a:spcAft>
              <a:buNone/>
            </a:pPr>
            <a:r>
              <a:rPr lang="fr-FR" sz="950" b="0" i="0" dirty="0">
                <a:solidFill>
                  <a:srgbClr val="1F2933"/>
                </a:solidFill>
                <a:latin typeface="Segoe UI"/>
                <a:cs typeface="Segoe UI"/>
              </a:rPr>
              <a:t>pour tous les flux : chiffres reproductibles. France : 74 flux sur 547 lus sur leur dernier mardi valide.</a:t>
            </a:r>
            <a:endParaRPr lang="fr-FR" sz="950" dirty="0"/>
          </a:p>
        </p:txBody>
      </p:sp>
      <p:sp>
        <p:nvSpPr>
          <p:cNvPr id="19" name="Forme 19"/>
          <p:cNvSpPr/>
          <p:nvPr/>
        </p:nvSpPr>
        <p:spPr>
          <a:xfrm>
            <a:off x="4434840" y="5806440"/>
            <a:ext cx="3364992" cy="457200"/>
          </a:xfrm>
          <a:prstGeom prst="rect">
            <a:avLst/>
          </a:prstGeom>
          <a:noFill/>
          <a:ln>
            <a:noFill/>
          </a:ln>
        </p:spPr>
        <p:txBody>
          <a:bodyPr wrap="square" lIns="18288" tIns="18288" rIns="18288" bIns="18288" anchor="ctr" rtlCol="0">
            <a:noAutofit/>
          </a:bodyPr>
          <a:lstStyle/>
          <a:p>
            <a:pPr algn="l">
              <a:lnSpc>
                <a:spcPct val="100000"/>
              </a:lnSpc>
              <a:spcBef>
                <a:spcPts val="0"/>
              </a:spcBef>
              <a:spcAft>
                <a:spcPts val="0"/>
              </a:spcAft>
              <a:buNone/>
            </a:pPr>
            <a:r>
              <a:rPr lang="fr-FR" sz="900" b="0" i="0" dirty="0">
                <a:solidFill>
                  <a:srgbClr val="5B6573"/>
                </a:solidFill>
                <a:latin typeface="Consolas"/>
                <a:cs typeface="Consolas"/>
              </a:rPr>
              <a:t>offer.py › pick_weekday, active_services, last_valid_weekday</a:t>
            </a:r>
            <a:endParaRPr lang="fr-FR" sz="900" dirty="0"/>
          </a:p>
        </p:txBody>
      </p:sp>
      <p:sp>
        <p:nvSpPr>
          <p:cNvPr id="20" name="Forme 20"/>
          <p:cNvSpPr/>
          <p:nvPr/>
        </p:nvSpPr>
        <p:spPr>
          <a:xfrm>
            <a:off x="8083296" y="1371600"/>
            <a:ext cx="3657600" cy="4937760"/>
          </a:xfrm>
          <a:prstGeom prst="roundRect">
            <a:avLst>
              <a:gd name="adj" fmla="val 3000"/>
            </a:avLst>
          </a:prstGeom>
          <a:solidFill>
            <a:srgbClr val="F4F6F9"/>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21" name="Forme 21"/>
          <p:cNvSpPr/>
          <p:nvPr/>
        </p:nvSpPr>
        <p:spPr>
          <a:xfrm>
            <a:off x="8083296" y="1371600"/>
            <a:ext cx="3657600" cy="685800"/>
          </a:xfrm>
          <a:prstGeom prst="roundRect">
            <a:avLst>
              <a:gd name="adj" fmla="val 12000"/>
            </a:avLst>
          </a:prstGeom>
          <a:solidFill>
            <a:srgbClr val="E08E1B"/>
          </a:solidFill>
          <a:ln>
            <a:noFill/>
          </a:ln>
        </p:spPr>
        <p:txBody>
          <a:bodyPr wrap="square" lIns="164592" tIns="36576" rIns="109728" bIns="36576" anchor="ctr" rtlCol="0">
            <a:noAutofit/>
          </a:bodyPr>
          <a:lstStyle/>
          <a:p>
            <a:pPr algn="l">
              <a:lnSpc>
                <a:spcPct val="100000"/>
              </a:lnSpc>
              <a:spcBef>
                <a:spcPts val="0"/>
              </a:spcBef>
              <a:spcAft>
                <a:spcPts val="0"/>
              </a:spcAft>
              <a:buNone/>
            </a:pPr>
            <a:r>
              <a:rPr lang="fr-FR" sz="1250" b="1" i="0" dirty="0">
                <a:solidFill>
                  <a:srgbClr val="FFFFFF"/>
                </a:solidFill>
                <a:latin typeface="Segoe UI"/>
                <a:cs typeface="Segoe UI"/>
              </a:rPr>
              <a:t>3. Exclusions : Flixbus, BlaBlaCar, covoiturage</a:t>
            </a:r>
            <a:endParaRPr lang="fr-FR" sz="1250" dirty="0"/>
          </a:p>
        </p:txBody>
      </p:sp>
      <p:sp>
        <p:nvSpPr>
          <p:cNvPr id="22" name="Forme 22"/>
          <p:cNvSpPr/>
          <p:nvPr/>
        </p:nvSpPr>
        <p:spPr>
          <a:xfrm>
            <a:off x="8247888" y="2148840"/>
            <a:ext cx="3364992" cy="219456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50" b="1" i="0" dirty="0">
                <a:solidFill>
                  <a:srgbClr val="E08E1B"/>
                </a:solidFill>
                <a:latin typeface="Segoe UI"/>
                <a:cs typeface="Segoe UI"/>
              </a:rPr>
              <a:t>PROBLÈME</a:t>
            </a:r>
            <a:endParaRPr lang="fr-FR" sz="950" dirty="0"/>
          </a:p>
          <a:p>
            <a:pPr algn="l">
              <a:lnSpc>
                <a:spcPct val="100000"/>
              </a:lnSpc>
              <a:spcBef>
                <a:spcPts val="100"/>
              </a:spcBef>
              <a:spcAft>
                <a:spcPts val="0"/>
              </a:spcAft>
              <a:buNone/>
            </a:pPr>
            <a:r>
              <a:rPr lang="fr-FR" sz="1150" b="0" i="0" dirty="0">
                <a:solidFill>
                  <a:srgbClr val="1F2933"/>
                </a:solidFill>
                <a:latin typeface="Segoe UI"/>
                <a:cs typeface="Segoe UI"/>
              </a:rPr>
              <a:t>Des autocars longue distance (1 passage par jour) et des lignes de covoiturage gonflent l'offre sans être une option du quotidien.</a:t>
            </a:r>
            <a:endParaRPr lang="fr-FR" sz="1150" dirty="0"/>
          </a:p>
          <a:p>
            <a:pPr algn="l">
              <a:lnSpc>
                <a:spcPct val="100000"/>
              </a:lnSpc>
              <a:spcBef>
                <a:spcPts val="800"/>
              </a:spcBef>
              <a:spcAft>
                <a:spcPts val="0"/>
              </a:spcAft>
              <a:buNone/>
            </a:pPr>
            <a:r>
              <a:rPr lang="fr-FR" sz="950" b="1" i="0" dirty="0">
                <a:solidFill>
                  <a:srgbClr val="E08E1B"/>
                </a:solidFill>
                <a:latin typeface="Segoe UI"/>
                <a:cs typeface="Segoe UI"/>
              </a:rPr>
              <a:t>CE QU'ON FAIT</a:t>
            </a:r>
            <a:endParaRPr lang="fr-FR" sz="950" dirty="0"/>
          </a:p>
          <a:p>
            <a:pPr algn="l">
              <a:lnSpc>
                <a:spcPct val="100000"/>
              </a:lnSpc>
              <a:spcBef>
                <a:spcPts val="100"/>
              </a:spcBef>
              <a:spcAft>
                <a:spcPts val="0"/>
              </a:spcAft>
              <a:buNone/>
            </a:pPr>
            <a:r>
              <a:rPr lang="fr-FR" sz="1150" b="0" i="0" dirty="0">
                <a:solidFill>
                  <a:srgbClr val="1F2933"/>
                </a:solidFill>
                <a:latin typeface="Segoe UI"/>
                <a:cs typeface="Segoe UI"/>
              </a:rPr>
              <a:t>Motifs exclus : </a:t>
            </a:r>
            <a:r>
              <a:rPr lang="fr-FR" sz="1150" b="0" i="0" dirty="0">
                <a:solidFill>
                  <a:srgbClr val="0B7A6E"/>
                </a:solidFill>
                <a:latin typeface="Consolas"/>
                <a:cs typeface="Consolas"/>
              </a:rPr>
              <a:t>covoit</a:t>
            </a:r>
            <a:r>
              <a:rPr lang="fr-FR" sz="1150" b="0" i="0" dirty="0">
                <a:solidFill>
                  <a:srgbClr val="1F2933"/>
                </a:solidFill>
                <a:latin typeface="Segoe UI"/>
                <a:cs typeface="Segoe UI"/>
              </a:rPr>
              <a:t>, </a:t>
            </a:r>
            <a:r>
              <a:rPr lang="fr-FR" sz="1150" b="0" i="0" dirty="0">
                <a:solidFill>
                  <a:srgbClr val="0B7A6E"/>
                </a:solidFill>
                <a:latin typeface="Consolas"/>
                <a:cs typeface="Consolas"/>
              </a:rPr>
              <a:t>flixbus</a:t>
            </a:r>
            <a:r>
              <a:rPr lang="fr-FR" sz="1150" b="0" i="0" dirty="0">
                <a:solidFill>
                  <a:srgbClr val="1F2933"/>
                </a:solidFill>
                <a:latin typeface="Segoe UI"/>
                <a:cs typeface="Segoe UI"/>
              </a:rPr>
              <a:t>, </a:t>
            </a:r>
            <a:r>
              <a:rPr lang="fr-FR" sz="1150" b="0" i="0" dirty="0">
                <a:solidFill>
                  <a:srgbClr val="0B7A6E"/>
                </a:solidFill>
                <a:latin typeface="Consolas"/>
                <a:cs typeface="Consolas"/>
              </a:rPr>
              <a:t>blablacar</a:t>
            </a:r>
            <a:r>
              <a:rPr lang="fr-FR" sz="1150" b="0" i="0" dirty="0">
                <a:solidFill>
                  <a:srgbClr val="1F2933"/>
                </a:solidFill>
                <a:latin typeface="Segoe UI"/>
                <a:cs typeface="Segoe UI"/>
              </a:rPr>
              <a:t> ; liste explicite de flux par ville. Côté GBFS : flux « Dott France » (doublon), emplacements « réservé » ou « demobox », scooters.</a:t>
            </a:r>
            <a:endParaRPr lang="fr-FR" sz="1150" dirty="0"/>
          </a:p>
        </p:txBody>
      </p:sp>
      <p:sp>
        <p:nvSpPr>
          <p:cNvPr id="23" name="Forme 23"/>
          <p:cNvSpPr/>
          <p:nvPr/>
        </p:nvSpPr>
        <p:spPr>
          <a:xfrm>
            <a:off x="8220456" y="4434840"/>
            <a:ext cx="3383280" cy="1298448"/>
          </a:xfrm>
          <a:prstGeom prst="roundRect">
            <a:avLst>
              <a:gd name="adj" fmla="val 8000"/>
            </a:avLst>
          </a:prstGeom>
          <a:solidFill>
            <a:srgbClr val="FCE9C8"/>
          </a:solidFill>
          <a:ln>
            <a:noFill/>
          </a:ln>
        </p:spPr>
        <p:txBody>
          <a:bodyPr wrap="square" lIns="137160" tIns="45720" rIns="109728" bIns="45720" anchor="ctr" rtlCol="0">
            <a:noAutofit/>
          </a:bodyPr>
          <a:lstStyle/>
          <a:p>
            <a:pPr algn="l">
              <a:lnSpc>
                <a:spcPct val="100000"/>
              </a:lnSpc>
              <a:spcBef>
                <a:spcPts val="0"/>
              </a:spcBef>
              <a:spcAft>
                <a:spcPts val="0"/>
              </a:spcAft>
              <a:buNone/>
            </a:pPr>
            <a:r>
              <a:rPr lang="fr-FR" sz="1800" b="1" i="0" dirty="0">
                <a:solidFill>
                  <a:srgbClr val="A35F00"/>
                </a:solidFill>
                <a:latin typeface="Segoe UI"/>
                <a:cs typeface="Segoe UI"/>
              </a:rPr>
              <a:t>3 flux écartés</a:t>
            </a:r>
            <a:endParaRPr lang="fr-FR" sz="1800" dirty="0"/>
          </a:p>
          <a:p>
            <a:pPr algn="l">
              <a:lnSpc>
                <a:spcPct val="100000"/>
              </a:lnSpc>
              <a:spcBef>
                <a:spcPts val="200"/>
              </a:spcBef>
              <a:spcAft>
                <a:spcPts val="0"/>
              </a:spcAft>
              <a:buNone/>
            </a:pPr>
            <a:r>
              <a:rPr lang="fr-FR" sz="950" b="0" i="0" dirty="0">
                <a:solidFill>
                  <a:srgbClr val="1F2933"/>
                </a:solidFill>
                <a:latin typeface="Segoe UI"/>
                <a:cs typeface="Segoe UI"/>
              </a:rPr>
              <a:t>à Nantes (BlaBlaCar Bus, Flixbus, M Covoit') ; 4 retenus : Naolib, Aléop, SNCF, bacs de Loire.</a:t>
            </a:r>
            <a:endParaRPr lang="fr-FR" sz="950" dirty="0"/>
          </a:p>
        </p:txBody>
      </p:sp>
      <p:sp>
        <p:nvSpPr>
          <p:cNvPr id="24" name="Forme 24"/>
          <p:cNvSpPr/>
          <p:nvPr/>
        </p:nvSpPr>
        <p:spPr>
          <a:xfrm>
            <a:off x="8247888" y="5806440"/>
            <a:ext cx="3364992" cy="457200"/>
          </a:xfrm>
          <a:prstGeom prst="rect">
            <a:avLst/>
          </a:prstGeom>
          <a:noFill/>
          <a:ln>
            <a:noFill/>
          </a:ln>
        </p:spPr>
        <p:txBody>
          <a:bodyPr wrap="square" lIns="18288" tIns="18288" rIns="18288" bIns="18288" anchor="ctr" rtlCol="0">
            <a:noAutofit/>
          </a:bodyPr>
          <a:lstStyle/>
          <a:p>
            <a:pPr algn="l">
              <a:lnSpc>
                <a:spcPct val="100000"/>
              </a:lnSpc>
              <a:spcBef>
                <a:spcPts val="0"/>
              </a:spcBef>
              <a:spcAft>
                <a:spcPts val="0"/>
              </a:spcAft>
              <a:buNone/>
            </a:pPr>
            <a:r>
              <a:rPr lang="fr-FR" sz="900" b="0" i="0" dirty="0">
                <a:solidFill>
                  <a:srgbClr val="5B6573"/>
                </a:solidFill>
                <a:latin typeface="Consolas"/>
                <a:cs typeface="Consolas"/>
              </a:rPr>
              <a:t>offer.py › select_feeds ; settings.yaml</a:t>
            </a:r>
            <a:endParaRPr lang="fr-FR"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rme 3"/>
          <p:cNvSpPr/>
          <p:nvPr/>
        </p:nvSpPr>
        <p:spPr>
          <a:xfrm>
            <a:off x="0" y="0"/>
            <a:ext cx="128016" cy="6858000"/>
          </a:xfrm>
          <a:prstGeom prst="rect">
            <a:avLst/>
          </a:prstGeom>
          <a:solidFill>
            <a:srgbClr val="E08E1B"/>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4" name="Forme 4"/>
          <p:cNvSpPr/>
          <p:nvPr/>
        </p:nvSpPr>
        <p:spPr>
          <a:xfrm>
            <a:off x="457200" y="256032"/>
            <a:ext cx="7315200" cy="2743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050" b="1" i="0" dirty="0">
                <a:solidFill>
                  <a:srgbClr val="E08E1B"/>
                </a:solidFill>
                <a:latin typeface="Segoe UI"/>
                <a:cs typeface="Segoe UI"/>
              </a:rPr>
              <a:t>PARTIE 4 · LE NETTOYAGE</a:t>
            </a:r>
            <a:endParaRPr lang="fr-FR" sz="1050" dirty="0"/>
          </a:p>
        </p:txBody>
      </p:sp>
      <p:sp>
        <p:nvSpPr>
          <p:cNvPr id="5" name="Forme 5"/>
          <p:cNvSpPr/>
          <p:nvPr/>
        </p:nvSpPr>
        <p:spPr>
          <a:xfrm>
            <a:off x="457200" y="502920"/>
            <a:ext cx="11247120" cy="5486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2500" b="1" i="0" dirty="0">
                <a:solidFill>
                  <a:srgbClr val="14213D"/>
                </a:solidFill>
                <a:latin typeface="Segoe UI"/>
                <a:cs typeface="Segoe UI"/>
              </a:rPr>
              <a:t>Le nettoyage, étape par étape (2/3)</a:t>
            </a:r>
            <a:endParaRPr lang="fr-FR" sz="2500" dirty="0"/>
          </a:p>
        </p:txBody>
      </p:sp>
      <p:sp>
        <p:nvSpPr>
          <p:cNvPr id="6" name="Forme 6"/>
          <p:cNvSpPr/>
          <p:nvPr/>
        </p:nvSpPr>
        <p:spPr>
          <a:xfrm>
            <a:off x="457200" y="987552"/>
            <a:ext cx="11247120" cy="3200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250" b="0" i="0" dirty="0">
                <a:solidFill>
                  <a:srgbClr val="5B6573"/>
                </a:solidFill>
                <a:latin typeface="Segoe UI"/>
                <a:cs typeface="Segoe UI"/>
              </a:rPr>
              <a:t>Pour chaque traitement : le problème, ce qu'on fait, le résultat chiffré, le code.</a:t>
            </a:r>
            <a:endParaRPr lang="fr-FR" sz="1250" dirty="0"/>
          </a:p>
        </p:txBody>
      </p:sp>
      <p:sp>
        <p:nvSpPr>
          <p:cNvPr id="7" name="Forme 7"/>
          <p:cNvSpPr/>
          <p:nvPr/>
        </p:nvSpPr>
        <p:spPr>
          <a:xfrm>
            <a:off x="457200" y="6446520"/>
            <a:ext cx="11274552" cy="10973"/>
          </a:xfrm>
          <a:prstGeom prst="rect">
            <a:avLst/>
          </a:prstGeom>
          <a:solidFill>
            <a:srgbClr val="D5DAE1"/>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8" name="Forme 8"/>
          <p:cNvSpPr/>
          <p:nvPr/>
        </p:nvSpPr>
        <p:spPr>
          <a:xfrm>
            <a:off x="457200" y="6492240"/>
            <a:ext cx="7315200" cy="256032"/>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00" b="0" i="0" dirty="0">
                <a:solidFill>
                  <a:srgbClr val="5B6573"/>
                </a:solidFill>
                <a:latin typeface="Segoe UI"/>
                <a:cs typeface="Segoe UI"/>
              </a:rPr>
              <a:t>Hackathon Mobility × Citiz · Nos données, de A à Z</a:t>
            </a:r>
            <a:endParaRPr lang="fr-FR" sz="900" dirty="0"/>
          </a:p>
        </p:txBody>
      </p:sp>
      <p:sp>
        <p:nvSpPr>
          <p:cNvPr id="9" name="Forme 9"/>
          <p:cNvSpPr/>
          <p:nvPr/>
        </p:nvSpPr>
        <p:spPr>
          <a:xfrm>
            <a:off x="10360152" y="6492240"/>
            <a:ext cx="1371600" cy="256032"/>
          </a:xfrm>
          <a:prstGeom prst="rect">
            <a:avLst/>
          </a:prstGeom>
          <a:noFill/>
          <a:ln>
            <a:noFill/>
          </a:ln>
        </p:spPr>
        <p:txBody>
          <a:bodyPr wrap="square" lIns="18288" tIns="18288" rIns="18288" bIns="18288" anchor="t" rtlCol="0">
            <a:noAutofit/>
          </a:bodyPr>
          <a:lstStyle/>
          <a:p>
            <a:pPr algn="r">
              <a:lnSpc>
                <a:spcPct val="100000"/>
              </a:lnSpc>
              <a:spcBef>
                <a:spcPts val="0"/>
              </a:spcBef>
              <a:spcAft>
                <a:spcPts val="0"/>
              </a:spcAft>
              <a:buNone/>
            </a:pPr>
            <a:r>
              <a:rPr lang="fr-FR" sz="900" b="0" i="0" dirty="0">
                <a:solidFill>
                  <a:srgbClr val="5B6573"/>
                </a:solidFill>
                <a:latin typeface="Segoe UI"/>
                <a:cs typeface="Segoe UI"/>
              </a:rPr>
              <a:t>16</a:t>
            </a:r>
            <a:endParaRPr lang="fr-FR" sz="900" dirty="0"/>
          </a:p>
        </p:txBody>
      </p:sp>
      <p:sp>
        <p:nvSpPr>
          <p:cNvPr id="10" name="Forme 10"/>
          <p:cNvSpPr/>
          <p:nvPr/>
        </p:nvSpPr>
        <p:spPr>
          <a:xfrm>
            <a:off x="457200" y="1371600"/>
            <a:ext cx="3657600" cy="4937760"/>
          </a:xfrm>
          <a:prstGeom prst="roundRect">
            <a:avLst>
              <a:gd name="adj" fmla="val 3000"/>
            </a:avLst>
          </a:prstGeom>
          <a:solidFill>
            <a:srgbClr val="F4F6F9"/>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1" name="Forme 11"/>
          <p:cNvSpPr/>
          <p:nvPr/>
        </p:nvSpPr>
        <p:spPr>
          <a:xfrm>
            <a:off x="457200" y="1371600"/>
            <a:ext cx="3657600" cy="685800"/>
          </a:xfrm>
          <a:prstGeom prst="roundRect">
            <a:avLst>
              <a:gd name="adj" fmla="val 12000"/>
            </a:avLst>
          </a:prstGeom>
          <a:solidFill>
            <a:srgbClr val="E08E1B"/>
          </a:solidFill>
          <a:ln>
            <a:noFill/>
          </a:ln>
        </p:spPr>
        <p:txBody>
          <a:bodyPr wrap="square" lIns="164592" tIns="36576" rIns="109728" bIns="36576" anchor="ctr" rtlCol="0">
            <a:noAutofit/>
          </a:bodyPr>
          <a:lstStyle/>
          <a:p>
            <a:pPr algn="l">
              <a:lnSpc>
                <a:spcPct val="100000"/>
              </a:lnSpc>
              <a:spcBef>
                <a:spcPts val="0"/>
              </a:spcBef>
              <a:spcAft>
                <a:spcPts val="0"/>
              </a:spcAft>
              <a:buNone/>
            </a:pPr>
            <a:r>
              <a:rPr lang="fr-FR" sz="1250" b="1" i="0" dirty="0">
                <a:solidFill>
                  <a:srgbClr val="FFFFFF"/>
                </a:solidFill>
                <a:latin typeface="Segoe UI"/>
                <a:cs typeface="Segoe UI"/>
              </a:rPr>
              <a:t>4. Téléphérique : route_type et frequencies.txt</a:t>
            </a:r>
            <a:endParaRPr lang="fr-FR" sz="1250" dirty="0"/>
          </a:p>
        </p:txBody>
      </p:sp>
      <p:sp>
        <p:nvSpPr>
          <p:cNvPr id="12" name="Forme 12"/>
          <p:cNvSpPr/>
          <p:nvPr/>
        </p:nvSpPr>
        <p:spPr>
          <a:xfrm>
            <a:off x="621792" y="2148840"/>
            <a:ext cx="3364992" cy="219456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50" b="1" i="0" dirty="0">
                <a:solidFill>
                  <a:srgbClr val="E08E1B"/>
                </a:solidFill>
                <a:latin typeface="Segoe UI"/>
                <a:cs typeface="Segoe UI"/>
              </a:rPr>
              <a:t>PROBLÈME</a:t>
            </a:r>
            <a:endParaRPr lang="fr-FR" sz="950" dirty="0"/>
          </a:p>
          <a:p>
            <a:pPr algn="l">
              <a:lnSpc>
                <a:spcPct val="100000"/>
              </a:lnSpc>
              <a:spcBef>
                <a:spcPts val="100"/>
              </a:spcBef>
              <a:spcAft>
                <a:spcPts val="0"/>
              </a:spcAft>
              <a:buNone/>
            </a:pPr>
            <a:r>
              <a:rPr lang="fr-FR" sz="1150" b="0" i="0" dirty="0">
                <a:solidFill>
                  <a:srgbClr val="1F2933"/>
                </a:solidFill>
                <a:latin typeface="Segoe UI"/>
                <a:cs typeface="Segoe UI"/>
              </a:rPr>
              <a:t>Le téléphérique de la Bastille est codé « cable tram » (route_type 5) et ses horaires sont donnés « toutes les X minutes ».</a:t>
            </a:r>
            <a:endParaRPr lang="fr-FR" sz="1150" dirty="0"/>
          </a:p>
          <a:p>
            <a:pPr algn="l">
              <a:lnSpc>
                <a:spcPct val="100000"/>
              </a:lnSpc>
              <a:spcBef>
                <a:spcPts val="800"/>
              </a:spcBef>
              <a:spcAft>
                <a:spcPts val="0"/>
              </a:spcAft>
              <a:buNone/>
            </a:pPr>
            <a:r>
              <a:rPr lang="fr-FR" sz="950" b="1" i="0" dirty="0">
                <a:solidFill>
                  <a:srgbClr val="E08E1B"/>
                </a:solidFill>
                <a:latin typeface="Segoe UI"/>
                <a:cs typeface="Segoe UI"/>
              </a:rPr>
              <a:t>CE QU'ON FAIT</a:t>
            </a:r>
            <a:endParaRPr lang="fr-FR" sz="950" dirty="0"/>
          </a:p>
          <a:p>
            <a:pPr algn="l">
              <a:lnSpc>
                <a:spcPct val="100000"/>
              </a:lnSpc>
              <a:spcBef>
                <a:spcPts val="100"/>
              </a:spcBef>
              <a:spcAft>
                <a:spcPts val="0"/>
              </a:spcAft>
              <a:buNone/>
            </a:pPr>
            <a:r>
              <a:rPr lang="fr-FR" sz="1150" b="0" i="0" dirty="0">
                <a:solidFill>
                  <a:srgbClr val="1F2933"/>
                </a:solidFill>
                <a:latin typeface="Segoe UI"/>
                <a:cs typeface="Segoe UI"/>
              </a:rPr>
              <a:t>route_type 5, 6, 7 → téléphérique. </a:t>
            </a:r>
            <a:r>
              <a:rPr lang="fr-FR" sz="1150" b="0" i="0" dirty="0">
                <a:solidFill>
                  <a:srgbClr val="0B7A6E"/>
                </a:solidFill>
                <a:latin typeface="Consolas"/>
                <a:cs typeface="Consolas"/>
              </a:rPr>
              <a:t>frequencies.txt</a:t>
            </a:r>
            <a:r>
              <a:rPr lang="fr-FR" sz="1150" b="0" i="0" dirty="0">
                <a:solidFill>
                  <a:srgbClr val="1F2933"/>
                </a:solidFill>
                <a:latin typeface="Segoe UI"/>
                <a:cs typeface="Segoe UI"/>
              </a:rPr>
              <a:t> : départs = (fin − début) / intervalle. Les autocars SNCF (« OCECar ») sont remis en bus.</a:t>
            </a:r>
            <a:endParaRPr lang="fr-FR" sz="1150" dirty="0"/>
          </a:p>
        </p:txBody>
      </p:sp>
      <p:sp>
        <p:nvSpPr>
          <p:cNvPr id="13" name="Forme 13"/>
          <p:cNvSpPr/>
          <p:nvPr/>
        </p:nvSpPr>
        <p:spPr>
          <a:xfrm>
            <a:off x="594360" y="4434840"/>
            <a:ext cx="3383280" cy="1298448"/>
          </a:xfrm>
          <a:prstGeom prst="roundRect">
            <a:avLst>
              <a:gd name="adj" fmla="val 8000"/>
            </a:avLst>
          </a:prstGeom>
          <a:solidFill>
            <a:srgbClr val="FCE9C8"/>
          </a:solidFill>
          <a:ln>
            <a:noFill/>
          </a:ln>
        </p:spPr>
        <p:txBody>
          <a:bodyPr wrap="square" lIns="137160" tIns="45720" rIns="109728" bIns="45720" anchor="ctr" rtlCol="0">
            <a:noAutofit/>
          </a:bodyPr>
          <a:lstStyle/>
          <a:p>
            <a:pPr algn="l">
              <a:lnSpc>
                <a:spcPct val="100000"/>
              </a:lnSpc>
              <a:spcBef>
                <a:spcPts val="0"/>
              </a:spcBef>
              <a:spcAft>
                <a:spcPts val="0"/>
              </a:spcAft>
              <a:buNone/>
            </a:pPr>
            <a:r>
              <a:rPr lang="fr-FR" sz="1800" b="1" i="0" dirty="0">
                <a:solidFill>
                  <a:srgbClr val="A35F00"/>
                </a:solidFill>
                <a:latin typeface="Segoe UI"/>
                <a:cs typeface="Segoe UI"/>
              </a:rPr>
              <a:t>2 téléphériques</a:t>
            </a:r>
            <a:endParaRPr lang="fr-FR" sz="1800" dirty="0"/>
          </a:p>
          <a:p>
            <a:pPr algn="l">
              <a:lnSpc>
                <a:spcPct val="100000"/>
              </a:lnSpc>
              <a:spcBef>
                <a:spcPts val="200"/>
              </a:spcBef>
              <a:spcAft>
                <a:spcPts val="0"/>
              </a:spcAft>
              <a:buNone/>
            </a:pPr>
            <a:r>
              <a:rPr lang="fr-FR" sz="950" b="0" i="0" dirty="0">
                <a:solidFill>
                  <a:srgbClr val="1F2933"/>
                </a:solidFill>
                <a:latin typeface="Segoe UI"/>
                <a:cs typeface="Segoe UI"/>
              </a:rPr>
              <a:t>à Grenoble, avec leur vrai nombre de départs ; un trajet décrit une fois n'est plus compté 1 fois.</a:t>
            </a:r>
            <a:endParaRPr lang="fr-FR" sz="950" dirty="0"/>
          </a:p>
        </p:txBody>
      </p:sp>
      <p:sp>
        <p:nvSpPr>
          <p:cNvPr id="14" name="Forme 14"/>
          <p:cNvSpPr/>
          <p:nvPr/>
        </p:nvSpPr>
        <p:spPr>
          <a:xfrm>
            <a:off x="621792" y="5806440"/>
            <a:ext cx="3364992" cy="457200"/>
          </a:xfrm>
          <a:prstGeom prst="rect">
            <a:avLst/>
          </a:prstGeom>
          <a:noFill/>
          <a:ln>
            <a:noFill/>
          </a:ln>
        </p:spPr>
        <p:txBody>
          <a:bodyPr wrap="square" lIns="18288" tIns="18288" rIns="18288" bIns="18288" anchor="ctr" rtlCol="0">
            <a:noAutofit/>
          </a:bodyPr>
          <a:lstStyle/>
          <a:p>
            <a:pPr algn="l">
              <a:lnSpc>
                <a:spcPct val="100000"/>
              </a:lnSpc>
              <a:spcBef>
                <a:spcPts val="0"/>
              </a:spcBef>
              <a:spcAft>
                <a:spcPts val="0"/>
              </a:spcAft>
              <a:buNone/>
            </a:pPr>
            <a:r>
              <a:rPr lang="fr-FR" sz="900" b="0" i="0" dirty="0">
                <a:solidFill>
                  <a:srgbClr val="5B6573"/>
                </a:solidFill>
                <a:latin typeface="Consolas"/>
                <a:cs typeface="Consolas"/>
              </a:rPr>
              <a:t>offer.py › route_mode, trip_departures, STOP_MODE_OVERRIDES</a:t>
            </a:r>
            <a:endParaRPr lang="fr-FR" sz="900" dirty="0"/>
          </a:p>
        </p:txBody>
      </p:sp>
      <p:sp>
        <p:nvSpPr>
          <p:cNvPr id="15" name="Forme 15"/>
          <p:cNvSpPr/>
          <p:nvPr/>
        </p:nvSpPr>
        <p:spPr>
          <a:xfrm>
            <a:off x="4270248" y="1371600"/>
            <a:ext cx="3657600" cy="4937760"/>
          </a:xfrm>
          <a:prstGeom prst="roundRect">
            <a:avLst>
              <a:gd name="adj" fmla="val 3000"/>
            </a:avLst>
          </a:prstGeom>
          <a:solidFill>
            <a:srgbClr val="F4F6F9"/>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6" name="Forme 16"/>
          <p:cNvSpPr/>
          <p:nvPr/>
        </p:nvSpPr>
        <p:spPr>
          <a:xfrm>
            <a:off x="4270248" y="1371600"/>
            <a:ext cx="3657600" cy="685800"/>
          </a:xfrm>
          <a:prstGeom prst="roundRect">
            <a:avLst>
              <a:gd name="adj" fmla="val 12000"/>
            </a:avLst>
          </a:prstGeom>
          <a:solidFill>
            <a:srgbClr val="E08E1B"/>
          </a:solidFill>
          <a:ln>
            <a:noFill/>
          </a:ln>
        </p:spPr>
        <p:txBody>
          <a:bodyPr wrap="square" lIns="164592" tIns="36576" rIns="109728" bIns="36576" anchor="ctr" rtlCol="0">
            <a:noAutofit/>
          </a:bodyPr>
          <a:lstStyle/>
          <a:p>
            <a:pPr algn="l">
              <a:lnSpc>
                <a:spcPct val="100000"/>
              </a:lnSpc>
              <a:spcBef>
                <a:spcPts val="0"/>
              </a:spcBef>
              <a:spcAft>
                <a:spcPts val="0"/>
              </a:spcAft>
              <a:buNone/>
            </a:pPr>
            <a:r>
              <a:rPr lang="fr-FR" sz="1250" b="1" i="0" dirty="0">
                <a:solidFill>
                  <a:srgbClr val="FFFFFF"/>
                </a:solidFill>
                <a:latin typeface="Segoe UI"/>
                <a:cs typeface="Segoe UI"/>
              </a:rPr>
              <a:t>5. Coordonnées aberrantes</a:t>
            </a:r>
            <a:endParaRPr lang="fr-FR" sz="1250" dirty="0"/>
          </a:p>
        </p:txBody>
      </p:sp>
      <p:sp>
        <p:nvSpPr>
          <p:cNvPr id="17" name="Forme 17"/>
          <p:cNvSpPr/>
          <p:nvPr/>
        </p:nvSpPr>
        <p:spPr>
          <a:xfrm>
            <a:off x="4434840" y="2148840"/>
            <a:ext cx="3364992" cy="219456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50" b="1" i="0" dirty="0">
                <a:solidFill>
                  <a:srgbClr val="E08E1B"/>
                </a:solidFill>
                <a:latin typeface="Segoe UI"/>
                <a:cs typeface="Segoe UI"/>
              </a:rPr>
              <a:t>PROBLÈME</a:t>
            </a:r>
            <a:endParaRPr lang="fr-FR" sz="950" dirty="0"/>
          </a:p>
          <a:p>
            <a:pPr algn="l">
              <a:lnSpc>
                <a:spcPct val="100000"/>
              </a:lnSpc>
              <a:spcBef>
                <a:spcPts val="100"/>
              </a:spcBef>
              <a:spcAft>
                <a:spcPts val="0"/>
              </a:spcAft>
              <a:buNone/>
            </a:pPr>
            <a:r>
              <a:rPr lang="fr-FR" sz="1150" b="0" i="0" dirty="0">
                <a:solidFill>
                  <a:srgbClr val="1F2933"/>
                </a:solidFill>
                <a:latin typeface="Segoe UI"/>
                <a:cs typeface="Segoe UI"/>
              </a:rPr>
              <a:t>Des points en (0, 0) ou au milieu de l'océan, fréquents en open data.</a:t>
            </a:r>
            <a:endParaRPr lang="fr-FR" sz="1150" dirty="0"/>
          </a:p>
          <a:p>
            <a:pPr algn="l">
              <a:lnSpc>
                <a:spcPct val="100000"/>
              </a:lnSpc>
              <a:spcBef>
                <a:spcPts val="800"/>
              </a:spcBef>
              <a:spcAft>
                <a:spcPts val="0"/>
              </a:spcAft>
              <a:buNone/>
            </a:pPr>
            <a:r>
              <a:rPr lang="fr-FR" sz="950" b="1" i="0" dirty="0">
                <a:solidFill>
                  <a:srgbClr val="E08E1B"/>
                </a:solidFill>
                <a:latin typeface="Segoe UI"/>
                <a:cs typeface="Segoe UI"/>
              </a:rPr>
              <a:t>CE QU'ON FAIT</a:t>
            </a:r>
            <a:endParaRPr lang="fr-FR" sz="950" dirty="0"/>
          </a:p>
          <a:p>
            <a:pPr algn="l">
              <a:lnSpc>
                <a:spcPct val="100000"/>
              </a:lnSpc>
              <a:spcBef>
                <a:spcPts val="100"/>
              </a:spcBef>
              <a:spcAft>
                <a:spcPts val="0"/>
              </a:spcAft>
              <a:buNone/>
            </a:pPr>
            <a:r>
              <a:rPr lang="fr-FR" sz="1150" b="0" i="0" dirty="0">
                <a:solidFill>
                  <a:srgbClr val="1F2933"/>
                </a:solidFill>
                <a:latin typeface="Segoe UI"/>
                <a:cs typeface="Segoe UI"/>
              </a:rPr>
              <a:t>On ne garde que les points dans l'emprise de la métropole (ou de chacun des 5 DROM au national). </a:t>
            </a:r>
            <a:r>
              <a:rPr lang="fr-FR" sz="1150" b="0" i="0" dirty="0">
                <a:solidFill>
                  <a:srgbClr val="0B7A6E"/>
                </a:solidFill>
                <a:latin typeface="Consolas"/>
                <a:cs typeface="Consolas"/>
              </a:rPr>
              <a:t>check_data.py</a:t>
            </a:r>
            <a:r>
              <a:rPr lang="fr-FR" sz="1150" b="0" i="0" dirty="0">
                <a:solidFill>
                  <a:srgbClr val="1F2933"/>
                </a:solidFill>
                <a:latin typeface="Segoe UI"/>
                <a:cs typeface="Segoe UI"/>
              </a:rPr>
              <a:t> signale aussi les stations Citiz aberrantes.</a:t>
            </a:r>
            <a:endParaRPr lang="fr-FR" sz="1150" dirty="0"/>
          </a:p>
        </p:txBody>
      </p:sp>
      <p:sp>
        <p:nvSpPr>
          <p:cNvPr id="18" name="Forme 18"/>
          <p:cNvSpPr/>
          <p:nvPr/>
        </p:nvSpPr>
        <p:spPr>
          <a:xfrm>
            <a:off x="4407408" y="4434840"/>
            <a:ext cx="3383280" cy="1298448"/>
          </a:xfrm>
          <a:prstGeom prst="roundRect">
            <a:avLst>
              <a:gd name="adj" fmla="val 8000"/>
            </a:avLst>
          </a:prstGeom>
          <a:solidFill>
            <a:srgbClr val="FCE9C8"/>
          </a:solidFill>
          <a:ln>
            <a:noFill/>
          </a:ln>
        </p:spPr>
        <p:txBody>
          <a:bodyPr wrap="square" lIns="137160" tIns="45720" rIns="109728" bIns="45720" anchor="ctr" rtlCol="0">
            <a:noAutofit/>
          </a:bodyPr>
          <a:lstStyle/>
          <a:p>
            <a:pPr algn="l">
              <a:lnSpc>
                <a:spcPct val="100000"/>
              </a:lnSpc>
              <a:spcBef>
                <a:spcPts val="0"/>
              </a:spcBef>
              <a:spcAft>
                <a:spcPts val="0"/>
              </a:spcAft>
              <a:buNone/>
            </a:pPr>
            <a:r>
              <a:rPr lang="fr-FR" sz="1800" b="1" i="0" dirty="0">
                <a:solidFill>
                  <a:srgbClr val="A35F00"/>
                </a:solidFill>
                <a:latin typeface="Segoe UI"/>
                <a:cs typeface="Segoe UI"/>
              </a:rPr>
              <a:t>6 emprises</a:t>
            </a:r>
            <a:endParaRPr lang="fr-FR" sz="1800" dirty="0"/>
          </a:p>
          <a:p>
            <a:pPr algn="l">
              <a:lnSpc>
                <a:spcPct val="100000"/>
              </a:lnSpc>
              <a:spcBef>
                <a:spcPts val="200"/>
              </a:spcBef>
              <a:spcAft>
                <a:spcPts val="0"/>
              </a:spcAft>
              <a:buNone/>
            </a:pPr>
            <a:r>
              <a:rPr lang="fr-FR" sz="950" b="0" i="0" dirty="0">
                <a:solidFill>
                  <a:srgbClr val="1F2933"/>
                </a:solidFill>
                <a:latin typeface="Segoe UI"/>
                <a:cs typeface="Segoe UI"/>
              </a:rPr>
              <a:t>métropole, Guadeloupe, Martinique, Guyane, Réunion, Mayotte : tout point hors emprise est écarté.</a:t>
            </a:r>
            <a:endParaRPr lang="fr-FR" sz="950" dirty="0"/>
          </a:p>
        </p:txBody>
      </p:sp>
      <p:sp>
        <p:nvSpPr>
          <p:cNvPr id="19" name="Forme 19"/>
          <p:cNvSpPr/>
          <p:nvPr/>
        </p:nvSpPr>
        <p:spPr>
          <a:xfrm>
            <a:off x="4434840" y="5806440"/>
            <a:ext cx="3364992" cy="457200"/>
          </a:xfrm>
          <a:prstGeom prst="rect">
            <a:avLst/>
          </a:prstGeom>
          <a:noFill/>
          <a:ln>
            <a:noFill/>
          </a:ln>
        </p:spPr>
        <p:txBody>
          <a:bodyPr wrap="square" lIns="18288" tIns="18288" rIns="18288" bIns="18288" anchor="ctr" rtlCol="0">
            <a:noAutofit/>
          </a:bodyPr>
          <a:lstStyle/>
          <a:p>
            <a:pPr algn="l">
              <a:lnSpc>
                <a:spcPct val="100000"/>
              </a:lnSpc>
              <a:spcBef>
                <a:spcPts val="0"/>
              </a:spcBef>
              <a:spcAft>
                <a:spcPts val="0"/>
              </a:spcAft>
              <a:buNone/>
            </a:pPr>
            <a:r>
              <a:rPr lang="fr-FR" sz="900" b="0" i="0" dirty="0">
                <a:solidFill>
                  <a:srgbClr val="5B6573"/>
                </a:solidFill>
                <a:latin typeface="Consolas"/>
                <a:cs typeface="Consolas"/>
              </a:rPr>
              <a:t>geo.py › valid_coords · national/common.py › bbox_territory</a:t>
            </a:r>
            <a:endParaRPr lang="fr-FR" sz="900" dirty="0"/>
          </a:p>
        </p:txBody>
      </p:sp>
      <p:sp>
        <p:nvSpPr>
          <p:cNvPr id="20" name="Forme 20"/>
          <p:cNvSpPr/>
          <p:nvPr/>
        </p:nvSpPr>
        <p:spPr>
          <a:xfrm>
            <a:off x="8083296" y="1371600"/>
            <a:ext cx="3657600" cy="4937760"/>
          </a:xfrm>
          <a:prstGeom prst="roundRect">
            <a:avLst>
              <a:gd name="adj" fmla="val 3000"/>
            </a:avLst>
          </a:prstGeom>
          <a:solidFill>
            <a:srgbClr val="F4F6F9"/>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21" name="Forme 21"/>
          <p:cNvSpPr/>
          <p:nvPr/>
        </p:nvSpPr>
        <p:spPr>
          <a:xfrm>
            <a:off x="8083296" y="1371600"/>
            <a:ext cx="3657600" cy="685800"/>
          </a:xfrm>
          <a:prstGeom prst="roundRect">
            <a:avLst>
              <a:gd name="adj" fmla="val 12000"/>
            </a:avLst>
          </a:prstGeom>
          <a:solidFill>
            <a:srgbClr val="E08E1B"/>
          </a:solidFill>
          <a:ln>
            <a:noFill/>
          </a:ln>
        </p:spPr>
        <p:txBody>
          <a:bodyPr wrap="square" lIns="164592" tIns="36576" rIns="109728" bIns="36576" anchor="ctr" rtlCol="0">
            <a:noAutofit/>
          </a:bodyPr>
          <a:lstStyle/>
          <a:p>
            <a:pPr algn="l">
              <a:lnSpc>
                <a:spcPct val="100000"/>
              </a:lnSpc>
              <a:spcBef>
                <a:spcPts val="0"/>
              </a:spcBef>
              <a:spcAft>
                <a:spcPts val="0"/>
              </a:spcAft>
              <a:buNone/>
            </a:pPr>
            <a:r>
              <a:rPr lang="fr-FR" sz="1250" b="1" i="0" dirty="0">
                <a:solidFill>
                  <a:srgbClr val="FFFFFF"/>
                </a:solidFill>
                <a:latin typeface="Segoe UI"/>
                <a:cs typeface="Segoe UI"/>
              </a:rPr>
              <a:t>6. Calage de la population</a:t>
            </a:r>
            <a:endParaRPr lang="fr-FR" sz="1250" dirty="0"/>
          </a:p>
        </p:txBody>
      </p:sp>
      <p:sp>
        <p:nvSpPr>
          <p:cNvPr id="22" name="Forme 22"/>
          <p:cNvSpPr/>
          <p:nvPr/>
        </p:nvSpPr>
        <p:spPr>
          <a:xfrm>
            <a:off x="8247888" y="2148840"/>
            <a:ext cx="3364992" cy="219456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50" b="1" i="0" dirty="0">
                <a:solidFill>
                  <a:srgbClr val="E08E1B"/>
                </a:solidFill>
                <a:latin typeface="Segoe UI"/>
                <a:cs typeface="Segoe UI"/>
              </a:rPr>
              <a:t>PROBLÈME</a:t>
            </a:r>
            <a:endParaRPr lang="fr-FR" sz="950" dirty="0"/>
          </a:p>
          <a:p>
            <a:pPr algn="l">
              <a:lnSpc>
                <a:spcPct val="100000"/>
              </a:lnSpc>
              <a:spcBef>
                <a:spcPts val="100"/>
              </a:spcBef>
              <a:spcAft>
                <a:spcPts val="0"/>
              </a:spcAft>
              <a:buNone/>
            </a:pPr>
            <a:r>
              <a:rPr lang="fr-FR" sz="1150" b="0" i="0" dirty="0">
                <a:solidFill>
                  <a:srgbClr val="1F2933"/>
                </a:solidFill>
                <a:latin typeface="Segoe UI"/>
                <a:cs typeface="Segoe UI"/>
              </a:rPr>
              <a:t>Filosofi ne compte que les ménages fiscaux ordinaires : il manque étudiants en résidence, foyers, EHPAD, soit −10 % à Grenoble.</a:t>
            </a:r>
            <a:endParaRPr lang="fr-FR" sz="1150" dirty="0"/>
          </a:p>
          <a:p>
            <a:pPr algn="l">
              <a:lnSpc>
                <a:spcPct val="100000"/>
              </a:lnSpc>
              <a:spcBef>
                <a:spcPts val="800"/>
              </a:spcBef>
              <a:spcAft>
                <a:spcPts val="0"/>
              </a:spcAft>
              <a:buNone/>
            </a:pPr>
            <a:r>
              <a:rPr lang="fr-FR" sz="950" b="1" i="0" dirty="0">
                <a:solidFill>
                  <a:srgbClr val="E08E1B"/>
                </a:solidFill>
                <a:latin typeface="Segoe UI"/>
                <a:cs typeface="Segoe UI"/>
              </a:rPr>
              <a:t>CE QU'ON FAIT</a:t>
            </a:r>
            <a:endParaRPr lang="fr-FR" sz="950" dirty="0"/>
          </a:p>
          <a:p>
            <a:pPr algn="l">
              <a:lnSpc>
                <a:spcPct val="100000"/>
              </a:lnSpc>
              <a:spcBef>
                <a:spcPts val="100"/>
              </a:spcBef>
              <a:spcAft>
                <a:spcPts val="0"/>
              </a:spcAft>
              <a:buNone/>
            </a:pPr>
            <a:r>
              <a:rPr lang="fr-FR" sz="1150" b="0" i="0" dirty="0">
                <a:solidFill>
                  <a:srgbClr val="0B7A6E"/>
                </a:solidFill>
                <a:latin typeface="Consolas"/>
                <a:cs typeface="Consolas"/>
              </a:rPr>
              <a:t>pop_calee = ind × population du recensement de la commune / Σ ind de la commune</a:t>
            </a:r>
            <a:r>
              <a:rPr lang="fr-FR" sz="1150" b="0" i="0" dirty="0">
                <a:solidFill>
                  <a:srgbClr val="1F2933"/>
                </a:solidFill>
                <a:latin typeface="Segoe UI"/>
                <a:cs typeface="Segoe UI"/>
              </a:rPr>
              <a:t>. La répartition dans la commune reste celle de Filosofi.</a:t>
            </a:r>
            <a:endParaRPr lang="fr-FR" sz="1150" dirty="0"/>
          </a:p>
        </p:txBody>
      </p:sp>
      <p:sp>
        <p:nvSpPr>
          <p:cNvPr id="23" name="Forme 23"/>
          <p:cNvSpPr/>
          <p:nvPr/>
        </p:nvSpPr>
        <p:spPr>
          <a:xfrm>
            <a:off x="8220456" y="4434840"/>
            <a:ext cx="3383280" cy="1298448"/>
          </a:xfrm>
          <a:prstGeom prst="roundRect">
            <a:avLst>
              <a:gd name="adj" fmla="val 8000"/>
            </a:avLst>
          </a:prstGeom>
          <a:solidFill>
            <a:srgbClr val="FCE9C8"/>
          </a:solidFill>
          <a:ln>
            <a:noFill/>
          </a:ln>
        </p:spPr>
        <p:txBody>
          <a:bodyPr wrap="square" lIns="137160" tIns="45720" rIns="109728" bIns="45720" anchor="ctr" rtlCol="0">
            <a:noAutofit/>
          </a:bodyPr>
          <a:lstStyle/>
          <a:p>
            <a:pPr algn="l">
              <a:lnSpc>
                <a:spcPct val="100000"/>
              </a:lnSpc>
              <a:spcBef>
                <a:spcPts val="0"/>
              </a:spcBef>
              <a:spcAft>
                <a:spcPts val="0"/>
              </a:spcAft>
              <a:buNone/>
            </a:pPr>
            <a:r>
              <a:rPr lang="fr-FR" sz="1800" b="1" i="0" dirty="0">
                <a:solidFill>
                  <a:srgbClr val="A35F00"/>
                </a:solidFill>
                <a:latin typeface="Segoe UI"/>
                <a:cs typeface="Segoe UI"/>
              </a:rPr>
              <a:t>625 546 → 689 456</a:t>
            </a:r>
            <a:endParaRPr lang="fr-FR" sz="1800" dirty="0"/>
          </a:p>
          <a:p>
            <a:pPr algn="l">
              <a:lnSpc>
                <a:spcPct val="100000"/>
              </a:lnSpc>
              <a:spcBef>
                <a:spcPts val="200"/>
              </a:spcBef>
              <a:spcAft>
                <a:spcPts val="0"/>
              </a:spcAft>
              <a:buNone/>
            </a:pPr>
            <a:r>
              <a:rPr lang="fr-FR" sz="950" b="0" i="0" dirty="0">
                <a:solidFill>
                  <a:srgbClr val="1F2933"/>
                </a:solidFill>
                <a:latin typeface="Segoe UI"/>
                <a:cs typeface="Segoe UI"/>
              </a:rPr>
              <a:t>habitants à Nantes (= le recensement). Grenoble 406 039 → 450 608 ; France 63,8 M → 67,4 M.</a:t>
            </a:r>
            <a:endParaRPr lang="fr-FR" sz="950" dirty="0"/>
          </a:p>
        </p:txBody>
      </p:sp>
      <p:sp>
        <p:nvSpPr>
          <p:cNvPr id="24" name="Forme 24"/>
          <p:cNvSpPr/>
          <p:nvPr/>
        </p:nvSpPr>
        <p:spPr>
          <a:xfrm>
            <a:off x="8247888" y="5806440"/>
            <a:ext cx="3364992" cy="457200"/>
          </a:xfrm>
          <a:prstGeom prst="rect">
            <a:avLst/>
          </a:prstGeom>
          <a:noFill/>
          <a:ln>
            <a:noFill/>
          </a:ln>
        </p:spPr>
        <p:txBody>
          <a:bodyPr wrap="square" lIns="18288" tIns="18288" rIns="18288" bIns="18288" anchor="ctr" rtlCol="0">
            <a:noAutofit/>
          </a:bodyPr>
          <a:lstStyle/>
          <a:p>
            <a:pPr algn="l">
              <a:lnSpc>
                <a:spcPct val="100000"/>
              </a:lnSpc>
              <a:spcBef>
                <a:spcPts val="0"/>
              </a:spcBef>
              <a:spcAft>
                <a:spcPts val="0"/>
              </a:spcAft>
              <a:buNone/>
            </a:pPr>
            <a:r>
              <a:rPr lang="fr-FR" sz="900" b="0" i="0" dirty="0">
                <a:solidFill>
                  <a:srgbClr val="5B6573"/>
                </a:solidFill>
                <a:latin typeface="Consolas"/>
                <a:cs typeface="Consolas"/>
              </a:rPr>
              <a:t>population.py › calage</a:t>
            </a:r>
            <a:endParaRPr lang="fr-FR"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rme 3"/>
          <p:cNvSpPr/>
          <p:nvPr/>
        </p:nvSpPr>
        <p:spPr>
          <a:xfrm>
            <a:off x="0" y="0"/>
            <a:ext cx="128016" cy="6858000"/>
          </a:xfrm>
          <a:prstGeom prst="rect">
            <a:avLst/>
          </a:prstGeom>
          <a:solidFill>
            <a:srgbClr val="E08E1B"/>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4" name="Forme 4"/>
          <p:cNvSpPr/>
          <p:nvPr/>
        </p:nvSpPr>
        <p:spPr>
          <a:xfrm>
            <a:off x="457200" y="256032"/>
            <a:ext cx="7315200" cy="2743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050" b="1" i="0" dirty="0">
                <a:solidFill>
                  <a:srgbClr val="E08E1B"/>
                </a:solidFill>
                <a:latin typeface="Segoe UI"/>
                <a:cs typeface="Segoe UI"/>
              </a:rPr>
              <a:t>PARTIE 4 · LE NETTOYAGE</a:t>
            </a:r>
            <a:endParaRPr lang="fr-FR" sz="1050" dirty="0"/>
          </a:p>
        </p:txBody>
      </p:sp>
      <p:sp>
        <p:nvSpPr>
          <p:cNvPr id="5" name="Forme 5"/>
          <p:cNvSpPr/>
          <p:nvPr/>
        </p:nvSpPr>
        <p:spPr>
          <a:xfrm>
            <a:off x="457200" y="502920"/>
            <a:ext cx="11247120" cy="5486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2500" b="1" i="0" dirty="0">
                <a:solidFill>
                  <a:srgbClr val="14213D"/>
                </a:solidFill>
                <a:latin typeface="Segoe UI"/>
                <a:cs typeface="Segoe UI"/>
              </a:rPr>
              <a:t>Le nettoyage, étape par étape (3/3)</a:t>
            </a:r>
            <a:endParaRPr lang="fr-FR" sz="2500" dirty="0"/>
          </a:p>
        </p:txBody>
      </p:sp>
      <p:sp>
        <p:nvSpPr>
          <p:cNvPr id="6" name="Forme 6"/>
          <p:cNvSpPr/>
          <p:nvPr/>
        </p:nvSpPr>
        <p:spPr>
          <a:xfrm>
            <a:off x="457200" y="987552"/>
            <a:ext cx="11247120" cy="3200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250" b="0" i="0" dirty="0">
                <a:solidFill>
                  <a:srgbClr val="5B6573"/>
                </a:solidFill>
                <a:latin typeface="Segoe UI"/>
                <a:cs typeface="Segoe UI"/>
              </a:rPr>
              <a:t>Pour chaque traitement : le problème, ce qu'on fait, le résultat chiffré, le code.</a:t>
            </a:r>
            <a:endParaRPr lang="fr-FR" sz="1250" dirty="0"/>
          </a:p>
        </p:txBody>
      </p:sp>
      <p:sp>
        <p:nvSpPr>
          <p:cNvPr id="7" name="Forme 7"/>
          <p:cNvSpPr/>
          <p:nvPr/>
        </p:nvSpPr>
        <p:spPr>
          <a:xfrm>
            <a:off x="457200" y="6446520"/>
            <a:ext cx="11274552" cy="10973"/>
          </a:xfrm>
          <a:prstGeom prst="rect">
            <a:avLst/>
          </a:prstGeom>
          <a:solidFill>
            <a:srgbClr val="D5DAE1"/>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8" name="Forme 8"/>
          <p:cNvSpPr/>
          <p:nvPr/>
        </p:nvSpPr>
        <p:spPr>
          <a:xfrm>
            <a:off x="457200" y="6492240"/>
            <a:ext cx="7315200" cy="256032"/>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00" b="0" i="0" dirty="0">
                <a:solidFill>
                  <a:srgbClr val="5B6573"/>
                </a:solidFill>
                <a:latin typeface="Segoe UI"/>
                <a:cs typeface="Segoe UI"/>
              </a:rPr>
              <a:t>Hackathon Mobility × Citiz · Nos données, de A à Z</a:t>
            </a:r>
            <a:endParaRPr lang="fr-FR" sz="900" dirty="0"/>
          </a:p>
        </p:txBody>
      </p:sp>
      <p:sp>
        <p:nvSpPr>
          <p:cNvPr id="9" name="Forme 9"/>
          <p:cNvSpPr/>
          <p:nvPr/>
        </p:nvSpPr>
        <p:spPr>
          <a:xfrm>
            <a:off x="10360152" y="6492240"/>
            <a:ext cx="1371600" cy="256032"/>
          </a:xfrm>
          <a:prstGeom prst="rect">
            <a:avLst/>
          </a:prstGeom>
          <a:noFill/>
          <a:ln>
            <a:noFill/>
          </a:ln>
        </p:spPr>
        <p:txBody>
          <a:bodyPr wrap="square" lIns="18288" tIns="18288" rIns="18288" bIns="18288" anchor="t" rtlCol="0">
            <a:noAutofit/>
          </a:bodyPr>
          <a:lstStyle/>
          <a:p>
            <a:pPr algn="r">
              <a:lnSpc>
                <a:spcPct val="100000"/>
              </a:lnSpc>
              <a:spcBef>
                <a:spcPts val="0"/>
              </a:spcBef>
              <a:spcAft>
                <a:spcPts val="0"/>
              </a:spcAft>
              <a:buNone/>
            </a:pPr>
            <a:r>
              <a:rPr lang="fr-FR" sz="900" b="0" i="0" dirty="0">
                <a:solidFill>
                  <a:srgbClr val="5B6573"/>
                </a:solidFill>
                <a:latin typeface="Segoe UI"/>
                <a:cs typeface="Segoe UI"/>
              </a:rPr>
              <a:t>17</a:t>
            </a:r>
            <a:endParaRPr lang="fr-FR" sz="900" dirty="0"/>
          </a:p>
        </p:txBody>
      </p:sp>
      <p:sp>
        <p:nvSpPr>
          <p:cNvPr id="10" name="Forme 10"/>
          <p:cNvSpPr/>
          <p:nvPr/>
        </p:nvSpPr>
        <p:spPr>
          <a:xfrm>
            <a:off x="457200" y="1371600"/>
            <a:ext cx="3657600" cy="4937760"/>
          </a:xfrm>
          <a:prstGeom prst="roundRect">
            <a:avLst>
              <a:gd name="adj" fmla="val 3000"/>
            </a:avLst>
          </a:prstGeom>
          <a:solidFill>
            <a:srgbClr val="F4F6F9"/>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1" name="Forme 11"/>
          <p:cNvSpPr/>
          <p:nvPr/>
        </p:nvSpPr>
        <p:spPr>
          <a:xfrm>
            <a:off x="457200" y="1371600"/>
            <a:ext cx="3657600" cy="685800"/>
          </a:xfrm>
          <a:prstGeom prst="roundRect">
            <a:avLst>
              <a:gd name="adj" fmla="val 12000"/>
            </a:avLst>
          </a:prstGeom>
          <a:solidFill>
            <a:srgbClr val="E08E1B"/>
          </a:solidFill>
          <a:ln>
            <a:noFill/>
          </a:ln>
        </p:spPr>
        <p:txBody>
          <a:bodyPr wrap="square" lIns="164592" tIns="36576" rIns="109728" bIns="36576" anchor="ctr" rtlCol="0">
            <a:noAutofit/>
          </a:bodyPr>
          <a:lstStyle/>
          <a:p>
            <a:pPr algn="l">
              <a:lnSpc>
                <a:spcPct val="100000"/>
              </a:lnSpc>
              <a:spcBef>
                <a:spcPts val="0"/>
              </a:spcBef>
              <a:spcAft>
                <a:spcPts val="0"/>
              </a:spcAft>
              <a:buNone/>
            </a:pPr>
            <a:r>
              <a:rPr lang="fr-FR" sz="1250" b="1" i="0" dirty="0">
                <a:solidFill>
                  <a:srgbClr val="FFFFFF"/>
                </a:solidFill>
                <a:latin typeface="Segoe UI"/>
                <a:cs typeface="Segoe UI"/>
              </a:rPr>
              <a:t>7. Motorisation par IRIS, repli commune</a:t>
            </a:r>
            <a:endParaRPr lang="fr-FR" sz="1250" dirty="0"/>
          </a:p>
        </p:txBody>
      </p:sp>
      <p:sp>
        <p:nvSpPr>
          <p:cNvPr id="12" name="Forme 12"/>
          <p:cNvSpPr/>
          <p:nvPr/>
        </p:nvSpPr>
        <p:spPr>
          <a:xfrm>
            <a:off x="621792" y="2148840"/>
            <a:ext cx="3364992" cy="219456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50" b="1" i="0" dirty="0">
                <a:solidFill>
                  <a:srgbClr val="E08E1B"/>
                </a:solidFill>
                <a:latin typeface="Segoe UI"/>
                <a:cs typeface="Segoe UI"/>
              </a:rPr>
              <a:t>PROBLÈME</a:t>
            </a:r>
            <a:endParaRPr lang="fr-FR" sz="950" dirty="0"/>
          </a:p>
          <a:p>
            <a:pPr algn="l">
              <a:lnSpc>
                <a:spcPct val="100000"/>
              </a:lnSpc>
              <a:spcBef>
                <a:spcPts val="100"/>
              </a:spcBef>
              <a:spcAft>
                <a:spcPts val="0"/>
              </a:spcAft>
              <a:buNone/>
            </a:pPr>
            <a:r>
              <a:rPr lang="fr-FR" sz="1150" b="0" i="0" dirty="0">
                <a:solidFill>
                  <a:srgbClr val="1F2933"/>
                </a:solidFill>
                <a:latin typeface="Segoe UI"/>
                <a:cs typeface="Segoe UI"/>
              </a:rPr>
              <a:t>La part de ménages sans voiture existe par IRIS 2023, mais des IRIS ont été redécoupés depuis, et les petites communes n'en ont pas.</a:t>
            </a:r>
            <a:endParaRPr lang="fr-FR" sz="1150" dirty="0"/>
          </a:p>
          <a:p>
            <a:pPr algn="l">
              <a:lnSpc>
                <a:spcPct val="100000"/>
              </a:lnSpc>
              <a:spcBef>
                <a:spcPts val="800"/>
              </a:spcBef>
              <a:spcAft>
                <a:spcPts val="0"/>
              </a:spcAft>
              <a:buNone/>
            </a:pPr>
            <a:r>
              <a:rPr lang="fr-FR" sz="950" b="1" i="0" dirty="0">
                <a:solidFill>
                  <a:srgbClr val="E08E1B"/>
                </a:solidFill>
                <a:latin typeface="Segoe UI"/>
                <a:cs typeface="Segoe UI"/>
              </a:rPr>
              <a:t>CE QU'ON FAIT</a:t>
            </a:r>
            <a:endParaRPr lang="fr-FR" sz="950" dirty="0"/>
          </a:p>
          <a:p>
            <a:pPr algn="l">
              <a:lnSpc>
                <a:spcPct val="100000"/>
              </a:lnSpc>
              <a:spcBef>
                <a:spcPts val="100"/>
              </a:spcBef>
              <a:spcAft>
                <a:spcPts val="0"/>
              </a:spcAft>
              <a:buNone/>
            </a:pPr>
            <a:r>
              <a:rPr lang="fr-FR" sz="1150" b="0" i="0" dirty="0">
                <a:solidFill>
                  <a:srgbClr val="1F2933"/>
                </a:solidFill>
                <a:latin typeface="Segoe UI"/>
                <a:cs typeface="Segoe UI"/>
              </a:rPr>
              <a:t>Centre du carreau → IRIS 2026 (IGN) → valeur IRIS 2023 ; sinon, </a:t>
            </a:r>
            <a:r>
              <a:rPr lang="fr-FR" sz="1150" b="1" i="0" dirty="0">
                <a:solidFill>
                  <a:srgbClr val="1F2933"/>
                </a:solidFill>
                <a:latin typeface="Segoe UI"/>
                <a:cs typeface="Segoe UI"/>
              </a:rPr>
              <a:t>valeur de la commune</a:t>
            </a:r>
            <a:r>
              <a:rPr lang="fr-FR" sz="1150" b="0" i="0" dirty="0">
                <a:solidFill>
                  <a:srgbClr val="1F2933"/>
                </a:solidFill>
                <a:latin typeface="Segoe UI"/>
                <a:cs typeface="Segoe UI"/>
              </a:rPr>
              <a:t>. La source est notée (</a:t>
            </a:r>
            <a:r>
              <a:rPr lang="fr-FR" sz="1150" b="0" i="0" dirty="0">
                <a:solidFill>
                  <a:srgbClr val="0B7A6E"/>
                </a:solidFill>
                <a:latin typeface="Consolas"/>
                <a:cs typeface="Consolas"/>
              </a:rPr>
              <a:t>motorisation_source</a:t>
            </a:r>
            <a:r>
              <a:rPr lang="fr-FR" sz="1150" b="0" i="0" dirty="0">
                <a:solidFill>
                  <a:srgbClr val="1F2933"/>
                </a:solidFill>
                <a:latin typeface="Segoe UI"/>
                <a:cs typeface="Segoe UI"/>
              </a:rPr>
              <a:t>).</a:t>
            </a:r>
            <a:endParaRPr lang="fr-FR" sz="1150" dirty="0"/>
          </a:p>
        </p:txBody>
      </p:sp>
      <p:sp>
        <p:nvSpPr>
          <p:cNvPr id="13" name="Forme 13"/>
          <p:cNvSpPr/>
          <p:nvPr/>
        </p:nvSpPr>
        <p:spPr>
          <a:xfrm>
            <a:off x="594360" y="4434840"/>
            <a:ext cx="3383280" cy="1298448"/>
          </a:xfrm>
          <a:prstGeom prst="roundRect">
            <a:avLst>
              <a:gd name="adj" fmla="val 8000"/>
            </a:avLst>
          </a:prstGeom>
          <a:solidFill>
            <a:srgbClr val="FCE9C8"/>
          </a:solidFill>
          <a:ln>
            <a:noFill/>
          </a:ln>
        </p:spPr>
        <p:txBody>
          <a:bodyPr wrap="square" lIns="137160" tIns="45720" rIns="109728" bIns="45720" anchor="ctr" rtlCol="0">
            <a:noAutofit/>
          </a:bodyPr>
          <a:lstStyle/>
          <a:p>
            <a:pPr algn="l">
              <a:lnSpc>
                <a:spcPct val="100000"/>
              </a:lnSpc>
              <a:spcBef>
                <a:spcPts val="0"/>
              </a:spcBef>
              <a:spcAft>
                <a:spcPts val="0"/>
              </a:spcAft>
              <a:buNone/>
            </a:pPr>
            <a:r>
              <a:rPr lang="fr-FR" sz="1800" b="1" i="0" dirty="0">
                <a:solidFill>
                  <a:srgbClr val="A35F00"/>
                </a:solidFill>
                <a:latin typeface="Segoe UI"/>
                <a:cs typeface="Segoe UI"/>
              </a:rPr>
              <a:t>99,8 %</a:t>
            </a:r>
            <a:endParaRPr lang="fr-FR" sz="1800" dirty="0"/>
          </a:p>
          <a:p>
            <a:pPr algn="l">
              <a:lnSpc>
                <a:spcPct val="100000"/>
              </a:lnSpc>
              <a:spcBef>
                <a:spcPts val="200"/>
              </a:spcBef>
              <a:spcAft>
                <a:spcPts val="0"/>
              </a:spcAft>
              <a:buNone/>
            </a:pPr>
            <a:r>
              <a:rPr lang="fr-FR" sz="950" b="0" i="0" dirty="0">
                <a:solidFill>
                  <a:srgbClr val="1F2933"/>
                </a:solidFill>
                <a:latin typeface="Segoe UI"/>
                <a:cs typeface="Segoe UI"/>
              </a:rPr>
              <a:t>des carreaux nantais (communes découpées en IRIS) trouvent leur IRIS ; 11 en repli commune ; 0 sans valeur.</a:t>
            </a:r>
            <a:endParaRPr lang="fr-FR" sz="950" dirty="0"/>
          </a:p>
        </p:txBody>
      </p:sp>
      <p:sp>
        <p:nvSpPr>
          <p:cNvPr id="14" name="Forme 14"/>
          <p:cNvSpPr/>
          <p:nvPr/>
        </p:nvSpPr>
        <p:spPr>
          <a:xfrm>
            <a:off x="621792" y="5806440"/>
            <a:ext cx="3364992" cy="457200"/>
          </a:xfrm>
          <a:prstGeom prst="rect">
            <a:avLst/>
          </a:prstGeom>
          <a:noFill/>
          <a:ln>
            <a:noFill/>
          </a:ln>
        </p:spPr>
        <p:txBody>
          <a:bodyPr wrap="square" lIns="18288" tIns="18288" rIns="18288" bIns="18288" anchor="ctr" rtlCol="0">
            <a:noAutofit/>
          </a:bodyPr>
          <a:lstStyle/>
          <a:p>
            <a:pPr algn="l">
              <a:lnSpc>
                <a:spcPct val="100000"/>
              </a:lnSpc>
              <a:spcBef>
                <a:spcPts val="0"/>
              </a:spcBef>
              <a:spcAft>
                <a:spcPts val="0"/>
              </a:spcAft>
              <a:buNone/>
            </a:pPr>
            <a:r>
              <a:rPr lang="fr-FR" sz="900" b="0" i="0" dirty="0">
                <a:solidFill>
                  <a:srgbClr val="5B6573"/>
                </a:solidFill>
                <a:latin typeface="Consolas"/>
                <a:cs typeface="Consolas"/>
              </a:rPr>
              <a:t>population.py › motorisation, part_sans_voiture</a:t>
            </a:r>
            <a:endParaRPr lang="fr-FR" sz="900" dirty="0"/>
          </a:p>
        </p:txBody>
      </p:sp>
      <p:sp>
        <p:nvSpPr>
          <p:cNvPr id="15" name="Forme 15"/>
          <p:cNvSpPr/>
          <p:nvPr/>
        </p:nvSpPr>
        <p:spPr>
          <a:xfrm>
            <a:off x="4270248" y="1371600"/>
            <a:ext cx="3657600" cy="4937760"/>
          </a:xfrm>
          <a:prstGeom prst="roundRect">
            <a:avLst>
              <a:gd name="adj" fmla="val 3000"/>
            </a:avLst>
          </a:prstGeom>
          <a:solidFill>
            <a:srgbClr val="F4F6F9"/>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6" name="Forme 16"/>
          <p:cNvSpPr/>
          <p:nvPr/>
        </p:nvSpPr>
        <p:spPr>
          <a:xfrm>
            <a:off x="4270248" y="1371600"/>
            <a:ext cx="3657600" cy="685800"/>
          </a:xfrm>
          <a:prstGeom prst="roundRect">
            <a:avLst>
              <a:gd name="adj" fmla="val 12000"/>
            </a:avLst>
          </a:prstGeom>
          <a:solidFill>
            <a:srgbClr val="E08E1B"/>
          </a:solidFill>
          <a:ln>
            <a:noFill/>
          </a:ln>
        </p:spPr>
        <p:txBody>
          <a:bodyPr wrap="square" lIns="164592" tIns="36576" rIns="109728" bIns="36576" anchor="ctr" rtlCol="0">
            <a:noAutofit/>
          </a:bodyPr>
          <a:lstStyle/>
          <a:p>
            <a:pPr algn="l">
              <a:lnSpc>
                <a:spcPct val="100000"/>
              </a:lnSpc>
              <a:spcBef>
                <a:spcPts val="0"/>
              </a:spcBef>
              <a:spcAft>
                <a:spcPts val="0"/>
              </a:spcAft>
              <a:buNone/>
            </a:pPr>
            <a:r>
              <a:rPr lang="fr-FR" sz="1250" b="1" i="0" dirty="0">
                <a:solidFill>
                  <a:srgbClr val="FFFFFF"/>
                </a:solidFill>
                <a:latin typeface="Segoe UI"/>
                <a:cs typeface="Segoe UI"/>
              </a:rPr>
              <a:t>8. Secret statistique</a:t>
            </a:r>
            <a:endParaRPr lang="fr-FR" sz="1250" dirty="0"/>
          </a:p>
        </p:txBody>
      </p:sp>
      <p:sp>
        <p:nvSpPr>
          <p:cNvPr id="17" name="Forme 17"/>
          <p:cNvSpPr/>
          <p:nvPr/>
        </p:nvSpPr>
        <p:spPr>
          <a:xfrm>
            <a:off x="4434840" y="2148840"/>
            <a:ext cx="3364992" cy="219456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50" b="1" i="0" dirty="0">
                <a:solidFill>
                  <a:srgbClr val="E08E1B"/>
                </a:solidFill>
                <a:latin typeface="Segoe UI"/>
                <a:cs typeface="Segoe UI"/>
              </a:rPr>
              <a:t>PROBLÈME</a:t>
            </a:r>
            <a:endParaRPr lang="fr-FR" sz="950" dirty="0"/>
          </a:p>
          <a:p>
            <a:pPr algn="l">
              <a:lnSpc>
                <a:spcPct val="100000"/>
              </a:lnSpc>
              <a:spcBef>
                <a:spcPts val="100"/>
              </a:spcBef>
              <a:spcAft>
                <a:spcPts val="0"/>
              </a:spcAft>
              <a:buNone/>
            </a:pPr>
            <a:r>
              <a:rPr lang="fr-FR" sz="1150" b="0" i="0" dirty="0">
                <a:solidFill>
                  <a:srgbClr val="1F2933"/>
                </a:solidFill>
                <a:latin typeface="Segoe UI"/>
                <a:cs typeface="Segoe UI"/>
              </a:rPr>
              <a:t>Un carreau de quelques ménages permet de reconnaître des familles.</a:t>
            </a:r>
            <a:endParaRPr lang="fr-FR" sz="1150" dirty="0"/>
          </a:p>
          <a:p>
            <a:pPr algn="l">
              <a:lnSpc>
                <a:spcPct val="100000"/>
              </a:lnSpc>
              <a:spcBef>
                <a:spcPts val="800"/>
              </a:spcBef>
              <a:spcAft>
                <a:spcPts val="0"/>
              </a:spcAft>
              <a:buNone/>
            </a:pPr>
            <a:r>
              <a:rPr lang="fr-FR" sz="950" b="1" i="0" dirty="0">
                <a:solidFill>
                  <a:srgbClr val="E08E1B"/>
                </a:solidFill>
                <a:latin typeface="Segoe UI"/>
                <a:cs typeface="Segoe UI"/>
              </a:rPr>
              <a:t>CE QU'ON FAIT</a:t>
            </a:r>
            <a:endParaRPr lang="fr-FR" sz="950" dirty="0"/>
          </a:p>
          <a:p>
            <a:pPr algn="l">
              <a:lnSpc>
                <a:spcPct val="100000"/>
              </a:lnSpc>
              <a:spcBef>
                <a:spcPts val="100"/>
              </a:spcBef>
              <a:spcAft>
                <a:spcPts val="0"/>
              </a:spcAft>
              <a:buNone/>
            </a:pPr>
            <a:r>
              <a:rPr lang="fr-FR" sz="1150" b="0" i="0" dirty="0">
                <a:solidFill>
                  <a:srgbClr val="1F2933"/>
                </a:solidFill>
                <a:latin typeface="Segoe UI"/>
                <a:cs typeface="Segoe UI"/>
              </a:rPr>
              <a:t>Aucun carreau de </a:t>
            </a:r>
            <a:r>
              <a:rPr lang="fr-FR" sz="1150" b="1" i="0" dirty="0">
                <a:solidFill>
                  <a:srgbClr val="1F2933"/>
                </a:solidFill>
                <a:latin typeface="Segoe UI"/>
                <a:cs typeface="Segoe UI"/>
              </a:rPr>
              <a:t>moins de 11 ménages</a:t>
            </a:r>
            <a:r>
              <a:rPr lang="fr-FR" sz="1150" b="0" i="0" dirty="0">
                <a:solidFill>
                  <a:srgbClr val="1F2933"/>
                </a:solidFill>
                <a:latin typeface="Segoe UI"/>
                <a:cs typeface="Segoe UI"/>
              </a:rPr>
              <a:t> affiché seul (</a:t>
            </a:r>
            <a:r>
              <a:rPr lang="fr-FR" sz="1150" b="0" i="0" dirty="0">
                <a:solidFill>
                  <a:srgbClr val="0B7A6E"/>
                </a:solidFill>
                <a:latin typeface="Consolas"/>
                <a:cs typeface="Consolas"/>
              </a:rPr>
              <a:t>privacy.min_households</a:t>
            </a:r>
            <a:r>
              <a:rPr lang="fr-FR" sz="1150" b="0" i="0" dirty="0">
                <a:solidFill>
                  <a:srgbClr val="1F2933"/>
                </a:solidFill>
                <a:latin typeface="Segoe UI"/>
                <a:cs typeface="Segoe UI"/>
              </a:rPr>
              <a:t>). Exports : effectifs IRIS </a:t>
            </a:r>
            <a:r>
              <a:rPr lang="fr-FR" sz="1150" b="1" i="0" dirty="0">
                <a:solidFill>
                  <a:srgbClr val="1F2933"/>
                </a:solidFill>
                <a:latin typeface="Segoe UI"/>
                <a:cs typeface="Segoe UI"/>
              </a:rPr>
              <a:t>arrondis à 5</a:t>
            </a:r>
            <a:r>
              <a:rPr lang="fr-FR" sz="1150" b="0" i="0" dirty="0">
                <a:solidFill>
                  <a:srgbClr val="1F2933"/>
                </a:solidFill>
                <a:latin typeface="Segoe UI"/>
                <a:cs typeface="Segoe UI"/>
              </a:rPr>
              <a:t> ; taux de vols publiés seulement pour les communes ≥ 10 000 hab.</a:t>
            </a:r>
            <a:endParaRPr lang="fr-FR" sz="1150" dirty="0"/>
          </a:p>
        </p:txBody>
      </p:sp>
      <p:sp>
        <p:nvSpPr>
          <p:cNvPr id="18" name="Forme 18"/>
          <p:cNvSpPr/>
          <p:nvPr/>
        </p:nvSpPr>
        <p:spPr>
          <a:xfrm>
            <a:off x="4407408" y="4434840"/>
            <a:ext cx="3383280" cy="1298448"/>
          </a:xfrm>
          <a:prstGeom prst="roundRect">
            <a:avLst>
              <a:gd name="adj" fmla="val 8000"/>
            </a:avLst>
          </a:prstGeom>
          <a:solidFill>
            <a:srgbClr val="FCE9C8"/>
          </a:solidFill>
          <a:ln>
            <a:noFill/>
          </a:ln>
        </p:spPr>
        <p:txBody>
          <a:bodyPr wrap="square" lIns="137160" tIns="45720" rIns="109728" bIns="45720" anchor="ctr" rtlCol="0">
            <a:noAutofit/>
          </a:bodyPr>
          <a:lstStyle/>
          <a:p>
            <a:pPr algn="l">
              <a:lnSpc>
                <a:spcPct val="100000"/>
              </a:lnSpc>
              <a:spcBef>
                <a:spcPts val="0"/>
              </a:spcBef>
              <a:spcAft>
                <a:spcPts val="0"/>
              </a:spcAft>
              <a:buNone/>
            </a:pPr>
            <a:r>
              <a:rPr lang="fr-FR" sz="1800" b="1" i="0" dirty="0">
                <a:solidFill>
                  <a:srgbClr val="A35F00"/>
                </a:solidFill>
                <a:latin typeface="Segoe UI"/>
                <a:cs typeface="Segoe UI"/>
              </a:rPr>
              <a:t>1 795 894</a:t>
            </a:r>
            <a:endParaRPr lang="fr-FR" sz="1800" dirty="0"/>
          </a:p>
          <a:p>
            <a:pPr algn="l">
              <a:lnSpc>
                <a:spcPct val="100000"/>
              </a:lnSpc>
              <a:spcBef>
                <a:spcPts val="200"/>
              </a:spcBef>
              <a:spcAft>
                <a:spcPts val="0"/>
              </a:spcAft>
              <a:buNone/>
            </a:pPr>
            <a:r>
              <a:rPr lang="fr-FR" sz="950" b="0" i="0" dirty="0">
                <a:solidFill>
                  <a:srgbClr val="1F2933"/>
                </a:solidFill>
                <a:latin typeface="Segoe UI"/>
                <a:cs typeface="Segoe UI"/>
              </a:rPr>
              <a:t>carreaux masqués en France (77 %, surtout ruraux) : calculés, jamais montrés. Nantes : 2 835.</a:t>
            </a:r>
            <a:endParaRPr lang="fr-FR" sz="950" dirty="0"/>
          </a:p>
        </p:txBody>
      </p:sp>
      <p:sp>
        <p:nvSpPr>
          <p:cNvPr id="19" name="Forme 19"/>
          <p:cNvSpPr/>
          <p:nvPr/>
        </p:nvSpPr>
        <p:spPr>
          <a:xfrm>
            <a:off x="4434840" y="5806440"/>
            <a:ext cx="3364992" cy="457200"/>
          </a:xfrm>
          <a:prstGeom prst="rect">
            <a:avLst/>
          </a:prstGeom>
          <a:noFill/>
          <a:ln>
            <a:noFill/>
          </a:ln>
        </p:spPr>
        <p:txBody>
          <a:bodyPr wrap="square" lIns="18288" tIns="18288" rIns="18288" bIns="18288" anchor="ctr" rtlCol="0">
            <a:noAutofit/>
          </a:bodyPr>
          <a:lstStyle/>
          <a:p>
            <a:pPr algn="l">
              <a:lnSpc>
                <a:spcPct val="100000"/>
              </a:lnSpc>
              <a:spcBef>
                <a:spcPts val="0"/>
              </a:spcBef>
              <a:spcAft>
                <a:spcPts val="0"/>
              </a:spcAft>
              <a:buNone/>
            </a:pPr>
            <a:r>
              <a:rPr lang="fr-FR" sz="900" b="0" i="0" dirty="0">
                <a:solidFill>
                  <a:srgbClr val="5B6573"/>
                </a:solidFill>
                <a:latin typeface="Consolas"/>
                <a:cs typeface="Consolas"/>
              </a:rPr>
              <a:t>app/app.py · national/app_files.py · export_share.py › round_counts</a:t>
            </a:r>
            <a:endParaRPr lang="fr-FR" sz="900" dirty="0"/>
          </a:p>
        </p:txBody>
      </p:sp>
      <p:sp>
        <p:nvSpPr>
          <p:cNvPr id="20" name="Forme 20"/>
          <p:cNvSpPr/>
          <p:nvPr/>
        </p:nvSpPr>
        <p:spPr>
          <a:xfrm>
            <a:off x="8083296" y="1371600"/>
            <a:ext cx="3657600" cy="4937760"/>
          </a:xfrm>
          <a:prstGeom prst="roundRect">
            <a:avLst>
              <a:gd name="adj" fmla="val 3000"/>
            </a:avLst>
          </a:prstGeom>
          <a:solidFill>
            <a:srgbClr val="F4F6F9"/>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21" name="Forme 21"/>
          <p:cNvSpPr/>
          <p:nvPr/>
        </p:nvSpPr>
        <p:spPr>
          <a:xfrm>
            <a:off x="8083296" y="1371600"/>
            <a:ext cx="3657600" cy="685800"/>
          </a:xfrm>
          <a:prstGeom prst="roundRect">
            <a:avLst>
              <a:gd name="adj" fmla="val 12000"/>
            </a:avLst>
          </a:prstGeom>
          <a:solidFill>
            <a:srgbClr val="E08E1B"/>
          </a:solidFill>
          <a:ln>
            <a:noFill/>
          </a:ln>
        </p:spPr>
        <p:txBody>
          <a:bodyPr wrap="square" lIns="164592" tIns="36576" rIns="109728" bIns="36576" anchor="ctr" rtlCol="0">
            <a:noAutofit/>
          </a:bodyPr>
          <a:lstStyle/>
          <a:p>
            <a:pPr algn="l">
              <a:lnSpc>
                <a:spcPct val="100000"/>
              </a:lnSpc>
              <a:spcBef>
                <a:spcPts val="0"/>
              </a:spcBef>
              <a:spcAft>
                <a:spcPts val="0"/>
              </a:spcAft>
              <a:buNone/>
            </a:pPr>
            <a:r>
              <a:rPr lang="fr-FR" sz="1250" b="1" i="0" dirty="0">
                <a:solidFill>
                  <a:srgbClr val="FFFFFF"/>
                </a:solidFill>
                <a:latin typeface="Segoe UI"/>
                <a:cs typeface="Segoe UI"/>
              </a:rPr>
              <a:t>9. Masquage des clés d'API</a:t>
            </a:r>
            <a:endParaRPr lang="fr-FR" sz="1250" dirty="0"/>
          </a:p>
        </p:txBody>
      </p:sp>
      <p:sp>
        <p:nvSpPr>
          <p:cNvPr id="22" name="Forme 22"/>
          <p:cNvSpPr/>
          <p:nvPr/>
        </p:nvSpPr>
        <p:spPr>
          <a:xfrm>
            <a:off x="8247888" y="2148840"/>
            <a:ext cx="3364992" cy="219456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50" b="1" i="0" dirty="0">
                <a:solidFill>
                  <a:srgbClr val="E08E1B"/>
                </a:solidFill>
                <a:latin typeface="Segoe UI"/>
                <a:cs typeface="Segoe UI"/>
              </a:rPr>
              <a:t>PROBLÈME</a:t>
            </a:r>
            <a:endParaRPr lang="fr-FR" sz="950" dirty="0"/>
          </a:p>
          <a:p>
            <a:pPr algn="l">
              <a:lnSpc>
                <a:spcPct val="100000"/>
              </a:lnSpc>
              <a:spcBef>
                <a:spcPts val="100"/>
              </a:spcBef>
              <a:spcAft>
                <a:spcPts val="0"/>
              </a:spcAft>
              <a:buNone/>
            </a:pPr>
            <a:r>
              <a:rPr lang="fr-FR" sz="1150" b="0" i="0" dirty="0">
                <a:solidFill>
                  <a:srgbClr val="1F2933"/>
                </a:solidFill>
                <a:latin typeface="Segoe UI"/>
                <a:cs typeface="Segoe UI"/>
              </a:rPr>
              <a:t>Certaines URL de flux contiennent une clé (</a:t>
            </a:r>
            <a:r>
              <a:rPr lang="fr-FR" sz="1150" b="0" i="0" dirty="0">
                <a:solidFill>
                  <a:srgbClr val="0B7A6E"/>
                </a:solidFill>
                <a:latin typeface="Consolas"/>
                <a:cs typeface="Consolas"/>
              </a:rPr>
              <a:t>?key=</a:t>
            </a:r>
            <a:r>
              <a:rPr lang="fr-FR" sz="1150" b="0" i="0" dirty="0">
                <a:solidFill>
                  <a:srgbClr val="1F2933"/>
                </a:solidFill>
                <a:latin typeface="Segoe UI"/>
                <a:cs typeface="Segoe UI"/>
              </a:rPr>
              <a:t>, </a:t>
            </a:r>
            <a:r>
              <a:rPr lang="fr-FR" sz="1150" b="0" i="0" dirty="0">
                <a:solidFill>
                  <a:srgbClr val="0B7A6E"/>
                </a:solidFill>
                <a:latin typeface="Consolas"/>
                <a:cs typeface="Consolas"/>
              </a:rPr>
              <a:t>token=</a:t>
            </a:r>
            <a:r>
              <a:rPr lang="fr-FR" sz="1150" b="0" i="0" dirty="0">
                <a:solidFill>
                  <a:srgbClr val="1F2933"/>
                </a:solidFill>
                <a:latin typeface="Segoe UI"/>
                <a:cs typeface="Segoe UI"/>
              </a:rPr>
              <a:t>), et </a:t>
            </a:r>
            <a:r>
              <a:rPr lang="fr-FR" sz="1150" b="0" i="0" dirty="0">
                <a:solidFill>
                  <a:srgbClr val="0B7A6E"/>
                </a:solidFill>
                <a:latin typeface="Consolas"/>
                <a:cs typeface="Consolas"/>
              </a:rPr>
              <a:t>docs/sources.md</a:t>
            </a:r>
            <a:r>
              <a:rPr lang="fr-FR" sz="1150" b="0" i="0" dirty="0">
                <a:solidFill>
                  <a:srgbClr val="1F2933"/>
                </a:solidFill>
                <a:latin typeface="Segoe UI"/>
                <a:cs typeface="Segoe UI"/>
              </a:rPr>
              <a:t> est publié.</a:t>
            </a:r>
            <a:endParaRPr lang="fr-FR" sz="1150" dirty="0"/>
          </a:p>
          <a:p>
            <a:pPr algn="l">
              <a:lnSpc>
                <a:spcPct val="100000"/>
              </a:lnSpc>
              <a:spcBef>
                <a:spcPts val="800"/>
              </a:spcBef>
              <a:spcAft>
                <a:spcPts val="0"/>
              </a:spcAft>
              <a:buNone/>
            </a:pPr>
            <a:r>
              <a:rPr lang="fr-FR" sz="950" b="1" i="0" dirty="0">
                <a:solidFill>
                  <a:srgbClr val="E08E1B"/>
                </a:solidFill>
                <a:latin typeface="Segoe UI"/>
                <a:cs typeface="Segoe UI"/>
              </a:rPr>
              <a:t>CE QU'ON FAIT</a:t>
            </a:r>
            <a:endParaRPr lang="fr-FR" sz="950" dirty="0"/>
          </a:p>
          <a:p>
            <a:pPr algn="l">
              <a:lnSpc>
                <a:spcPct val="100000"/>
              </a:lnSpc>
              <a:spcBef>
                <a:spcPts val="100"/>
              </a:spcBef>
              <a:spcAft>
                <a:spcPts val="0"/>
              </a:spcAft>
              <a:buNone/>
            </a:pPr>
            <a:r>
              <a:rPr lang="fr-FR" sz="1150" b="0" i="0" dirty="0">
                <a:solidFill>
                  <a:srgbClr val="1F2933"/>
                </a:solidFill>
                <a:latin typeface="Segoe UI"/>
                <a:cs typeface="Segoe UI"/>
              </a:rPr>
              <a:t>Une expression régulière remplace la valeur de </a:t>
            </a:r>
            <a:r>
              <a:rPr lang="fr-FR" sz="1150" b="0" i="0" dirty="0">
                <a:solidFill>
                  <a:srgbClr val="0B7A6E"/>
                </a:solidFill>
                <a:latin typeface="Consolas"/>
                <a:cs typeface="Consolas"/>
              </a:rPr>
              <a:t>api_key</a:t>
            </a:r>
            <a:r>
              <a:rPr lang="fr-FR" sz="1150" b="0" i="0" dirty="0">
                <a:solidFill>
                  <a:srgbClr val="1F2933"/>
                </a:solidFill>
                <a:latin typeface="Segoe UI"/>
                <a:cs typeface="Segoe UI"/>
              </a:rPr>
              <a:t>, </a:t>
            </a:r>
            <a:r>
              <a:rPr lang="fr-FR" sz="1150" b="0" i="0" dirty="0">
                <a:solidFill>
                  <a:srgbClr val="0B7A6E"/>
                </a:solidFill>
                <a:latin typeface="Consolas"/>
                <a:cs typeface="Consolas"/>
              </a:rPr>
              <a:t>key</a:t>
            </a:r>
            <a:r>
              <a:rPr lang="fr-FR" sz="1150" b="0" i="0" dirty="0">
                <a:solidFill>
                  <a:srgbClr val="1F2933"/>
                </a:solidFill>
                <a:latin typeface="Segoe UI"/>
                <a:cs typeface="Segoe UI"/>
              </a:rPr>
              <a:t>, </a:t>
            </a:r>
            <a:r>
              <a:rPr lang="fr-FR" sz="1150" b="0" i="0" dirty="0">
                <a:solidFill>
                  <a:srgbClr val="0B7A6E"/>
                </a:solidFill>
                <a:latin typeface="Consolas"/>
                <a:cs typeface="Consolas"/>
              </a:rPr>
              <a:t>token</a:t>
            </a:r>
            <a:r>
              <a:rPr lang="fr-FR" sz="1150" b="0" i="0" dirty="0">
                <a:solidFill>
                  <a:srgbClr val="1F2933"/>
                </a:solidFill>
                <a:latin typeface="Segoe UI"/>
                <a:cs typeface="Segoe UI"/>
              </a:rPr>
              <a:t>, </a:t>
            </a:r>
            <a:r>
              <a:rPr lang="fr-FR" sz="1150" b="0" i="0" dirty="0">
                <a:solidFill>
                  <a:srgbClr val="0B7A6E"/>
                </a:solidFill>
                <a:latin typeface="Consolas"/>
                <a:cs typeface="Consolas"/>
              </a:rPr>
              <a:t>access_token</a:t>
            </a:r>
            <a:r>
              <a:rPr lang="fr-FR" sz="1150" b="0" i="0" dirty="0">
                <a:solidFill>
                  <a:srgbClr val="1F2933"/>
                </a:solidFill>
                <a:latin typeface="Segoe UI"/>
                <a:cs typeface="Segoe UI"/>
              </a:rPr>
              <a:t> par </a:t>
            </a:r>
            <a:r>
              <a:rPr lang="fr-FR" sz="1150" b="0" i="0" dirty="0">
                <a:solidFill>
                  <a:srgbClr val="0B7A6E"/>
                </a:solidFill>
                <a:latin typeface="Consolas"/>
                <a:cs typeface="Consolas"/>
              </a:rPr>
              <a:t>***</a:t>
            </a:r>
            <a:r>
              <a:rPr lang="fr-FR" sz="1150" b="0" i="0" dirty="0">
                <a:solidFill>
                  <a:srgbClr val="1F2933"/>
                </a:solidFill>
                <a:latin typeface="Segoe UI"/>
                <a:cs typeface="Segoe UI"/>
              </a:rPr>
              <a:t> avant d'écrire </a:t>
            </a:r>
            <a:r>
              <a:rPr lang="fr-FR" sz="1150" b="0" i="0" dirty="0">
                <a:solidFill>
                  <a:srgbClr val="0B7A6E"/>
                </a:solidFill>
                <a:latin typeface="Consolas"/>
                <a:cs typeface="Consolas"/>
              </a:rPr>
              <a:t>sources.md</a:t>
            </a:r>
            <a:r>
              <a:rPr lang="fr-FR" sz="1150" b="0" i="0" dirty="0">
                <a:solidFill>
                  <a:srgbClr val="1F2933"/>
                </a:solidFill>
                <a:latin typeface="Segoe UI"/>
                <a:cs typeface="Segoe UI"/>
              </a:rPr>
              <a:t>.</a:t>
            </a:r>
            <a:endParaRPr lang="fr-FR" sz="1150" dirty="0"/>
          </a:p>
        </p:txBody>
      </p:sp>
      <p:sp>
        <p:nvSpPr>
          <p:cNvPr id="23" name="Forme 23"/>
          <p:cNvSpPr/>
          <p:nvPr/>
        </p:nvSpPr>
        <p:spPr>
          <a:xfrm>
            <a:off x="8220456" y="4434840"/>
            <a:ext cx="3383280" cy="1298448"/>
          </a:xfrm>
          <a:prstGeom prst="roundRect">
            <a:avLst>
              <a:gd name="adj" fmla="val 8000"/>
            </a:avLst>
          </a:prstGeom>
          <a:solidFill>
            <a:srgbClr val="FCE9C8"/>
          </a:solidFill>
          <a:ln>
            <a:noFill/>
          </a:ln>
        </p:spPr>
        <p:txBody>
          <a:bodyPr wrap="square" lIns="137160" tIns="45720" rIns="109728" bIns="45720" anchor="ctr" rtlCol="0">
            <a:noAutofit/>
          </a:bodyPr>
          <a:lstStyle/>
          <a:p>
            <a:pPr algn="l">
              <a:lnSpc>
                <a:spcPct val="100000"/>
              </a:lnSpc>
              <a:spcBef>
                <a:spcPts val="0"/>
              </a:spcBef>
              <a:spcAft>
                <a:spcPts val="0"/>
              </a:spcAft>
              <a:buNone/>
            </a:pPr>
            <a:r>
              <a:rPr lang="fr-FR" sz="1800" b="1" i="0" dirty="0">
                <a:solidFill>
                  <a:srgbClr val="A35F00"/>
                </a:solidFill>
                <a:latin typeface="Segoe UI"/>
                <a:cs typeface="Segoe UI"/>
              </a:rPr>
              <a:t>key=***</a:t>
            </a:r>
            <a:endParaRPr lang="fr-FR" sz="1800" dirty="0"/>
          </a:p>
          <a:p>
            <a:pPr algn="l">
              <a:lnSpc>
                <a:spcPct val="100000"/>
              </a:lnSpc>
              <a:spcBef>
                <a:spcPts val="200"/>
              </a:spcBef>
              <a:spcAft>
                <a:spcPts val="0"/>
              </a:spcAft>
              <a:buNone/>
            </a:pPr>
            <a:r>
              <a:rPr lang="fr-FR" sz="950" b="0" i="0" dirty="0">
                <a:solidFill>
                  <a:srgbClr val="1F2933"/>
                </a:solidFill>
                <a:latin typeface="Segoe UI"/>
                <a:cs typeface="Segoe UI"/>
              </a:rPr>
              <a:t>aucune clé dans le dépôt ; vérifié à chaque lancement des tests (</a:t>
            </a:r>
            <a:r>
              <a:rPr lang="fr-FR" sz="950" b="0" i="0" dirty="0">
                <a:solidFill>
                  <a:srgbClr val="0B7A6E"/>
                </a:solidFill>
                <a:latin typeface="Consolas"/>
                <a:cs typeface="Consolas"/>
              </a:rPr>
              <a:t>test_mask_secrets_in_source_urls</a:t>
            </a:r>
            <a:r>
              <a:rPr lang="fr-FR" sz="950" b="0" i="0" dirty="0">
                <a:solidFill>
                  <a:srgbClr val="1F2933"/>
                </a:solidFill>
                <a:latin typeface="Segoe UI"/>
                <a:cs typeface="Segoe UI"/>
              </a:rPr>
              <a:t>).</a:t>
            </a:r>
            <a:endParaRPr lang="fr-FR" sz="950" dirty="0"/>
          </a:p>
        </p:txBody>
      </p:sp>
      <p:sp>
        <p:nvSpPr>
          <p:cNvPr id="24" name="Forme 24"/>
          <p:cNvSpPr/>
          <p:nvPr/>
        </p:nvSpPr>
        <p:spPr>
          <a:xfrm>
            <a:off x="8247888" y="5806440"/>
            <a:ext cx="3364992" cy="457200"/>
          </a:xfrm>
          <a:prstGeom prst="rect">
            <a:avLst/>
          </a:prstGeom>
          <a:noFill/>
          <a:ln>
            <a:noFill/>
          </a:ln>
        </p:spPr>
        <p:txBody>
          <a:bodyPr wrap="square" lIns="18288" tIns="18288" rIns="18288" bIns="18288" anchor="ctr" rtlCol="0">
            <a:noAutofit/>
          </a:bodyPr>
          <a:lstStyle/>
          <a:p>
            <a:pPr algn="l">
              <a:lnSpc>
                <a:spcPct val="100000"/>
              </a:lnSpc>
              <a:spcBef>
                <a:spcPts val="0"/>
              </a:spcBef>
              <a:spcAft>
                <a:spcPts val="0"/>
              </a:spcAft>
              <a:buNone/>
            </a:pPr>
            <a:r>
              <a:rPr lang="fr-FR" sz="900" b="0" i="0" dirty="0">
                <a:solidFill>
                  <a:srgbClr val="5B6573"/>
                </a:solidFill>
                <a:latin typeface="Consolas"/>
                <a:cs typeface="Consolas"/>
              </a:rPr>
              <a:t>download_all.py › mask_secrets</a:t>
            </a:r>
            <a:endParaRPr lang="fr-FR"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rme 3"/>
          <p:cNvSpPr/>
          <p:nvPr/>
        </p:nvSpPr>
        <p:spPr>
          <a:xfrm>
            <a:off x="0" y="0"/>
            <a:ext cx="128016" cy="6858000"/>
          </a:xfrm>
          <a:prstGeom prst="rect">
            <a:avLst/>
          </a:prstGeom>
          <a:solidFill>
            <a:srgbClr val="0E9F8E"/>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4" name="Forme 4"/>
          <p:cNvSpPr/>
          <p:nvPr/>
        </p:nvSpPr>
        <p:spPr>
          <a:xfrm>
            <a:off x="457200" y="256032"/>
            <a:ext cx="7315200" cy="2743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050" b="1" i="0" dirty="0">
                <a:solidFill>
                  <a:srgbClr val="0E9F8E"/>
                </a:solidFill>
                <a:latin typeface="Segoe UI"/>
                <a:cs typeface="Segoe UI"/>
              </a:rPr>
              <a:t>PARTIE 5 · L'AUTOMATISATION</a:t>
            </a:r>
            <a:endParaRPr lang="fr-FR" sz="1050" dirty="0"/>
          </a:p>
        </p:txBody>
      </p:sp>
      <p:sp>
        <p:nvSpPr>
          <p:cNvPr id="5" name="Forme 5"/>
          <p:cNvSpPr/>
          <p:nvPr/>
        </p:nvSpPr>
        <p:spPr>
          <a:xfrm>
            <a:off x="457200" y="502920"/>
            <a:ext cx="11247120" cy="5486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2500" b="1" i="0" dirty="0">
                <a:solidFill>
                  <a:srgbClr val="14213D"/>
                </a:solidFill>
                <a:latin typeface="Segoe UI"/>
                <a:cs typeface="Segoe UI"/>
              </a:rPr>
              <a:t>Les scripts d'automatisation</a:t>
            </a:r>
            <a:endParaRPr lang="fr-FR" sz="2500" dirty="0"/>
          </a:p>
        </p:txBody>
      </p:sp>
      <p:sp>
        <p:nvSpPr>
          <p:cNvPr id="6" name="Forme 6"/>
          <p:cNvSpPr/>
          <p:nvPr/>
        </p:nvSpPr>
        <p:spPr>
          <a:xfrm>
            <a:off x="457200" y="987552"/>
            <a:ext cx="11247120" cy="3200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250" b="0" i="0" dirty="0">
                <a:solidFill>
                  <a:srgbClr val="5B6573"/>
                </a:solidFill>
                <a:latin typeface="Segoe UI"/>
                <a:cs typeface="Segoe UI"/>
              </a:rPr>
              <a:t>Durées mesurées sur notre PC (i5, 8 Go) : logs build_all.log, mesures.json, train.log, download_*.log.</a:t>
            </a:r>
            <a:endParaRPr lang="fr-FR" sz="1250" dirty="0"/>
          </a:p>
        </p:txBody>
      </p:sp>
      <p:sp>
        <p:nvSpPr>
          <p:cNvPr id="7" name="Forme 7"/>
          <p:cNvSpPr/>
          <p:nvPr/>
        </p:nvSpPr>
        <p:spPr>
          <a:xfrm>
            <a:off x="457200" y="6446520"/>
            <a:ext cx="11274552" cy="10973"/>
          </a:xfrm>
          <a:prstGeom prst="rect">
            <a:avLst/>
          </a:prstGeom>
          <a:solidFill>
            <a:srgbClr val="D5DAE1"/>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8" name="Forme 8"/>
          <p:cNvSpPr/>
          <p:nvPr/>
        </p:nvSpPr>
        <p:spPr>
          <a:xfrm>
            <a:off x="457200" y="6492240"/>
            <a:ext cx="7315200" cy="256032"/>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00" b="0" i="0" dirty="0">
                <a:solidFill>
                  <a:srgbClr val="5B6573"/>
                </a:solidFill>
                <a:latin typeface="Segoe UI"/>
                <a:cs typeface="Segoe UI"/>
              </a:rPr>
              <a:t>Hackathon Mobility × Citiz · Nos données, de A à Z</a:t>
            </a:r>
            <a:endParaRPr lang="fr-FR" sz="900" dirty="0"/>
          </a:p>
        </p:txBody>
      </p:sp>
      <p:sp>
        <p:nvSpPr>
          <p:cNvPr id="9" name="Forme 9"/>
          <p:cNvSpPr/>
          <p:nvPr/>
        </p:nvSpPr>
        <p:spPr>
          <a:xfrm>
            <a:off x="10360152" y="6492240"/>
            <a:ext cx="1371600" cy="256032"/>
          </a:xfrm>
          <a:prstGeom prst="rect">
            <a:avLst/>
          </a:prstGeom>
          <a:noFill/>
          <a:ln>
            <a:noFill/>
          </a:ln>
        </p:spPr>
        <p:txBody>
          <a:bodyPr wrap="square" lIns="18288" tIns="18288" rIns="18288" bIns="18288" anchor="t" rtlCol="0">
            <a:noAutofit/>
          </a:bodyPr>
          <a:lstStyle/>
          <a:p>
            <a:pPr algn="r">
              <a:lnSpc>
                <a:spcPct val="100000"/>
              </a:lnSpc>
              <a:spcBef>
                <a:spcPts val="0"/>
              </a:spcBef>
              <a:spcAft>
                <a:spcPts val="0"/>
              </a:spcAft>
              <a:buNone/>
            </a:pPr>
            <a:r>
              <a:rPr lang="fr-FR" sz="900" b="0" i="0" dirty="0">
                <a:solidFill>
                  <a:srgbClr val="5B6573"/>
                </a:solidFill>
                <a:latin typeface="Segoe UI"/>
                <a:cs typeface="Segoe UI"/>
              </a:rPr>
              <a:t>18</a:t>
            </a:r>
            <a:endParaRPr lang="fr-FR" sz="900" dirty="0"/>
          </a:p>
        </p:txBody>
      </p:sp>
      <p:graphicFrame>
        <p:nvGraphicFramePr>
          <p:cNvPr id="10" name="Tableau 10"/>
          <p:cNvGraphicFramePr>
            <a:graphicFrameLocks noGrp="1"/>
          </p:cNvGraphicFramePr>
          <p:nvPr/>
        </p:nvGraphicFramePr>
        <p:xfrm>
          <a:off x="457200" y="1371600"/>
          <a:ext cx="11274552" cy="4636008"/>
        </p:xfrm>
        <a:graphic>
          <a:graphicData uri="http://schemas.openxmlformats.org/drawingml/2006/table">
            <a:tbl>
              <a:tblPr firstRow="1" bandRow="1"/>
              <a:tblGrid>
                <a:gridCol w="2148840"/>
                <a:gridCol w="2880360"/>
                <a:gridCol w="3520440"/>
                <a:gridCol w="1371600"/>
                <a:gridCol w="1353312"/>
              </a:tblGrid>
              <a:tr h="356616">
                <a:tc>
                  <a:txBody>
                    <a:bodyPr wrap="square" lIns="109728" tIns="54864" rIns="109728" bIns="54864" anchor="t" rtlCol="0">
                      <a:noAutofit/>
                    </a:bodyPr>
                    <a:lstStyle/>
                    <a:p>
                      <a:pPr algn="l">
                        <a:lnSpc>
                          <a:spcPct val="95000"/>
                        </a:lnSpc>
                        <a:spcBef>
                          <a:spcPts val="0"/>
                        </a:spcBef>
                        <a:spcAft>
                          <a:spcPts val="0"/>
                        </a:spcAft>
                        <a:buNone/>
                      </a:pPr>
                      <a:r>
                        <a:rPr lang="fr-FR" sz="900" b="1" i="0" dirty="0">
                          <a:solidFill>
                            <a:srgbClr val="FFFFFF"/>
                          </a:solidFill>
                          <a:latin typeface="Segoe UI"/>
                          <a:cs typeface="Segoe UI"/>
                        </a:rPr>
                        <a:t>Script</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0E9F8E"/>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1" i="0" dirty="0">
                          <a:solidFill>
                            <a:srgbClr val="FFFFFF"/>
                          </a:solidFill>
                          <a:latin typeface="Segoe UI"/>
                          <a:cs typeface="Segoe UI"/>
                        </a:rPr>
                        <a:t>À quoi il sert</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0E9F8E"/>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1" i="0" dirty="0">
                          <a:solidFill>
                            <a:srgbClr val="FFFFFF"/>
                          </a:solidFill>
                          <a:latin typeface="Segoe UI"/>
                          <a:cs typeface="Segoe UI"/>
                        </a:rPr>
                        <a:t>Commande</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0E9F8E"/>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1" i="0" dirty="0">
                          <a:solidFill>
                            <a:srgbClr val="FFFFFF"/>
                          </a:solidFill>
                          <a:latin typeface="Segoe UI"/>
                          <a:cs typeface="Segoe UI"/>
                        </a:rPr>
                        <a:t>Durée mesurée</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0E9F8E"/>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1" i="0" dirty="0">
                          <a:solidFill>
                            <a:srgbClr val="FFFFFF"/>
                          </a:solidFill>
                          <a:latin typeface="Segoe UI"/>
                          <a:cs typeface="Segoe UI"/>
                        </a:rPr>
                        <a:t>Quand le lancer</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0E9F8E"/>
                    </a:solidFill>
                  </a:tcPr>
                </a:tc>
              </a:tr>
              <a:tr h="356616">
                <a:tc>
                  <a:txBody>
                    <a:bodyPr wrap="square" lIns="109728" tIns="54864" rIns="109728" bIns="54864" anchor="t" rtlCol="0">
                      <a:noAutofit/>
                    </a:bodyPr>
                    <a:lstStyle/>
                    <a:p>
                      <a:pPr algn="l">
                        <a:lnSpc>
                          <a:spcPct val="95000"/>
                        </a:lnSpc>
                        <a:spcBef>
                          <a:spcPts val="0"/>
                        </a:spcBef>
                        <a:spcAft>
                          <a:spcPts val="0"/>
                        </a:spcAft>
                        <a:buNone/>
                      </a:pPr>
                      <a:r>
                        <a:rPr lang="fr-FR" sz="900" b="1" i="0" dirty="0">
                          <a:solidFill>
                            <a:srgbClr val="1F2933"/>
                          </a:solidFill>
                          <a:latin typeface="Segoe UI"/>
                          <a:cs typeface="Segoe UI"/>
                        </a:rPr>
                        <a:t>download_all.py</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Télécharge les 14 sources, écrit manifest.csv et docs/sources.md</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100000"/>
                        </a:lnSpc>
                        <a:spcBef>
                          <a:spcPts val="0"/>
                        </a:spcBef>
                        <a:spcAft>
                          <a:spcPts val="0"/>
                        </a:spcAft>
                        <a:buNone/>
                      </a:pPr>
                      <a:r>
                        <a:rPr lang="fr-FR" sz="850" b="0" i="0" dirty="0">
                          <a:solidFill>
                            <a:srgbClr val="0B5C8A"/>
                          </a:solidFill>
                          <a:latin typeface="Consolas"/>
                          <a:cs typeface="Consolas"/>
                        </a:rPr>
                        <a:t>python src/ingest/download_all.py --osm region --osm-region rhone-alpes pays-de-la-loire</a:t>
                      </a:r>
                      <a:endParaRPr lang="fr-FR" sz="8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14 min + 2 min GTFS + 8 min OSM</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au début, puis pour rafraîchir</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r h="356616">
                <a:tc>
                  <a:txBody>
                    <a:bodyPr wrap="square" lIns="109728" tIns="54864" rIns="109728" bIns="54864" anchor="t" rtlCol="0">
                      <a:noAutofit/>
                    </a:bodyPr>
                    <a:lstStyle/>
                    <a:p>
                      <a:pPr algn="l">
                        <a:lnSpc>
                          <a:spcPct val="95000"/>
                        </a:lnSpc>
                        <a:spcBef>
                          <a:spcPts val="0"/>
                        </a:spcBef>
                        <a:spcAft>
                          <a:spcPts val="0"/>
                        </a:spcAft>
                        <a:buNone/>
                      </a:pPr>
                      <a:r>
                        <a:rPr lang="fr-FR" sz="900" b="1" i="0" dirty="0">
                          <a:solidFill>
                            <a:srgbClr val="1F2933"/>
                          </a:solidFill>
                          <a:latin typeface="Segoe UI"/>
                          <a:cs typeface="Segoe UI"/>
                        </a:rPr>
                        <a:t>check_data.py</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Vérifie chaque fichier : ✅ ⚠️ ❌</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100000"/>
                        </a:lnSpc>
                        <a:spcBef>
                          <a:spcPts val="0"/>
                        </a:spcBef>
                        <a:spcAft>
                          <a:spcPts val="0"/>
                        </a:spcAft>
                        <a:buNone/>
                      </a:pPr>
                      <a:r>
                        <a:rPr lang="fr-FR" sz="850" b="0" i="0" dirty="0">
                          <a:solidFill>
                            <a:srgbClr val="0B5C8A"/>
                          </a:solidFill>
                          <a:latin typeface="Consolas"/>
                          <a:cs typeface="Consolas"/>
                        </a:rPr>
                        <a:t>python src/ingest/check_data.py --deep</a:t>
                      </a:r>
                      <a:endParaRPr lang="fr-FR" sz="8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1 s (mode rapide)</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après chaque téléchargement</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r>
              <a:tr h="356616">
                <a:tc>
                  <a:txBody>
                    <a:bodyPr wrap="square" lIns="109728" tIns="54864" rIns="109728" bIns="54864" anchor="t" rtlCol="0">
                      <a:noAutofit/>
                    </a:bodyPr>
                    <a:lstStyle/>
                    <a:p>
                      <a:pPr algn="l">
                        <a:lnSpc>
                          <a:spcPct val="95000"/>
                        </a:lnSpc>
                        <a:spcBef>
                          <a:spcPts val="0"/>
                        </a:spcBef>
                        <a:spcAft>
                          <a:spcPts val="0"/>
                        </a:spcAft>
                        <a:buNone/>
                      </a:pPr>
                      <a:r>
                        <a:rPr lang="fr-FR" sz="900" b="1" i="0" dirty="0">
                          <a:solidFill>
                            <a:srgbClr val="1F2933"/>
                          </a:solidFill>
                          <a:latin typeface="Segoe UI"/>
                          <a:cs typeface="Segoe UI"/>
                        </a:rPr>
                        <a:t>collect_gbfs_status.py</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Photographie l'état des stations Citiz</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100000"/>
                        </a:lnSpc>
                        <a:spcBef>
                          <a:spcPts val="0"/>
                        </a:spcBef>
                        <a:spcAft>
                          <a:spcPts val="0"/>
                        </a:spcAft>
                        <a:buNone/>
                      </a:pPr>
                      <a:r>
                        <a:rPr lang="fr-FR" sz="850" b="0" i="0" dirty="0">
                          <a:solidFill>
                            <a:srgbClr val="0B5C8A"/>
                          </a:solidFill>
                          <a:latin typeface="Consolas"/>
                          <a:cs typeface="Consolas"/>
                        </a:rPr>
                        <a:t>python src/ingest/collect_gbfs_status.py --interval 5</a:t>
                      </a:r>
                      <a:endParaRPr lang="fr-FR" sz="8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en continu</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en tâche de fond, dès le début</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r h="356616">
                <a:tc>
                  <a:txBody>
                    <a:bodyPr wrap="square" lIns="109728" tIns="54864" rIns="109728" bIns="54864" anchor="t" rtlCol="0">
                      <a:noAutofit/>
                    </a:bodyPr>
                    <a:lstStyle/>
                    <a:p>
                      <a:pPr algn="l">
                        <a:lnSpc>
                          <a:spcPct val="95000"/>
                        </a:lnSpc>
                        <a:spcBef>
                          <a:spcPts val="0"/>
                        </a:spcBef>
                        <a:spcAft>
                          <a:spcPts val="0"/>
                        </a:spcAft>
                        <a:buNone/>
                      </a:pPr>
                      <a:r>
                        <a:rPr lang="fr-FR" sz="900" b="1" i="0" dirty="0">
                          <a:solidFill>
                            <a:srgbClr val="1F2933"/>
                          </a:solidFill>
                          <a:latin typeface="Segoe UI"/>
                          <a:cs typeface="Segoe UI"/>
                        </a:rPr>
                        <a:t>citiz_overview.py</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Stations Citiz par commune et par EPCI</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100000"/>
                        </a:lnSpc>
                        <a:spcBef>
                          <a:spcPts val="0"/>
                        </a:spcBef>
                        <a:spcAft>
                          <a:spcPts val="0"/>
                        </a:spcAft>
                        <a:buNone/>
                      </a:pPr>
                      <a:r>
                        <a:rPr lang="fr-FR" sz="850" b="0" i="0" dirty="0">
                          <a:solidFill>
                            <a:srgbClr val="0B5C8A"/>
                          </a:solidFill>
                          <a:latin typeface="Consolas"/>
                          <a:cs typeface="Consolas"/>
                        </a:rPr>
                        <a:t>python src/ingest/citiz_overview.py</a:t>
                      </a:r>
                      <a:endParaRPr lang="fr-FR" sz="8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non mesurée</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pour choisir la ville</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r>
              <a:tr h="356616">
                <a:tc>
                  <a:txBody>
                    <a:bodyPr wrap="square" lIns="109728" tIns="54864" rIns="109728" bIns="54864" anchor="t" rtlCol="0">
                      <a:noAutofit/>
                    </a:bodyPr>
                    <a:lstStyle/>
                    <a:p>
                      <a:pPr algn="l">
                        <a:lnSpc>
                          <a:spcPct val="95000"/>
                        </a:lnSpc>
                        <a:spcBef>
                          <a:spcPts val="0"/>
                        </a:spcBef>
                        <a:spcAft>
                          <a:spcPts val="0"/>
                        </a:spcAft>
                        <a:buNone/>
                      </a:pPr>
                      <a:r>
                        <a:rPr lang="fr-FR" sz="900" b="1" i="0" dirty="0">
                          <a:solidFill>
                            <a:srgbClr val="1F2933"/>
                          </a:solidFill>
                          <a:latin typeface="Segoe UI"/>
                          <a:cs typeface="Segoe UI"/>
                        </a:rPr>
                        <a:t>src.national.build_all</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France : carreaux, offre, accès, agrégats, classement</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100000"/>
                        </a:lnSpc>
                        <a:spcBef>
                          <a:spcPts val="0"/>
                        </a:spcBef>
                        <a:spcAft>
                          <a:spcPts val="0"/>
                        </a:spcAft>
                        <a:buNone/>
                      </a:pPr>
                      <a:r>
                        <a:rPr lang="fr-FR" sz="850" b="0" i="0" dirty="0">
                          <a:solidFill>
                            <a:srgbClr val="0B5C8A"/>
                          </a:solidFill>
                          <a:latin typeface="Consolas"/>
                          <a:cs typeface="Consolas"/>
                        </a:rPr>
                        <a:t>python -m src.national.build_all</a:t>
                      </a:r>
                      <a:endParaRPr lang="fr-FR" sz="8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7 min 30 (447 s)</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après le téléchargement</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r h="356616">
                <a:tc>
                  <a:txBody>
                    <a:bodyPr wrap="square" lIns="109728" tIns="54864" rIns="109728" bIns="54864" anchor="t" rtlCol="0">
                      <a:noAutofit/>
                    </a:bodyPr>
                    <a:lstStyle/>
                    <a:p>
                      <a:pPr algn="l">
                        <a:lnSpc>
                          <a:spcPct val="95000"/>
                        </a:lnSpc>
                        <a:spcBef>
                          <a:spcPts val="0"/>
                        </a:spcBef>
                        <a:spcAft>
                          <a:spcPts val="0"/>
                        </a:spcAft>
                        <a:buNone/>
                      </a:pPr>
                      <a:r>
                        <a:rPr lang="fr-FR" sz="900" b="1" i="0" dirty="0">
                          <a:solidFill>
                            <a:srgbClr val="1F2933"/>
                          </a:solidFill>
                          <a:latin typeface="Segoe UI"/>
                          <a:cs typeface="Segoe UI"/>
                        </a:rPr>
                        <a:t>src.model (features, train)</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Variables puis modèle LightGBM</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100000"/>
                        </a:lnSpc>
                        <a:spcBef>
                          <a:spcPts val="0"/>
                        </a:spcBef>
                        <a:spcAft>
                          <a:spcPts val="0"/>
                        </a:spcAft>
                        <a:buNone/>
                      </a:pPr>
                      <a:r>
                        <a:rPr lang="fr-FR" sz="850" b="0" i="0" dirty="0">
                          <a:solidFill>
                            <a:srgbClr val="0B5C8A"/>
                          </a:solidFill>
                          <a:latin typeface="Consolas"/>
                          <a:cs typeface="Consolas"/>
                        </a:rPr>
                        <a:t>python -m src.model.features</a:t>
                      </a:r>
                      <a:r>
                        <a:rPr lang="fr-FR" sz="850" b="0" i="0" dirty="0">
                          <a:solidFill>
                            <a:srgbClr val="1F2933"/>
                          </a:solidFill>
                          <a:latin typeface="Segoe UI"/>
                          <a:cs typeface="Segoe UI"/>
                        </a:rPr>
                        <a:t> puis </a:t>
                      </a:r>
                      <a:r>
                        <a:rPr lang="fr-FR" sz="850" b="0" i="0" dirty="0">
                          <a:solidFill>
                            <a:srgbClr val="0B5C8A"/>
                          </a:solidFill>
                          <a:latin typeface="Consolas"/>
                          <a:cs typeface="Consolas"/>
                        </a:rPr>
                        <a:t>python -m src.model.train</a:t>
                      </a:r>
                      <a:endParaRPr lang="fr-FR" sz="8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train : 2 min (119 s)</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après le national et Grenoble</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r>
              <a:tr h="356616">
                <a:tc>
                  <a:txBody>
                    <a:bodyPr wrap="square" lIns="109728" tIns="54864" rIns="109728" bIns="54864" anchor="t" rtlCol="0">
                      <a:noAutofit/>
                    </a:bodyPr>
                    <a:lstStyle/>
                    <a:p>
                      <a:pPr algn="l">
                        <a:lnSpc>
                          <a:spcPct val="95000"/>
                        </a:lnSpc>
                        <a:spcBef>
                          <a:spcPts val="0"/>
                        </a:spcBef>
                        <a:spcAft>
                          <a:spcPts val="0"/>
                        </a:spcAft>
                        <a:buNone/>
                      </a:pPr>
                      <a:r>
                        <a:rPr lang="fr-FR" sz="900" b="1" i="0" dirty="0">
                          <a:solidFill>
                            <a:srgbClr val="1F2933"/>
                          </a:solidFill>
                          <a:latin typeface="Segoe UI"/>
                          <a:cs typeface="Segoe UI"/>
                        </a:rPr>
                        <a:t>scripts.build_all</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Une ville : zone → population → offre → accès → recommandations</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100000"/>
                        </a:lnSpc>
                        <a:spcBef>
                          <a:spcPts val="0"/>
                        </a:spcBef>
                        <a:spcAft>
                          <a:spcPts val="0"/>
                        </a:spcAft>
                        <a:buNone/>
                      </a:pPr>
                      <a:r>
                        <a:rPr lang="fr-FR" sz="850" b="0" i="0" dirty="0">
                          <a:solidFill>
                            <a:srgbClr val="0B5C8A"/>
                          </a:solidFill>
                          <a:latin typeface="Consolas"/>
                          <a:cs typeface="Consolas"/>
                        </a:rPr>
                        <a:t>python -m scripts.build_all --ville nantes</a:t>
                      </a:r>
                      <a:endParaRPr lang="fr-FR" sz="8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Nantes 150 s · Grenoble 15 s</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après le modèle</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r h="356616">
                <a:tc>
                  <a:txBody>
                    <a:bodyPr wrap="square" lIns="109728" tIns="54864" rIns="109728" bIns="54864" anchor="t" rtlCol="0">
                      <a:noAutofit/>
                    </a:bodyPr>
                    <a:lstStyle/>
                    <a:p>
                      <a:pPr algn="l">
                        <a:lnSpc>
                          <a:spcPct val="95000"/>
                        </a:lnSpc>
                        <a:spcBef>
                          <a:spcPts val="0"/>
                        </a:spcBef>
                        <a:spcAft>
                          <a:spcPts val="0"/>
                        </a:spcAft>
                        <a:buNone/>
                      </a:pPr>
                      <a:r>
                        <a:rPr lang="fr-FR" sz="900" b="1" i="0" dirty="0">
                          <a:solidFill>
                            <a:srgbClr val="1F2933"/>
                          </a:solidFill>
                          <a:latin typeface="Segoe UI"/>
                          <a:cs typeface="Segoe UI"/>
                        </a:rPr>
                        <a:t>export_share.py</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Exports pour l'équipe : CSV, GPKG, cartes HTML, zip</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100000"/>
                        </a:lnSpc>
                        <a:spcBef>
                          <a:spcPts val="0"/>
                        </a:spcBef>
                        <a:spcAft>
                          <a:spcPts val="0"/>
                        </a:spcAft>
                        <a:buNone/>
                      </a:pPr>
                      <a:r>
                        <a:rPr lang="fr-FR" sz="850" b="0" i="0" dirty="0">
                          <a:solidFill>
                            <a:srgbClr val="0B5C8A"/>
                          </a:solidFill>
                          <a:latin typeface="Consolas"/>
                          <a:cs typeface="Consolas"/>
                        </a:rPr>
                        <a:t>python scripts/export_share.py</a:t>
                      </a:r>
                      <a:endParaRPr lang="fr-FR" sz="8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non mesurée</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pour partager</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r>
              <a:tr h="356616">
                <a:tc>
                  <a:txBody>
                    <a:bodyPr wrap="square" lIns="109728" tIns="54864" rIns="109728" bIns="54864" anchor="t" rtlCol="0">
                      <a:noAutofit/>
                    </a:bodyPr>
                    <a:lstStyle/>
                    <a:p>
                      <a:pPr algn="l">
                        <a:lnSpc>
                          <a:spcPct val="95000"/>
                        </a:lnSpc>
                        <a:spcBef>
                          <a:spcPts val="0"/>
                        </a:spcBef>
                        <a:spcAft>
                          <a:spcPts val="0"/>
                        </a:spcAft>
                        <a:buNone/>
                      </a:pPr>
                      <a:r>
                        <a:rPr lang="fr-FR" sz="900" b="1" i="0" dirty="0">
                          <a:solidFill>
                            <a:srgbClr val="1F2933"/>
                          </a:solidFill>
                          <a:latin typeface="Segoe UI"/>
                          <a:cs typeface="Segoe UI"/>
                        </a:rPr>
                        <a:t>scripts.chiffres_cles</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Recalcule les chiffres des slides depuis les fichiers</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100000"/>
                        </a:lnSpc>
                        <a:spcBef>
                          <a:spcPts val="0"/>
                        </a:spcBef>
                        <a:spcAft>
                          <a:spcPts val="0"/>
                        </a:spcAft>
                        <a:buNone/>
                      </a:pPr>
                      <a:r>
                        <a:rPr lang="fr-FR" sz="850" b="0" i="0" dirty="0">
                          <a:solidFill>
                            <a:srgbClr val="0B5C8A"/>
                          </a:solidFill>
                          <a:latin typeface="Consolas"/>
                          <a:cs typeface="Consolas"/>
                        </a:rPr>
                        <a:t>python -m scripts.chiffres_cles</a:t>
                      </a:r>
                      <a:endParaRPr lang="fr-FR" sz="8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non mesurée</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après toute reconstruction</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r h="356616">
                <a:tc>
                  <a:txBody>
                    <a:bodyPr wrap="square" lIns="109728" tIns="54864" rIns="109728" bIns="54864" anchor="t" rtlCol="0">
                      <a:noAutofit/>
                    </a:bodyPr>
                    <a:lstStyle/>
                    <a:p>
                      <a:pPr algn="l">
                        <a:lnSpc>
                          <a:spcPct val="95000"/>
                        </a:lnSpc>
                        <a:spcBef>
                          <a:spcPts val="0"/>
                        </a:spcBef>
                        <a:spcAft>
                          <a:spcPts val="0"/>
                        </a:spcAft>
                        <a:buNone/>
                      </a:pPr>
                      <a:r>
                        <a:rPr lang="fr-FR" sz="900" b="1" i="0" dirty="0">
                          <a:solidFill>
                            <a:srgbClr val="1F2933"/>
                          </a:solidFill>
                          <a:latin typeface="Segoe UI"/>
                          <a:cs typeface="Segoe UI"/>
                        </a:rPr>
                        <a:t>lancer_demo.bat</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Lance l'appli et ouvre le navigateur</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double-clic</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 10 s</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le jour de la démo</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r>
              <a:tr h="356616">
                <a:tc>
                  <a:txBody>
                    <a:bodyPr wrap="square" lIns="109728" tIns="54864" rIns="109728" bIns="54864" anchor="t" rtlCol="0">
                      <a:noAutofit/>
                    </a:bodyPr>
                    <a:lstStyle/>
                    <a:p>
                      <a:pPr algn="l">
                        <a:lnSpc>
                          <a:spcPct val="95000"/>
                        </a:lnSpc>
                        <a:spcBef>
                          <a:spcPts val="0"/>
                        </a:spcBef>
                        <a:spcAft>
                          <a:spcPts val="0"/>
                        </a:spcAft>
                        <a:buNone/>
                      </a:pPr>
                      <a:r>
                        <a:rPr lang="fr-FR" sz="900" b="1" i="0" dirty="0">
                          <a:solidFill>
                            <a:srgbClr val="1F2933"/>
                          </a:solidFill>
                          <a:latin typeface="Segoe UI"/>
                          <a:cs typeface="Segoe UI"/>
                        </a:rPr>
                        <a:t>pytest</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82 tests automatiques</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100000"/>
                        </a:lnSpc>
                        <a:spcBef>
                          <a:spcPts val="0"/>
                        </a:spcBef>
                        <a:spcAft>
                          <a:spcPts val="0"/>
                        </a:spcAft>
                        <a:buNone/>
                      </a:pPr>
                      <a:r>
                        <a:rPr lang="fr-FR" sz="850" b="0" i="0" dirty="0">
                          <a:solidFill>
                            <a:srgbClr val="0B5C8A"/>
                          </a:solidFill>
                          <a:latin typeface="Consolas"/>
                          <a:cs typeface="Consolas"/>
                        </a:rPr>
                        <a:t>.venv\Scripts\python -m pytest -q</a:t>
                      </a:r>
                      <a:endParaRPr lang="fr-FR" sz="8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61 s</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avant chaque commit</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r h="356616">
                <a:tc>
                  <a:txBody>
                    <a:bodyPr wrap="square" lIns="109728" tIns="54864" rIns="109728" bIns="54864" anchor="t" rtlCol="0">
                      <a:noAutofit/>
                    </a:bodyPr>
                    <a:lstStyle/>
                    <a:p>
                      <a:pPr algn="l">
                        <a:lnSpc>
                          <a:spcPct val="95000"/>
                        </a:lnSpc>
                        <a:spcBef>
                          <a:spcPts val="0"/>
                        </a:spcBef>
                        <a:spcAft>
                          <a:spcPts val="0"/>
                        </a:spcAft>
                        <a:buNone/>
                      </a:pPr>
                      <a:r>
                        <a:rPr lang="fr-FR" sz="900" b="1" i="0" dirty="0">
                          <a:solidFill>
                            <a:srgbClr val="1F2933"/>
                          </a:solidFill>
                          <a:latin typeface="Segoe UI"/>
                          <a:cs typeface="Segoe UI"/>
                        </a:rPr>
                        <a:t>make_rendu.ps1 · export_fabric</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N'existent pas dans le dépôt (non créés)</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Fabric = notebooks bronze → gold</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rme 3"/>
          <p:cNvSpPr/>
          <p:nvPr/>
        </p:nvSpPr>
        <p:spPr>
          <a:xfrm>
            <a:off x="0" y="0"/>
            <a:ext cx="128016" cy="6858000"/>
          </a:xfrm>
          <a:prstGeom prst="rect">
            <a:avLst/>
          </a:prstGeom>
          <a:solidFill>
            <a:srgbClr val="0E9F8E"/>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4" name="Forme 4"/>
          <p:cNvSpPr/>
          <p:nvPr/>
        </p:nvSpPr>
        <p:spPr>
          <a:xfrm>
            <a:off x="457200" y="256032"/>
            <a:ext cx="7315200" cy="2743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050" b="1" i="0" dirty="0">
                <a:solidFill>
                  <a:srgbClr val="0E9F8E"/>
                </a:solidFill>
                <a:latin typeface="Segoe UI"/>
                <a:cs typeface="Segoe UI"/>
              </a:rPr>
              <a:t>PARTIE 5 · L'AUTOMATISATION</a:t>
            </a:r>
            <a:endParaRPr lang="fr-FR" sz="1050" dirty="0"/>
          </a:p>
        </p:txBody>
      </p:sp>
      <p:sp>
        <p:nvSpPr>
          <p:cNvPr id="5" name="Forme 5"/>
          <p:cNvSpPr/>
          <p:nvPr/>
        </p:nvSpPr>
        <p:spPr>
          <a:xfrm>
            <a:off x="457200" y="502920"/>
            <a:ext cx="11247120" cy="5486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2500" b="1" i="0" dirty="0">
                <a:solidFill>
                  <a:srgbClr val="14213D"/>
                </a:solidFill>
                <a:latin typeface="Segoe UI"/>
                <a:cs typeface="Segoe UI"/>
              </a:rPr>
              <a:t>Fiche par script (1/2)</a:t>
            </a:r>
            <a:endParaRPr lang="fr-FR" sz="2500" dirty="0"/>
          </a:p>
        </p:txBody>
      </p:sp>
      <p:sp>
        <p:nvSpPr>
          <p:cNvPr id="6" name="Forme 6"/>
          <p:cNvSpPr/>
          <p:nvPr/>
        </p:nvSpPr>
        <p:spPr>
          <a:xfrm>
            <a:off x="457200" y="987552"/>
            <a:ext cx="11247120" cy="3200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250" b="0" i="0" dirty="0">
                <a:solidFill>
                  <a:srgbClr val="5B6573"/>
                </a:solidFill>
                <a:latin typeface="Segoe UI"/>
                <a:cs typeface="Segoe UI"/>
              </a:rPr>
              <a:t>À quoi il sert, entrées, sorties, durée, quand le lancer.</a:t>
            </a:r>
            <a:endParaRPr lang="fr-FR" sz="1250" dirty="0"/>
          </a:p>
        </p:txBody>
      </p:sp>
      <p:sp>
        <p:nvSpPr>
          <p:cNvPr id="7" name="Forme 7"/>
          <p:cNvSpPr/>
          <p:nvPr/>
        </p:nvSpPr>
        <p:spPr>
          <a:xfrm>
            <a:off x="457200" y="6446520"/>
            <a:ext cx="11274552" cy="10973"/>
          </a:xfrm>
          <a:prstGeom prst="rect">
            <a:avLst/>
          </a:prstGeom>
          <a:solidFill>
            <a:srgbClr val="D5DAE1"/>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8" name="Forme 8"/>
          <p:cNvSpPr/>
          <p:nvPr/>
        </p:nvSpPr>
        <p:spPr>
          <a:xfrm>
            <a:off x="457200" y="6492240"/>
            <a:ext cx="7315200" cy="256032"/>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00" b="0" i="0" dirty="0">
                <a:solidFill>
                  <a:srgbClr val="5B6573"/>
                </a:solidFill>
                <a:latin typeface="Segoe UI"/>
                <a:cs typeface="Segoe UI"/>
              </a:rPr>
              <a:t>Hackathon Mobility × Citiz · Nos données, de A à Z</a:t>
            </a:r>
            <a:endParaRPr lang="fr-FR" sz="900" dirty="0"/>
          </a:p>
        </p:txBody>
      </p:sp>
      <p:sp>
        <p:nvSpPr>
          <p:cNvPr id="9" name="Forme 9"/>
          <p:cNvSpPr/>
          <p:nvPr/>
        </p:nvSpPr>
        <p:spPr>
          <a:xfrm>
            <a:off x="10360152" y="6492240"/>
            <a:ext cx="1371600" cy="256032"/>
          </a:xfrm>
          <a:prstGeom prst="rect">
            <a:avLst/>
          </a:prstGeom>
          <a:noFill/>
          <a:ln>
            <a:noFill/>
          </a:ln>
        </p:spPr>
        <p:txBody>
          <a:bodyPr wrap="square" lIns="18288" tIns="18288" rIns="18288" bIns="18288" anchor="t" rtlCol="0">
            <a:noAutofit/>
          </a:bodyPr>
          <a:lstStyle/>
          <a:p>
            <a:pPr algn="r">
              <a:lnSpc>
                <a:spcPct val="100000"/>
              </a:lnSpc>
              <a:spcBef>
                <a:spcPts val="0"/>
              </a:spcBef>
              <a:spcAft>
                <a:spcPts val="0"/>
              </a:spcAft>
              <a:buNone/>
            </a:pPr>
            <a:r>
              <a:rPr lang="fr-FR" sz="900" b="0" i="0" dirty="0">
                <a:solidFill>
                  <a:srgbClr val="5B6573"/>
                </a:solidFill>
                <a:latin typeface="Segoe UI"/>
                <a:cs typeface="Segoe UI"/>
              </a:rPr>
              <a:t>19</a:t>
            </a:r>
            <a:endParaRPr lang="fr-FR" sz="900" dirty="0"/>
          </a:p>
        </p:txBody>
      </p:sp>
      <p:sp>
        <p:nvSpPr>
          <p:cNvPr id="10" name="Forme 10"/>
          <p:cNvSpPr/>
          <p:nvPr/>
        </p:nvSpPr>
        <p:spPr>
          <a:xfrm>
            <a:off x="457200" y="1371600"/>
            <a:ext cx="5559552" cy="2395728"/>
          </a:xfrm>
          <a:prstGeom prst="roundRect">
            <a:avLst>
              <a:gd name="adj" fmla="val 4000"/>
            </a:avLst>
          </a:prstGeom>
          <a:solidFill>
            <a:srgbClr val="E6EFFB"/>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1" name="Forme 11"/>
          <p:cNvSpPr/>
          <p:nvPr/>
        </p:nvSpPr>
        <p:spPr>
          <a:xfrm>
            <a:off x="457200" y="1371600"/>
            <a:ext cx="64008" cy="2395728"/>
          </a:xfrm>
          <a:prstGeom prst="rect">
            <a:avLst/>
          </a:prstGeom>
          <a:solidFill>
            <a:srgbClr val="3D7DD8"/>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2" name="Forme 12"/>
          <p:cNvSpPr/>
          <p:nvPr/>
        </p:nvSpPr>
        <p:spPr>
          <a:xfrm>
            <a:off x="640080" y="1463040"/>
            <a:ext cx="5266944" cy="2258568"/>
          </a:xfrm>
          <a:prstGeom prst="rect">
            <a:avLst/>
          </a:prstGeom>
          <a:noFill/>
          <a:ln>
            <a:noFill/>
          </a:ln>
        </p:spPr>
        <p:txBody>
          <a:bodyPr wrap="square" lIns="18288" tIns="18288" rIns="18288" bIns="18288" anchor="t" rtlCol="0">
            <a:noAutofit/>
          </a:bodyPr>
          <a:lstStyle/>
          <a:p>
            <a:pPr algn="l">
              <a:lnSpc>
                <a:spcPct val="100000"/>
              </a:lnSpc>
              <a:spcBef>
                <a:spcPts val="0"/>
              </a:spcBef>
              <a:spcAft>
                <a:spcPts val="300"/>
              </a:spcAft>
              <a:buNone/>
            </a:pPr>
            <a:r>
              <a:rPr lang="fr-FR" sz="1300" b="1" i="0" dirty="0">
                <a:solidFill>
                  <a:srgbClr val="3D7DD8"/>
                </a:solidFill>
                <a:latin typeface="Segoe UI"/>
                <a:cs typeface="Segoe UI"/>
              </a:rPr>
              <a:t>download_all.py</a:t>
            </a:r>
            <a:endParaRPr lang="fr-FR" sz="1300" dirty="0"/>
          </a:p>
          <a:p>
            <a:pPr algn="l">
              <a:lnSpc>
                <a:spcPct val="100000"/>
              </a:lnSpc>
              <a:spcBef>
                <a:spcPts val="0"/>
              </a:spcBef>
              <a:spcAft>
                <a:spcPts val="0"/>
              </a:spcAft>
              <a:buNone/>
            </a:pPr>
            <a:r>
              <a:rPr lang="fr-FR" sz="1050" b="0" i="1" dirty="0">
                <a:solidFill>
                  <a:srgbClr val="5B6573"/>
                </a:solidFill>
                <a:latin typeface="Segoe UI"/>
                <a:cs typeface="Segoe UI"/>
              </a:rPr>
              <a:t>Tout télécharger, sans rien installer (bibliothèque standard Python)</a:t>
            </a:r>
            <a:endParaRPr lang="fr-FR" sz="1050" dirty="0"/>
          </a:p>
          <a:p>
            <a:pPr algn="l" marL="201168" indent="-201168">
              <a:lnSpc>
                <a:spcPct val="100000"/>
              </a:lnSpc>
              <a:spcBef>
                <a:spcPts val="400"/>
              </a:spcBef>
              <a:spcAft>
                <a:spcPts val="0"/>
              </a:spcAft>
              <a:buClr>
                <a:srgbClr val="3D7DD8"/>
              </a:buClr>
              <a:buFont typeface="Segoe UI"/>
              <a:buChar char="•"/>
            </a:pPr>
            <a:r>
              <a:rPr lang="fr-FR" sz="1150" b="1" i="0" dirty="0">
                <a:solidFill>
                  <a:srgbClr val="1F2933"/>
                </a:solidFill>
                <a:latin typeface="Segoe UI"/>
                <a:cs typeface="Segoe UI"/>
              </a:rPr>
              <a:t>Entrées</a:t>
            </a:r>
            <a:r>
              <a:rPr lang="fr-FR" sz="1150" b="0" i="0" dirty="0">
                <a:solidFill>
                  <a:srgbClr val="1F2933"/>
                </a:solidFill>
                <a:latin typeface="Segoe UI"/>
                <a:cs typeface="Segoe UI"/>
              </a:rPr>
              <a:t> : API transport.data.gouv.fr, liens </a:t>
            </a:r>
            <a:r>
              <a:rPr lang="fr-FR" sz="1150" b="0" i="0" dirty="0">
                <a:solidFill>
                  <a:srgbClr val="0B7A6E"/>
                </a:solidFill>
                <a:latin typeface="Consolas"/>
                <a:cs typeface="Consolas"/>
              </a:rPr>
              <a:t>STATIC</a:t>
            </a:r>
            <a:r>
              <a:rPr lang="fr-FR" sz="1150" b="0" i="0" dirty="0">
                <a:solidFill>
                  <a:srgbClr val="1F2933"/>
                </a:solidFill>
                <a:latin typeface="Segoe UI"/>
                <a:cs typeface="Segoe UI"/>
              </a:rPr>
              <a:t>, flux Atom IGN, Geofabrik.</a:t>
            </a:r>
            <a:endParaRPr lang="fr-FR" sz="1150" dirty="0"/>
          </a:p>
          <a:p>
            <a:pPr algn="l" marL="201168" indent="-201168">
              <a:lnSpc>
                <a:spcPct val="100000"/>
              </a:lnSpc>
              <a:spcBef>
                <a:spcPts val="400"/>
              </a:spcBef>
              <a:spcAft>
                <a:spcPts val="0"/>
              </a:spcAft>
              <a:buClr>
                <a:srgbClr val="3D7DD8"/>
              </a:buClr>
              <a:buFont typeface="Segoe UI"/>
              <a:buChar char="•"/>
            </a:pPr>
            <a:r>
              <a:rPr lang="fr-FR" sz="1150" b="1" i="0" dirty="0">
                <a:solidFill>
                  <a:srgbClr val="1F2933"/>
                </a:solidFill>
                <a:latin typeface="Segoe UI"/>
                <a:cs typeface="Segoe UI"/>
              </a:rPr>
              <a:t>Sorties</a:t>
            </a:r>
            <a:r>
              <a:rPr lang="fr-FR" sz="1150" b="0" i="0" dirty="0">
                <a:solidFill>
                  <a:srgbClr val="1F2933"/>
                </a:solidFill>
                <a:latin typeface="Segoe UI"/>
                <a:cs typeface="Segoe UI"/>
              </a:rPr>
              <a:t> : </a:t>
            </a:r>
            <a:r>
              <a:rPr lang="fr-FR" sz="1150" b="0" i="0" dirty="0">
                <a:solidFill>
                  <a:srgbClr val="0B7A6E"/>
                </a:solidFill>
                <a:latin typeface="Consolas"/>
                <a:cs typeface="Consolas"/>
              </a:rPr>
              <a:t>data/raw/&lt;catégorie&gt;/…</a:t>
            </a:r>
            <a:r>
              <a:rPr lang="fr-FR" sz="1150" b="0" i="0" dirty="0">
                <a:solidFill>
                  <a:srgbClr val="1F2933"/>
                </a:solidFill>
                <a:latin typeface="Segoe UI"/>
                <a:cs typeface="Segoe UI"/>
              </a:rPr>
              <a:t>, </a:t>
            </a:r>
            <a:r>
              <a:rPr lang="fr-FR" sz="1150" b="0" i="0" dirty="0">
                <a:solidFill>
                  <a:srgbClr val="0B7A6E"/>
                </a:solidFill>
                <a:latin typeface="Consolas"/>
                <a:cs typeface="Consolas"/>
              </a:rPr>
              <a:t>manifest.csv</a:t>
            </a:r>
            <a:r>
              <a:rPr lang="fr-FR" sz="1150" b="0" i="0" dirty="0">
                <a:solidFill>
                  <a:srgbClr val="1F2933"/>
                </a:solidFill>
                <a:latin typeface="Segoe UI"/>
                <a:cs typeface="Segoe UI"/>
              </a:rPr>
              <a:t>, </a:t>
            </a:r>
            <a:r>
              <a:rPr lang="fr-FR" sz="1150" b="0" i="0" dirty="0">
                <a:solidFill>
                  <a:srgbClr val="0B7A6E"/>
                </a:solidFill>
                <a:latin typeface="Consolas"/>
                <a:cs typeface="Consolas"/>
              </a:rPr>
              <a:t>docs/sources.md</a:t>
            </a:r>
            <a:r>
              <a:rPr lang="fr-FR" sz="1150" b="0" i="0" dirty="0">
                <a:solidFill>
                  <a:srgbClr val="1F2933"/>
                </a:solidFill>
                <a:latin typeface="Segoe UI"/>
                <a:cs typeface="Segoe UI"/>
              </a:rPr>
              <a:t>.</a:t>
            </a:r>
            <a:endParaRPr lang="fr-FR" sz="1150" dirty="0"/>
          </a:p>
          <a:p>
            <a:pPr algn="l" marL="201168" indent="-201168">
              <a:lnSpc>
                <a:spcPct val="100000"/>
              </a:lnSpc>
              <a:spcBef>
                <a:spcPts val="400"/>
              </a:spcBef>
              <a:spcAft>
                <a:spcPts val="0"/>
              </a:spcAft>
              <a:buClr>
                <a:srgbClr val="3D7DD8"/>
              </a:buClr>
              <a:buFont typeface="Segoe UI"/>
              <a:buChar char="•"/>
            </a:pPr>
            <a:r>
              <a:rPr lang="fr-FR" sz="1150" b="1" i="0" dirty="0">
                <a:solidFill>
                  <a:srgbClr val="1F2933"/>
                </a:solidFill>
                <a:latin typeface="Segoe UI"/>
                <a:cs typeface="Segoe UI"/>
              </a:rPr>
              <a:t>Options</a:t>
            </a:r>
            <a:r>
              <a:rPr lang="fr-FR" sz="1150" b="0" i="0" dirty="0">
                <a:solidFill>
                  <a:srgbClr val="1F2933"/>
                </a:solidFill>
                <a:latin typeface="Segoe UI"/>
                <a:cs typeface="Segoe UI"/>
              </a:rPr>
              <a:t> : </a:t>
            </a:r>
            <a:r>
              <a:rPr lang="fr-FR" sz="1150" b="0" i="0" dirty="0">
                <a:solidFill>
                  <a:srgbClr val="0B7A6E"/>
                </a:solidFill>
                <a:latin typeface="Consolas"/>
                <a:cs typeface="Consolas"/>
              </a:rPr>
              <a:t>--only</a:t>
            </a:r>
            <a:r>
              <a:rPr lang="fr-FR" sz="1150" b="0" i="0" dirty="0">
                <a:solidFill>
                  <a:srgbClr val="1F2933"/>
                </a:solidFill>
                <a:latin typeface="Segoe UI"/>
                <a:cs typeface="Segoe UI"/>
              </a:rPr>
              <a:t>, </a:t>
            </a:r>
            <a:r>
              <a:rPr lang="fr-FR" sz="1150" b="0" i="0" dirty="0">
                <a:solidFill>
                  <a:srgbClr val="0B7A6E"/>
                </a:solidFill>
                <a:latin typeface="Consolas"/>
                <a:cs typeface="Consolas"/>
              </a:rPr>
              <a:t>--skip</a:t>
            </a:r>
            <a:r>
              <a:rPr lang="fr-FR" sz="1150" b="0" i="0" dirty="0">
                <a:solidFill>
                  <a:srgbClr val="1F2933"/>
                </a:solidFill>
                <a:latin typeface="Segoe UI"/>
                <a:cs typeface="Segoe UI"/>
              </a:rPr>
              <a:t>, </a:t>
            </a:r>
            <a:r>
              <a:rPr lang="fr-FR" sz="1150" b="0" i="0" dirty="0">
                <a:solidFill>
                  <a:srgbClr val="0B7A6E"/>
                </a:solidFill>
                <a:latin typeface="Consolas"/>
                <a:cs typeface="Consolas"/>
              </a:rPr>
              <a:t>--gtfs-filter</a:t>
            </a:r>
            <a:r>
              <a:rPr lang="fr-FR" sz="1150" b="0" i="0" dirty="0">
                <a:solidFill>
                  <a:srgbClr val="1F2933"/>
                </a:solidFill>
                <a:latin typeface="Segoe UI"/>
                <a:cs typeface="Segoe UI"/>
              </a:rPr>
              <a:t>, </a:t>
            </a:r>
            <a:r>
              <a:rPr lang="fr-FR" sz="1150" b="0" i="0" dirty="0">
                <a:solidFill>
                  <a:srgbClr val="0B7A6E"/>
                </a:solidFill>
                <a:latin typeface="Consolas"/>
                <a:cs typeface="Consolas"/>
              </a:rPr>
              <a:t>--osm france|region|none</a:t>
            </a:r>
            <a:r>
              <a:rPr lang="fr-FR" sz="1150" b="0" i="0" dirty="0">
                <a:solidFill>
                  <a:srgbClr val="1F2933"/>
                </a:solidFill>
                <a:latin typeface="Segoe UI"/>
                <a:cs typeface="Segoe UI"/>
              </a:rPr>
              <a:t>, </a:t>
            </a:r>
            <a:r>
              <a:rPr lang="fr-FR" sz="1150" b="0" i="0" dirty="0">
                <a:solidFill>
                  <a:srgbClr val="0B7A6E"/>
                </a:solidFill>
                <a:latin typeface="Consolas"/>
                <a:cs typeface="Consolas"/>
              </a:rPr>
              <a:t>--osm-region</a:t>
            </a:r>
            <a:r>
              <a:rPr lang="fr-FR" sz="1150" b="0" i="0" dirty="0">
                <a:solidFill>
                  <a:srgbClr val="1F2933"/>
                </a:solidFill>
                <a:latin typeface="Segoe UI"/>
                <a:cs typeface="Segoe UI"/>
              </a:rPr>
              <a:t>, </a:t>
            </a:r>
            <a:r>
              <a:rPr lang="fr-FR" sz="1150" b="0" i="0" dirty="0">
                <a:solidFill>
                  <a:srgbClr val="0B7A6E"/>
                </a:solidFill>
                <a:latin typeface="Consolas"/>
                <a:cs typeface="Consolas"/>
              </a:rPr>
              <a:t>--workers</a:t>
            </a:r>
            <a:r>
              <a:rPr lang="fr-FR" sz="1150" b="0" i="0" dirty="0">
                <a:solidFill>
                  <a:srgbClr val="1F2933"/>
                </a:solidFill>
                <a:latin typeface="Segoe UI"/>
                <a:cs typeface="Segoe UI"/>
              </a:rPr>
              <a:t>, </a:t>
            </a:r>
            <a:r>
              <a:rPr lang="fr-FR" sz="1150" b="0" i="0" dirty="0">
                <a:solidFill>
                  <a:srgbClr val="0B7A6E"/>
                </a:solidFill>
                <a:latin typeface="Consolas"/>
                <a:cs typeface="Consolas"/>
              </a:rPr>
              <a:t>--list</a:t>
            </a:r>
            <a:r>
              <a:rPr lang="fr-FR" sz="1150" b="0" i="0" dirty="0">
                <a:solidFill>
                  <a:srgbClr val="1F2933"/>
                </a:solidFill>
                <a:latin typeface="Segoe UI"/>
                <a:cs typeface="Segoe UI"/>
              </a:rPr>
              <a:t>.</a:t>
            </a:r>
            <a:endParaRPr lang="fr-FR" sz="1150" dirty="0"/>
          </a:p>
          <a:p>
            <a:pPr algn="l" marL="201168" indent="-201168">
              <a:lnSpc>
                <a:spcPct val="100000"/>
              </a:lnSpc>
              <a:spcBef>
                <a:spcPts val="400"/>
              </a:spcBef>
              <a:spcAft>
                <a:spcPts val="0"/>
              </a:spcAft>
              <a:buClr>
                <a:srgbClr val="3D7DD8"/>
              </a:buClr>
              <a:buFont typeface="Segoe UI"/>
              <a:buChar char="•"/>
            </a:pPr>
            <a:r>
              <a:rPr lang="fr-FR" sz="1150" b="1" i="0" dirty="0">
                <a:solidFill>
                  <a:srgbClr val="1F2933"/>
                </a:solidFill>
                <a:latin typeface="Segoe UI"/>
                <a:cs typeface="Segoe UI"/>
              </a:rPr>
              <a:t>Durée</a:t>
            </a:r>
            <a:r>
              <a:rPr lang="fr-FR" sz="1150" b="0" i="0" dirty="0">
                <a:solidFill>
                  <a:srgbClr val="1F2933"/>
                </a:solidFill>
                <a:latin typeface="Segoe UI"/>
                <a:cs typeface="Segoe UI"/>
              </a:rPr>
              <a:t> : 14 min pour 1 468 fichiers (2 Go) ; reprise automatique.</a:t>
            </a:r>
            <a:endParaRPr lang="fr-FR" sz="1150" dirty="0"/>
          </a:p>
        </p:txBody>
      </p:sp>
      <p:sp>
        <p:nvSpPr>
          <p:cNvPr id="13" name="Forme 13"/>
          <p:cNvSpPr/>
          <p:nvPr/>
        </p:nvSpPr>
        <p:spPr>
          <a:xfrm>
            <a:off x="6172200" y="1371600"/>
            <a:ext cx="5559552" cy="2395728"/>
          </a:xfrm>
          <a:prstGeom prst="roundRect">
            <a:avLst>
              <a:gd name="adj" fmla="val 4000"/>
            </a:avLst>
          </a:prstGeom>
          <a:solidFill>
            <a:srgbClr val="EEEAF8"/>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4" name="Forme 14"/>
          <p:cNvSpPr/>
          <p:nvPr/>
        </p:nvSpPr>
        <p:spPr>
          <a:xfrm>
            <a:off x="6172200" y="1371600"/>
            <a:ext cx="64008" cy="2395728"/>
          </a:xfrm>
          <a:prstGeom prst="rect">
            <a:avLst/>
          </a:prstGeom>
          <a:solidFill>
            <a:srgbClr val="7B61C9"/>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5" name="Forme 15"/>
          <p:cNvSpPr/>
          <p:nvPr/>
        </p:nvSpPr>
        <p:spPr>
          <a:xfrm>
            <a:off x="6355080" y="1463040"/>
            <a:ext cx="5266944" cy="2258568"/>
          </a:xfrm>
          <a:prstGeom prst="rect">
            <a:avLst/>
          </a:prstGeom>
          <a:noFill/>
          <a:ln>
            <a:noFill/>
          </a:ln>
        </p:spPr>
        <p:txBody>
          <a:bodyPr wrap="square" lIns="18288" tIns="18288" rIns="18288" bIns="18288" anchor="t" rtlCol="0">
            <a:noAutofit/>
          </a:bodyPr>
          <a:lstStyle/>
          <a:p>
            <a:pPr algn="l">
              <a:lnSpc>
                <a:spcPct val="100000"/>
              </a:lnSpc>
              <a:spcBef>
                <a:spcPts val="0"/>
              </a:spcBef>
              <a:spcAft>
                <a:spcPts val="300"/>
              </a:spcAft>
              <a:buNone/>
            </a:pPr>
            <a:r>
              <a:rPr lang="fr-FR" sz="1300" b="1" i="0" dirty="0">
                <a:solidFill>
                  <a:srgbClr val="7B61C9"/>
                </a:solidFill>
                <a:latin typeface="Segoe UI"/>
                <a:cs typeface="Segoe UI"/>
              </a:rPr>
              <a:t>check_data.py</a:t>
            </a:r>
            <a:endParaRPr lang="fr-FR" sz="1300" dirty="0"/>
          </a:p>
          <a:p>
            <a:pPr algn="l">
              <a:lnSpc>
                <a:spcPct val="100000"/>
              </a:lnSpc>
              <a:spcBef>
                <a:spcPts val="0"/>
              </a:spcBef>
              <a:spcAft>
                <a:spcPts val="0"/>
              </a:spcAft>
              <a:buNone/>
            </a:pPr>
            <a:r>
              <a:rPr lang="fr-FR" sz="1050" b="0" i="1" dirty="0">
                <a:solidFill>
                  <a:srgbClr val="5B6573"/>
                </a:solidFill>
                <a:latin typeface="Segoe UI"/>
                <a:cs typeface="Segoe UI"/>
              </a:rPr>
              <a:t>Vérifier avant de calculer</a:t>
            </a:r>
            <a:endParaRPr lang="fr-FR" sz="1050" dirty="0"/>
          </a:p>
          <a:p>
            <a:pPr algn="l" marL="201168" indent="-201168">
              <a:lnSpc>
                <a:spcPct val="100000"/>
              </a:lnSpc>
              <a:spcBef>
                <a:spcPts val="400"/>
              </a:spcBef>
              <a:spcAft>
                <a:spcPts val="0"/>
              </a:spcAft>
              <a:buClr>
                <a:srgbClr val="7B61C9"/>
              </a:buClr>
              <a:buFont typeface="Segoe UI"/>
              <a:buChar char="•"/>
            </a:pPr>
            <a:r>
              <a:rPr lang="fr-FR" sz="1150" b="1" i="0" dirty="0">
                <a:solidFill>
                  <a:srgbClr val="1F2933"/>
                </a:solidFill>
                <a:latin typeface="Segoe UI"/>
                <a:cs typeface="Segoe UI"/>
              </a:rPr>
              <a:t>Entrées</a:t>
            </a:r>
            <a:r>
              <a:rPr lang="fr-FR" sz="1150" b="0" i="0" dirty="0">
                <a:solidFill>
                  <a:srgbClr val="1F2933"/>
                </a:solidFill>
                <a:latin typeface="Segoe UI"/>
                <a:cs typeface="Segoe UI"/>
              </a:rPr>
              <a:t> : </a:t>
            </a:r>
            <a:r>
              <a:rPr lang="fr-FR" sz="1150" b="0" i="0" dirty="0">
                <a:solidFill>
                  <a:srgbClr val="0B7A6E"/>
                </a:solidFill>
                <a:latin typeface="Consolas"/>
                <a:cs typeface="Consolas"/>
              </a:rPr>
              <a:t>data/raw/</a:t>
            </a:r>
            <a:r>
              <a:rPr lang="fr-FR" sz="1150" b="0" i="0" dirty="0">
                <a:solidFill>
                  <a:srgbClr val="1F2933"/>
                </a:solidFill>
                <a:latin typeface="Segoe UI"/>
                <a:cs typeface="Segoe UI"/>
              </a:rPr>
              <a:t>, </a:t>
            </a:r>
            <a:r>
              <a:rPr lang="fr-FR" sz="1150" b="0" i="0" dirty="0">
                <a:solidFill>
                  <a:srgbClr val="0B7A6E"/>
                </a:solidFill>
                <a:latin typeface="Consolas"/>
                <a:cs typeface="Consolas"/>
              </a:rPr>
              <a:t>manifest.csv</a:t>
            </a:r>
            <a:r>
              <a:rPr lang="fr-FR" sz="1150" b="0" i="0" dirty="0">
                <a:solidFill>
                  <a:srgbClr val="1F2933"/>
                </a:solidFill>
                <a:latin typeface="Segoe UI"/>
                <a:cs typeface="Segoe UI"/>
              </a:rPr>
              <a:t>.</a:t>
            </a:r>
            <a:endParaRPr lang="fr-FR" sz="1150" dirty="0"/>
          </a:p>
          <a:p>
            <a:pPr algn="l" marL="201168" indent="-201168">
              <a:lnSpc>
                <a:spcPct val="100000"/>
              </a:lnSpc>
              <a:spcBef>
                <a:spcPts val="400"/>
              </a:spcBef>
              <a:spcAft>
                <a:spcPts val="0"/>
              </a:spcAft>
              <a:buClr>
                <a:srgbClr val="7B61C9"/>
              </a:buClr>
              <a:buFont typeface="Segoe UI"/>
              <a:buChar char="•"/>
            </a:pPr>
            <a:r>
              <a:rPr lang="fr-FR" sz="1150" b="1" i="0" dirty="0">
                <a:solidFill>
                  <a:srgbClr val="1F2933"/>
                </a:solidFill>
                <a:latin typeface="Segoe UI"/>
                <a:cs typeface="Segoe UI"/>
              </a:rPr>
              <a:t>Sorties</a:t>
            </a:r>
            <a:r>
              <a:rPr lang="fr-FR" sz="1150" b="0" i="0" dirty="0">
                <a:solidFill>
                  <a:srgbClr val="1F2933"/>
                </a:solidFill>
                <a:latin typeface="Segoe UI"/>
                <a:cs typeface="Segoe UI"/>
              </a:rPr>
              <a:t> : </a:t>
            </a:r>
            <a:r>
              <a:rPr lang="fr-FR" sz="1150" b="0" i="0" dirty="0">
                <a:solidFill>
                  <a:srgbClr val="0B7A6E"/>
                </a:solidFill>
                <a:latin typeface="Consolas"/>
                <a:cs typeface="Consolas"/>
              </a:rPr>
              <a:t>data/raw/check_report.md</a:t>
            </a:r>
            <a:r>
              <a:rPr lang="fr-FR" sz="1150" b="0" i="0" dirty="0">
                <a:solidFill>
                  <a:srgbClr val="1F2933"/>
                </a:solidFill>
                <a:latin typeface="Segoe UI"/>
                <a:cs typeface="Segoe UI"/>
              </a:rPr>
              <a:t> ; code de retour 1 s'il y a un ❌.</a:t>
            </a:r>
            <a:endParaRPr lang="fr-FR" sz="1150" dirty="0"/>
          </a:p>
          <a:p>
            <a:pPr algn="l" marL="201168" indent="-201168">
              <a:lnSpc>
                <a:spcPct val="100000"/>
              </a:lnSpc>
              <a:spcBef>
                <a:spcPts val="400"/>
              </a:spcBef>
              <a:spcAft>
                <a:spcPts val="0"/>
              </a:spcAft>
              <a:buClr>
                <a:srgbClr val="7B61C9"/>
              </a:buClr>
              <a:buFont typeface="Segoe UI"/>
              <a:buChar char="•"/>
            </a:pPr>
            <a:r>
              <a:rPr lang="fr-FR" sz="1150" b="1" i="0" dirty="0">
                <a:solidFill>
                  <a:srgbClr val="1F2933"/>
                </a:solidFill>
                <a:latin typeface="Segoe UI"/>
                <a:cs typeface="Segoe UI"/>
              </a:rPr>
              <a:t>Contrôles</a:t>
            </a:r>
            <a:r>
              <a:rPr lang="fr-FR" sz="1150" b="0" i="0" dirty="0">
                <a:solidFill>
                  <a:srgbClr val="1F2933"/>
                </a:solidFill>
                <a:latin typeface="Segoe UI"/>
                <a:cs typeface="Segoe UI"/>
              </a:rPr>
              <a:t> : manifeste, Citiz, autres GBFS, historique, fichiers attendus ; </a:t>
            </a:r>
            <a:r>
              <a:rPr lang="fr-FR" sz="1150" b="0" i="0" dirty="0">
                <a:solidFill>
                  <a:srgbClr val="0B7A6E"/>
                </a:solidFill>
                <a:latin typeface="Consolas"/>
                <a:cs typeface="Consolas"/>
              </a:rPr>
              <a:t>--deep</a:t>
            </a:r>
            <a:r>
              <a:rPr lang="fr-FR" sz="1150" b="0" i="0" dirty="0">
                <a:solidFill>
                  <a:srgbClr val="1F2933"/>
                </a:solidFill>
                <a:latin typeface="Segoe UI"/>
                <a:cs typeface="Segoe UI"/>
              </a:rPr>
              <a:t> : zip, 7z, PBF, parquet, page HTML.</a:t>
            </a:r>
            <a:endParaRPr lang="fr-FR" sz="1150" dirty="0"/>
          </a:p>
          <a:p>
            <a:pPr algn="l" marL="201168" indent="-201168">
              <a:lnSpc>
                <a:spcPct val="100000"/>
              </a:lnSpc>
              <a:spcBef>
                <a:spcPts val="400"/>
              </a:spcBef>
              <a:spcAft>
                <a:spcPts val="0"/>
              </a:spcAft>
              <a:buClr>
                <a:srgbClr val="7B61C9"/>
              </a:buClr>
              <a:buFont typeface="Segoe UI"/>
              <a:buChar char="•"/>
            </a:pPr>
            <a:r>
              <a:rPr lang="fr-FR" sz="1150" b="1" i="0" dirty="0">
                <a:solidFill>
                  <a:srgbClr val="1F2933"/>
                </a:solidFill>
                <a:latin typeface="Segoe UI"/>
                <a:cs typeface="Segoe UI"/>
              </a:rPr>
              <a:t>Durée</a:t>
            </a:r>
            <a:r>
              <a:rPr lang="fr-FR" sz="1150" b="0" i="0" dirty="0">
                <a:solidFill>
                  <a:srgbClr val="1F2933"/>
                </a:solidFill>
                <a:latin typeface="Segoe UI"/>
                <a:cs typeface="Segoe UI"/>
              </a:rPr>
              <a:t> : 1 s ; le 19/10 : 26 ✅ · 1 ⚠️ · 0 ❌.</a:t>
            </a:r>
            <a:endParaRPr lang="fr-FR" sz="1150" dirty="0"/>
          </a:p>
        </p:txBody>
      </p:sp>
      <p:sp>
        <p:nvSpPr>
          <p:cNvPr id="16" name="Forme 16"/>
          <p:cNvSpPr/>
          <p:nvPr/>
        </p:nvSpPr>
        <p:spPr>
          <a:xfrm>
            <a:off x="457200" y="3886200"/>
            <a:ext cx="5559552" cy="2395728"/>
          </a:xfrm>
          <a:prstGeom prst="roundRect">
            <a:avLst>
              <a:gd name="adj" fmla="val 4000"/>
            </a:avLst>
          </a:prstGeom>
          <a:solidFill>
            <a:srgbClr val="E3F4F2"/>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7" name="Forme 17"/>
          <p:cNvSpPr/>
          <p:nvPr/>
        </p:nvSpPr>
        <p:spPr>
          <a:xfrm>
            <a:off x="457200" y="3886200"/>
            <a:ext cx="64008" cy="2395728"/>
          </a:xfrm>
          <a:prstGeom prst="rect">
            <a:avLst/>
          </a:prstGeom>
          <a:solidFill>
            <a:srgbClr val="0E9F8E"/>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8" name="Forme 18"/>
          <p:cNvSpPr/>
          <p:nvPr/>
        </p:nvSpPr>
        <p:spPr>
          <a:xfrm>
            <a:off x="640080" y="3977640"/>
            <a:ext cx="5266944" cy="2258568"/>
          </a:xfrm>
          <a:prstGeom prst="rect">
            <a:avLst/>
          </a:prstGeom>
          <a:noFill/>
          <a:ln>
            <a:noFill/>
          </a:ln>
        </p:spPr>
        <p:txBody>
          <a:bodyPr wrap="square" lIns="18288" tIns="18288" rIns="18288" bIns="18288" anchor="t" rtlCol="0">
            <a:noAutofit/>
          </a:bodyPr>
          <a:lstStyle/>
          <a:p>
            <a:pPr algn="l">
              <a:lnSpc>
                <a:spcPct val="100000"/>
              </a:lnSpc>
              <a:spcBef>
                <a:spcPts val="0"/>
              </a:spcBef>
              <a:spcAft>
                <a:spcPts val="300"/>
              </a:spcAft>
              <a:buNone/>
            </a:pPr>
            <a:r>
              <a:rPr lang="fr-FR" sz="1300" b="1" i="0" dirty="0">
                <a:solidFill>
                  <a:srgbClr val="0E9F8E"/>
                </a:solidFill>
                <a:latin typeface="Segoe UI"/>
                <a:cs typeface="Segoe UI"/>
              </a:rPr>
              <a:t>collect_gbfs_status.py</a:t>
            </a:r>
            <a:endParaRPr lang="fr-FR" sz="1300" dirty="0"/>
          </a:p>
          <a:p>
            <a:pPr algn="l">
              <a:lnSpc>
                <a:spcPct val="100000"/>
              </a:lnSpc>
              <a:spcBef>
                <a:spcPts val="0"/>
              </a:spcBef>
              <a:spcAft>
                <a:spcPts val="0"/>
              </a:spcAft>
              <a:buNone/>
            </a:pPr>
            <a:r>
              <a:rPr lang="fr-FR" sz="1050" b="0" i="1" dirty="0">
                <a:solidFill>
                  <a:srgbClr val="5B6573"/>
                </a:solidFill>
                <a:latin typeface="Segoe UI"/>
                <a:cs typeface="Segoe UI"/>
              </a:rPr>
              <a:t>Garder une trace de l'usage des stations</a:t>
            </a:r>
            <a:endParaRPr lang="fr-FR" sz="1050" dirty="0"/>
          </a:p>
          <a:p>
            <a:pPr algn="l" marL="201168" indent="-201168">
              <a:lnSpc>
                <a:spcPct val="100000"/>
              </a:lnSpc>
              <a:spcBef>
                <a:spcPts val="400"/>
              </a:spcBef>
              <a:spcAft>
                <a:spcPts val="0"/>
              </a:spcAft>
              <a:buClr>
                <a:srgbClr val="0E9F8E"/>
              </a:buClr>
              <a:buFont typeface="Segoe UI"/>
              <a:buChar char="•"/>
            </a:pPr>
            <a:r>
              <a:rPr lang="fr-FR" sz="1150" b="1" i="0" dirty="0">
                <a:solidFill>
                  <a:srgbClr val="1F2933"/>
                </a:solidFill>
                <a:latin typeface="Segoe UI"/>
                <a:cs typeface="Segoe UI"/>
              </a:rPr>
              <a:t>Entrées</a:t>
            </a:r>
            <a:r>
              <a:rPr lang="fr-FR" sz="1150" b="0" i="0" dirty="0">
                <a:solidFill>
                  <a:srgbClr val="1F2933"/>
                </a:solidFill>
                <a:latin typeface="Segoe UI"/>
                <a:cs typeface="Segoe UI"/>
              </a:rPr>
              <a:t> : </a:t>
            </a:r>
            <a:r>
              <a:rPr lang="fr-FR" sz="1150" b="0" i="0" dirty="0">
                <a:solidFill>
                  <a:srgbClr val="0B7A6E"/>
                </a:solidFill>
                <a:latin typeface="Consolas"/>
                <a:cs typeface="Consolas"/>
              </a:rPr>
              <a:t>data/raw/gbfs_citiz/index.json</a:t>
            </a:r>
            <a:r>
              <a:rPr lang="fr-FR" sz="1150" b="0" i="0" dirty="0">
                <a:solidFill>
                  <a:srgbClr val="1F2933"/>
                </a:solidFill>
                <a:latin typeface="Segoe UI"/>
                <a:cs typeface="Segoe UI"/>
              </a:rPr>
              <a:t>.</a:t>
            </a:r>
            <a:endParaRPr lang="fr-FR" sz="1150" dirty="0"/>
          </a:p>
          <a:p>
            <a:pPr algn="l" marL="201168" indent="-201168">
              <a:lnSpc>
                <a:spcPct val="100000"/>
              </a:lnSpc>
              <a:spcBef>
                <a:spcPts val="400"/>
              </a:spcBef>
              <a:spcAft>
                <a:spcPts val="0"/>
              </a:spcAft>
              <a:buClr>
                <a:srgbClr val="0E9F8E"/>
              </a:buClr>
              <a:buFont typeface="Segoe UI"/>
              <a:buChar char="•"/>
            </a:pPr>
            <a:r>
              <a:rPr lang="fr-FR" sz="1150" b="1" i="0" dirty="0">
                <a:solidFill>
                  <a:srgbClr val="1F2933"/>
                </a:solidFill>
                <a:latin typeface="Segoe UI"/>
                <a:cs typeface="Segoe UI"/>
              </a:rPr>
              <a:t>Sorties</a:t>
            </a:r>
            <a:r>
              <a:rPr lang="fr-FR" sz="1150" b="0" i="0" dirty="0">
                <a:solidFill>
                  <a:srgbClr val="1F2933"/>
                </a:solidFill>
                <a:latin typeface="Segoe UI"/>
                <a:cs typeface="Segoe UI"/>
              </a:rPr>
              <a:t> : </a:t>
            </a:r>
            <a:r>
              <a:rPr lang="fr-FR" sz="1150" b="0" i="0" dirty="0">
                <a:solidFill>
                  <a:srgbClr val="0B7A6E"/>
                </a:solidFill>
                <a:latin typeface="Consolas"/>
                <a:cs typeface="Consolas"/>
              </a:rPr>
              <a:t>gbfs_history/station_status_AAAAMMJJ.csv</a:t>
            </a:r>
            <a:r>
              <a:rPr lang="fr-FR" sz="1150" b="0" i="0" dirty="0">
                <a:solidFill>
                  <a:srgbClr val="1F2933"/>
                </a:solidFill>
                <a:latin typeface="Segoe UI"/>
                <a:cs typeface="Segoe UI"/>
              </a:rPr>
              <a:t> (une ligne par station et par photo).</a:t>
            </a:r>
            <a:endParaRPr lang="fr-FR" sz="1150" dirty="0"/>
          </a:p>
          <a:p>
            <a:pPr algn="l" marL="201168" indent="-201168">
              <a:lnSpc>
                <a:spcPct val="100000"/>
              </a:lnSpc>
              <a:spcBef>
                <a:spcPts val="400"/>
              </a:spcBef>
              <a:spcAft>
                <a:spcPts val="0"/>
              </a:spcAft>
              <a:buClr>
                <a:srgbClr val="0E9F8E"/>
              </a:buClr>
              <a:buFont typeface="Segoe UI"/>
              <a:buChar char="•"/>
            </a:pPr>
            <a:r>
              <a:rPr lang="fr-FR" sz="1150" b="1" i="0" dirty="0">
                <a:solidFill>
                  <a:srgbClr val="1F2933"/>
                </a:solidFill>
                <a:latin typeface="Segoe UI"/>
                <a:cs typeface="Segoe UI"/>
              </a:rPr>
              <a:t>Options</a:t>
            </a:r>
            <a:r>
              <a:rPr lang="fr-FR" sz="1150" b="0" i="0" dirty="0">
                <a:solidFill>
                  <a:srgbClr val="1F2933"/>
                </a:solidFill>
                <a:latin typeface="Segoe UI"/>
                <a:cs typeface="Segoe UI"/>
              </a:rPr>
              <a:t> : </a:t>
            </a:r>
            <a:r>
              <a:rPr lang="fr-FR" sz="1150" b="0" i="0" dirty="0">
                <a:solidFill>
                  <a:srgbClr val="0B7A6E"/>
                </a:solidFill>
                <a:latin typeface="Consolas"/>
                <a:cs typeface="Consolas"/>
              </a:rPr>
              <a:t>--interval</a:t>
            </a:r>
            <a:r>
              <a:rPr lang="fr-FR" sz="1150" b="0" i="0" dirty="0">
                <a:solidFill>
                  <a:srgbClr val="1F2933"/>
                </a:solidFill>
                <a:latin typeface="Segoe UI"/>
                <a:cs typeface="Segoe UI"/>
              </a:rPr>
              <a:t> (min), </a:t>
            </a:r>
            <a:r>
              <a:rPr lang="fr-FR" sz="1150" b="0" i="0" dirty="0">
                <a:solidFill>
                  <a:srgbClr val="0B7A6E"/>
                </a:solidFill>
                <a:latin typeface="Consolas"/>
                <a:cs typeface="Consolas"/>
              </a:rPr>
              <a:t>--hours</a:t>
            </a:r>
            <a:r>
              <a:rPr lang="fr-FR" sz="1150" b="0" i="0" dirty="0">
                <a:solidFill>
                  <a:srgbClr val="1F2933"/>
                </a:solidFill>
                <a:latin typeface="Segoe UI"/>
                <a:cs typeface="Segoe UI"/>
              </a:rPr>
              <a:t> (0 = sans fin), </a:t>
            </a:r>
            <a:r>
              <a:rPr lang="fr-FR" sz="1150" b="0" i="0" dirty="0">
                <a:solidFill>
                  <a:srgbClr val="0B7A6E"/>
                </a:solidFill>
                <a:latin typeface="Consolas"/>
                <a:cs typeface="Consolas"/>
              </a:rPr>
              <a:t>--index</a:t>
            </a:r>
            <a:r>
              <a:rPr lang="fr-FR" sz="1150" b="0" i="0" dirty="0">
                <a:solidFill>
                  <a:srgbClr val="1F2933"/>
                </a:solidFill>
                <a:latin typeface="Segoe UI"/>
                <a:cs typeface="Segoe UI"/>
              </a:rPr>
              <a:t> (tous les GBFS).</a:t>
            </a:r>
            <a:endParaRPr lang="fr-FR" sz="1150" dirty="0"/>
          </a:p>
          <a:p>
            <a:pPr algn="l" marL="201168" indent="-201168">
              <a:lnSpc>
                <a:spcPct val="100000"/>
              </a:lnSpc>
              <a:spcBef>
                <a:spcPts val="400"/>
              </a:spcBef>
              <a:spcAft>
                <a:spcPts val="0"/>
              </a:spcAft>
              <a:buClr>
                <a:srgbClr val="0E9F8E"/>
              </a:buClr>
              <a:buFont typeface="Segoe UI"/>
              <a:buChar char="•"/>
            </a:pPr>
            <a:r>
              <a:rPr lang="fr-FR" sz="1150" b="1" i="0" dirty="0">
                <a:solidFill>
                  <a:srgbClr val="1F2933"/>
                </a:solidFill>
                <a:latin typeface="Segoe UI"/>
                <a:cs typeface="Segoe UI"/>
              </a:rPr>
              <a:t>Attention</a:t>
            </a:r>
            <a:r>
              <a:rPr lang="fr-FR" sz="1150" b="0" i="0" dirty="0">
                <a:solidFill>
                  <a:srgbClr val="1F2933"/>
                </a:solidFill>
                <a:latin typeface="Segoe UI"/>
                <a:cs typeface="Segoe UI"/>
              </a:rPr>
              <a:t> : ne se retélécharge pas, il faut copier le fichier.</a:t>
            </a:r>
            <a:endParaRPr lang="fr-FR" sz="1150" dirty="0"/>
          </a:p>
        </p:txBody>
      </p:sp>
      <p:sp>
        <p:nvSpPr>
          <p:cNvPr id="19" name="Forme 19"/>
          <p:cNvSpPr/>
          <p:nvPr/>
        </p:nvSpPr>
        <p:spPr>
          <a:xfrm>
            <a:off x="6172200" y="3886200"/>
            <a:ext cx="5559552" cy="2395728"/>
          </a:xfrm>
          <a:prstGeom prst="roundRect">
            <a:avLst>
              <a:gd name="adj" fmla="val 4000"/>
            </a:avLst>
          </a:prstGeom>
          <a:solidFill>
            <a:srgbClr val="FCF1E0"/>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20" name="Forme 20"/>
          <p:cNvSpPr/>
          <p:nvPr/>
        </p:nvSpPr>
        <p:spPr>
          <a:xfrm>
            <a:off x="6172200" y="3886200"/>
            <a:ext cx="64008" cy="2395728"/>
          </a:xfrm>
          <a:prstGeom prst="rect">
            <a:avLst/>
          </a:prstGeom>
          <a:solidFill>
            <a:srgbClr val="E08E1B"/>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21" name="Forme 21"/>
          <p:cNvSpPr/>
          <p:nvPr/>
        </p:nvSpPr>
        <p:spPr>
          <a:xfrm>
            <a:off x="6355080" y="3977640"/>
            <a:ext cx="5266944" cy="2258568"/>
          </a:xfrm>
          <a:prstGeom prst="rect">
            <a:avLst/>
          </a:prstGeom>
          <a:noFill/>
          <a:ln>
            <a:noFill/>
          </a:ln>
        </p:spPr>
        <p:txBody>
          <a:bodyPr wrap="square" lIns="18288" tIns="18288" rIns="18288" bIns="18288" anchor="t" rtlCol="0">
            <a:noAutofit/>
          </a:bodyPr>
          <a:lstStyle/>
          <a:p>
            <a:pPr algn="l">
              <a:lnSpc>
                <a:spcPct val="100000"/>
              </a:lnSpc>
              <a:spcBef>
                <a:spcPts val="0"/>
              </a:spcBef>
              <a:spcAft>
                <a:spcPts val="300"/>
              </a:spcAft>
              <a:buNone/>
            </a:pPr>
            <a:r>
              <a:rPr lang="fr-FR" sz="1300" b="1" i="0" dirty="0">
                <a:solidFill>
                  <a:srgbClr val="E08E1B"/>
                </a:solidFill>
                <a:latin typeface="Segoe UI"/>
                <a:cs typeface="Segoe UI"/>
              </a:rPr>
              <a:t>scripts.build_all</a:t>
            </a:r>
            <a:endParaRPr lang="fr-FR" sz="1300" dirty="0"/>
          </a:p>
          <a:p>
            <a:pPr algn="l">
              <a:lnSpc>
                <a:spcPct val="100000"/>
              </a:lnSpc>
              <a:spcBef>
                <a:spcPts val="0"/>
              </a:spcBef>
              <a:spcAft>
                <a:spcPts val="0"/>
              </a:spcAft>
              <a:buNone/>
            </a:pPr>
            <a:r>
              <a:rPr lang="fr-FR" sz="1050" b="0" i="1" dirty="0">
                <a:solidFill>
                  <a:srgbClr val="5B6573"/>
                </a:solidFill>
                <a:latin typeface="Segoe UI"/>
                <a:cs typeface="Segoe UI"/>
              </a:rPr>
              <a:t>Une commande = une ville reconstruite</a:t>
            </a:r>
            <a:endParaRPr lang="fr-FR" sz="1050" dirty="0"/>
          </a:p>
          <a:p>
            <a:pPr algn="l" marL="201168" indent="-201168">
              <a:lnSpc>
                <a:spcPct val="100000"/>
              </a:lnSpc>
              <a:spcBef>
                <a:spcPts val="400"/>
              </a:spcBef>
              <a:spcAft>
                <a:spcPts val="0"/>
              </a:spcAft>
              <a:buClr>
                <a:srgbClr val="E08E1B"/>
              </a:buClr>
              <a:buFont typeface="Segoe UI"/>
              <a:buChar char="•"/>
            </a:pPr>
            <a:r>
              <a:rPr lang="fr-FR" sz="1150" b="1" i="0" dirty="0">
                <a:solidFill>
                  <a:srgbClr val="1F2933"/>
                </a:solidFill>
                <a:latin typeface="Segoe UI"/>
                <a:cs typeface="Segoe UI"/>
              </a:rPr>
              <a:t>Entrées</a:t>
            </a:r>
            <a:r>
              <a:rPr lang="fr-FR" sz="1150" b="0" i="0" dirty="0">
                <a:solidFill>
                  <a:srgbClr val="1F2933"/>
                </a:solidFill>
                <a:latin typeface="Segoe UI"/>
                <a:cs typeface="Segoe UI"/>
              </a:rPr>
              <a:t> : </a:t>
            </a:r>
            <a:r>
              <a:rPr lang="fr-FR" sz="1150" b="0" i="0" dirty="0">
                <a:solidFill>
                  <a:srgbClr val="0B7A6E"/>
                </a:solidFill>
                <a:latin typeface="Consolas"/>
                <a:cs typeface="Consolas"/>
              </a:rPr>
              <a:t>data/raw/</a:t>
            </a:r>
            <a:r>
              <a:rPr lang="fr-FR" sz="1150" b="0" i="0" dirty="0">
                <a:solidFill>
                  <a:srgbClr val="1F2933"/>
                </a:solidFill>
                <a:latin typeface="Segoe UI"/>
                <a:cs typeface="Segoe UI"/>
              </a:rPr>
              <a:t> + </a:t>
            </a:r>
            <a:r>
              <a:rPr lang="fr-FR" sz="1150" b="0" i="0" dirty="0">
                <a:solidFill>
                  <a:srgbClr val="0B7A6E"/>
                </a:solidFill>
                <a:latin typeface="Consolas"/>
                <a:cs typeface="Consolas"/>
              </a:rPr>
              <a:t>settings.yaml</a:t>
            </a:r>
            <a:r>
              <a:rPr lang="fr-FR" sz="1150" b="0" i="0" dirty="0">
                <a:solidFill>
                  <a:srgbClr val="1F2933"/>
                </a:solidFill>
                <a:latin typeface="Segoe UI"/>
                <a:cs typeface="Segoe UI"/>
              </a:rPr>
              <a:t> (</a:t>
            </a:r>
            <a:r>
              <a:rPr lang="fr-FR" sz="1150" b="0" i="0" dirty="0">
                <a:solidFill>
                  <a:srgbClr val="0B7A6E"/>
                </a:solidFill>
                <a:latin typeface="Consolas"/>
                <a:cs typeface="Consolas"/>
              </a:rPr>
              <a:t>cities.&lt;ville&gt;</a:t>
            </a:r>
            <a:r>
              <a:rPr lang="fr-FR" sz="1150" b="0" i="0" dirty="0">
                <a:solidFill>
                  <a:srgbClr val="1F2933"/>
                </a:solidFill>
                <a:latin typeface="Segoe UI"/>
                <a:cs typeface="Segoe UI"/>
              </a:rPr>
              <a:t>).</a:t>
            </a:r>
            <a:endParaRPr lang="fr-FR" sz="1150" dirty="0"/>
          </a:p>
          <a:p>
            <a:pPr algn="l" marL="201168" indent="-201168">
              <a:lnSpc>
                <a:spcPct val="100000"/>
              </a:lnSpc>
              <a:spcBef>
                <a:spcPts val="400"/>
              </a:spcBef>
              <a:spcAft>
                <a:spcPts val="0"/>
              </a:spcAft>
              <a:buClr>
                <a:srgbClr val="E08E1B"/>
              </a:buClr>
              <a:buFont typeface="Segoe UI"/>
              <a:buChar char="•"/>
            </a:pPr>
            <a:r>
              <a:rPr lang="fr-FR" sz="1150" b="1" i="0" dirty="0">
                <a:solidFill>
                  <a:srgbClr val="1F2933"/>
                </a:solidFill>
                <a:latin typeface="Segoe UI"/>
                <a:cs typeface="Segoe UI"/>
              </a:rPr>
              <a:t>Étapes</a:t>
            </a:r>
            <a:r>
              <a:rPr lang="fr-FR" sz="1150" b="0" i="0" dirty="0">
                <a:solidFill>
                  <a:srgbClr val="1F2933"/>
                </a:solidFill>
                <a:latin typeface="Segoe UI"/>
                <a:cs typeface="Segoe UI"/>
              </a:rPr>
              <a:t> : </a:t>
            </a:r>
            <a:r>
              <a:rPr lang="fr-FR" sz="1150" b="0" i="0" dirty="0">
                <a:solidFill>
                  <a:srgbClr val="0B7A6E"/>
                </a:solidFill>
                <a:latin typeface="Consolas"/>
                <a:cs typeface="Consolas"/>
              </a:rPr>
              <a:t>build_zone</a:t>
            </a:r>
            <a:r>
              <a:rPr lang="fr-FR" sz="1150" b="0" i="0" dirty="0">
                <a:solidFill>
                  <a:srgbClr val="1F2933"/>
                </a:solidFill>
                <a:latin typeface="Segoe UI"/>
                <a:cs typeface="Segoe UI"/>
              </a:rPr>
              <a:t> → </a:t>
            </a:r>
            <a:r>
              <a:rPr lang="fr-FR" sz="1150" b="0" i="0" dirty="0">
                <a:solidFill>
                  <a:srgbClr val="0B7A6E"/>
                </a:solidFill>
                <a:latin typeface="Consolas"/>
                <a:cs typeface="Consolas"/>
              </a:rPr>
              <a:t>build_population</a:t>
            </a:r>
            <a:r>
              <a:rPr lang="fr-FR" sz="1150" b="0" i="0" dirty="0">
                <a:solidFill>
                  <a:srgbClr val="1F2933"/>
                </a:solidFill>
                <a:latin typeface="Segoe UI"/>
                <a:cs typeface="Segoe UI"/>
              </a:rPr>
              <a:t> → </a:t>
            </a:r>
            <a:r>
              <a:rPr lang="fr-FR" sz="1150" b="0" i="0" dirty="0">
                <a:solidFill>
                  <a:srgbClr val="0B7A6E"/>
                </a:solidFill>
                <a:latin typeface="Consolas"/>
                <a:cs typeface="Consolas"/>
              </a:rPr>
              <a:t>build_offer</a:t>
            </a:r>
            <a:r>
              <a:rPr lang="fr-FR" sz="1150" b="0" i="0" dirty="0">
                <a:solidFill>
                  <a:srgbClr val="1F2933"/>
                </a:solidFill>
                <a:latin typeface="Segoe UI"/>
                <a:cs typeface="Segoe UI"/>
              </a:rPr>
              <a:t> → </a:t>
            </a:r>
            <a:r>
              <a:rPr lang="fr-FR" sz="1150" b="0" i="0" dirty="0">
                <a:solidFill>
                  <a:srgbClr val="0B7A6E"/>
                </a:solidFill>
                <a:latin typeface="Consolas"/>
                <a:cs typeface="Consolas"/>
              </a:rPr>
              <a:t>build_access</a:t>
            </a:r>
            <a:r>
              <a:rPr lang="fr-FR" sz="1150" b="0" i="0" dirty="0">
                <a:solidFill>
                  <a:srgbClr val="1F2933"/>
                </a:solidFill>
                <a:latin typeface="Segoe UI"/>
                <a:cs typeface="Segoe UI"/>
              </a:rPr>
              <a:t> (V1 + V2) → </a:t>
            </a:r>
            <a:r>
              <a:rPr lang="fr-FR" sz="1150" b="0" i="0" dirty="0">
                <a:solidFill>
                  <a:srgbClr val="0B7A6E"/>
                </a:solidFill>
                <a:latin typeface="Consolas"/>
                <a:cs typeface="Consolas"/>
              </a:rPr>
              <a:t>build_served</a:t>
            </a:r>
            <a:r>
              <a:rPr lang="fr-FR" sz="1150" b="0" i="0" dirty="0">
                <a:solidFill>
                  <a:srgbClr val="1F2933"/>
                </a:solidFill>
                <a:latin typeface="Segoe UI"/>
                <a:cs typeface="Segoe UI"/>
              </a:rPr>
              <a:t> → </a:t>
            </a:r>
            <a:r>
              <a:rPr lang="fr-FR" sz="1150" b="0" i="0" dirty="0">
                <a:solidFill>
                  <a:srgbClr val="0B7A6E"/>
                </a:solidFill>
                <a:latin typeface="Consolas"/>
                <a:cs typeface="Consolas"/>
              </a:rPr>
              <a:t>build_reco</a:t>
            </a:r>
            <a:r>
              <a:rPr lang="fr-FR" sz="1150" b="0" i="0" dirty="0">
                <a:solidFill>
                  <a:srgbClr val="1F2933"/>
                </a:solidFill>
                <a:latin typeface="Segoe UI"/>
                <a:cs typeface="Segoe UI"/>
              </a:rPr>
              <a:t> (Nantes) ou </a:t>
            </a:r>
            <a:r>
              <a:rPr lang="fr-FR" sz="1150" b="0" i="0" dirty="0">
                <a:solidFill>
                  <a:srgbClr val="0B7A6E"/>
                </a:solidFill>
                <a:latin typeface="Consolas"/>
                <a:cs typeface="Consolas"/>
              </a:rPr>
              <a:t>build_app_files</a:t>
            </a:r>
            <a:r>
              <a:rPr lang="fr-FR" sz="1150" b="0" i="0" dirty="0">
                <a:solidFill>
                  <a:srgbClr val="1F2933"/>
                </a:solidFill>
                <a:latin typeface="Segoe UI"/>
                <a:cs typeface="Segoe UI"/>
              </a:rPr>
              <a:t> (Grenoble).</a:t>
            </a:r>
            <a:endParaRPr lang="fr-FR" sz="1150" dirty="0"/>
          </a:p>
          <a:p>
            <a:pPr algn="l" marL="201168" indent="-201168">
              <a:lnSpc>
                <a:spcPct val="100000"/>
              </a:lnSpc>
              <a:spcBef>
                <a:spcPts val="400"/>
              </a:spcBef>
              <a:spcAft>
                <a:spcPts val="0"/>
              </a:spcAft>
              <a:buClr>
                <a:srgbClr val="E08E1B"/>
              </a:buClr>
              <a:buFont typeface="Segoe UI"/>
              <a:buChar char="•"/>
            </a:pPr>
            <a:r>
              <a:rPr lang="fr-FR" sz="1150" b="1" i="0" dirty="0">
                <a:solidFill>
                  <a:srgbClr val="1F2933"/>
                </a:solidFill>
                <a:latin typeface="Segoe UI"/>
                <a:cs typeface="Segoe UI"/>
              </a:rPr>
              <a:t>Sorties</a:t>
            </a:r>
            <a:r>
              <a:rPr lang="fr-FR" sz="1150" b="0" i="0" dirty="0">
                <a:solidFill>
                  <a:srgbClr val="1F2933"/>
                </a:solidFill>
                <a:latin typeface="Segoe UI"/>
                <a:cs typeface="Segoe UI"/>
              </a:rPr>
              <a:t> : </a:t>
            </a:r>
            <a:r>
              <a:rPr lang="fr-FR" sz="1150" b="0" i="0" dirty="0">
                <a:solidFill>
                  <a:srgbClr val="0B7A6E"/>
                </a:solidFill>
                <a:latin typeface="Consolas"/>
                <a:cs typeface="Consolas"/>
              </a:rPr>
              <a:t>data/processed/&lt;ville&gt;/</a:t>
            </a:r>
            <a:r>
              <a:rPr lang="fr-FR" sz="1150" b="0" i="0" dirty="0">
                <a:solidFill>
                  <a:srgbClr val="1F2933"/>
                </a:solidFill>
                <a:latin typeface="Segoe UI"/>
                <a:cs typeface="Segoe UI"/>
              </a:rPr>
              <a:t> et </a:t>
            </a:r>
            <a:r>
              <a:rPr lang="fr-FR" sz="1150" b="0" i="0" dirty="0">
                <a:solidFill>
                  <a:srgbClr val="0B7A6E"/>
                </a:solidFill>
                <a:latin typeface="Consolas"/>
                <a:cs typeface="Consolas"/>
              </a:rPr>
              <a:t>docs/figures/&lt;ville&gt;/</a:t>
            </a:r>
            <a:r>
              <a:rPr lang="fr-FR" sz="1150" b="0" i="0" dirty="0">
                <a:solidFill>
                  <a:srgbClr val="1F2933"/>
                </a:solidFill>
                <a:latin typeface="Segoe UI"/>
                <a:cs typeface="Segoe UI"/>
              </a:rPr>
              <a:t>.</a:t>
            </a:r>
            <a:endParaRPr lang="fr-FR" sz="1150" dirty="0"/>
          </a:p>
          <a:p>
            <a:pPr algn="l" marL="201168" indent="-201168">
              <a:lnSpc>
                <a:spcPct val="100000"/>
              </a:lnSpc>
              <a:spcBef>
                <a:spcPts val="400"/>
              </a:spcBef>
              <a:spcAft>
                <a:spcPts val="0"/>
              </a:spcAft>
              <a:buClr>
                <a:srgbClr val="E08E1B"/>
              </a:buClr>
              <a:buFont typeface="Segoe UI"/>
              <a:buChar char="•"/>
            </a:pPr>
            <a:r>
              <a:rPr lang="fr-FR" sz="1150" b="1" i="0" dirty="0">
                <a:solidFill>
                  <a:srgbClr val="1F2933"/>
                </a:solidFill>
                <a:latin typeface="Segoe UI"/>
                <a:cs typeface="Segoe UI"/>
              </a:rPr>
              <a:t>Durée</a:t>
            </a:r>
            <a:r>
              <a:rPr lang="fr-FR" sz="1150" b="0" i="0" dirty="0">
                <a:solidFill>
                  <a:srgbClr val="1F2933"/>
                </a:solidFill>
                <a:latin typeface="Segoe UI"/>
                <a:cs typeface="Segoe UI"/>
              </a:rPr>
              <a:t> : Nantes 150 s, Grenoble 15 s.</a:t>
            </a:r>
            <a:endParaRPr lang="fr-FR"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rme 3"/>
          <p:cNvSpPr/>
          <p:nvPr/>
        </p:nvSpPr>
        <p:spPr>
          <a:xfrm>
            <a:off x="0" y="0"/>
            <a:ext cx="128016" cy="6858000"/>
          </a:xfrm>
          <a:prstGeom prst="rect">
            <a:avLst/>
          </a:prstGeom>
          <a:solidFill>
            <a:srgbClr val="0E9F8E"/>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4" name="Forme 4"/>
          <p:cNvSpPr/>
          <p:nvPr/>
        </p:nvSpPr>
        <p:spPr>
          <a:xfrm>
            <a:off x="457200" y="256032"/>
            <a:ext cx="7315200" cy="2743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050" b="1" i="0" dirty="0">
                <a:solidFill>
                  <a:srgbClr val="0E9F8E"/>
                </a:solidFill>
                <a:latin typeface="Segoe UI"/>
                <a:cs typeface="Segoe UI"/>
              </a:rPr>
              <a:t>PARTIE 5 · L'AUTOMATISATION</a:t>
            </a:r>
            <a:endParaRPr lang="fr-FR" sz="1050" dirty="0"/>
          </a:p>
        </p:txBody>
      </p:sp>
      <p:sp>
        <p:nvSpPr>
          <p:cNvPr id="5" name="Forme 5"/>
          <p:cNvSpPr/>
          <p:nvPr/>
        </p:nvSpPr>
        <p:spPr>
          <a:xfrm>
            <a:off x="457200" y="502920"/>
            <a:ext cx="11247120" cy="5486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2500" b="1" i="0" dirty="0">
                <a:solidFill>
                  <a:srgbClr val="14213D"/>
                </a:solidFill>
                <a:latin typeface="Segoe UI"/>
                <a:cs typeface="Segoe UI"/>
              </a:rPr>
              <a:t>Fiche par script (2/2)</a:t>
            </a:r>
            <a:endParaRPr lang="fr-FR" sz="2500" dirty="0"/>
          </a:p>
        </p:txBody>
      </p:sp>
      <p:sp>
        <p:nvSpPr>
          <p:cNvPr id="6" name="Forme 6"/>
          <p:cNvSpPr/>
          <p:nvPr/>
        </p:nvSpPr>
        <p:spPr>
          <a:xfrm>
            <a:off x="457200" y="987552"/>
            <a:ext cx="11247120" cy="3200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250" b="0" i="0" dirty="0">
                <a:solidFill>
                  <a:srgbClr val="5B6573"/>
                </a:solidFill>
                <a:latin typeface="Segoe UI"/>
                <a:cs typeface="Segoe UI"/>
              </a:rPr>
              <a:t>À quoi il sert, entrées, sorties, durée, quand le lancer.</a:t>
            </a:r>
            <a:endParaRPr lang="fr-FR" sz="1250" dirty="0"/>
          </a:p>
        </p:txBody>
      </p:sp>
      <p:sp>
        <p:nvSpPr>
          <p:cNvPr id="7" name="Forme 7"/>
          <p:cNvSpPr/>
          <p:nvPr/>
        </p:nvSpPr>
        <p:spPr>
          <a:xfrm>
            <a:off x="457200" y="6446520"/>
            <a:ext cx="11274552" cy="10973"/>
          </a:xfrm>
          <a:prstGeom prst="rect">
            <a:avLst/>
          </a:prstGeom>
          <a:solidFill>
            <a:srgbClr val="D5DAE1"/>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8" name="Forme 8"/>
          <p:cNvSpPr/>
          <p:nvPr/>
        </p:nvSpPr>
        <p:spPr>
          <a:xfrm>
            <a:off x="457200" y="6492240"/>
            <a:ext cx="7315200" cy="256032"/>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00" b="0" i="0" dirty="0">
                <a:solidFill>
                  <a:srgbClr val="5B6573"/>
                </a:solidFill>
                <a:latin typeface="Segoe UI"/>
                <a:cs typeface="Segoe UI"/>
              </a:rPr>
              <a:t>Hackathon Mobility × Citiz · Nos données, de A à Z</a:t>
            </a:r>
            <a:endParaRPr lang="fr-FR" sz="900" dirty="0"/>
          </a:p>
        </p:txBody>
      </p:sp>
      <p:sp>
        <p:nvSpPr>
          <p:cNvPr id="9" name="Forme 9"/>
          <p:cNvSpPr/>
          <p:nvPr/>
        </p:nvSpPr>
        <p:spPr>
          <a:xfrm>
            <a:off x="10360152" y="6492240"/>
            <a:ext cx="1371600" cy="256032"/>
          </a:xfrm>
          <a:prstGeom prst="rect">
            <a:avLst/>
          </a:prstGeom>
          <a:noFill/>
          <a:ln>
            <a:noFill/>
          </a:ln>
        </p:spPr>
        <p:txBody>
          <a:bodyPr wrap="square" lIns="18288" tIns="18288" rIns="18288" bIns="18288" anchor="t" rtlCol="0">
            <a:noAutofit/>
          </a:bodyPr>
          <a:lstStyle/>
          <a:p>
            <a:pPr algn="r">
              <a:lnSpc>
                <a:spcPct val="100000"/>
              </a:lnSpc>
              <a:spcBef>
                <a:spcPts val="0"/>
              </a:spcBef>
              <a:spcAft>
                <a:spcPts val="0"/>
              </a:spcAft>
              <a:buNone/>
            </a:pPr>
            <a:r>
              <a:rPr lang="fr-FR" sz="900" b="0" i="0" dirty="0">
                <a:solidFill>
                  <a:srgbClr val="5B6573"/>
                </a:solidFill>
                <a:latin typeface="Segoe UI"/>
                <a:cs typeface="Segoe UI"/>
              </a:rPr>
              <a:t>20</a:t>
            </a:r>
            <a:endParaRPr lang="fr-FR" sz="900" dirty="0"/>
          </a:p>
        </p:txBody>
      </p:sp>
      <p:sp>
        <p:nvSpPr>
          <p:cNvPr id="10" name="Forme 10"/>
          <p:cNvSpPr/>
          <p:nvPr/>
        </p:nvSpPr>
        <p:spPr>
          <a:xfrm>
            <a:off x="457200" y="1371600"/>
            <a:ext cx="5559552" cy="2395728"/>
          </a:xfrm>
          <a:prstGeom prst="roundRect">
            <a:avLst>
              <a:gd name="adj" fmla="val 4000"/>
            </a:avLst>
          </a:prstGeom>
          <a:solidFill>
            <a:srgbClr val="E6EFFB"/>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1" name="Forme 11"/>
          <p:cNvSpPr/>
          <p:nvPr/>
        </p:nvSpPr>
        <p:spPr>
          <a:xfrm>
            <a:off x="457200" y="1371600"/>
            <a:ext cx="64008" cy="2395728"/>
          </a:xfrm>
          <a:prstGeom prst="rect">
            <a:avLst/>
          </a:prstGeom>
          <a:solidFill>
            <a:srgbClr val="3D7DD8"/>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2" name="Forme 12"/>
          <p:cNvSpPr/>
          <p:nvPr/>
        </p:nvSpPr>
        <p:spPr>
          <a:xfrm>
            <a:off x="640080" y="1463040"/>
            <a:ext cx="5266944" cy="2258568"/>
          </a:xfrm>
          <a:prstGeom prst="rect">
            <a:avLst/>
          </a:prstGeom>
          <a:noFill/>
          <a:ln>
            <a:noFill/>
          </a:ln>
        </p:spPr>
        <p:txBody>
          <a:bodyPr wrap="square" lIns="18288" tIns="18288" rIns="18288" bIns="18288" anchor="t" rtlCol="0">
            <a:noAutofit/>
          </a:bodyPr>
          <a:lstStyle/>
          <a:p>
            <a:pPr algn="l">
              <a:lnSpc>
                <a:spcPct val="100000"/>
              </a:lnSpc>
              <a:spcBef>
                <a:spcPts val="0"/>
              </a:spcBef>
              <a:spcAft>
                <a:spcPts val="300"/>
              </a:spcAft>
              <a:buNone/>
            </a:pPr>
            <a:r>
              <a:rPr lang="fr-FR" sz="1300" b="1" i="0" dirty="0">
                <a:solidFill>
                  <a:srgbClr val="3D7DD8"/>
                </a:solidFill>
                <a:latin typeface="Segoe UI"/>
                <a:cs typeface="Segoe UI"/>
              </a:rPr>
              <a:t>src.national.build_all</a:t>
            </a:r>
            <a:endParaRPr lang="fr-FR" sz="1300" dirty="0"/>
          </a:p>
          <a:p>
            <a:pPr algn="l">
              <a:lnSpc>
                <a:spcPct val="100000"/>
              </a:lnSpc>
              <a:spcBef>
                <a:spcPts val="0"/>
              </a:spcBef>
              <a:spcAft>
                <a:spcPts val="0"/>
              </a:spcAft>
              <a:buNone/>
            </a:pPr>
            <a:r>
              <a:rPr lang="fr-FR" sz="1050" b="0" i="1" dirty="0">
                <a:solidFill>
                  <a:srgbClr val="5B6573"/>
                </a:solidFill>
                <a:latin typeface="Segoe UI"/>
                <a:cs typeface="Segoe UI"/>
              </a:rPr>
              <a:t>La France entière, 2,3 millions de carreaux</a:t>
            </a:r>
            <a:endParaRPr lang="fr-FR" sz="1050" dirty="0"/>
          </a:p>
          <a:p>
            <a:pPr algn="l" marL="201168" indent="-201168">
              <a:lnSpc>
                <a:spcPct val="100000"/>
              </a:lnSpc>
              <a:spcBef>
                <a:spcPts val="400"/>
              </a:spcBef>
              <a:spcAft>
                <a:spcPts val="0"/>
              </a:spcAft>
              <a:buClr>
                <a:srgbClr val="3D7DD8"/>
              </a:buClr>
              <a:buFont typeface="Segoe UI"/>
              <a:buChar char="•"/>
            </a:pPr>
            <a:r>
              <a:rPr lang="fr-FR" sz="1150" b="1" i="0" dirty="0">
                <a:solidFill>
                  <a:srgbClr val="1F2933"/>
                </a:solidFill>
                <a:latin typeface="Segoe UI"/>
                <a:cs typeface="Segoe UI"/>
              </a:rPr>
              <a:t>Étapes</a:t>
            </a:r>
            <a:r>
              <a:rPr lang="fr-FR" sz="1150" b="0" i="0" dirty="0">
                <a:solidFill>
                  <a:srgbClr val="1F2933"/>
                </a:solidFill>
                <a:latin typeface="Segoe UI"/>
                <a:cs typeface="Segoe UI"/>
              </a:rPr>
              <a:t> : </a:t>
            </a:r>
            <a:r>
              <a:rPr lang="fr-FR" sz="1150" b="0" i="0" dirty="0">
                <a:solidFill>
                  <a:srgbClr val="0B7A6E"/>
                </a:solidFill>
                <a:latin typeface="Consolas"/>
                <a:cs typeface="Consolas"/>
              </a:rPr>
              <a:t>cells</a:t>
            </a:r>
            <a:r>
              <a:rPr lang="fr-FR" sz="1150" b="0" i="0" dirty="0">
                <a:solidFill>
                  <a:srgbClr val="1F2933"/>
                </a:solidFill>
                <a:latin typeface="Segoe UI"/>
                <a:cs typeface="Segoe UI"/>
              </a:rPr>
              <a:t> → </a:t>
            </a:r>
            <a:r>
              <a:rPr lang="fr-FR" sz="1150" b="0" i="0" dirty="0">
                <a:solidFill>
                  <a:srgbClr val="0B7A6E"/>
                </a:solidFill>
                <a:latin typeface="Consolas"/>
                <a:cs typeface="Consolas"/>
              </a:rPr>
              <a:t>offer</a:t>
            </a:r>
            <a:r>
              <a:rPr lang="fr-FR" sz="1150" b="0" i="0" dirty="0">
                <a:solidFill>
                  <a:srgbClr val="1F2933"/>
                </a:solidFill>
                <a:latin typeface="Segoe UI"/>
                <a:cs typeface="Segoe UI"/>
              </a:rPr>
              <a:t> → </a:t>
            </a:r>
            <a:r>
              <a:rPr lang="fr-FR" sz="1150" b="0" i="0" dirty="0">
                <a:solidFill>
                  <a:srgbClr val="0B7A6E"/>
                </a:solidFill>
                <a:latin typeface="Consolas"/>
                <a:cs typeface="Consolas"/>
              </a:rPr>
              <a:t>access</a:t>
            </a:r>
            <a:r>
              <a:rPr lang="fr-FR" sz="1150" b="0" i="0" dirty="0">
                <a:solidFill>
                  <a:srgbClr val="1F2933"/>
                </a:solidFill>
                <a:latin typeface="Segoe UI"/>
                <a:cs typeface="Segoe UI"/>
              </a:rPr>
              <a:t> → </a:t>
            </a:r>
            <a:r>
              <a:rPr lang="fr-FR" sz="1150" b="0" i="0" dirty="0">
                <a:solidFill>
                  <a:srgbClr val="0B7A6E"/>
                </a:solidFill>
                <a:latin typeface="Consolas"/>
                <a:cs typeface="Consolas"/>
              </a:rPr>
              <a:t>aggregates</a:t>
            </a:r>
            <a:r>
              <a:rPr lang="fr-FR" sz="1150" b="0" i="0" dirty="0">
                <a:solidFill>
                  <a:srgbClr val="1F2933"/>
                </a:solidFill>
                <a:latin typeface="Segoe UI"/>
                <a:cs typeface="Segoe UI"/>
              </a:rPr>
              <a:t> → </a:t>
            </a:r>
            <a:r>
              <a:rPr lang="fr-FR" sz="1150" b="0" i="0" dirty="0">
                <a:solidFill>
                  <a:srgbClr val="0B7A6E"/>
                </a:solidFill>
                <a:latin typeface="Consolas"/>
                <a:cs typeface="Consolas"/>
              </a:rPr>
              <a:t>ranking</a:t>
            </a:r>
            <a:r>
              <a:rPr lang="fr-FR" sz="1150" b="0" i="0" dirty="0">
                <a:solidFill>
                  <a:srgbClr val="1F2933"/>
                </a:solidFill>
                <a:latin typeface="Segoe UI"/>
                <a:cs typeface="Segoe UI"/>
              </a:rPr>
              <a:t> → </a:t>
            </a:r>
            <a:r>
              <a:rPr lang="fr-FR" sz="1150" b="0" i="0" dirty="0">
                <a:solidFill>
                  <a:srgbClr val="0B7A6E"/>
                </a:solidFill>
                <a:latin typeface="Consolas"/>
                <a:cs typeface="Consolas"/>
              </a:rPr>
              <a:t>app_files</a:t>
            </a:r>
            <a:r>
              <a:rPr lang="fr-FR" sz="1150" b="0" i="0" dirty="0">
                <a:solidFill>
                  <a:srgbClr val="1F2933"/>
                </a:solidFill>
                <a:latin typeface="Segoe UI"/>
                <a:cs typeface="Segoe UI"/>
              </a:rPr>
              <a:t>.</a:t>
            </a:r>
            <a:endParaRPr lang="fr-FR" sz="1150" dirty="0"/>
          </a:p>
          <a:p>
            <a:pPr algn="l" marL="201168" indent="-201168">
              <a:lnSpc>
                <a:spcPct val="100000"/>
              </a:lnSpc>
              <a:spcBef>
                <a:spcPts val="400"/>
              </a:spcBef>
              <a:spcAft>
                <a:spcPts val="0"/>
              </a:spcAft>
              <a:buClr>
                <a:srgbClr val="3D7DD8"/>
              </a:buClr>
              <a:buFont typeface="Segoe UI"/>
              <a:buChar char="•"/>
            </a:pPr>
            <a:r>
              <a:rPr lang="fr-FR" sz="1150" b="1" i="0" dirty="0">
                <a:solidFill>
                  <a:srgbClr val="1F2933"/>
                </a:solidFill>
                <a:latin typeface="Segoe UI"/>
                <a:cs typeface="Segoe UI"/>
              </a:rPr>
              <a:t>Entrées</a:t>
            </a:r>
            <a:r>
              <a:rPr lang="fr-FR" sz="1150" b="0" i="0" dirty="0">
                <a:solidFill>
                  <a:srgbClr val="1F2933"/>
                </a:solidFill>
                <a:latin typeface="Segoe UI"/>
                <a:cs typeface="Segoe UI"/>
              </a:rPr>
              <a:t> : Filosofi, ADMIN EXPRESS, IRIS, logement, 547 GTFS, GBFS, SSMSI.</a:t>
            </a:r>
            <a:endParaRPr lang="fr-FR" sz="1150" dirty="0"/>
          </a:p>
          <a:p>
            <a:pPr algn="l" marL="201168" indent="-201168">
              <a:lnSpc>
                <a:spcPct val="100000"/>
              </a:lnSpc>
              <a:spcBef>
                <a:spcPts val="400"/>
              </a:spcBef>
              <a:spcAft>
                <a:spcPts val="0"/>
              </a:spcAft>
              <a:buClr>
                <a:srgbClr val="3D7DD8"/>
              </a:buClr>
              <a:buFont typeface="Segoe UI"/>
              <a:buChar char="•"/>
            </a:pPr>
            <a:r>
              <a:rPr lang="fr-FR" sz="1150" b="1" i="0" dirty="0">
                <a:solidFill>
                  <a:srgbClr val="1F2933"/>
                </a:solidFill>
                <a:latin typeface="Segoe UI"/>
                <a:cs typeface="Segoe UI"/>
              </a:rPr>
              <a:t>Sorties</a:t>
            </a:r>
            <a:r>
              <a:rPr lang="fr-FR" sz="1150" b="0" i="0" dirty="0">
                <a:solidFill>
                  <a:srgbClr val="1F2933"/>
                </a:solidFill>
                <a:latin typeface="Segoe UI"/>
                <a:cs typeface="Segoe UI"/>
              </a:rPr>
              <a:t> : </a:t>
            </a:r>
            <a:r>
              <a:rPr lang="fr-FR" sz="1150" b="0" i="0" dirty="0">
                <a:solidFill>
                  <a:srgbClr val="0B7A6E"/>
                </a:solidFill>
                <a:latin typeface="Consolas"/>
                <a:cs typeface="Consolas"/>
              </a:rPr>
              <a:t>data/processed/national/</a:t>
            </a:r>
            <a:r>
              <a:rPr lang="fr-FR" sz="1150" b="0" i="0" dirty="0">
                <a:solidFill>
                  <a:srgbClr val="1F2933"/>
                </a:solidFill>
                <a:latin typeface="Segoe UI"/>
                <a:cs typeface="Segoe UI"/>
              </a:rPr>
              <a:t> (agrégats, classement des EPCI, fichiers de l'appli).</a:t>
            </a:r>
            <a:endParaRPr lang="fr-FR" sz="1150" dirty="0"/>
          </a:p>
          <a:p>
            <a:pPr algn="l" marL="201168" indent="-201168">
              <a:lnSpc>
                <a:spcPct val="100000"/>
              </a:lnSpc>
              <a:spcBef>
                <a:spcPts val="400"/>
              </a:spcBef>
              <a:spcAft>
                <a:spcPts val="0"/>
              </a:spcAft>
              <a:buClr>
                <a:srgbClr val="3D7DD8"/>
              </a:buClr>
              <a:buFont typeface="Segoe UI"/>
              <a:buChar char="•"/>
            </a:pPr>
            <a:r>
              <a:rPr lang="fr-FR" sz="1150" b="1" i="0" dirty="0">
                <a:solidFill>
                  <a:srgbClr val="1F2933"/>
                </a:solidFill>
                <a:latin typeface="Segoe UI"/>
                <a:cs typeface="Segoe UI"/>
              </a:rPr>
              <a:t>Durée</a:t>
            </a:r>
            <a:r>
              <a:rPr lang="fr-FR" sz="1150" b="0" i="0" dirty="0">
                <a:solidFill>
                  <a:srgbClr val="1F2933"/>
                </a:solidFill>
                <a:latin typeface="Segoe UI"/>
                <a:cs typeface="Segoe UI"/>
              </a:rPr>
              <a:t> : 447 s ; temps et mémoire de chaque étape dans </a:t>
            </a:r>
            <a:r>
              <a:rPr lang="fr-FR" sz="1150" b="0" i="0" dirty="0">
                <a:solidFill>
                  <a:srgbClr val="0B7A6E"/>
                </a:solidFill>
                <a:latin typeface="Consolas"/>
                <a:cs typeface="Consolas"/>
              </a:rPr>
              <a:t>mesures.json</a:t>
            </a:r>
            <a:r>
              <a:rPr lang="fr-FR" sz="1150" b="0" i="0" dirty="0">
                <a:solidFill>
                  <a:srgbClr val="1F2933"/>
                </a:solidFill>
                <a:latin typeface="Segoe UI"/>
                <a:cs typeface="Segoe UI"/>
              </a:rPr>
              <a:t>.</a:t>
            </a:r>
            <a:endParaRPr lang="fr-FR" sz="1150" dirty="0"/>
          </a:p>
        </p:txBody>
      </p:sp>
      <p:sp>
        <p:nvSpPr>
          <p:cNvPr id="13" name="Forme 13"/>
          <p:cNvSpPr/>
          <p:nvPr/>
        </p:nvSpPr>
        <p:spPr>
          <a:xfrm>
            <a:off x="6172200" y="1371600"/>
            <a:ext cx="5559552" cy="2395728"/>
          </a:xfrm>
          <a:prstGeom prst="roundRect">
            <a:avLst>
              <a:gd name="adj" fmla="val 4000"/>
            </a:avLst>
          </a:prstGeom>
          <a:solidFill>
            <a:srgbClr val="E3F4F2"/>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4" name="Forme 14"/>
          <p:cNvSpPr/>
          <p:nvPr/>
        </p:nvSpPr>
        <p:spPr>
          <a:xfrm>
            <a:off x="6172200" y="1371600"/>
            <a:ext cx="64008" cy="2395728"/>
          </a:xfrm>
          <a:prstGeom prst="rect">
            <a:avLst/>
          </a:prstGeom>
          <a:solidFill>
            <a:srgbClr val="0E9F8E"/>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5" name="Forme 15"/>
          <p:cNvSpPr/>
          <p:nvPr/>
        </p:nvSpPr>
        <p:spPr>
          <a:xfrm>
            <a:off x="6355080" y="1463040"/>
            <a:ext cx="5266944" cy="2258568"/>
          </a:xfrm>
          <a:prstGeom prst="rect">
            <a:avLst/>
          </a:prstGeom>
          <a:noFill/>
          <a:ln>
            <a:noFill/>
          </a:ln>
        </p:spPr>
        <p:txBody>
          <a:bodyPr wrap="square" lIns="18288" tIns="18288" rIns="18288" bIns="18288" anchor="t" rtlCol="0">
            <a:noAutofit/>
          </a:bodyPr>
          <a:lstStyle/>
          <a:p>
            <a:pPr algn="l">
              <a:lnSpc>
                <a:spcPct val="100000"/>
              </a:lnSpc>
              <a:spcBef>
                <a:spcPts val="0"/>
              </a:spcBef>
              <a:spcAft>
                <a:spcPts val="300"/>
              </a:spcAft>
              <a:buNone/>
            </a:pPr>
            <a:r>
              <a:rPr lang="fr-FR" sz="1300" b="1" i="0" dirty="0">
                <a:solidFill>
                  <a:srgbClr val="0E9F8E"/>
                </a:solidFill>
                <a:latin typeface="Segoe UI"/>
                <a:cs typeface="Segoe UI"/>
              </a:rPr>
              <a:t>export_share.py</a:t>
            </a:r>
            <a:endParaRPr lang="fr-FR" sz="1300" dirty="0"/>
          </a:p>
          <a:p>
            <a:pPr algn="l">
              <a:lnSpc>
                <a:spcPct val="100000"/>
              </a:lnSpc>
              <a:spcBef>
                <a:spcPts val="0"/>
              </a:spcBef>
              <a:spcAft>
                <a:spcPts val="0"/>
              </a:spcAft>
              <a:buNone/>
            </a:pPr>
            <a:r>
              <a:rPr lang="fr-FR" sz="1050" b="0" i="1" dirty="0">
                <a:solidFill>
                  <a:srgbClr val="5B6573"/>
                </a:solidFill>
                <a:latin typeface="Segoe UI"/>
                <a:cs typeface="Segoe UI"/>
              </a:rPr>
              <a:t>Partager des données propres avec l'équipe</a:t>
            </a:r>
            <a:endParaRPr lang="fr-FR" sz="1050" dirty="0"/>
          </a:p>
          <a:p>
            <a:pPr algn="l" marL="201168" indent="-201168">
              <a:lnSpc>
                <a:spcPct val="100000"/>
              </a:lnSpc>
              <a:spcBef>
                <a:spcPts val="400"/>
              </a:spcBef>
              <a:spcAft>
                <a:spcPts val="0"/>
              </a:spcAft>
              <a:buClr>
                <a:srgbClr val="0E9F8E"/>
              </a:buClr>
              <a:buFont typeface="Segoe UI"/>
              <a:buChar char="•"/>
            </a:pPr>
            <a:r>
              <a:rPr lang="fr-FR" sz="1150" b="1" i="0" dirty="0">
                <a:solidFill>
                  <a:srgbClr val="1F2933"/>
                </a:solidFill>
                <a:latin typeface="Segoe UI"/>
                <a:cs typeface="Segoe UI"/>
              </a:rPr>
              <a:t>Entrées</a:t>
            </a:r>
            <a:r>
              <a:rPr lang="fr-FR" sz="1150" b="0" i="0" dirty="0">
                <a:solidFill>
                  <a:srgbClr val="1F2933"/>
                </a:solidFill>
                <a:latin typeface="Segoe UI"/>
                <a:cs typeface="Segoe UI"/>
              </a:rPr>
              <a:t> : </a:t>
            </a:r>
            <a:r>
              <a:rPr lang="fr-FR" sz="1150" b="0" i="0" dirty="0">
                <a:solidFill>
                  <a:srgbClr val="0B7A6E"/>
                </a:solidFill>
                <a:latin typeface="Consolas"/>
                <a:cs typeface="Consolas"/>
              </a:rPr>
              <a:t>data/processed/</a:t>
            </a:r>
            <a:r>
              <a:rPr lang="fr-FR" sz="1150" b="0" i="0" dirty="0">
                <a:solidFill>
                  <a:srgbClr val="1F2933"/>
                </a:solidFill>
                <a:latin typeface="Segoe UI"/>
                <a:cs typeface="Segoe UI"/>
              </a:rPr>
              <a:t>.</a:t>
            </a:r>
            <a:endParaRPr lang="fr-FR" sz="1150" dirty="0"/>
          </a:p>
          <a:p>
            <a:pPr algn="l" marL="201168" indent="-201168">
              <a:lnSpc>
                <a:spcPct val="100000"/>
              </a:lnSpc>
              <a:spcBef>
                <a:spcPts val="400"/>
              </a:spcBef>
              <a:spcAft>
                <a:spcPts val="0"/>
              </a:spcAft>
              <a:buClr>
                <a:srgbClr val="0E9F8E"/>
              </a:buClr>
              <a:buFont typeface="Segoe UI"/>
              <a:buChar char="•"/>
            </a:pPr>
            <a:r>
              <a:rPr lang="fr-FR" sz="1150" b="1" i="0" dirty="0">
                <a:solidFill>
                  <a:srgbClr val="1F2933"/>
                </a:solidFill>
                <a:latin typeface="Segoe UI"/>
                <a:cs typeface="Segoe UI"/>
              </a:rPr>
              <a:t>Sorties</a:t>
            </a:r>
            <a:r>
              <a:rPr lang="fr-FR" sz="1150" b="0" i="0" dirty="0">
                <a:solidFill>
                  <a:srgbClr val="1F2933"/>
                </a:solidFill>
                <a:latin typeface="Segoe UI"/>
                <a:cs typeface="Segoe UI"/>
              </a:rPr>
              <a:t> : </a:t>
            </a:r>
            <a:r>
              <a:rPr lang="fr-FR" sz="1150" b="0" i="0" dirty="0">
                <a:solidFill>
                  <a:srgbClr val="0B7A6E"/>
                </a:solidFill>
                <a:latin typeface="Consolas"/>
                <a:cs typeface="Consolas"/>
              </a:rPr>
              <a:t>data/share/</a:t>
            </a:r>
            <a:r>
              <a:rPr lang="fr-FR" sz="1150" b="0" i="0" dirty="0">
                <a:solidFill>
                  <a:srgbClr val="1F2933"/>
                </a:solidFill>
                <a:latin typeface="Segoe UI"/>
                <a:cs typeface="Segoe UI"/>
              </a:rPr>
              <a:t> : GPKG (QGIS), CSV pour Excel (</a:t>
            </a:r>
            <a:r>
              <a:rPr lang="fr-FR" sz="1150" b="0" i="0" dirty="0">
                <a:solidFill>
                  <a:srgbClr val="0B7A6E"/>
                </a:solidFill>
                <a:latin typeface="Consolas"/>
                <a:cs typeface="Consolas"/>
              </a:rPr>
              <a:t>;</a:t>
            </a:r>
            <a:r>
              <a:rPr lang="fr-FR" sz="1150" b="0" i="0" dirty="0">
                <a:solidFill>
                  <a:srgbClr val="1F2933"/>
                </a:solidFill>
                <a:latin typeface="Segoe UI"/>
                <a:cs typeface="Segoe UI"/>
              </a:rPr>
              <a:t>, BOM), GeoJSON &lt; 50 Mo, cartes HTML, zip, </a:t>
            </a:r>
            <a:r>
              <a:rPr lang="fr-FR" sz="1150" b="0" i="0" dirty="0">
                <a:solidFill>
                  <a:srgbClr val="0B7A6E"/>
                </a:solidFill>
                <a:latin typeface="Consolas"/>
                <a:cs typeface="Consolas"/>
              </a:rPr>
              <a:t>DICTIONNAIRE_DONNEES.md</a:t>
            </a:r>
            <a:r>
              <a:rPr lang="fr-FR" sz="1150" b="0" i="0" dirty="0">
                <a:solidFill>
                  <a:srgbClr val="1F2933"/>
                </a:solidFill>
                <a:latin typeface="Segoe UI"/>
                <a:cs typeface="Segoe UI"/>
              </a:rPr>
              <a:t>.</a:t>
            </a:r>
            <a:endParaRPr lang="fr-FR" sz="1150" dirty="0"/>
          </a:p>
          <a:p>
            <a:pPr algn="l" marL="201168" indent="-201168">
              <a:lnSpc>
                <a:spcPct val="100000"/>
              </a:lnSpc>
              <a:spcBef>
                <a:spcPts val="400"/>
              </a:spcBef>
              <a:spcAft>
                <a:spcPts val="0"/>
              </a:spcAft>
              <a:buClr>
                <a:srgbClr val="0E9F8E"/>
              </a:buClr>
              <a:buFont typeface="Segoe UI"/>
              <a:buChar char="•"/>
            </a:pPr>
            <a:r>
              <a:rPr lang="fr-FR" sz="1150" b="1" i="0" dirty="0">
                <a:solidFill>
                  <a:srgbClr val="1F2933"/>
                </a:solidFill>
                <a:latin typeface="Segoe UI"/>
                <a:cs typeface="Segoe UI"/>
              </a:rPr>
              <a:t>Secret</a:t>
            </a:r>
            <a:r>
              <a:rPr lang="fr-FR" sz="1150" b="0" i="0" dirty="0">
                <a:solidFill>
                  <a:srgbClr val="1F2933"/>
                </a:solidFill>
                <a:latin typeface="Segoe UI"/>
                <a:cs typeface="Segoe UI"/>
              </a:rPr>
              <a:t> : carreaux ≥ 11 ménages, IRIS arrondis à 5.</a:t>
            </a:r>
            <a:endParaRPr lang="fr-FR" sz="1150" dirty="0"/>
          </a:p>
          <a:p>
            <a:pPr algn="l" marL="201168" indent="-201168">
              <a:lnSpc>
                <a:spcPct val="100000"/>
              </a:lnSpc>
              <a:spcBef>
                <a:spcPts val="400"/>
              </a:spcBef>
              <a:spcAft>
                <a:spcPts val="0"/>
              </a:spcAft>
              <a:buClr>
                <a:srgbClr val="0E9F8E"/>
              </a:buClr>
              <a:buFont typeface="Segoe UI"/>
              <a:buChar char="•"/>
            </a:pPr>
            <a:r>
              <a:rPr lang="fr-FR" sz="1150" b="1" i="0" dirty="0">
                <a:solidFill>
                  <a:srgbClr val="1F2933"/>
                </a:solidFill>
                <a:latin typeface="Segoe UI"/>
                <a:cs typeface="Segoe UI"/>
              </a:rPr>
              <a:t>Options</a:t>
            </a:r>
            <a:r>
              <a:rPr lang="fr-FR" sz="1150" b="0" i="0" dirty="0">
                <a:solidFill>
                  <a:srgbClr val="1F2933"/>
                </a:solidFill>
                <a:latin typeface="Segoe UI"/>
                <a:cs typeface="Segoe UI"/>
              </a:rPr>
              <a:t> : </a:t>
            </a:r>
            <a:r>
              <a:rPr lang="fr-FR" sz="1150" b="0" i="0" dirty="0">
                <a:solidFill>
                  <a:srgbClr val="0B7A6E"/>
                </a:solidFill>
                <a:latin typeface="Consolas"/>
                <a:cs typeface="Consolas"/>
              </a:rPr>
              <a:t>--only grenoble|nantes|france</a:t>
            </a:r>
            <a:r>
              <a:rPr lang="fr-FR" sz="1150" b="0" i="0" dirty="0">
                <a:solidFill>
                  <a:srgbClr val="1F2933"/>
                </a:solidFill>
                <a:latin typeface="Segoe UI"/>
                <a:cs typeface="Segoe UI"/>
              </a:rPr>
              <a:t>, </a:t>
            </a:r>
            <a:r>
              <a:rPr lang="fr-FR" sz="1150" b="0" i="0" dirty="0">
                <a:solidFill>
                  <a:srgbClr val="0B7A6E"/>
                </a:solidFill>
                <a:latin typeface="Consolas"/>
                <a:cs typeface="Consolas"/>
              </a:rPr>
              <a:t>--estimate-raw-zone</a:t>
            </a:r>
            <a:r>
              <a:rPr lang="fr-FR" sz="1150" b="0" i="0" dirty="0">
                <a:solidFill>
                  <a:srgbClr val="1F2933"/>
                </a:solidFill>
                <a:latin typeface="Segoe UI"/>
                <a:cs typeface="Segoe UI"/>
              </a:rPr>
              <a:t>.</a:t>
            </a:r>
            <a:endParaRPr lang="fr-FR" sz="1150" dirty="0"/>
          </a:p>
        </p:txBody>
      </p:sp>
      <p:sp>
        <p:nvSpPr>
          <p:cNvPr id="16" name="Forme 16"/>
          <p:cNvSpPr/>
          <p:nvPr/>
        </p:nvSpPr>
        <p:spPr>
          <a:xfrm>
            <a:off x="457200" y="3886200"/>
            <a:ext cx="5559552" cy="2395728"/>
          </a:xfrm>
          <a:prstGeom prst="roundRect">
            <a:avLst>
              <a:gd name="adj" fmla="val 4000"/>
            </a:avLst>
          </a:prstGeom>
          <a:solidFill>
            <a:srgbClr val="EEEAF8"/>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7" name="Forme 17"/>
          <p:cNvSpPr/>
          <p:nvPr/>
        </p:nvSpPr>
        <p:spPr>
          <a:xfrm>
            <a:off x="457200" y="3886200"/>
            <a:ext cx="64008" cy="2395728"/>
          </a:xfrm>
          <a:prstGeom prst="rect">
            <a:avLst/>
          </a:prstGeom>
          <a:solidFill>
            <a:srgbClr val="7B61C9"/>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18" name="Forme 18"/>
          <p:cNvSpPr/>
          <p:nvPr/>
        </p:nvSpPr>
        <p:spPr>
          <a:xfrm>
            <a:off x="640080" y="3977640"/>
            <a:ext cx="5266944" cy="2258568"/>
          </a:xfrm>
          <a:prstGeom prst="rect">
            <a:avLst/>
          </a:prstGeom>
          <a:noFill/>
          <a:ln>
            <a:noFill/>
          </a:ln>
        </p:spPr>
        <p:txBody>
          <a:bodyPr wrap="square" lIns="18288" tIns="18288" rIns="18288" bIns="18288" anchor="t" rtlCol="0">
            <a:noAutofit/>
          </a:bodyPr>
          <a:lstStyle/>
          <a:p>
            <a:pPr algn="l">
              <a:lnSpc>
                <a:spcPct val="100000"/>
              </a:lnSpc>
              <a:spcBef>
                <a:spcPts val="0"/>
              </a:spcBef>
              <a:spcAft>
                <a:spcPts val="300"/>
              </a:spcAft>
              <a:buNone/>
            </a:pPr>
            <a:r>
              <a:rPr lang="fr-FR" sz="1300" b="1" i="0" dirty="0">
                <a:solidFill>
                  <a:srgbClr val="7B61C9"/>
                </a:solidFill>
                <a:latin typeface="Segoe UI"/>
                <a:cs typeface="Segoe UI"/>
              </a:rPr>
              <a:t>scripts.chiffres_cles</a:t>
            </a:r>
            <a:endParaRPr lang="fr-FR" sz="1300" dirty="0"/>
          </a:p>
          <a:p>
            <a:pPr algn="l">
              <a:lnSpc>
                <a:spcPct val="100000"/>
              </a:lnSpc>
              <a:spcBef>
                <a:spcPts val="0"/>
              </a:spcBef>
              <a:spcAft>
                <a:spcPts val="0"/>
              </a:spcAft>
              <a:buNone/>
            </a:pPr>
            <a:r>
              <a:rPr lang="fr-FR" sz="1050" b="0" i="1" dirty="0">
                <a:solidFill>
                  <a:srgbClr val="5B6573"/>
                </a:solidFill>
                <a:latin typeface="Segoe UI"/>
                <a:cs typeface="Segoe UI"/>
              </a:rPr>
              <a:t>Aucun chiffre tapé à la main</a:t>
            </a:r>
            <a:endParaRPr lang="fr-FR" sz="1050" dirty="0"/>
          </a:p>
          <a:p>
            <a:pPr algn="l" marL="201168" indent="-201168">
              <a:lnSpc>
                <a:spcPct val="100000"/>
              </a:lnSpc>
              <a:spcBef>
                <a:spcPts val="400"/>
              </a:spcBef>
              <a:spcAft>
                <a:spcPts val="0"/>
              </a:spcAft>
              <a:buClr>
                <a:srgbClr val="7B61C9"/>
              </a:buClr>
              <a:buFont typeface="Segoe UI"/>
              <a:buChar char="•"/>
            </a:pPr>
            <a:r>
              <a:rPr lang="fr-FR" sz="1150" b="1" i="0" dirty="0">
                <a:solidFill>
                  <a:srgbClr val="1F2933"/>
                </a:solidFill>
                <a:latin typeface="Segoe UI"/>
                <a:cs typeface="Segoe UI"/>
              </a:rPr>
              <a:t>Entrées</a:t>
            </a:r>
            <a:r>
              <a:rPr lang="fr-FR" sz="1150" b="0" i="0" dirty="0">
                <a:solidFill>
                  <a:srgbClr val="1F2933"/>
                </a:solidFill>
                <a:latin typeface="Segoe UI"/>
                <a:cs typeface="Segoe UI"/>
              </a:rPr>
              <a:t> : fichiers produits (</a:t>
            </a:r>
            <a:r>
              <a:rPr lang="fr-FR" sz="1150" b="0" i="0" dirty="0">
                <a:solidFill>
                  <a:srgbClr val="0B7A6E"/>
                </a:solidFill>
                <a:latin typeface="Consolas"/>
                <a:cs typeface="Consolas"/>
              </a:rPr>
              <a:t>reco_resume.json</a:t>
            </a:r>
            <a:r>
              <a:rPr lang="fr-FR" sz="1150" b="0" i="0" dirty="0">
                <a:solidFill>
                  <a:srgbClr val="1F2933"/>
                </a:solidFill>
                <a:latin typeface="Segoe UI"/>
                <a:cs typeface="Segoe UI"/>
              </a:rPr>
              <a:t>, </a:t>
            </a:r>
            <a:r>
              <a:rPr lang="fr-FR" sz="1150" b="0" i="0" dirty="0">
                <a:solidFill>
                  <a:srgbClr val="0B7A6E"/>
                </a:solidFill>
                <a:latin typeface="Consolas"/>
                <a:cs typeface="Consolas"/>
              </a:rPr>
              <a:t>validation.json</a:t>
            </a:r>
            <a:r>
              <a:rPr lang="fr-FR" sz="1150" b="0" i="0" dirty="0">
                <a:solidFill>
                  <a:srgbClr val="1F2933"/>
                </a:solidFill>
                <a:latin typeface="Segoe UI"/>
                <a:cs typeface="Segoe UI"/>
              </a:rPr>
              <a:t>, </a:t>
            </a:r>
            <a:r>
              <a:rPr lang="fr-FR" sz="1150" b="0" i="0" dirty="0">
                <a:solidFill>
                  <a:srgbClr val="0B7A6E"/>
                </a:solidFill>
                <a:latin typeface="Consolas"/>
                <a:cs typeface="Consolas"/>
              </a:rPr>
              <a:t>agg_rapport.json</a:t>
            </a:r>
            <a:r>
              <a:rPr lang="fr-FR" sz="1150" b="0" i="0" dirty="0">
                <a:solidFill>
                  <a:srgbClr val="1F2933"/>
                </a:solidFill>
                <a:latin typeface="Segoe UI"/>
                <a:cs typeface="Segoe UI"/>
              </a:rPr>
              <a:t>…).</a:t>
            </a:r>
            <a:endParaRPr lang="fr-FR" sz="1150" dirty="0"/>
          </a:p>
          <a:p>
            <a:pPr algn="l" marL="201168" indent="-201168">
              <a:lnSpc>
                <a:spcPct val="100000"/>
              </a:lnSpc>
              <a:spcBef>
                <a:spcPts val="400"/>
              </a:spcBef>
              <a:spcAft>
                <a:spcPts val="0"/>
              </a:spcAft>
              <a:buClr>
                <a:srgbClr val="7B61C9"/>
              </a:buClr>
              <a:buFont typeface="Segoe UI"/>
              <a:buChar char="•"/>
            </a:pPr>
            <a:r>
              <a:rPr lang="fr-FR" sz="1150" b="1" i="0" dirty="0">
                <a:solidFill>
                  <a:srgbClr val="1F2933"/>
                </a:solidFill>
                <a:latin typeface="Segoe UI"/>
                <a:cs typeface="Segoe UI"/>
              </a:rPr>
              <a:t>Sorties</a:t>
            </a:r>
            <a:r>
              <a:rPr lang="fr-FR" sz="1150" b="0" i="0" dirty="0">
                <a:solidFill>
                  <a:srgbClr val="1F2933"/>
                </a:solidFill>
                <a:latin typeface="Segoe UI"/>
                <a:cs typeface="Segoe UI"/>
              </a:rPr>
              <a:t> : </a:t>
            </a:r>
            <a:r>
              <a:rPr lang="fr-FR" sz="1150" b="0" i="0" dirty="0">
                <a:solidFill>
                  <a:srgbClr val="0B7A6E"/>
                </a:solidFill>
                <a:latin typeface="Consolas"/>
                <a:cs typeface="Consolas"/>
              </a:rPr>
              <a:t>docs/chiffres_cles.md</a:t>
            </a:r>
            <a:r>
              <a:rPr lang="fr-FR" sz="1150" b="0" i="0" dirty="0">
                <a:solidFill>
                  <a:srgbClr val="1F2933"/>
                </a:solidFill>
                <a:latin typeface="Segoe UI"/>
                <a:cs typeface="Segoe UI"/>
              </a:rPr>
              <a:t> (chaque chiffre avec son fichier et sa commande) + </a:t>
            </a:r>
            <a:r>
              <a:rPr lang="fr-FR" sz="1150" b="0" i="0" dirty="0">
                <a:solidFill>
                  <a:srgbClr val="0B7A6E"/>
                </a:solidFill>
                <a:latin typeface="Consolas"/>
                <a:cs typeface="Consolas"/>
              </a:rPr>
              <a:t>slides/img/*.png</a:t>
            </a:r>
            <a:r>
              <a:rPr lang="fr-FR" sz="1150" b="0" i="0" dirty="0">
                <a:solidFill>
                  <a:srgbClr val="1F2933"/>
                </a:solidFill>
                <a:latin typeface="Segoe UI"/>
                <a:cs typeface="Segoe UI"/>
              </a:rPr>
              <a:t>.</a:t>
            </a:r>
            <a:endParaRPr lang="fr-FR" sz="1150" dirty="0"/>
          </a:p>
          <a:p>
            <a:pPr algn="l" marL="201168" indent="-201168">
              <a:lnSpc>
                <a:spcPct val="100000"/>
              </a:lnSpc>
              <a:spcBef>
                <a:spcPts val="400"/>
              </a:spcBef>
              <a:spcAft>
                <a:spcPts val="0"/>
              </a:spcAft>
              <a:buClr>
                <a:srgbClr val="7B61C9"/>
              </a:buClr>
              <a:buFont typeface="Segoe UI"/>
              <a:buChar char="•"/>
            </a:pPr>
            <a:r>
              <a:rPr lang="fr-FR" sz="1150" b="1" i="0" dirty="0">
                <a:solidFill>
                  <a:srgbClr val="1F2933"/>
                </a:solidFill>
                <a:latin typeface="Segoe UI"/>
                <a:cs typeface="Segoe UI"/>
              </a:rPr>
              <a:t>Quand</a:t>
            </a:r>
            <a:r>
              <a:rPr lang="fr-FR" sz="1150" b="0" i="0" dirty="0">
                <a:solidFill>
                  <a:srgbClr val="1F2933"/>
                </a:solidFill>
                <a:latin typeface="Segoe UI"/>
                <a:cs typeface="Segoe UI"/>
              </a:rPr>
              <a:t> : après toute reconstruction, avant de mettre à jour les slides.</a:t>
            </a:r>
            <a:endParaRPr lang="fr-FR" sz="1150" dirty="0"/>
          </a:p>
        </p:txBody>
      </p:sp>
      <p:sp>
        <p:nvSpPr>
          <p:cNvPr id="19" name="Forme 19"/>
          <p:cNvSpPr/>
          <p:nvPr/>
        </p:nvSpPr>
        <p:spPr>
          <a:xfrm>
            <a:off x="6172200" y="3886200"/>
            <a:ext cx="5559552" cy="2395728"/>
          </a:xfrm>
          <a:prstGeom prst="roundRect">
            <a:avLst>
              <a:gd name="adj" fmla="val 4000"/>
            </a:avLst>
          </a:prstGeom>
          <a:solidFill>
            <a:srgbClr val="FCF1E0"/>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20" name="Forme 20"/>
          <p:cNvSpPr/>
          <p:nvPr/>
        </p:nvSpPr>
        <p:spPr>
          <a:xfrm>
            <a:off x="6172200" y="3886200"/>
            <a:ext cx="64008" cy="2395728"/>
          </a:xfrm>
          <a:prstGeom prst="rect">
            <a:avLst/>
          </a:prstGeom>
          <a:solidFill>
            <a:srgbClr val="E08E1B"/>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21" name="Forme 21"/>
          <p:cNvSpPr/>
          <p:nvPr/>
        </p:nvSpPr>
        <p:spPr>
          <a:xfrm>
            <a:off x="6355080" y="3977640"/>
            <a:ext cx="5266944" cy="2258568"/>
          </a:xfrm>
          <a:prstGeom prst="rect">
            <a:avLst/>
          </a:prstGeom>
          <a:noFill/>
          <a:ln>
            <a:noFill/>
          </a:ln>
        </p:spPr>
        <p:txBody>
          <a:bodyPr wrap="square" lIns="18288" tIns="18288" rIns="18288" bIns="18288" anchor="t" rtlCol="0">
            <a:noAutofit/>
          </a:bodyPr>
          <a:lstStyle/>
          <a:p>
            <a:pPr algn="l">
              <a:lnSpc>
                <a:spcPct val="100000"/>
              </a:lnSpc>
              <a:spcBef>
                <a:spcPts val="0"/>
              </a:spcBef>
              <a:spcAft>
                <a:spcPts val="300"/>
              </a:spcAft>
              <a:buNone/>
            </a:pPr>
            <a:r>
              <a:rPr lang="fr-FR" sz="1300" b="1" i="0" dirty="0">
                <a:solidFill>
                  <a:srgbClr val="E08E1B"/>
                </a:solidFill>
                <a:latin typeface="Segoe UI"/>
                <a:cs typeface="Segoe UI"/>
              </a:rPr>
              <a:t>lancer_demo.bat</a:t>
            </a:r>
            <a:endParaRPr lang="fr-FR" sz="1300" dirty="0"/>
          </a:p>
          <a:p>
            <a:pPr algn="l">
              <a:lnSpc>
                <a:spcPct val="100000"/>
              </a:lnSpc>
              <a:spcBef>
                <a:spcPts val="0"/>
              </a:spcBef>
              <a:spcAft>
                <a:spcPts val="0"/>
              </a:spcAft>
              <a:buNone/>
            </a:pPr>
            <a:r>
              <a:rPr lang="fr-FR" sz="1050" b="0" i="1" dirty="0">
                <a:solidFill>
                  <a:srgbClr val="5B6573"/>
                </a:solidFill>
                <a:latin typeface="Segoe UI"/>
                <a:cs typeface="Segoe UI"/>
              </a:rPr>
              <a:t>La démo en un double-clic</a:t>
            </a:r>
            <a:endParaRPr lang="fr-FR" sz="1050" dirty="0"/>
          </a:p>
          <a:p>
            <a:pPr algn="l" marL="201168" indent="-201168">
              <a:lnSpc>
                <a:spcPct val="100000"/>
              </a:lnSpc>
              <a:spcBef>
                <a:spcPts val="400"/>
              </a:spcBef>
              <a:spcAft>
                <a:spcPts val="0"/>
              </a:spcAft>
              <a:buClr>
                <a:srgbClr val="E08E1B"/>
              </a:buClr>
              <a:buFont typeface="Segoe UI"/>
              <a:buChar char="•"/>
            </a:pPr>
            <a:r>
              <a:rPr lang="fr-FR" sz="1150" b="0" i="0" dirty="0">
                <a:solidFill>
                  <a:srgbClr val="1F2933"/>
                </a:solidFill>
                <a:latin typeface="Segoe UI"/>
                <a:cs typeface="Segoe UI"/>
              </a:rPr>
              <a:t>Vérifie </a:t>
            </a:r>
            <a:r>
              <a:rPr lang="fr-FR" sz="1150" b="0" i="0" dirty="0">
                <a:solidFill>
                  <a:srgbClr val="0B7A6E"/>
                </a:solidFill>
                <a:latin typeface="Consolas"/>
                <a:cs typeface="Consolas"/>
              </a:rPr>
              <a:t>.venv</a:t>
            </a:r>
            <a:r>
              <a:rPr lang="fr-FR" sz="1150" b="0" i="0" dirty="0">
                <a:solidFill>
                  <a:srgbClr val="1F2933"/>
                </a:solidFill>
                <a:latin typeface="Segoe UI"/>
                <a:cs typeface="Segoe UI"/>
              </a:rPr>
              <a:t> et la présence des données France, Nantes, Grenoble (message sinon).</a:t>
            </a:r>
            <a:endParaRPr lang="fr-FR" sz="1150" dirty="0"/>
          </a:p>
          <a:p>
            <a:pPr algn="l" marL="201168" indent="-201168">
              <a:lnSpc>
                <a:spcPct val="100000"/>
              </a:lnSpc>
              <a:spcBef>
                <a:spcPts val="400"/>
              </a:spcBef>
              <a:spcAft>
                <a:spcPts val="0"/>
              </a:spcAft>
              <a:buClr>
                <a:srgbClr val="E08E1B"/>
              </a:buClr>
              <a:buFont typeface="Segoe UI"/>
              <a:buChar char="•"/>
            </a:pPr>
            <a:r>
              <a:rPr lang="fr-FR" sz="1150" b="0" i="0" dirty="0">
                <a:solidFill>
                  <a:srgbClr val="1F2933"/>
                </a:solidFill>
                <a:latin typeface="Segoe UI"/>
                <a:cs typeface="Segoe UI"/>
              </a:rPr>
              <a:t>Lance Streamlit sans fenêtre de configuration (</a:t>
            </a:r>
            <a:r>
              <a:rPr lang="fr-FR" sz="1150" b="0" i="0" dirty="0">
                <a:solidFill>
                  <a:srgbClr val="0B7A6E"/>
                </a:solidFill>
                <a:latin typeface="Consolas"/>
                <a:cs typeface="Consolas"/>
              </a:rPr>
              <a:t>--server.headless true</a:t>
            </a:r>
            <a:r>
              <a:rPr lang="fr-FR" sz="1150" b="0" i="0" dirty="0">
                <a:solidFill>
                  <a:srgbClr val="1F2933"/>
                </a:solidFill>
                <a:latin typeface="Segoe UI"/>
                <a:cs typeface="Segoe UI"/>
              </a:rPr>
              <a:t>, port 8501).</a:t>
            </a:r>
            <a:endParaRPr lang="fr-FR" sz="1150" dirty="0"/>
          </a:p>
          <a:p>
            <a:pPr algn="l" marL="201168" indent="-201168">
              <a:lnSpc>
                <a:spcPct val="100000"/>
              </a:lnSpc>
              <a:spcBef>
                <a:spcPts val="400"/>
              </a:spcBef>
              <a:spcAft>
                <a:spcPts val="0"/>
              </a:spcAft>
              <a:buClr>
                <a:srgbClr val="E08E1B"/>
              </a:buClr>
              <a:buFont typeface="Segoe UI"/>
              <a:buChar char="•"/>
            </a:pPr>
            <a:r>
              <a:rPr lang="fr-FR" sz="1150" b="0" i="0" dirty="0">
                <a:solidFill>
                  <a:srgbClr val="1F2933"/>
                </a:solidFill>
                <a:latin typeface="Segoe UI"/>
                <a:cs typeface="Segoe UI"/>
              </a:rPr>
              <a:t>Ouvre le navigateur dès que </a:t>
            </a:r>
            <a:r>
              <a:rPr lang="fr-FR" sz="1150" b="0" i="0" dirty="0">
                <a:solidFill>
                  <a:srgbClr val="0B7A6E"/>
                </a:solidFill>
                <a:latin typeface="Consolas"/>
                <a:cs typeface="Consolas"/>
              </a:rPr>
              <a:t>/_stcore/health</a:t>
            </a:r>
            <a:r>
              <a:rPr lang="fr-FR" sz="1150" b="0" i="0" dirty="0">
                <a:solidFill>
                  <a:srgbClr val="1F2933"/>
                </a:solidFill>
                <a:latin typeface="Segoe UI"/>
                <a:cs typeface="Segoe UI"/>
              </a:rPr>
              <a:t> répond.</a:t>
            </a:r>
            <a:endParaRPr lang="fr-FR" sz="1150" dirty="0"/>
          </a:p>
          <a:p>
            <a:pPr algn="l" marL="201168" indent="-201168">
              <a:lnSpc>
                <a:spcPct val="100000"/>
              </a:lnSpc>
              <a:spcBef>
                <a:spcPts val="400"/>
              </a:spcBef>
              <a:spcAft>
                <a:spcPts val="0"/>
              </a:spcAft>
              <a:buClr>
                <a:srgbClr val="E08E1B"/>
              </a:buClr>
              <a:buFont typeface="Segoe UI"/>
              <a:buChar char="•"/>
            </a:pPr>
            <a:r>
              <a:rPr lang="fr-FR" sz="1150" b="1" i="0" dirty="0">
                <a:solidFill>
                  <a:srgbClr val="1F2933"/>
                </a:solidFill>
                <a:latin typeface="Segoe UI"/>
                <a:cs typeface="Segoe UI"/>
              </a:rPr>
              <a:t>Plan B</a:t>
            </a:r>
            <a:r>
              <a:rPr lang="fr-FR" sz="1150" b="0" i="0" dirty="0">
                <a:solidFill>
                  <a:srgbClr val="1F2933"/>
                </a:solidFill>
                <a:latin typeface="Segoe UI"/>
                <a:cs typeface="Segoe UI"/>
              </a:rPr>
              <a:t> : captures de </a:t>
            </a:r>
            <a:r>
              <a:rPr lang="fr-FR" sz="1150" b="0" i="0" dirty="0">
                <a:solidFill>
                  <a:srgbClr val="0B7A6E"/>
                </a:solidFill>
                <a:latin typeface="Consolas"/>
                <a:cs typeface="Consolas"/>
              </a:rPr>
              <a:t>slides/img/demo/</a:t>
            </a:r>
            <a:r>
              <a:rPr lang="fr-FR" sz="1150" b="0" i="0" dirty="0">
                <a:solidFill>
                  <a:srgbClr val="1F2933"/>
                </a:solidFill>
                <a:latin typeface="Segoe UI"/>
                <a:cs typeface="Segoe UI"/>
              </a:rPr>
              <a:t>.</a:t>
            </a:r>
            <a:endParaRPr lang="fr-FR"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rme 3"/>
          <p:cNvSpPr/>
          <p:nvPr/>
        </p:nvSpPr>
        <p:spPr>
          <a:xfrm>
            <a:off x="0" y="0"/>
            <a:ext cx="128016" cy="6858000"/>
          </a:xfrm>
          <a:prstGeom prst="rect">
            <a:avLst/>
          </a:prstGeom>
          <a:solidFill>
            <a:srgbClr val="0E9F8E"/>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4" name="Forme 4"/>
          <p:cNvSpPr/>
          <p:nvPr/>
        </p:nvSpPr>
        <p:spPr>
          <a:xfrm>
            <a:off x="457200" y="256032"/>
            <a:ext cx="7315200" cy="2743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050" b="1" i="0" dirty="0">
                <a:solidFill>
                  <a:srgbClr val="0E9F8E"/>
                </a:solidFill>
                <a:latin typeface="Segoe UI"/>
                <a:cs typeface="Segoe UI"/>
              </a:rPr>
              <a:t>PARTIE 5 · L'AUTOMATISATION</a:t>
            </a:r>
            <a:endParaRPr lang="fr-FR" sz="1050" dirty="0"/>
          </a:p>
        </p:txBody>
      </p:sp>
      <p:sp>
        <p:nvSpPr>
          <p:cNvPr id="5" name="Forme 5"/>
          <p:cNvSpPr/>
          <p:nvPr/>
        </p:nvSpPr>
        <p:spPr>
          <a:xfrm>
            <a:off x="457200" y="502920"/>
            <a:ext cx="11247120" cy="5486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2500" b="1" i="0" dirty="0">
                <a:solidFill>
                  <a:srgbClr val="14213D"/>
                </a:solidFill>
                <a:latin typeface="Segoe UI"/>
                <a:cs typeface="Segoe UI"/>
              </a:rPr>
              <a:t>Les tests : 82 vérifications automatiques</a:t>
            </a:r>
            <a:endParaRPr lang="fr-FR" sz="2500" dirty="0"/>
          </a:p>
        </p:txBody>
      </p:sp>
      <p:sp>
        <p:nvSpPr>
          <p:cNvPr id="6" name="Forme 6"/>
          <p:cNvSpPr/>
          <p:nvPr/>
        </p:nvSpPr>
        <p:spPr>
          <a:xfrm>
            <a:off x="457200" y="987552"/>
            <a:ext cx="11247120" cy="3200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250" b="0" i="0" dirty="0">
                <a:solidFill>
                  <a:srgbClr val="5B6573"/>
                </a:solidFill>
                <a:latin typeface="Segoe UI"/>
                <a:cs typeface="Segoe UI"/>
              </a:rPr>
              <a:t>Lancés par </a:t>
            </a:r>
            <a:r>
              <a:rPr lang="fr-FR" sz="1250" b="0" i="0" dirty="0">
                <a:solidFill>
                  <a:srgbClr val="0B7A6E"/>
                </a:solidFill>
                <a:latin typeface="Consolas"/>
                <a:cs typeface="Consolas"/>
              </a:rPr>
              <a:t>pytest</a:t>
            </a:r>
            <a:r>
              <a:rPr lang="fr-FR" sz="1250" b="0" i="0" dirty="0">
                <a:solidFill>
                  <a:srgbClr val="5B6573"/>
                </a:solidFill>
                <a:latin typeface="Segoe UI"/>
                <a:cs typeface="Segoe UI"/>
              </a:rPr>
              <a:t> en 61 s ; tous verts le 21/10/2026.</a:t>
            </a:r>
            <a:endParaRPr lang="fr-FR" sz="1250" dirty="0"/>
          </a:p>
        </p:txBody>
      </p:sp>
      <p:sp>
        <p:nvSpPr>
          <p:cNvPr id="7" name="Forme 7"/>
          <p:cNvSpPr/>
          <p:nvPr/>
        </p:nvSpPr>
        <p:spPr>
          <a:xfrm>
            <a:off x="457200" y="6446520"/>
            <a:ext cx="11274552" cy="10973"/>
          </a:xfrm>
          <a:prstGeom prst="rect">
            <a:avLst/>
          </a:prstGeom>
          <a:solidFill>
            <a:srgbClr val="D5DAE1"/>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8" name="Forme 8"/>
          <p:cNvSpPr/>
          <p:nvPr/>
        </p:nvSpPr>
        <p:spPr>
          <a:xfrm>
            <a:off x="457200" y="6492240"/>
            <a:ext cx="7315200" cy="256032"/>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00" b="0" i="0" dirty="0">
                <a:solidFill>
                  <a:srgbClr val="5B6573"/>
                </a:solidFill>
                <a:latin typeface="Segoe UI"/>
                <a:cs typeface="Segoe UI"/>
              </a:rPr>
              <a:t>Hackathon Mobility × Citiz · Nos données, de A à Z</a:t>
            </a:r>
            <a:endParaRPr lang="fr-FR" sz="900" dirty="0"/>
          </a:p>
        </p:txBody>
      </p:sp>
      <p:sp>
        <p:nvSpPr>
          <p:cNvPr id="9" name="Forme 9"/>
          <p:cNvSpPr/>
          <p:nvPr/>
        </p:nvSpPr>
        <p:spPr>
          <a:xfrm>
            <a:off x="10360152" y="6492240"/>
            <a:ext cx="1371600" cy="256032"/>
          </a:xfrm>
          <a:prstGeom prst="rect">
            <a:avLst/>
          </a:prstGeom>
          <a:noFill/>
          <a:ln>
            <a:noFill/>
          </a:ln>
        </p:spPr>
        <p:txBody>
          <a:bodyPr wrap="square" lIns="18288" tIns="18288" rIns="18288" bIns="18288" anchor="t" rtlCol="0">
            <a:noAutofit/>
          </a:bodyPr>
          <a:lstStyle/>
          <a:p>
            <a:pPr algn="r">
              <a:lnSpc>
                <a:spcPct val="100000"/>
              </a:lnSpc>
              <a:spcBef>
                <a:spcPts val="0"/>
              </a:spcBef>
              <a:spcAft>
                <a:spcPts val="0"/>
              </a:spcAft>
              <a:buNone/>
            </a:pPr>
            <a:r>
              <a:rPr lang="fr-FR" sz="900" b="0" i="0" dirty="0">
                <a:solidFill>
                  <a:srgbClr val="5B6573"/>
                </a:solidFill>
                <a:latin typeface="Segoe UI"/>
                <a:cs typeface="Segoe UI"/>
              </a:rPr>
              <a:t>21</a:t>
            </a:r>
            <a:endParaRPr lang="fr-FR" sz="900" dirty="0"/>
          </a:p>
        </p:txBody>
      </p:sp>
      <p:graphicFrame>
        <p:nvGraphicFramePr>
          <p:cNvPr id="10" name="Tableau 10"/>
          <p:cNvGraphicFramePr>
            <a:graphicFrameLocks noGrp="1"/>
          </p:cNvGraphicFramePr>
          <p:nvPr/>
        </p:nvGraphicFramePr>
        <p:xfrm>
          <a:off x="457200" y="1371600"/>
          <a:ext cx="11274552" cy="4608576"/>
        </p:xfrm>
        <a:graphic>
          <a:graphicData uri="http://schemas.openxmlformats.org/drawingml/2006/table">
            <a:tbl>
              <a:tblPr firstRow="1" bandRow="1"/>
              <a:tblGrid>
                <a:gridCol w="2743200"/>
                <a:gridCol w="731520"/>
                <a:gridCol w="7799832"/>
              </a:tblGrid>
              <a:tr h="384048">
                <a:tc>
                  <a:txBody>
                    <a:bodyPr wrap="square" lIns="109728" tIns="54864" rIns="109728" bIns="54864" anchor="t" rtlCol="0">
                      <a:noAutofit/>
                    </a:bodyPr>
                    <a:lstStyle/>
                    <a:p>
                      <a:pPr algn="l">
                        <a:lnSpc>
                          <a:spcPct val="95000"/>
                        </a:lnSpc>
                        <a:spcBef>
                          <a:spcPts val="0"/>
                        </a:spcBef>
                        <a:spcAft>
                          <a:spcPts val="0"/>
                        </a:spcAft>
                        <a:buNone/>
                      </a:pPr>
                      <a:r>
                        <a:rPr lang="fr-FR" sz="950" b="1" i="0" dirty="0">
                          <a:solidFill>
                            <a:srgbClr val="FFFFFF"/>
                          </a:solidFill>
                          <a:latin typeface="Segoe UI"/>
                          <a:cs typeface="Segoe UI"/>
                        </a:rPr>
                        <a:t>Fichier</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0E9F8E"/>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1" i="0" dirty="0">
                          <a:solidFill>
                            <a:srgbClr val="FFFFFF"/>
                          </a:solidFill>
                          <a:latin typeface="Segoe UI"/>
                          <a:cs typeface="Segoe UI"/>
                        </a:rPr>
                        <a:t>Tests</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0E9F8E"/>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1" i="0" dirty="0">
                          <a:solidFill>
                            <a:srgbClr val="FFFFFF"/>
                          </a:solidFill>
                          <a:latin typeface="Segoe UI"/>
                          <a:cs typeface="Segoe UI"/>
                        </a:rPr>
                        <a:t>Ce qu'il vérifie</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0E9F8E"/>
                    </a:solidFill>
                  </a:tcPr>
                </a:tc>
              </a:tr>
              <a:tr h="384048">
                <a:tc>
                  <a:txBody>
                    <a:bodyPr wrap="square" lIns="109728" tIns="54864" rIns="109728" bIns="54864" anchor="t" rtlCol="0">
                      <a:noAutofit/>
                    </a:bodyPr>
                    <a:lstStyle/>
                    <a:p>
                      <a:pPr algn="l">
                        <a:lnSpc>
                          <a:spcPct val="95000"/>
                        </a:lnSpc>
                        <a:spcBef>
                          <a:spcPts val="0"/>
                        </a:spcBef>
                        <a:spcAft>
                          <a:spcPts val="0"/>
                        </a:spcAft>
                        <a:buNone/>
                      </a:pPr>
                      <a:r>
                        <a:rPr lang="fr-FR" sz="950" b="1" i="0" dirty="0">
                          <a:solidFill>
                            <a:srgbClr val="1F2933"/>
                          </a:solidFill>
                          <a:latin typeface="Segoe UI"/>
                          <a:cs typeface="Segoe UI"/>
                        </a:rPr>
                        <a:t>test_offer.py</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9</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mode depuis route_type, calendrier et exceptions, mardi type, frequencies.txt, flux expiré, exclusion longue distance</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r h="384048">
                <a:tc>
                  <a:txBody>
                    <a:bodyPr wrap="square" lIns="109728" tIns="54864" rIns="109728" bIns="54864" anchor="t" rtlCol="0">
                      <a:noAutofit/>
                    </a:bodyPr>
                    <a:lstStyle/>
                    <a:p>
                      <a:pPr algn="l">
                        <a:lnSpc>
                          <a:spcPct val="95000"/>
                        </a:lnSpc>
                        <a:spcBef>
                          <a:spcPts val="0"/>
                        </a:spcBef>
                        <a:spcAft>
                          <a:spcPts val="0"/>
                        </a:spcAft>
                        <a:buNone/>
                      </a:pPr>
                      <a:r>
                        <a:rPr lang="fr-FR" sz="950" b="1" i="0" dirty="0">
                          <a:solidFill>
                            <a:srgbClr val="1F2933"/>
                          </a:solidFill>
                          <a:latin typeface="Segoe UI"/>
                          <a:cs typeface="Segoe UI"/>
                        </a:rPr>
                        <a:t>test_geo.py</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8</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fusion de quais, modes jamais mélangés, rayon par mode (gares), somme dans une source / max entre sources</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r>
              <a:tr h="384048">
                <a:tc>
                  <a:txBody>
                    <a:bodyPr wrap="square" lIns="109728" tIns="54864" rIns="109728" bIns="54864" anchor="t" rtlCol="0">
                      <a:noAutofit/>
                    </a:bodyPr>
                    <a:lstStyle/>
                    <a:p>
                      <a:pPr algn="l">
                        <a:lnSpc>
                          <a:spcPct val="95000"/>
                        </a:lnSpc>
                        <a:spcBef>
                          <a:spcPts val="0"/>
                        </a:spcBef>
                        <a:spcAft>
                          <a:spcPts val="0"/>
                        </a:spcAft>
                        <a:buNone/>
                      </a:pPr>
                      <a:r>
                        <a:rPr lang="fr-FR" sz="950" b="1" i="0" dirty="0">
                          <a:solidFill>
                            <a:srgbClr val="1F2933"/>
                          </a:solidFill>
                          <a:latin typeface="Segoe UI"/>
                          <a:cs typeface="Segoe UI"/>
                        </a:rPr>
                        <a:t>test_population.py</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4</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choix des communes de l'EPCI, calage = total du recensement, motorisation IRIS puis commune</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r h="384048">
                <a:tc>
                  <a:txBody>
                    <a:bodyPr wrap="square" lIns="109728" tIns="54864" rIns="109728" bIns="54864" anchor="t" rtlCol="0">
                      <a:noAutofit/>
                    </a:bodyPr>
                    <a:lstStyle/>
                    <a:p>
                      <a:pPr algn="l">
                        <a:lnSpc>
                          <a:spcPct val="95000"/>
                        </a:lnSpc>
                        <a:spcBef>
                          <a:spcPts val="0"/>
                        </a:spcBef>
                        <a:spcAft>
                          <a:spcPts val="0"/>
                        </a:spcAft>
                        <a:buNone/>
                      </a:pPr>
                      <a:r>
                        <a:rPr lang="fr-FR" sz="950" b="1" i="0" dirty="0">
                          <a:solidFill>
                            <a:srgbClr val="1F2933"/>
                          </a:solidFill>
                          <a:latin typeface="Segoe UI"/>
                          <a:cs typeface="Segoe UI"/>
                        </a:rPr>
                        <a:t>test_accessibility.py</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8</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rayon 400 m, détour réel (un pont), poids et fréquence, 2SFCA, filtre piéton, population desservie</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r>
              <a:tr h="384048">
                <a:tc>
                  <a:txBody>
                    <a:bodyPr wrap="square" lIns="109728" tIns="54864" rIns="109728" bIns="54864" anchor="t" rtlCol="0">
                      <a:noAutofit/>
                    </a:bodyPr>
                    <a:lstStyle/>
                    <a:p>
                      <a:pPr algn="l">
                        <a:lnSpc>
                          <a:spcPct val="95000"/>
                        </a:lnSpc>
                        <a:spcBef>
                          <a:spcPts val="0"/>
                        </a:spcBef>
                        <a:spcAft>
                          <a:spcPts val="0"/>
                        </a:spcAft>
                        <a:buNone/>
                      </a:pPr>
                      <a:r>
                        <a:rPr lang="fr-FR" sz="950" b="1" i="0" dirty="0">
                          <a:solidFill>
                            <a:srgbClr val="1F2933"/>
                          </a:solidFill>
                          <a:latin typeface="Segoe UI"/>
                          <a:cs typeface="Segoe UI"/>
                        </a:rPr>
                        <a:t>test_national.py</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8</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centre du carreau depuis son identifiant INSEE, emprises DROM, couverture, agrégats pondérés</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r h="384048">
                <a:tc>
                  <a:txBody>
                    <a:bodyPr wrap="square" lIns="109728" tIns="54864" rIns="109728" bIns="54864" anchor="t" rtlCol="0">
                      <a:noAutofit/>
                    </a:bodyPr>
                    <a:lstStyle/>
                    <a:p>
                      <a:pPr algn="l">
                        <a:lnSpc>
                          <a:spcPct val="95000"/>
                        </a:lnSpc>
                        <a:spcBef>
                          <a:spcPts val="0"/>
                        </a:spcBef>
                        <a:spcAft>
                          <a:spcPts val="0"/>
                        </a:spcAft>
                        <a:buNone/>
                      </a:pPr>
                      <a:r>
                        <a:rPr lang="fr-FR" sz="950" b="1" i="0" dirty="0">
                          <a:solidFill>
                            <a:srgbClr val="1F2933"/>
                          </a:solidFill>
                          <a:latin typeface="Segoe UI"/>
                          <a:cs typeface="Segoe UI"/>
                        </a:rPr>
                        <a:t>test_optimize.py</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9</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budget respecté, glouton contre ILP, pas de double compte des habitants, effet de l'équité</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r>
              <a:tr h="384048">
                <a:tc>
                  <a:txBody>
                    <a:bodyPr wrap="square" lIns="109728" tIns="54864" rIns="109728" bIns="54864" anchor="t" rtlCol="0">
                      <a:noAutofit/>
                    </a:bodyPr>
                    <a:lstStyle/>
                    <a:p>
                      <a:pPr algn="l">
                        <a:lnSpc>
                          <a:spcPct val="95000"/>
                        </a:lnSpc>
                        <a:spcBef>
                          <a:spcPts val="0"/>
                        </a:spcBef>
                        <a:spcAft>
                          <a:spcPts val="0"/>
                        </a:spcAft>
                        <a:buNone/>
                      </a:pPr>
                      <a:r>
                        <a:rPr lang="fr-FR" sz="950" b="1" i="0" dirty="0">
                          <a:solidFill>
                            <a:srgbClr val="1F2933"/>
                          </a:solidFill>
                          <a:latin typeface="Segoe UI"/>
                          <a:cs typeface="Segoe UI"/>
                        </a:rPr>
                        <a:t>test_costs.py</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9</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3 scénarios de coût ordonnés, coût total sur l'horizon, CO₂ prudent, surcoût de risque plafonné</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r h="384048">
                <a:tc>
                  <a:txBody>
                    <a:bodyPr wrap="square" lIns="109728" tIns="54864" rIns="109728" bIns="54864" anchor="t" rtlCol="0">
                      <a:noAutofit/>
                    </a:bodyPr>
                    <a:lstStyle/>
                    <a:p>
                      <a:pPr algn="l">
                        <a:lnSpc>
                          <a:spcPct val="95000"/>
                        </a:lnSpc>
                        <a:spcBef>
                          <a:spcPts val="0"/>
                        </a:spcBef>
                        <a:spcAft>
                          <a:spcPts val="0"/>
                        </a:spcAft>
                        <a:buNone/>
                      </a:pPr>
                      <a:r>
                        <a:rPr lang="fr-FR" sz="950" b="1" i="0" dirty="0">
                          <a:solidFill>
                            <a:srgbClr val="1F2933"/>
                          </a:solidFill>
                          <a:latin typeface="Segoe UI"/>
                          <a:cs typeface="Segoe UI"/>
                        </a:rPr>
                        <a:t>test_export_share.py</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9</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formats CSV / GPKG, chaque colonne documentée, effectifs IRIS multiples de 5, pas de carreau France</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r>
              <a:tr h="384048">
                <a:tc>
                  <a:txBody>
                    <a:bodyPr wrap="square" lIns="109728" tIns="54864" rIns="109728" bIns="54864" anchor="t" rtlCol="0">
                      <a:noAutofit/>
                    </a:bodyPr>
                    <a:lstStyle/>
                    <a:p>
                      <a:pPr algn="l">
                        <a:lnSpc>
                          <a:spcPct val="95000"/>
                        </a:lnSpc>
                        <a:spcBef>
                          <a:spcPts val="0"/>
                        </a:spcBef>
                        <a:spcAft>
                          <a:spcPts val="0"/>
                        </a:spcAft>
                        <a:buNone/>
                      </a:pPr>
                      <a:r>
                        <a:rPr lang="fr-FR" sz="950" b="1" i="0" dirty="0">
                          <a:solidFill>
                            <a:srgbClr val="1F2933"/>
                          </a:solidFill>
                          <a:latin typeface="Segoe UI"/>
                          <a:cs typeface="Segoe UI"/>
                        </a:rPr>
                        <a:t>test_ingest.py</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4</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0B7A6E"/>
                          </a:solidFill>
                          <a:latin typeface="Consolas"/>
                          <a:cs typeface="Consolas"/>
                        </a:rPr>
                        <a:t>--list</a:t>
                      </a:r>
                      <a:r>
                        <a:rPr lang="fr-FR" sz="950" b="0" i="0" dirty="0">
                          <a:solidFill>
                            <a:srgbClr val="1F2933"/>
                          </a:solidFill>
                          <a:latin typeface="Segoe UI"/>
                          <a:cs typeface="Segoe UI"/>
                        </a:rPr>
                        <a:t>, chemins ancrés au dépôt, check_data sur un faux dossier, masquage des clés</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r h="384048">
                <a:tc>
                  <a:txBody>
                    <a:bodyPr wrap="square" lIns="109728" tIns="54864" rIns="109728" bIns="54864" anchor="t" rtlCol="0">
                      <a:noAutofit/>
                    </a:bodyPr>
                    <a:lstStyle/>
                    <a:p>
                      <a:pPr algn="l">
                        <a:lnSpc>
                          <a:spcPct val="95000"/>
                        </a:lnSpc>
                        <a:spcBef>
                          <a:spcPts val="0"/>
                        </a:spcBef>
                        <a:spcAft>
                          <a:spcPts val="0"/>
                        </a:spcAft>
                        <a:buNone/>
                      </a:pPr>
                      <a:r>
                        <a:rPr lang="fr-FR" sz="950" b="1" i="0" dirty="0">
                          <a:solidFill>
                            <a:srgbClr val="1F2933"/>
                          </a:solidFill>
                          <a:latin typeface="Segoe UI"/>
                          <a:cs typeface="Segoe UI"/>
                        </a:rPr>
                        <a:t>test_app.py</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4</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l'appli entière (Nantes, Grenoble, France), bouton « Scénario démo » = calcul en direct</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r>
              <a:tr h="384048">
                <a:tc>
                  <a:txBody>
                    <a:bodyPr wrap="square" lIns="109728" tIns="54864" rIns="109728" bIns="54864" anchor="t" rtlCol="0">
                      <a:noAutofit/>
                    </a:bodyPr>
                    <a:lstStyle/>
                    <a:p>
                      <a:pPr algn="l">
                        <a:lnSpc>
                          <a:spcPct val="95000"/>
                        </a:lnSpc>
                        <a:spcBef>
                          <a:spcPts val="0"/>
                        </a:spcBef>
                        <a:spcAft>
                          <a:spcPts val="0"/>
                        </a:spcAft>
                        <a:buNone/>
                      </a:pPr>
                      <a:r>
                        <a:rPr lang="fr-FR" sz="950" b="1" i="0" dirty="0">
                          <a:solidFill>
                            <a:srgbClr val="1F2933"/>
                          </a:solidFill>
                          <a:latin typeface="Segoe UI"/>
                          <a:cs typeface="Segoe UI"/>
                        </a:rPr>
                        <a:t>test_config.py · test_env.py · test_ui.py</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10</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50" b="0" i="0" dirty="0">
                          <a:solidFill>
                            <a:srgbClr val="1F2933"/>
                          </a:solidFill>
                          <a:latin typeface="Segoe UI"/>
                          <a:cs typeface="Segoe UI"/>
                        </a:rPr>
                        <a:t>réglages (400 m = 5 min à 4,8 km/h, mardi figé), solveur HiGHS, Lambert-93, nombres en français</a:t>
                      </a:r>
                      <a:endParaRPr lang="fr-FR" sz="95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rme 3"/>
          <p:cNvSpPr/>
          <p:nvPr/>
        </p:nvSpPr>
        <p:spPr>
          <a:xfrm>
            <a:off x="0" y="0"/>
            <a:ext cx="128016" cy="6858000"/>
          </a:xfrm>
          <a:prstGeom prst="rect">
            <a:avLst/>
          </a:prstGeom>
          <a:solidFill>
            <a:srgbClr val="0E9F8E"/>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4" name="Forme 4"/>
          <p:cNvSpPr/>
          <p:nvPr/>
        </p:nvSpPr>
        <p:spPr>
          <a:xfrm>
            <a:off x="457200" y="256032"/>
            <a:ext cx="7315200" cy="2743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050" b="1" i="0" dirty="0">
                <a:solidFill>
                  <a:srgbClr val="0E9F8E"/>
                </a:solidFill>
                <a:latin typeface="Segoe UI"/>
                <a:cs typeface="Segoe UI"/>
              </a:rPr>
              <a:t>PARTIE 5 · L'AUTOMATISATION</a:t>
            </a:r>
            <a:endParaRPr lang="fr-FR" sz="1050" dirty="0"/>
          </a:p>
        </p:txBody>
      </p:sp>
      <p:sp>
        <p:nvSpPr>
          <p:cNvPr id="5" name="Forme 5"/>
          <p:cNvSpPr/>
          <p:nvPr/>
        </p:nvSpPr>
        <p:spPr>
          <a:xfrm>
            <a:off x="457200" y="502920"/>
            <a:ext cx="11247120" cy="5486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2500" b="1" i="0" dirty="0">
                <a:solidFill>
                  <a:srgbClr val="14213D"/>
                </a:solidFill>
                <a:latin typeface="Segoe UI"/>
                <a:cs typeface="Segoe UI"/>
              </a:rPr>
              <a:t>Reconstruire tout le projet depuis zéro</a:t>
            </a:r>
            <a:endParaRPr lang="fr-FR" sz="2500" dirty="0"/>
          </a:p>
        </p:txBody>
      </p:sp>
      <p:sp>
        <p:nvSpPr>
          <p:cNvPr id="6" name="Forme 6"/>
          <p:cNvSpPr/>
          <p:nvPr/>
        </p:nvSpPr>
        <p:spPr>
          <a:xfrm>
            <a:off x="457200" y="987552"/>
            <a:ext cx="11247120" cy="3200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250" b="0" i="0" dirty="0">
                <a:solidFill>
                  <a:srgbClr val="5B6573"/>
                </a:solidFill>
                <a:latin typeface="Segoe UI"/>
                <a:cs typeface="Segoe UI"/>
              </a:rPr>
              <a:t>5 commandes, dans l'ordre, dans PowerShell depuis le dossier du dépôt.</a:t>
            </a:r>
            <a:endParaRPr lang="fr-FR" sz="1250" dirty="0"/>
          </a:p>
        </p:txBody>
      </p:sp>
      <p:sp>
        <p:nvSpPr>
          <p:cNvPr id="7" name="Forme 7"/>
          <p:cNvSpPr/>
          <p:nvPr/>
        </p:nvSpPr>
        <p:spPr>
          <a:xfrm>
            <a:off x="457200" y="6446520"/>
            <a:ext cx="11274552" cy="10973"/>
          </a:xfrm>
          <a:prstGeom prst="rect">
            <a:avLst/>
          </a:prstGeom>
          <a:solidFill>
            <a:srgbClr val="D5DAE1"/>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8" name="Forme 8"/>
          <p:cNvSpPr/>
          <p:nvPr/>
        </p:nvSpPr>
        <p:spPr>
          <a:xfrm>
            <a:off x="457200" y="6492240"/>
            <a:ext cx="7315200" cy="256032"/>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00" b="0" i="0" dirty="0">
                <a:solidFill>
                  <a:srgbClr val="5B6573"/>
                </a:solidFill>
                <a:latin typeface="Segoe UI"/>
                <a:cs typeface="Segoe UI"/>
              </a:rPr>
              <a:t>Hackathon Mobility × Citiz · Nos données, de A à Z</a:t>
            </a:r>
            <a:endParaRPr lang="fr-FR" sz="900" dirty="0"/>
          </a:p>
        </p:txBody>
      </p:sp>
      <p:sp>
        <p:nvSpPr>
          <p:cNvPr id="9" name="Forme 9"/>
          <p:cNvSpPr/>
          <p:nvPr/>
        </p:nvSpPr>
        <p:spPr>
          <a:xfrm>
            <a:off x="10360152" y="6492240"/>
            <a:ext cx="1371600" cy="256032"/>
          </a:xfrm>
          <a:prstGeom prst="rect">
            <a:avLst/>
          </a:prstGeom>
          <a:noFill/>
          <a:ln>
            <a:noFill/>
          </a:ln>
        </p:spPr>
        <p:txBody>
          <a:bodyPr wrap="square" lIns="18288" tIns="18288" rIns="18288" bIns="18288" anchor="t" rtlCol="0">
            <a:noAutofit/>
          </a:bodyPr>
          <a:lstStyle/>
          <a:p>
            <a:pPr algn="r">
              <a:lnSpc>
                <a:spcPct val="100000"/>
              </a:lnSpc>
              <a:spcBef>
                <a:spcPts val="0"/>
              </a:spcBef>
              <a:spcAft>
                <a:spcPts val="0"/>
              </a:spcAft>
              <a:buNone/>
            </a:pPr>
            <a:r>
              <a:rPr lang="fr-FR" sz="900" b="0" i="0" dirty="0">
                <a:solidFill>
                  <a:srgbClr val="5B6573"/>
                </a:solidFill>
                <a:latin typeface="Segoe UI"/>
                <a:cs typeface="Segoe UI"/>
              </a:rPr>
              <a:t>22</a:t>
            </a:r>
            <a:endParaRPr lang="fr-FR" sz="900" dirty="0"/>
          </a:p>
        </p:txBody>
      </p:sp>
      <p:sp>
        <p:nvSpPr>
          <p:cNvPr id="10" name="Forme 10"/>
          <p:cNvSpPr/>
          <p:nvPr/>
        </p:nvSpPr>
        <p:spPr>
          <a:xfrm>
            <a:off x="457200" y="1481328"/>
            <a:ext cx="548640" cy="548640"/>
          </a:xfrm>
          <a:prstGeom prst="ellipse">
            <a:avLst/>
          </a:prstGeom>
          <a:solidFill>
            <a:srgbClr val="0E9F8E"/>
          </a:solidFill>
          <a:ln>
            <a:noFill/>
          </a:ln>
        </p:spPr>
        <p:txBody>
          <a:bodyPr wrap="square" lIns="0" tIns="0" rIns="0" bIns="0" anchor="ctr" rtlCol="0">
            <a:noAutofit/>
          </a:bodyPr>
          <a:lstStyle/>
          <a:p>
            <a:pPr algn="ctr">
              <a:lnSpc>
                <a:spcPct val="100000"/>
              </a:lnSpc>
              <a:spcBef>
                <a:spcPts val="0"/>
              </a:spcBef>
              <a:spcAft>
                <a:spcPts val="0"/>
              </a:spcAft>
              <a:buNone/>
            </a:pPr>
            <a:r>
              <a:rPr lang="fr-FR" sz="1800" b="1" i="0" dirty="0">
                <a:solidFill>
                  <a:srgbClr val="FFFFFF"/>
                </a:solidFill>
                <a:latin typeface="Segoe UI"/>
                <a:cs typeface="Segoe UI"/>
              </a:rPr>
              <a:t>1</a:t>
            </a:r>
            <a:endParaRPr lang="fr-FR" sz="1800" dirty="0"/>
          </a:p>
        </p:txBody>
      </p:sp>
      <p:sp>
        <p:nvSpPr>
          <p:cNvPr id="11" name="Forme 11"/>
          <p:cNvSpPr/>
          <p:nvPr/>
        </p:nvSpPr>
        <p:spPr>
          <a:xfrm>
            <a:off x="1188720" y="1371600"/>
            <a:ext cx="3017520" cy="777240"/>
          </a:xfrm>
          <a:prstGeom prst="rect">
            <a:avLst/>
          </a:prstGeom>
          <a:noFill/>
          <a:ln>
            <a:noFill/>
          </a:ln>
        </p:spPr>
        <p:txBody>
          <a:bodyPr wrap="square" lIns="18288" tIns="18288" rIns="18288" bIns="18288" anchor="ctr" rtlCol="0">
            <a:noAutofit/>
          </a:bodyPr>
          <a:lstStyle/>
          <a:p>
            <a:pPr algn="l">
              <a:lnSpc>
                <a:spcPct val="100000"/>
              </a:lnSpc>
              <a:spcBef>
                <a:spcPts val="0"/>
              </a:spcBef>
              <a:spcAft>
                <a:spcPts val="0"/>
              </a:spcAft>
              <a:buNone/>
            </a:pPr>
            <a:r>
              <a:rPr lang="fr-FR" sz="1250" b="1" i="0" dirty="0">
                <a:solidFill>
                  <a:srgbClr val="14213D"/>
                </a:solidFill>
                <a:latin typeface="Segoe UI"/>
                <a:cs typeface="Segoe UI"/>
              </a:rPr>
              <a:t>Installer l'environnement</a:t>
            </a:r>
            <a:endParaRPr lang="fr-FR" sz="1250" dirty="0"/>
          </a:p>
          <a:p>
            <a:pPr algn="l">
              <a:lnSpc>
                <a:spcPct val="100000"/>
              </a:lnSpc>
              <a:spcBef>
                <a:spcPts val="200"/>
              </a:spcBef>
              <a:spcAft>
                <a:spcPts val="0"/>
              </a:spcAft>
              <a:buNone/>
            </a:pPr>
            <a:r>
              <a:rPr lang="fr-FR" sz="1050" b="0" i="0" dirty="0">
                <a:solidFill>
                  <a:srgbClr val="5B6573"/>
                </a:solidFill>
                <a:latin typeface="Segoe UI"/>
                <a:cs typeface="Segoe UI"/>
              </a:rPr>
              <a:t>≈ 5 min</a:t>
            </a:r>
            <a:endParaRPr lang="fr-FR" sz="1050" dirty="0"/>
          </a:p>
        </p:txBody>
      </p:sp>
      <p:sp>
        <p:nvSpPr>
          <p:cNvPr id="12" name="Forme 12"/>
          <p:cNvSpPr/>
          <p:nvPr/>
        </p:nvSpPr>
        <p:spPr>
          <a:xfrm>
            <a:off x="4206240" y="1399032"/>
            <a:ext cx="7525512" cy="731520"/>
          </a:xfrm>
          <a:prstGeom prst="roundRect">
            <a:avLst>
              <a:gd name="adj" fmla="val 6000"/>
            </a:avLst>
          </a:prstGeom>
          <a:solidFill>
            <a:srgbClr val="0F1B2D"/>
          </a:solidFill>
          <a:ln>
            <a:noFill/>
          </a:ln>
        </p:spPr>
        <p:txBody>
          <a:bodyPr wrap="square" lIns="164592" tIns="73152" rIns="164592" bIns="73152" anchor="ctr" rtlCol="0">
            <a:noAutofit/>
          </a:bodyPr>
          <a:lstStyle/>
          <a:p>
            <a:pPr algn="l">
              <a:lnSpc>
                <a:spcPct val="105000"/>
              </a:lnSpc>
              <a:spcBef>
                <a:spcPts val="0"/>
              </a:spcBef>
              <a:spcAft>
                <a:spcPts val="0"/>
              </a:spcAft>
              <a:buNone/>
            </a:pPr>
            <a:r>
              <a:rPr lang="fr-FR" sz="1000" b="0" i="0" dirty="0">
                <a:solidFill>
                  <a:srgbClr val="E6EDF3"/>
                </a:solidFill>
                <a:latin typeface="Consolas"/>
                <a:cs typeface="Consolas"/>
              </a:rPr>
              <a:t>python -m venv .venv ; .venv\Scripts\python -m pip install -r requirements.txt</a:t>
            </a:r>
            <a:endParaRPr lang="fr-FR" sz="1000" dirty="0"/>
          </a:p>
        </p:txBody>
      </p:sp>
      <p:sp>
        <p:nvSpPr>
          <p:cNvPr id="13" name="Forme 13"/>
          <p:cNvSpPr/>
          <p:nvPr/>
        </p:nvSpPr>
        <p:spPr>
          <a:xfrm>
            <a:off x="457200" y="2377440"/>
            <a:ext cx="548640" cy="548640"/>
          </a:xfrm>
          <a:prstGeom prst="ellipse">
            <a:avLst/>
          </a:prstGeom>
          <a:solidFill>
            <a:srgbClr val="0E9F8E"/>
          </a:solidFill>
          <a:ln>
            <a:noFill/>
          </a:ln>
        </p:spPr>
        <p:txBody>
          <a:bodyPr wrap="square" lIns="0" tIns="0" rIns="0" bIns="0" anchor="ctr" rtlCol="0">
            <a:noAutofit/>
          </a:bodyPr>
          <a:lstStyle/>
          <a:p>
            <a:pPr algn="ctr">
              <a:lnSpc>
                <a:spcPct val="100000"/>
              </a:lnSpc>
              <a:spcBef>
                <a:spcPts val="0"/>
              </a:spcBef>
              <a:spcAft>
                <a:spcPts val="0"/>
              </a:spcAft>
              <a:buNone/>
            </a:pPr>
            <a:r>
              <a:rPr lang="fr-FR" sz="1800" b="1" i="0" dirty="0">
                <a:solidFill>
                  <a:srgbClr val="FFFFFF"/>
                </a:solidFill>
                <a:latin typeface="Segoe UI"/>
                <a:cs typeface="Segoe UI"/>
              </a:rPr>
              <a:t>2</a:t>
            </a:r>
            <a:endParaRPr lang="fr-FR" sz="1800" dirty="0"/>
          </a:p>
        </p:txBody>
      </p:sp>
      <p:sp>
        <p:nvSpPr>
          <p:cNvPr id="14" name="Forme 14"/>
          <p:cNvSpPr/>
          <p:nvPr/>
        </p:nvSpPr>
        <p:spPr>
          <a:xfrm>
            <a:off x="1188720" y="2267712"/>
            <a:ext cx="3017520" cy="777240"/>
          </a:xfrm>
          <a:prstGeom prst="rect">
            <a:avLst/>
          </a:prstGeom>
          <a:noFill/>
          <a:ln>
            <a:noFill/>
          </a:ln>
        </p:spPr>
        <p:txBody>
          <a:bodyPr wrap="square" lIns="18288" tIns="18288" rIns="18288" bIns="18288" anchor="ctr" rtlCol="0">
            <a:noAutofit/>
          </a:bodyPr>
          <a:lstStyle/>
          <a:p>
            <a:pPr algn="l">
              <a:lnSpc>
                <a:spcPct val="100000"/>
              </a:lnSpc>
              <a:spcBef>
                <a:spcPts val="0"/>
              </a:spcBef>
              <a:spcAft>
                <a:spcPts val="0"/>
              </a:spcAft>
              <a:buNone/>
            </a:pPr>
            <a:r>
              <a:rPr lang="fr-FR" sz="1250" b="1" i="0" dirty="0">
                <a:solidFill>
                  <a:srgbClr val="14213D"/>
                </a:solidFill>
                <a:latin typeface="Segoe UI"/>
                <a:cs typeface="Segoe UI"/>
              </a:rPr>
              <a:t>Télécharger les sources</a:t>
            </a:r>
            <a:endParaRPr lang="fr-FR" sz="1250" dirty="0"/>
          </a:p>
          <a:p>
            <a:pPr algn="l">
              <a:lnSpc>
                <a:spcPct val="100000"/>
              </a:lnSpc>
              <a:spcBef>
                <a:spcPts val="200"/>
              </a:spcBef>
              <a:spcAft>
                <a:spcPts val="0"/>
              </a:spcAft>
              <a:buNone/>
            </a:pPr>
            <a:r>
              <a:rPr lang="fr-FR" sz="1050" b="0" i="0" dirty="0">
                <a:solidFill>
                  <a:srgbClr val="5B6573"/>
                </a:solidFill>
                <a:latin typeface="Segoe UI"/>
                <a:cs typeface="Segoe UI"/>
              </a:rPr>
              <a:t>≈ 23 min mesurées · ≈ 4,8 Go</a:t>
            </a:r>
            <a:endParaRPr lang="fr-FR" sz="1050" dirty="0"/>
          </a:p>
        </p:txBody>
      </p:sp>
      <p:sp>
        <p:nvSpPr>
          <p:cNvPr id="15" name="Forme 15"/>
          <p:cNvSpPr/>
          <p:nvPr/>
        </p:nvSpPr>
        <p:spPr>
          <a:xfrm>
            <a:off x="4206240" y="2295144"/>
            <a:ext cx="7525512" cy="731520"/>
          </a:xfrm>
          <a:prstGeom prst="roundRect">
            <a:avLst>
              <a:gd name="adj" fmla="val 6000"/>
            </a:avLst>
          </a:prstGeom>
          <a:solidFill>
            <a:srgbClr val="0F1B2D"/>
          </a:solidFill>
          <a:ln>
            <a:noFill/>
          </a:ln>
        </p:spPr>
        <p:txBody>
          <a:bodyPr wrap="square" lIns="164592" tIns="73152" rIns="164592" bIns="73152" anchor="ctr" rtlCol="0">
            <a:noAutofit/>
          </a:bodyPr>
          <a:lstStyle/>
          <a:p>
            <a:pPr algn="l">
              <a:lnSpc>
                <a:spcPct val="105000"/>
              </a:lnSpc>
              <a:spcBef>
                <a:spcPts val="0"/>
              </a:spcBef>
              <a:spcAft>
                <a:spcPts val="0"/>
              </a:spcAft>
              <a:buNone/>
            </a:pPr>
            <a:r>
              <a:rPr lang="fr-FR" sz="1000" b="0" i="0" dirty="0">
                <a:solidFill>
                  <a:srgbClr val="E6EDF3"/>
                </a:solidFill>
                <a:latin typeface="Consolas"/>
                <a:cs typeface="Consolas"/>
              </a:rPr>
              <a:t>.venv\Scripts\python src/ingest/download_all.py --osm region --osm-region rhone-alpes pays-de-la-loire</a:t>
            </a:r>
            <a:endParaRPr lang="fr-FR" sz="1000" dirty="0"/>
          </a:p>
        </p:txBody>
      </p:sp>
      <p:sp>
        <p:nvSpPr>
          <p:cNvPr id="16" name="Forme 16"/>
          <p:cNvSpPr/>
          <p:nvPr/>
        </p:nvSpPr>
        <p:spPr>
          <a:xfrm>
            <a:off x="457200" y="3273552"/>
            <a:ext cx="548640" cy="548640"/>
          </a:xfrm>
          <a:prstGeom prst="ellipse">
            <a:avLst/>
          </a:prstGeom>
          <a:solidFill>
            <a:srgbClr val="0E9F8E"/>
          </a:solidFill>
          <a:ln>
            <a:noFill/>
          </a:ln>
        </p:spPr>
        <p:txBody>
          <a:bodyPr wrap="square" lIns="0" tIns="0" rIns="0" bIns="0" anchor="ctr" rtlCol="0">
            <a:noAutofit/>
          </a:bodyPr>
          <a:lstStyle/>
          <a:p>
            <a:pPr algn="ctr">
              <a:lnSpc>
                <a:spcPct val="100000"/>
              </a:lnSpc>
              <a:spcBef>
                <a:spcPts val="0"/>
              </a:spcBef>
              <a:spcAft>
                <a:spcPts val="0"/>
              </a:spcAft>
              <a:buNone/>
            </a:pPr>
            <a:r>
              <a:rPr lang="fr-FR" sz="1800" b="1" i="0" dirty="0">
                <a:solidFill>
                  <a:srgbClr val="FFFFFF"/>
                </a:solidFill>
                <a:latin typeface="Segoe UI"/>
                <a:cs typeface="Segoe UI"/>
              </a:rPr>
              <a:t>3</a:t>
            </a:r>
            <a:endParaRPr lang="fr-FR" sz="1800" dirty="0"/>
          </a:p>
        </p:txBody>
      </p:sp>
      <p:sp>
        <p:nvSpPr>
          <p:cNvPr id="17" name="Forme 17"/>
          <p:cNvSpPr/>
          <p:nvPr/>
        </p:nvSpPr>
        <p:spPr>
          <a:xfrm>
            <a:off x="1188720" y="3163824"/>
            <a:ext cx="3017520" cy="777240"/>
          </a:xfrm>
          <a:prstGeom prst="rect">
            <a:avLst/>
          </a:prstGeom>
          <a:noFill/>
          <a:ln>
            <a:noFill/>
          </a:ln>
        </p:spPr>
        <p:txBody>
          <a:bodyPr wrap="square" lIns="18288" tIns="18288" rIns="18288" bIns="18288" anchor="ctr" rtlCol="0">
            <a:noAutofit/>
          </a:bodyPr>
          <a:lstStyle/>
          <a:p>
            <a:pPr algn="l">
              <a:lnSpc>
                <a:spcPct val="100000"/>
              </a:lnSpc>
              <a:spcBef>
                <a:spcPts val="0"/>
              </a:spcBef>
              <a:spcAft>
                <a:spcPts val="0"/>
              </a:spcAft>
              <a:buNone/>
            </a:pPr>
            <a:r>
              <a:rPr lang="fr-FR" sz="1250" b="1" i="0" dirty="0">
                <a:solidFill>
                  <a:srgbClr val="14213D"/>
                </a:solidFill>
                <a:latin typeface="Segoe UI"/>
                <a:cs typeface="Segoe UI"/>
              </a:rPr>
              <a:t>Calculer la France entière</a:t>
            </a:r>
            <a:endParaRPr lang="fr-FR" sz="1250" dirty="0"/>
          </a:p>
          <a:p>
            <a:pPr algn="l">
              <a:lnSpc>
                <a:spcPct val="100000"/>
              </a:lnSpc>
              <a:spcBef>
                <a:spcPts val="200"/>
              </a:spcBef>
              <a:spcAft>
                <a:spcPts val="0"/>
              </a:spcAft>
              <a:buNone/>
            </a:pPr>
            <a:r>
              <a:rPr lang="fr-FR" sz="1050" b="0" i="0" dirty="0">
                <a:solidFill>
                  <a:srgbClr val="5B6573"/>
                </a:solidFill>
                <a:latin typeface="Segoe UI"/>
                <a:cs typeface="Segoe UI"/>
              </a:rPr>
              <a:t>≈ 7 min 30</a:t>
            </a:r>
            <a:endParaRPr lang="fr-FR" sz="1050" dirty="0"/>
          </a:p>
        </p:txBody>
      </p:sp>
      <p:sp>
        <p:nvSpPr>
          <p:cNvPr id="18" name="Forme 18"/>
          <p:cNvSpPr/>
          <p:nvPr/>
        </p:nvSpPr>
        <p:spPr>
          <a:xfrm>
            <a:off x="4206240" y="3191256"/>
            <a:ext cx="7525512" cy="731520"/>
          </a:xfrm>
          <a:prstGeom prst="roundRect">
            <a:avLst>
              <a:gd name="adj" fmla="val 6000"/>
            </a:avLst>
          </a:prstGeom>
          <a:solidFill>
            <a:srgbClr val="0F1B2D"/>
          </a:solidFill>
          <a:ln>
            <a:noFill/>
          </a:ln>
        </p:spPr>
        <p:txBody>
          <a:bodyPr wrap="square" lIns="164592" tIns="73152" rIns="164592" bIns="73152" anchor="ctr" rtlCol="0">
            <a:noAutofit/>
          </a:bodyPr>
          <a:lstStyle/>
          <a:p>
            <a:pPr algn="l">
              <a:lnSpc>
                <a:spcPct val="105000"/>
              </a:lnSpc>
              <a:spcBef>
                <a:spcPts val="0"/>
              </a:spcBef>
              <a:spcAft>
                <a:spcPts val="0"/>
              </a:spcAft>
              <a:buNone/>
            </a:pPr>
            <a:r>
              <a:rPr lang="fr-FR" sz="1000" b="0" i="0" dirty="0">
                <a:solidFill>
                  <a:srgbClr val="E6EDF3"/>
                </a:solidFill>
                <a:latin typeface="Consolas"/>
                <a:cs typeface="Consolas"/>
              </a:rPr>
              <a:t>.venv\Scripts\python -m src.national.build_all</a:t>
            </a:r>
            <a:endParaRPr lang="fr-FR" sz="1000" dirty="0"/>
          </a:p>
        </p:txBody>
      </p:sp>
      <p:sp>
        <p:nvSpPr>
          <p:cNvPr id="19" name="Forme 19"/>
          <p:cNvSpPr/>
          <p:nvPr/>
        </p:nvSpPr>
        <p:spPr>
          <a:xfrm>
            <a:off x="457200" y="4169664"/>
            <a:ext cx="548640" cy="548640"/>
          </a:xfrm>
          <a:prstGeom prst="ellipse">
            <a:avLst/>
          </a:prstGeom>
          <a:solidFill>
            <a:srgbClr val="0E9F8E"/>
          </a:solidFill>
          <a:ln>
            <a:noFill/>
          </a:ln>
        </p:spPr>
        <p:txBody>
          <a:bodyPr wrap="square" lIns="0" tIns="0" rIns="0" bIns="0" anchor="ctr" rtlCol="0">
            <a:noAutofit/>
          </a:bodyPr>
          <a:lstStyle/>
          <a:p>
            <a:pPr algn="ctr">
              <a:lnSpc>
                <a:spcPct val="100000"/>
              </a:lnSpc>
              <a:spcBef>
                <a:spcPts val="0"/>
              </a:spcBef>
              <a:spcAft>
                <a:spcPts val="0"/>
              </a:spcAft>
              <a:buNone/>
            </a:pPr>
            <a:r>
              <a:rPr lang="fr-FR" sz="1800" b="1" i="0" dirty="0">
                <a:solidFill>
                  <a:srgbClr val="FFFFFF"/>
                </a:solidFill>
                <a:latin typeface="Segoe UI"/>
                <a:cs typeface="Segoe UI"/>
              </a:rPr>
              <a:t>4</a:t>
            </a:r>
            <a:endParaRPr lang="fr-FR" sz="1800" dirty="0"/>
          </a:p>
        </p:txBody>
      </p:sp>
      <p:sp>
        <p:nvSpPr>
          <p:cNvPr id="20" name="Forme 20"/>
          <p:cNvSpPr/>
          <p:nvPr/>
        </p:nvSpPr>
        <p:spPr>
          <a:xfrm>
            <a:off x="1188720" y="4059936"/>
            <a:ext cx="3017520" cy="777240"/>
          </a:xfrm>
          <a:prstGeom prst="rect">
            <a:avLst/>
          </a:prstGeom>
          <a:noFill/>
          <a:ln>
            <a:noFill/>
          </a:ln>
        </p:spPr>
        <p:txBody>
          <a:bodyPr wrap="square" lIns="18288" tIns="18288" rIns="18288" bIns="18288" anchor="ctr" rtlCol="0">
            <a:noAutofit/>
          </a:bodyPr>
          <a:lstStyle/>
          <a:p>
            <a:pPr algn="l">
              <a:lnSpc>
                <a:spcPct val="100000"/>
              </a:lnSpc>
              <a:spcBef>
                <a:spcPts val="0"/>
              </a:spcBef>
              <a:spcAft>
                <a:spcPts val="0"/>
              </a:spcAft>
              <a:buNone/>
            </a:pPr>
            <a:r>
              <a:rPr lang="fr-FR" sz="1250" b="1" i="0" dirty="0">
                <a:solidFill>
                  <a:srgbClr val="14213D"/>
                </a:solidFill>
                <a:latin typeface="Segoe UI"/>
                <a:cs typeface="Segoe UI"/>
              </a:rPr>
              <a:t>Grenoble, puis le modèle</a:t>
            </a:r>
            <a:endParaRPr lang="fr-FR" sz="1250" dirty="0"/>
          </a:p>
          <a:p>
            <a:pPr algn="l">
              <a:lnSpc>
                <a:spcPct val="100000"/>
              </a:lnSpc>
              <a:spcBef>
                <a:spcPts val="200"/>
              </a:spcBef>
              <a:spcAft>
                <a:spcPts val="0"/>
              </a:spcAft>
              <a:buNone/>
            </a:pPr>
            <a:r>
              <a:rPr lang="fr-FR" sz="1050" b="0" i="0" dirty="0">
                <a:solidFill>
                  <a:srgbClr val="5B6573"/>
                </a:solidFill>
                <a:latin typeface="Segoe UI"/>
                <a:cs typeface="Segoe UI"/>
              </a:rPr>
              <a:t>15 s + variables + 2 min (train)</a:t>
            </a:r>
            <a:endParaRPr lang="fr-FR" sz="1050" dirty="0"/>
          </a:p>
        </p:txBody>
      </p:sp>
      <p:sp>
        <p:nvSpPr>
          <p:cNvPr id="21" name="Forme 21"/>
          <p:cNvSpPr/>
          <p:nvPr/>
        </p:nvSpPr>
        <p:spPr>
          <a:xfrm>
            <a:off x="4206240" y="4087368"/>
            <a:ext cx="7525512" cy="731520"/>
          </a:xfrm>
          <a:prstGeom prst="roundRect">
            <a:avLst>
              <a:gd name="adj" fmla="val 6000"/>
            </a:avLst>
          </a:prstGeom>
          <a:solidFill>
            <a:srgbClr val="0F1B2D"/>
          </a:solidFill>
          <a:ln>
            <a:noFill/>
          </a:ln>
        </p:spPr>
        <p:txBody>
          <a:bodyPr wrap="square" lIns="164592" tIns="73152" rIns="164592" bIns="73152" anchor="ctr" rtlCol="0">
            <a:noAutofit/>
          </a:bodyPr>
          <a:lstStyle/>
          <a:p>
            <a:pPr algn="l">
              <a:lnSpc>
                <a:spcPct val="105000"/>
              </a:lnSpc>
              <a:spcBef>
                <a:spcPts val="0"/>
              </a:spcBef>
              <a:spcAft>
                <a:spcPts val="0"/>
              </a:spcAft>
              <a:buNone/>
            </a:pPr>
            <a:r>
              <a:rPr lang="fr-FR" sz="1000" b="0" i="0" dirty="0">
                <a:solidFill>
                  <a:srgbClr val="E6EDF3"/>
                </a:solidFill>
                <a:latin typeface="Consolas"/>
                <a:cs typeface="Consolas"/>
              </a:rPr>
              <a:t>.venv\Scripts\python -m scripts.build_all --ville grenoble ; .venv\Scripts\python -m src.model.features ; .venv\Scripts\python -m src.model.train</a:t>
            </a:r>
            <a:endParaRPr lang="fr-FR" sz="1000" dirty="0"/>
          </a:p>
        </p:txBody>
      </p:sp>
      <p:sp>
        <p:nvSpPr>
          <p:cNvPr id="22" name="Forme 22"/>
          <p:cNvSpPr/>
          <p:nvPr/>
        </p:nvSpPr>
        <p:spPr>
          <a:xfrm>
            <a:off x="457200" y="5065776"/>
            <a:ext cx="548640" cy="548640"/>
          </a:xfrm>
          <a:prstGeom prst="ellipse">
            <a:avLst/>
          </a:prstGeom>
          <a:solidFill>
            <a:srgbClr val="0E9F8E"/>
          </a:solidFill>
          <a:ln>
            <a:noFill/>
          </a:ln>
        </p:spPr>
        <p:txBody>
          <a:bodyPr wrap="square" lIns="0" tIns="0" rIns="0" bIns="0" anchor="ctr" rtlCol="0">
            <a:noAutofit/>
          </a:bodyPr>
          <a:lstStyle/>
          <a:p>
            <a:pPr algn="ctr">
              <a:lnSpc>
                <a:spcPct val="100000"/>
              </a:lnSpc>
              <a:spcBef>
                <a:spcPts val="0"/>
              </a:spcBef>
              <a:spcAft>
                <a:spcPts val="0"/>
              </a:spcAft>
              <a:buNone/>
            </a:pPr>
            <a:r>
              <a:rPr lang="fr-FR" sz="1800" b="1" i="0" dirty="0">
                <a:solidFill>
                  <a:srgbClr val="FFFFFF"/>
                </a:solidFill>
                <a:latin typeface="Segoe UI"/>
                <a:cs typeface="Segoe UI"/>
              </a:rPr>
              <a:t>5</a:t>
            </a:r>
            <a:endParaRPr lang="fr-FR" sz="1800" dirty="0"/>
          </a:p>
        </p:txBody>
      </p:sp>
      <p:sp>
        <p:nvSpPr>
          <p:cNvPr id="23" name="Forme 23"/>
          <p:cNvSpPr/>
          <p:nvPr/>
        </p:nvSpPr>
        <p:spPr>
          <a:xfrm>
            <a:off x="1188720" y="4956048"/>
            <a:ext cx="3017520" cy="777240"/>
          </a:xfrm>
          <a:prstGeom prst="rect">
            <a:avLst/>
          </a:prstGeom>
          <a:noFill/>
          <a:ln>
            <a:noFill/>
          </a:ln>
        </p:spPr>
        <p:txBody>
          <a:bodyPr wrap="square" lIns="18288" tIns="18288" rIns="18288" bIns="18288" anchor="ctr" rtlCol="0">
            <a:noAutofit/>
          </a:bodyPr>
          <a:lstStyle/>
          <a:p>
            <a:pPr algn="l">
              <a:lnSpc>
                <a:spcPct val="100000"/>
              </a:lnSpc>
              <a:spcBef>
                <a:spcPts val="0"/>
              </a:spcBef>
              <a:spcAft>
                <a:spcPts val="0"/>
              </a:spcAft>
              <a:buNone/>
            </a:pPr>
            <a:r>
              <a:rPr lang="fr-FR" sz="1250" b="1" i="0" dirty="0">
                <a:solidFill>
                  <a:srgbClr val="14213D"/>
                </a:solidFill>
                <a:latin typeface="Segoe UI"/>
                <a:cs typeface="Segoe UI"/>
              </a:rPr>
              <a:t>Nantes et ses recommandations</a:t>
            </a:r>
            <a:endParaRPr lang="fr-FR" sz="1250" dirty="0"/>
          </a:p>
          <a:p>
            <a:pPr algn="l">
              <a:lnSpc>
                <a:spcPct val="100000"/>
              </a:lnSpc>
              <a:spcBef>
                <a:spcPts val="200"/>
              </a:spcBef>
              <a:spcAft>
                <a:spcPts val="0"/>
              </a:spcAft>
              <a:buNone/>
            </a:pPr>
            <a:r>
              <a:rPr lang="fr-FR" sz="1050" b="0" i="0" dirty="0">
                <a:solidFill>
                  <a:srgbClr val="5B6573"/>
                </a:solidFill>
                <a:latin typeface="Segoe UI"/>
                <a:cs typeface="Segoe UI"/>
              </a:rPr>
              <a:t>≈ 2 min 30</a:t>
            </a:r>
            <a:endParaRPr lang="fr-FR" sz="1050" dirty="0"/>
          </a:p>
        </p:txBody>
      </p:sp>
      <p:sp>
        <p:nvSpPr>
          <p:cNvPr id="24" name="Forme 24"/>
          <p:cNvSpPr/>
          <p:nvPr/>
        </p:nvSpPr>
        <p:spPr>
          <a:xfrm>
            <a:off x="4206240" y="4983480"/>
            <a:ext cx="7525512" cy="731520"/>
          </a:xfrm>
          <a:prstGeom prst="roundRect">
            <a:avLst>
              <a:gd name="adj" fmla="val 6000"/>
            </a:avLst>
          </a:prstGeom>
          <a:solidFill>
            <a:srgbClr val="0F1B2D"/>
          </a:solidFill>
          <a:ln>
            <a:noFill/>
          </a:ln>
        </p:spPr>
        <p:txBody>
          <a:bodyPr wrap="square" lIns="164592" tIns="73152" rIns="164592" bIns="73152" anchor="ctr" rtlCol="0">
            <a:noAutofit/>
          </a:bodyPr>
          <a:lstStyle/>
          <a:p>
            <a:pPr algn="l">
              <a:lnSpc>
                <a:spcPct val="105000"/>
              </a:lnSpc>
              <a:spcBef>
                <a:spcPts val="0"/>
              </a:spcBef>
              <a:spcAft>
                <a:spcPts val="0"/>
              </a:spcAft>
              <a:buNone/>
            </a:pPr>
            <a:r>
              <a:rPr lang="fr-FR" sz="1000" b="0" i="0" dirty="0">
                <a:solidFill>
                  <a:srgbClr val="E6EDF3"/>
                </a:solidFill>
                <a:latin typeface="Consolas"/>
                <a:cs typeface="Consolas"/>
              </a:rPr>
              <a:t>.venv\Scripts\python -m scripts.build_all --ville nantes</a:t>
            </a:r>
            <a:endParaRPr lang="fr-FR" sz="1000" dirty="0"/>
          </a:p>
        </p:txBody>
      </p:sp>
      <p:sp>
        <p:nvSpPr>
          <p:cNvPr id="25" name="Forme 25"/>
          <p:cNvSpPr/>
          <p:nvPr/>
        </p:nvSpPr>
        <p:spPr>
          <a:xfrm>
            <a:off x="457200" y="5870448"/>
            <a:ext cx="11274552" cy="457200"/>
          </a:xfrm>
          <a:prstGeom prst="roundRect">
            <a:avLst>
              <a:gd name="adj" fmla="val 10000"/>
            </a:avLst>
          </a:prstGeom>
          <a:solidFill>
            <a:srgbClr val="E3F4F2"/>
          </a:solidFill>
          <a:ln>
            <a:noFill/>
          </a:ln>
        </p:spPr>
        <p:txBody>
          <a:bodyPr wrap="square" lIns="228600" tIns="27432" rIns="182880" bIns="27432" anchor="ctr" rtlCol="0">
            <a:noAutofit/>
          </a:bodyPr>
          <a:lstStyle/>
          <a:p>
            <a:pPr algn="l">
              <a:lnSpc>
                <a:spcPct val="100000"/>
              </a:lnSpc>
              <a:spcBef>
                <a:spcPts val="0"/>
              </a:spcBef>
              <a:spcAft>
                <a:spcPts val="0"/>
              </a:spcAft>
              <a:buNone/>
            </a:pPr>
            <a:r>
              <a:rPr lang="fr-FR" sz="1050" b="0" i="0" dirty="0">
                <a:solidFill>
                  <a:srgbClr val="1F2933"/>
                </a:solidFill>
                <a:latin typeface="Segoe UI"/>
                <a:cs typeface="Segoe UI"/>
              </a:rPr>
              <a:t>Ensuite : </a:t>
            </a:r>
            <a:r>
              <a:rPr lang="fr-FR" sz="1050" b="0" i="0" dirty="0">
                <a:solidFill>
                  <a:srgbClr val="0B7A6E"/>
                </a:solidFill>
                <a:latin typeface="Consolas"/>
                <a:cs typeface="Consolas"/>
              </a:rPr>
              <a:t>check_data.py --deep</a:t>
            </a:r>
            <a:r>
              <a:rPr lang="fr-FR" sz="1050" b="0" i="0" dirty="0">
                <a:solidFill>
                  <a:srgbClr val="1F2933"/>
                </a:solidFill>
                <a:latin typeface="Segoe UI"/>
                <a:cs typeface="Segoe UI"/>
              </a:rPr>
              <a:t> conseillé après l'étape 2 · </a:t>
            </a:r>
            <a:r>
              <a:rPr lang="fr-FR" sz="1050" b="0" i="0" dirty="0">
                <a:solidFill>
                  <a:srgbClr val="0B7A6E"/>
                </a:solidFill>
                <a:latin typeface="Consolas"/>
                <a:cs typeface="Consolas"/>
              </a:rPr>
              <a:t>lancer_demo.bat</a:t>
            </a:r>
            <a:r>
              <a:rPr lang="fr-FR" sz="1050" b="0" i="0" dirty="0">
                <a:solidFill>
                  <a:srgbClr val="1F2933"/>
                </a:solidFill>
                <a:latin typeface="Segoe UI"/>
                <a:cs typeface="Segoe UI"/>
              </a:rPr>
              <a:t> pour l'appli · l'historique Citiz (</a:t>
            </a:r>
            <a:r>
              <a:rPr lang="fr-FR" sz="1050" b="0" i="0" dirty="0">
                <a:solidFill>
                  <a:srgbClr val="0B7A6E"/>
                </a:solidFill>
                <a:latin typeface="Consolas"/>
                <a:cs typeface="Consolas"/>
              </a:rPr>
              <a:t>gbfs_history</a:t>
            </a:r>
            <a:r>
              <a:rPr lang="fr-FR" sz="1050" b="0" i="0" dirty="0">
                <a:solidFill>
                  <a:srgbClr val="1F2933"/>
                </a:solidFill>
                <a:latin typeface="Segoe UI"/>
                <a:cs typeface="Segoe UI"/>
              </a:rPr>
              <a:t>) ne se retélécharge pas.</a:t>
            </a:r>
            <a:endParaRPr lang="fr-FR"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rme 3"/>
          <p:cNvSpPr/>
          <p:nvPr/>
        </p:nvSpPr>
        <p:spPr>
          <a:xfrm>
            <a:off x="0" y="0"/>
            <a:ext cx="128016" cy="6858000"/>
          </a:xfrm>
          <a:prstGeom prst="rect">
            <a:avLst/>
          </a:prstGeom>
          <a:solidFill>
            <a:srgbClr val="3D7DD8"/>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4" name="Forme 4"/>
          <p:cNvSpPr/>
          <p:nvPr/>
        </p:nvSpPr>
        <p:spPr>
          <a:xfrm>
            <a:off x="457200" y="256032"/>
            <a:ext cx="7315200" cy="2743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050" b="1" i="0" dirty="0">
                <a:solidFill>
                  <a:srgbClr val="3D7DD8"/>
                </a:solidFill>
                <a:latin typeface="Segoe UI"/>
                <a:cs typeface="Segoe UI"/>
              </a:rPr>
              <a:t>PARTIE 6 · LES TABLES PRODUITES</a:t>
            </a:r>
            <a:endParaRPr lang="fr-FR" sz="1050" dirty="0"/>
          </a:p>
        </p:txBody>
      </p:sp>
      <p:sp>
        <p:nvSpPr>
          <p:cNvPr id="5" name="Forme 5"/>
          <p:cNvSpPr/>
          <p:nvPr/>
        </p:nvSpPr>
        <p:spPr>
          <a:xfrm>
            <a:off x="457200" y="502920"/>
            <a:ext cx="11247120" cy="5486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2500" b="1" i="0" dirty="0">
                <a:solidFill>
                  <a:srgbClr val="14213D"/>
                </a:solidFill>
                <a:latin typeface="Segoe UI"/>
                <a:cs typeface="Segoe UI"/>
              </a:rPr>
              <a:t>Les tables lues par l'application</a:t>
            </a:r>
            <a:endParaRPr lang="fr-FR" sz="2500" dirty="0"/>
          </a:p>
        </p:txBody>
      </p:sp>
      <p:sp>
        <p:nvSpPr>
          <p:cNvPr id="6" name="Forme 6"/>
          <p:cNvSpPr/>
          <p:nvPr/>
        </p:nvSpPr>
        <p:spPr>
          <a:xfrm>
            <a:off x="457200" y="987552"/>
            <a:ext cx="11247120" cy="3200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250" b="0" i="0" dirty="0">
                <a:solidFill>
                  <a:srgbClr val="5B6573"/>
                </a:solidFill>
                <a:latin typeface="Segoe UI"/>
                <a:cs typeface="Segoe UI"/>
              </a:rPr>
              <a:t>Toutes dans data/processed/ (jamais versionné) ; nombres de lignes lus dans les fichiers le 21/10/2026.</a:t>
            </a:r>
            <a:endParaRPr lang="fr-FR" sz="1250" dirty="0"/>
          </a:p>
        </p:txBody>
      </p:sp>
      <p:sp>
        <p:nvSpPr>
          <p:cNvPr id="7" name="Forme 7"/>
          <p:cNvSpPr/>
          <p:nvPr/>
        </p:nvSpPr>
        <p:spPr>
          <a:xfrm>
            <a:off x="457200" y="6446520"/>
            <a:ext cx="11274552" cy="10973"/>
          </a:xfrm>
          <a:prstGeom prst="rect">
            <a:avLst/>
          </a:prstGeom>
          <a:solidFill>
            <a:srgbClr val="D5DAE1"/>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8" name="Forme 8"/>
          <p:cNvSpPr/>
          <p:nvPr/>
        </p:nvSpPr>
        <p:spPr>
          <a:xfrm>
            <a:off x="457200" y="6492240"/>
            <a:ext cx="7315200" cy="256032"/>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00" b="0" i="0" dirty="0">
                <a:solidFill>
                  <a:srgbClr val="5B6573"/>
                </a:solidFill>
                <a:latin typeface="Segoe UI"/>
                <a:cs typeface="Segoe UI"/>
              </a:rPr>
              <a:t>Hackathon Mobility × Citiz · Nos données, de A à Z</a:t>
            </a:r>
            <a:endParaRPr lang="fr-FR" sz="900" dirty="0"/>
          </a:p>
        </p:txBody>
      </p:sp>
      <p:sp>
        <p:nvSpPr>
          <p:cNvPr id="9" name="Forme 9"/>
          <p:cNvSpPr/>
          <p:nvPr/>
        </p:nvSpPr>
        <p:spPr>
          <a:xfrm>
            <a:off x="10360152" y="6492240"/>
            <a:ext cx="1371600" cy="256032"/>
          </a:xfrm>
          <a:prstGeom prst="rect">
            <a:avLst/>
          </a:prstGeom>
          <a:noFill/>
          <a:ln>
            <a:noFill/>
          </a:ln>
        </p:spPr>
        <p:txBody>
          <a:bodyPr wrap="square" lIns="18288" tIns="18288" rIns="18288" bIns="18288" anchor="t" rtlCol="0">
            <a:noAutofit/>
          </a:bodyPr>
          <a:lstStyle/>
          <a:p>
            <a:pPr algn="r">
              <a:lnSpc>
                <a:spcPct val="100000"/>
              </a:lnSpc>
              <a:spcBef>
                <a:spcPts val="0"/>
              </a:spcBef>
              <a:spcAft>
                <a:spcPts val="0"/>
              </a:spcAft>
              <a:buNone/>
            </a:pPr>
            <a:r>
              <a:rPr lang="fr-FR" sz="900" b="0" i="0" dirty="0">
                <a:solidFill>
                  <a:srgbClr val="5B6573"/>
                </a:solidFill>
                <a:latin typeface="Segoe UI"/>
                <a:cs typeface="Segoe UI"/>
              </a:rPr>
              <a:t>23</a:t>
            </a:r>
            <a:endParaRPr lang="fr-FR" sz="900" dirty="0"/>
          </a:p>
        </p:txBody>
      </p:sp>
      <p:graphicFrame>
        <p:nvGraphicFramePr>
          <p:cNvPr id="10" name="Tableau 10"/>
          <p:cNvGraphicFramePr>
            <a:graphicFrameLocks noGrp="1"/>
          </p:cNvGraphicFramePr>
          <p:nvPr/>
        </p:nvGraphicFramePr>
        <p:xfrm>
          <a:off x="457200" y="1371600"/>
          <a:ext cx="11274552" cy="4754880"/>
        </p:xfrm>
        <a:graphic>
          <a:graphicData uri="http://schemas.openxmlformats.org/drawingml/2006/table">
            <a:tbl>
              <a:tblPr firstRow="1" bandRow="1"/>
              <a:tblGrid>
                <a:gridCol w="2971800"/>
                <a:gridCol w="2514600"/>
                <a:gridCol w="3291840"/>
                <a:gridCol w="1051560"/>
                <a:gridCol w="1444752"/>
              </a:tblGrid>
              <a:tr h="365760">
                <a:tc>
                  <a:txBody>
                    <a:bodyPr wrap="square" lIns="109728" tIns="54864" rIns="109728" bIns="54864" anchor="t" rtlCol="0">
                      <a:noAutofit/>
                    </a:bodyPr>
                    <a:lstStyle/>
                    <a:p>
                      <a:pPr algn="l">
                        <a:lnSpc>
                          <a:spcPct val="95000"/>
                        </a:lnSpc>
                        <a:spcBef>
                          <a:spcPts val="0"/>
                        </a:spcBef>
                        <a:spcAft>
                          <a:spcPts val="0"/>
                        </a:spcAft>
                        <a:buNone/>
                      </a:pPr>
                      <a:r>
                        <a:rPr lang="fr-FR" sz="900" b="1" i="0" dirty="0">
                          <a:solidFill>
                            <a:srgbClr val="FFFFFF"/>
                          </a:solidFill>
                          <a:latin typeface="Segoe UI"/>
                          <a:cs typeface="Segoe UI"/>
                        </a:rPr>
                        <a:t>Fichier</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3D7DD8"/>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1" i="0" dirty="0">
                          <a:solidFill>
                            <a:srgbClr val="FFFFFF"/>
                          </a:solidFill>
                          <a:latin typeface="Segoe UI"/>
                          <a:cs typeface="Segoe UI"/>
                        </a:rPr>
                        <a:t>Contenu</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3D7DD8"/>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1" i="0" dirty="0">
                          <a:solidFill>
                            <a:srgbClr val="FFFFFF"/>
                          </a:solidFill>
                          <a:latin typeface="Segoe UI"/>
                          <a:cs typeface="Segoe UI"/>
                        </a:rPr>
                        <a:t>Colonnes principales</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3D7DD8"/>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1" i="0" dirty="0">
                          <a:solidFill>
                            <a:srgbClr val="FFFFFF"/>
                          </a:solidFill>
                          <a:latin typeface="Segoe UI"/>
                          <a:cs typeface="Segoe UI"/>
                        </a:rPr>
                        <a:t>Lignes</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3D7DD8"/>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1" i="0" dirty="0">
                          <a:solidFill>
                            <a:srgbClr val="FFFFFF"/>
                          </a:solidFill>
                          <a:latin typeface="Segoe UI"/>
                          <a:cs typeface="Segoe UI"/>
                        </a:rPr>
                        <a:t>Produit par</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3D7DD8"/>
                    </a:solidFill>
                  </a:tcPr>
                </a:tc>
              </a:tr>
              <a:tr h="365760">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national/app/departements.parquet</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départements + indicateurs (carte France)</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dep, nom, population, part_pop_sans_option, part_pop_citiz_5min</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101</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national/app_files.py</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r h="365760">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national/app/epci.parquet</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intercommunalités + classement</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code_epci, nom, population, stations_citiz, autopartage_10k_hab</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1 238</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app_files.py + ranking.py</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r>
              <a:tr h="365760">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national/app/dep/&lt;dep&gt;_carreaux.parquet</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carreaux ≥ 11 ménages d'un département</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idcar_200m, pop_calee, n_options, n_tc, n_citiz, acces_1000</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44 : 12 812</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app_files.py</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r h="365760">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national/app/dep/&lt;dep&gt;_iris.parquet</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IRIS d'un département</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code_iris, nom_iris, population, part_pop_sans_option</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44 : 506</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app_files.py</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r>
              <a:tr h="365760">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&lt;ville&gt;/cells.parquet</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carreaux habités de la ville (carte)</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population, menages, n_options, score_acces, priorite_equite</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6 739 · 4 285</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optim/build_reco.py</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r h="365760">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&lt;ville&gt;/iris.parquet</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quartiers IRIS</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code_iris, nom, population, n_options, score_acces</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234 · 200</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optim/build_reco.py</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r>
              <a:tr h="365760">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&lt;ville&gt;/offer_served.parquet</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offre dédoublonnée + habitants desservis</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type, nom, passages_jour, pop_desservie, pop_seule_option</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2 042 · 2 718</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features/served.py</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r h="365760">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&lt;ville&gt;/served_by_type.csv</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synthèse par mode</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type, points_dans_zone, pop_desservie, part_pop_desservie</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7 · 7</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features/served.py</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r>
              <a:tr h="365760">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&lt;ville&gt;/access_comparaison.json</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V1 contre V2</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part_pop_au_moins_1_option, surestimation_options_moyennes_pct</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features/build_access.py</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r h="365760">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nantes/candidates.parquet</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emplacements candidats</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nom, type, cout, usage_predit, dist_autopartage_m, surcout_risque</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7 871</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optim/build_reco.py</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r>
              <a:tr h="365760">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nantes/coverage.npz</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qui couvre qui : carreaux × candidats</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matrice 0/1 (6 739 × 7 871, 30 471 liens)</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optim/build_reco.py</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r h="365760">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&lt;ville&gt;/meta.json · model/validation.json</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date, jour type, version · scores du modèle</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jour_type_gtfs, version_acces · auc, top_20pct, par_reseau</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build_reco.py · model/train.py</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r>
            </a:tbl>
          </a:graphicData>
        </a:graphic>
      </p:graphicFrame>
      <p:sp>
        <p:nvSpPr>
          <p:cNvPr id="11" name="Forme 11"/>
          <p:cNvSpPr/>
          <p:nvPr/>
        </p:nvSpPr>
        <p:spPr>
          <a:xfrm>
            <a:off x="457200" y="6199632"/>
            <a:ext cx="11247120" cy="22860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50" b="0" i="1" dirty="0">
                <a:solidFill>
                  <a:srgbClr val="5B6573"/>
                </a:solidFill>
                <a:latin typeface="Segoe UI"/>
                <a:cs typeface="Segoe UI"/>
              </a:rPr>
              <a:t>Lignes : Nantes · Grenoble. « 44 » = Loire-Atlantique, exemple d'un fichier départemental (98 départements au total).</a:t>
            </a:r>
            <a:endParaRPr lang="fr-FR"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rme 3"/>
          <p:cNvSpPr/>
          <p:nvPr/>
        </p:nvSpPr>
        <p:spPr>
          <a:xfrm>
            <a:off x="0" y="0"/>
            <a:ext cx="128016" cy="6858000"/>
          </a:xfrm>
          <a:prstGeom prst="rect">
            <a:avLst/>
          </a:prstGeom>
          <a:solidFill>
            <a:srgbClr val="3D7DD8"/>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4" name="Forme 4"/>
          <p:cNvSpPr/>
          <p:nvPr/>
        </p:nvSpPr>
        <p:spPr>
          <a:xfrm>
            <a:off x="457200" y="256032"/>
            <a:ext cx="7315200" cy="2743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050" b="1" i="0" dirty="0">
                <a:solidFill>
                  <a:srgbClr val="3D7DD8"/>
                </a:solidFill>
                <a:latin typeface="Segoe UI"/>
                <a:cs typeface="Segoe UI"/>
              </a:rPr>
              <a:t>PARTIE 6 · LES TABLES PRODUITES</a:t>
            </a:r>
            <a:endParaRPr lang="fr-FR" sz="1050" dirty="0"/>
          </a:p>
        </p:txBody>
      </p:sp>
      <p:sp>
        <p:nvSpPr>
          <p:cNvPr id="5" name="Forme 5"/>
          <p:cNvSpPr/>
          <p:nvPr/>
        </p:nvSpPr>
        <p:spPr>
          <a:xfrm>
            <a:off x="457200" y="502920"/>
            <a:ext cx="11247120" cy="5486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2500" b="1" i="0" dirty="0">
                <a:solidFill>
                  <a:srgbClr val="14213D"/>
                </a:solidFill>
                <a:latin typeface="Segoe UI"/>
                <a:cs typeface="Segoe UI"/>
              </a:rPr>
              <a:t>Les tables intermédiaires (Silver et Gold)</a:t>
            </a:r>
            <a:endParaRPr lang="fr-FR" sz="2500" dirty="0"/>
          </a:p>
        </p:txBody>
      </p:sp>
      <p:sp>
        <p:nvSpPr>
          <p:cNvPr id="6" name="Forme 6"/>
          <p:cNvSpPr/>
          <p:nvPr/>
        </p:nvSpPr>
        <p:spPr>
          <a:xfrm>
            <a:off x="457200" y="987552"/>
            <a:ext cx="11247120" cy="3200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250" b="0" i="0" dirty="0">
                <a:solidFill>
                  <a:srgbClr val="5B6573"/>
                </a:solidFill>
                <a:latin typeface="Segoe UI"/>
                <a:cs typeface="Segoe UI"/>
              </a:rPr>
              <a:t>Elles ne sont pas lues par l'appli, mais tout le reste en découle.</a:t>
            </a:r>
            <a:endParaRPr lang="fr-FR" sz="1250" dirty="0"/>
          </a:p>
        </p:txBody>
      </p:sp>
      <p:sp>
        <p:nvSpPr>
          <p:cNvPr id="7" name="Forme 7"/>
          <p:cNvSpPr/>
          <p:nvPr/>
        </p:nvSpPr>
        <p:spPr>
          <a:xfrm>
            <a:off x="457200" y="6446520"/>
            <a:ext cx="11274552" cy="10973"/>
          </a:xfrm>
          <a:prstGeom prst="rect">
            <a:avLst/>
          </a:prstGeom>
          <a:solidFill>
            <a:srgbClr val="D5DAE1"/>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8" name="Forme 8"/>
          <p:cNvSpPr/>
          <p:nvPr/>
        </p:nvSpPr>
        <p:spPr>
          <a:xfrm>
            <a:off x="457200" y="6492240"/>
            <a:ext cx="7315200" cy="256032"/>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00" b="0" i="0" dirty="0">
                <a:solidFill>
                  <a:srgbClr val="5B6573"/>
                </a:solidFill>
                <a:latin typeface="Segoe UI"/>
                <a:cs typeface="Segoe UI"/>
              </a:rPr>
              <a:t>Hackathon Mobility × Citiz · Nos données, de A à Z</a:t>
            </a:r>
            <a:endParaRPr lang="fr-FR" sz="900" dirty="0"/>
          </a:p>
        </p:txBody>
      </p:sp>
      <p:sp>
        <p:nvSpPr>
          <p:cNvPr id="9" name="Forme 9"/>
          <p:cNvSpPr/>
          <p:nvPr/>
        </p:nvSpPr>
        <p:spPr>
          <a:xfrm>
            <a:off x="10360152" y="6492240"/>
            <a:ext cx="1371600" cy="256032"/>
          </a:xfrm>
          <a:prstGeom prst="rect">
            <a:avLst/>
          </a:prstGeom>
          <a:noFill/>
          <a:ln>
            <a:noFill/>
          </a:ln>
        </p:spPr>
        <p:txBody>
          <a:bodyPr wrap="square" lIns="18288" tIns="18288" rIns="18288" bIns="18288" anchor="t" rtlCol="0">
            <a:noAutofit/>
          </a:bodyPr>
          <a:lstStyle/>
          <a:p>
            <a:pPr algn="r">
              <a:lnSpc>
                <a:spcPct val="100000"/>
              </a:lnSpc>
              <a:spcBef>
                <a:spcPts val="0"/>
              </a:spcBef>
              <a:spcAft>
                <a:spcPts val="0"/>
              </a:spcAft>
              <a:buNone/>
            </a:pPr>
            <a:r>
              <a:rPr lang="fr-FR" sz="900" b="0" i="0" dirty="0">
                <a:solidFill>
                  <a:srgbClr val="5B6573"/>
                </a:solidFill>
                <a:latin typeface="Segoe UI"/>
                <a:cs typeface="Segoe UI"/>
              </a:rPr>
              <a:t>24</a:t>
            </a:r>
            <a:endParaRPr lang="fr-FR" sz="900" dirty="0"/>
          </a:p>
        </p:txBody>
      </p:sp>
      <p:graphicFrame>
        <p:nvGraphicFramePr>
          <p:cNvPr id="10" name="Tableau 10"/>
          <p:cNvGraphicFramePr>
            <a:graphicFrameLocks noGrp="1"/>
          </p:cNvGraphicFramePr>
          <p:nvPr/>
        </p:nvGraphicFramePr>
        <p:xfrm>
          <a:off x="457200" y="1371600"/>
          <a:ext cx="11274552" cy="4325112"/>
        </p:xfrm>
        <a:graphic>
          <a:graphicData uri="http://schemas.openxmlformats.org/drawingml/2006/table">
            <a:tbl>
              <a:tblPr firstRow="1" bandRow="1"/>
              <a:tblGrid>
                <a:gridCol w="2880360"/>
                <a:gridCol w="2286000"/>
                <a:gridCol w="3291840"/>
                <a:gridCol w="1234440"/>
                <a:gridCol w="1581912"/>
              </a:tblGrid>
              <a:tr h="393192">
                <a:tc>
                  <a:txBody>
                    <a:bodyPr wrap="square" lIns="109728" tIns="54864" rIns="109728" bIns="54864" anchor="t" rtlCol="0">
                      <a:noAutofit/>
                    </a:bodyPr>
                    <a:lstStyle/>
                    <a:p>
                      <a:pPr algn="l">
                        <a:lnSpc>
                          <a:spcPct val="95000"/>
                        </a:lnSpc>
                        <a:spcBef>
                          <a:spcPts val="0"/>
                        </a:spcBef>
                        <a:spcAft>
                          <a:spcPts val="0"/>
                        </a:spcAft>
                        <a:buNone/>
                      </a:pPr>
                      <a:r>
                        <a:rPr lang="fr-FR" sz="900" b="1" i="0" dirty="0">
                          <a:solidFill>
                            <a:srgbClr val="FFFFFF"/>
                          </a:solidFill>
                          <a:latin typeface="Segoe UI"/>
                          <a:cs typeface="Segoe UI"/>
                        </a:rPr>
                        <a:t>Fichier</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3D7DD8"/>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1" i="0" dirty="0">
                          <a:solidFill>
                            <a:srgbClr val="FFFFFF"/>
                          </a:solidFill>
                          <a:latin typeface="Segoe UI"/>
                          <a:cs typeface="Segoe UI"/>
                        </a:rPr>
                        <a:t>Contenu</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3D7DD8"/>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1" i="0" dirty="0">
                          <a:solidFill>
                            <a:srgbClr val="FFFFFF"/>
                          </a:solidFill>
                          <a:latin typeface="Segoe UI"/>
                          <a:cs typeface="Segoe UI"/>
                        </a:rPr>
                        <a:t>Colonnes principales</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3D7DD8"/>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1" i="0" dirty="0">
                          <a:solidFill>
                            <a:srgbClr val="FFFFFF"/>
                          </a:solidFill>
                          <a:latin typeface="Segoe UI"/>
                          <a:cs typeface="Segoe UI"/>
                        </a:rPr>
                        <a:t>Lignes</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3D7DD8"/>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1" i="0" dirty="0">
                          <a:solidFill>
                            <a:srgbClr val="FFFFFF"/>
                          </a:solidFill>
                          <a:latin typeface="Segoe UI"/>
                          <a:cs typeface="Segoe UI"/>
                        </a:rPr>
                        <a:t>Produit par</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3D7DD8"/>
                    </a:solidFill>
                  </a:tcPr>
                </a:tc>
              </a:tr>
              <a:tr h="393192">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&lt;ville&gt;/zone.gpkg</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communes de la zone</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code_insee, nom, population, date_du_recensement</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24 · 49</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ingest/zone.py</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r h="393192">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&lt;ville&gt;/population.parquet</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carreaux Filosofi calés + motorisation</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idcar_200m, ind, men, pop_calee, ratio_calage, part_sans_voiture</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6 739 · 4 285</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ingest/population.py</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r>
              <a:tr h="393192">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&lt;ville&gt;/offer.parquet</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offre unifiée et dédoublonnée</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id, type, sous_type, nom, source, capacite, passages_jour, n_fusionnes, dans_zone</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2 042 · 2 718</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ingest/offer.py</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r h="393192">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&lt;ville&gt;/access_cells.parquet</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indicateurs par carreau</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n_options_v1 / v2, n_points, acces_1000 (2SFCA), n_&lt;mode&gt;_v2</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6 739 · 4 285</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features/build_access.py</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r>
              <a:tr h="393192">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&lt;ville&gt;/coverage_v1.npz · coverage_v2.npz</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carreaux × offre à 5 min (0/1)</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Nantes V2 : 10 013 liens ; V1 : 20 461</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features/build_access.py</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r h="393192">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model/features.parquet</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28 colonnes par carreau (métropole)</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densite_400m / 800m, niveau_vie, part_sans_voiture, bpe_*_400m, vols_vehicules_1000</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2 298 581</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model/features.py</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r>
              <a:tr h="393192">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model/predictions.parquet</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probabilité d'une station Citiz</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cible_citiz_400m, proba, proba_oof</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2 298 581</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model/train.py</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r h="393192">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nantes/recommandations_*.csv</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listes priorisées</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glouton / ILP × 250 k, 500 k, 1 M € × V1 / V2</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12 fichiers</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optim/build_reco.py</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r>
              <a:tr h="393192">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national/offer.parquet</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offre de toute la France</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type, source, passages_jour, territoire, dep</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231 092</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national/offer.py</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r h="393192">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national/agg_{iris, commune, epci, departement}</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agrégats France</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population, part_pop_sans_option, part_pop_citiz_5min</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48 891 · 34 801 · 1 239 · 98</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c>
                  <a:txBody>
                    <a:bodyPr wrap="square" lIns="109728" tIns="54864" rIns="109728" bIns="54864" anchor="t" rtlCol="0">
                      <a:noAutofit/>
                    </a:bodyPr>
                    <a:lstStyle/>
                    <a:p>
                      <a:pPr algn="l">
                        <a:lnSpc>
                          <a:spcPct val="95000"/>
                        </a:lnSpc>
                        <a:spcBef>
                          <a:spcPts val="0"/>
                        </a:spcBef>
                        <a:spcAft>
                          <a:spcPts val="0"/>
                        </a:spcAft>
                        <a:buNone/>
                      </a:pPr>
                      <a:r>
                        <a:rPr lang="fr-FR" sz="900" b="0" i="0" dirty="0">
                          <a:solidFill>
                            <a:srgbClr val="1F2933"/>
                          </a:solidFill>
                          <a:latin typeface="Segoe UI"/>
                          <a:cs typeface="Segoe UI"/>
                        </a:rPr>
                        <a:t>national/access.py</a:t>
                      </a:r>
                      <a:endParaRPr lang="fr-FR" sz="9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4F6F9"/>
                    </a:solidFill>
                  </a:tcPr>
                </a:tc>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rme 3"/>
          <p:cNvSpPr/>
          <p:nvPr/>
        </p:nvSpPr>
        <p:spPr>
          <a:xfrm>
            <a:off x="0" y="0"/>
            <a:ext cx="128016" cy="6858000"/>
          </a:xfrm>
          <a:prstGeom prst="rect">
            <a:avLst/>
          </a:prstGeom>
          <a:solidFill>
            <a:srgbClr val="3D7DD8"/>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4" name="Forme 4"/>
          <p:cNvSpPr/>
          <p:nvPr/>
        </p:nvSpPr>
        <p:spPr>
          <a:xfrm>
            <a:off x="457200" y="256032"/>
            <a:ext cx="7315200" cy="2743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050" b="1" i="0" dirty="0">
                <a:solidFill>
                  <a:srgbClr val="3D7DD8"/>
                </a:solidFill>
                <a:latin typeface="Segoe UI"/>
                <a:cs typeface="Segoe UI"/>
              </a:rPr>
              <a:t>PARTIE 6 · LES TABLES PRODUITES</a:t>
            </a:r>
            <a:endParaRPr lang="fr-FR" sz="1050" dirty="0"/>
          </a:p>
        </p:txBody>
      </p:sp>
      <p:sp>
        <p:nvSpPr>
          <p:cNvPr id="5" name="Forme 5"/>
          <p:cNvSpPr/>
          <p:nvPr/>
        </p:nvSpPr>
        <p:spPr>
          <a:xfrm>
            <a:off x="457200" y="502920"/>
            <a:ext cx="11247120" cy="5486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2500" b="1" i="0" dirty="0">
                <a:solidFill>
                  <a:srgbClr val="14213D"/>
                </a:solidFill>
                <a:latin typeface="Segoe UI"/>
                <a:cs typeface="Segoe UI"/>
              </a:rPr>
              <a:t>Ce que l'application fait de ces tables</a:t>
            </a:r>
            <a:endParaRPr lang="fr-FR" sz="2500" dirty="0"/>
          </a:p>
        </p:txBody>
      </p:sp>
      <p:sp>
        <p:nvSpPr>
          <p:cNvPr id="6" name="Forme 6"/>
          <p:cNvSpPr/>
          <p:nvPr/>
        </p:nvSpPr>
        <p:spPr>
          <a:xfrm>
            <a:off x="457200" y="987552"/>
            <a:ext cx="11247120" cy="3200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250" b="0" i="0" dirty="0">
                <a:solidFill>
                  <a:srgbClr val="5B6573"/>
                </a:solidFill>
                <a:latin typeface="Segoe UI"/>
                <a:cs typeface="Segoe UI"/>
              </a:rPr>
              <a:t>Onglet « Où investir ? », scénario démo 500 000 € à Nantes.</a:t>
            </a:r>
            <a:endParaRPr lang="fr-FR" sz="1250" dirty="0"/>
          </a:p>
        </p:txBody>
      </p:sp>
      <p:sp>
        <p:nvSpPr>
          <p:cNvPr id="7" name="Forme 7"/>
          <p:cNvSpPr/>
          <p:nvPr/>
        </p:nvSpPr>
        <p:spPr>
          <a:xfrm>
            <a:off x="457200" y="6446520"/>
            <a:ext cx="11274552" cy="10973"/>
          </a:xfrm>
          <a:prstGeom prst="rect">
            <a:avLst/>
          </a:prstGeom>
          <a:solidFill>
            <a:srgbClr val="D5DAE1"/>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8" name="Forme 8"/>
          <p:cNvSpPr/>
          <p:nvPr/>
        </p:nvSpPr>
        <p:spPr>
          <a:xfrm>
            <a:off x="457200" y="6492240"/>
            <a:ext cx="7315200" cy="256032"/>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00" b="0" i="0" dirty="0">
                <a:solidFill>
                  <a:srgbClr val="5B6573"/>
                </a:solidFill>
                <a:latin typeface="Segoe UI"/>
                <a:cs typeface="Segoe UI"/>
              </a:rPr>
              <a:t>Hackathon Mobility × Citiz · Nos données, de A à Z</a:t>
            </a:r>
            <a:endParaRPr lang="fr-FR" sz="900" dirty="0"/>
          </a:p>
        </p:txBody>
      </p:sp>
      <p:sp>
        <p:nvSpPr>
          <p:cNvPr id="9" name="Forme 9"/>
          <p:cNvSpPr/>
          <p:nvPr/>
        </p:nvSpPr>
        <p:spPr>
          <a:xfrm>
            <a:off x="10360152" y="6492240"/>
            <a:ext cx="1371600" cy="256032"/>
          </a:xfrm>
          <a:prstGeom prst="rect">
            <a:avLst/>
          </a:prstGeom>
          <a:noFill/>
          <a:ln>
            <a:noFill/>
          </a:ln>
        </p:spPr>
        <p:txBody>
          <a:bodyPr wrap="square" lIns="18288" tIns="18288" rIns="18288" bIns="18288" anchor="t" rtlCol="0">
            <a:noAutofit/>
          </a:bodyPr>
          <a:lstStyle/>
          <a:p>
            <a:pPr algn="r">
              <a:lnSpc>
                <a:spcPct val="100000"/>
              </a:lnSpc>
              <a:spcBef>
                <a:spcPts val="0"/>
              </a:spcBef>
              <a:spcAft>
                <a:spcPts val="0"/>
              </a:spcAft>
              <a:buNone/>
            </a:pPr>
            <a:r>
              <a:rPr lang="fr-FR" sz="900" b="0" i="0" dirty="0">
                <a:solidFill>
                  <a:srgbClr val="5B6573"/>
                </a:solidFill>
                <a:latin typeface="Segoe UI"/>
                <a:cs typeface="Segoe UI"/>
              </a:rPr>
              <a:t>25</a:t>
            </a:r>
            <a:endParaRPr lang="fr-FR" sz="900" dirty="0"/>
          </a:p>
        </p:txBody>
      </p:sp>
      <p:pic>
        <p:nvPicPr>
          <p:cNvPr id="10" name="Image 10"/>
          <p:cNvPicPr>
            <a:picLocks noChangeAspect="1"/>
          </p:cNvPicPr>
          <p:nvPr/>
        </p:nvPicPr>
        <p:blipFill>
          <a:blip r:embed="rId2"/>
          <a:stretch>
            <a:fillRect/>
          </a:stretch>
        </p:blipFill>
        <p:spPr>
          <a:xfrm>
            <a:off x="457200" y="1371600"/>
            <a:ext cx="7223760" cy="4514850"/>
          </a:xfrm>
          <a:prstGeom prst="rect">
            <a:avLst/>
          </a:prstGeom>
          <a:ln w="9525">
            <a:solidFill>
              <a:srgbClr val="D5DAE1"/>
            </a:solidFill>
          </a:ln>
        </p:spPr>
      </p:pic>
      <p:sp>
        <p:nvSpPr>
          <p:cNvPr id="11" name="Forme 11"/>
          <p:cNvSpPr/>
          <p:nvPr/>
        </p:nvSpPr>
        <p:spPr>
          <a:xfrm>
            <a:off x="7909560" y="1371600"/>
            <a:ext cx="3822192" cy="676656"/>
          </a:xfrm>
          <a:prstGeom prst="roundRect">
            <a:avLst>
              <a:gd name="adj" fmla="val 8000"/>
            </a:avLst>
          </a:prstGeom>
          <a:solidFill>
            <a:srgbClr val="E6EFFB"/>
          </a:solidFill>
          <a:ln>
            <a:noFill/>
          </a:ln>
        </p:spPr>
        <p:txBody>
          <a:bodyPr wrap="square" lIns="137160" tIns="27432" rIns="91440" bIns="27432" anchor="ctr" rtlCol="0">
            <a:noAutofit/>
          </a:bodyPr>
          <a:lstStyle/>
          <a:p>
            <a:pPr algn="l">
              <a:lnSpc>
                <a:spcPct val="100000"/>
              </a:lnSpc>
              <a:spcBef>
                <a:spcPts val="0"/>
              </a:spcBef>
              <a:spcAft>
                <a:spcPts val="0"/>
              </a:spcAft>
              <a:buNone/>
            </a:pPr>
            <a:r>
              <a:rPr lang="fr-FR" sz="1000" b="0" i="0" dirty="0">
                <a:solidFill>
                  <a:srgbClr val="0B5C8A"/>
                </a:solidFill>
                <a:latin typeface="Consolas"/>
                <a:cs typeface="Consolas"/>
              </a:rPr>
              <a:t>cells.parquet</a:t>
            </a:r>
            <a:endParaRPr lang="fr-FR" sz="1000" dirty="0"/>
          </a:p>
          <a:p>
            <a:pPr algn="l">
              <a:lnSpc>
                <a:spcPct val="100000"/>
              </a:lnSpc>
              <a:spcBef>
                <a:spcPts val="100"/>
              </a:spcBef>
              <a:spcAft>
                <a:spcPts val="0"/>
              </a:spcAft>
              <a:buNone/>
            </a:pPr>
            <a:r>
              <a:rPr lang="fr-FR" sz="1000" b="0" i="0" dirty="0">
                <a:solidFill>
                  <a:srgbClr val="5B6573"/>
                </a:solidFill>
                <a:latin typeface="Segoe UI"/>
                <a:cs typeface="Segoe UI"/>
              </a:rPr>
              <a:t>la carte des carreaux (≥ 11 ménages)</a:t>
            </a:r>
            <a:endParaRPr lang="fr-FR" sz="1000" dirty="0"/>
          </a:p>
        </p:txBody>
      </p:sp>
      <p:sp>
        <p:nvSpPr>
          <p:cNvPr id="12" name="Forme 12"/>
          <p:cNvSpPr/>
          <p:nvPr/>
        </p:nvSpPr>
        <p:spPr>
          <a:xfrm>
            <a:off x="7909560" y="2139696"/>
            <a:ext cx="3822192" cy="676656"/>
          </a:xfrm>
          <a:prstGeom prst="roundRect">
            <a:avLst>
              <a:gd name="adj" fmla="val 8000"/>
            </a:avLst>
          </a:prstGeom>
          <a:solidFill>
            <a:srgbClr val="E6EFFB"/>
          </a:solidFill>
          <a:ln>
            <a:noFill/>
          </a:ln>
        </p:spPr>
        <p:txBody>
          <a:bodyPr wrap="square" lIns="137160" tIns="27432" rIns="91440" bIns="27432" anchor="ctr" rtlCol="0">
            <a:noAutofit/>
          </a:bodyPr>
          <a:lstStyle/>
          <a:p>
            <a:pPr algn="l">
              <a:lnSpc>
                <a:spcPct val="100000"/>
              </a:lnSpc>
              <a:spcBef>
                <a:spcPts val="0"/>
              </a:spcBef>
              <a:spcAft>
                <a:spcPts val="0"/>
              </a:spcAft>
              <a:buNone/>
            </a:pPr>
            <a:r>
              <a:rPr lang="fr-FR" sz="1000" b="0" i="0" dirty="0">
                <a:solidFill>
                  <a:srgbClr val="0B5C8A"/>
                </a:solidFill>
                <a:latin typeface="Consolas"/>
                <a:cs typeface="Consolas"/>
              </a:rPr>
              <a:t>candidates.parquet + coverage.npz</a:t>
            </a:r>
            <a:endParaRPr lang="fr-FR" sz="1000" dirty="0"/>
          </a:p>
          <a:p>
            <a:pPr algn="l">
              <a:lnSpc>
                <a:spcPct val="100000"/>
              </a:lnSpc>
              <a:spcBef>
                <a:spcPts val="100"/>
              </a:spcBef>
              <a:spcAft>
                <a:spcPts val="0"/>
              </a:spcAft>
              <a:buNone/>
            </a:pPr>
            <a:r>
              <a:rPr lang="fr-FR" sz="1000" b="0" i="0" dirty="0">
                <a:solidFill>
                  <a:srgbClr val="5B6573"/>
                </a:solidFill>
                <a:latin typeface="Segoe UI"/>
                <a:cs typeface="Segoe UI"/>
              </a:rPr>
              <a:t>l'optimiseur choisit parmi 7 871 candidats, en direct</a:t>
            </a:r>
            <a:endParaRPr lang="fr-FR" sz="1000" dirty="0"/>
          </a:p>
        </p:txBody>
      </p:sp>
      <p:sp>
        <p:nvSpPr>
          <p:cNvPr id="13" name="Forme 13"/>
          <p:cNvSpPr/>
          <p:nvPr/>
        </p:nvSpPr>
        <p:spPr>
          <a:xfrm>
            <a:off x="7909560" y="2907792"/>
            <a:ext cx="3822192" cy="676656"/>
          </a:xfrm>
          <a:prstGeom prst="roundRect">
            <a:avLst>
              <a:gd name="adj" fmla="val 8000"/>
            </a:avLst>
          </a:prstGeom>
          <a:solidFill>
            <a:srgbClr val="E6EFFB"/>
          </a:solidFill>
          <a:ln>
            <a:noFill/>
          </a:ln>
        </p:spPr>
        <p:txBody>
          <a:bodyPr wrap="square" lIns="137160" tIns="27432" rIns="91440" bIns="27432" anchor="ctr" rtlCol="0">
            <a:noAutofit/>
          </a:bodyPr>
          <a:lstStyle/>
          <a:p>
            <a:pPr algn="l">
              <a:lnSpc>
                <a:spcPct val="100000"/>
              </a:lnSpc>
              <a:spcBef>
                <a:spcPts val="0"/>
              </a:spcBef>
              <a:spcAft>
                <a:spcPts val="0"/>
              </a:spcAft>
              <a:buNone/>
            </a:pPr>
            <a:r>
              <a:rPr lang="fr-FR" sz="1000" b="0" i="0" dirty="0">
                <a:solidFill>
                  <a:srgbClr val="0B5C8A"/>
                </a:solidFill>
                <a:latin typeface="Consolas"/>
                <a:cs typeface="Consolas"/>
              </a:rPr>
              <a:t>model/predictions.parquet → usage_predit</a:t>
            </a:r>
            <a:endParaRPr lang="fr-FR" sz="1000" dirty="0"/>
          </a:p>
          <a:p>
            <a:pPr algn="l">
              <a:lnSpc>
                <a:spcPct val="100000"/>
              </a:lnSpc>
              <a:spcBef>
                <a:spcPts val="100"/>
              </a:spcBef>
              <a:spcAft>
                <a:spcPts val="0"/>
              </a:spcAft>
              <a:buNone/>
            </a:pPr>
            <a:r>
              <a:rPr lang="fr-FR" sz="1000" b="0" i="0" dirty="0">
                <a:solidFill>
                  <a:srgbClr val="5B6573"/>
                </a:solidFill>
                <a:latin typeface="Segoe UI"/>
                <a:cs typeface="Segoe UI"/>
              </a:rPr>
              <a:t>la probabilité qu'une station fonctionne</a:t>
            </a:r>
            <a:endParaRPr lang="fr-FR" sz="1000" dirty="0"/>
          </a:p>
        </p:txBody>
      </p:sp>
      <p:sp>
        <p:nvSpPr>
          <p:cNvPr id="14" name="Forme 14"/>
          <p:cNvSpPr/>
          <p:nvPr/>
        </p:nvSpPr>
        <p:spPr>
          <a:xfrm>
            <a:off x="7909560" y="3675888"/>
            <a:ext cx="3822192" cy="676656"/>
          </a:xfrm>
          <a:prstGeom prst="roundRect">
            <a:avLst>
              <a:gd name="adj" fmla="val 8000"/>
            </a:avLst>
          </a:prstGeom>
          <a:solidFill>
            <a:srgbClr val="E6EFFB"/>
          </a:solidFill>
          <a:ln>
            <a:noFill/>
          </a:ln>
        </p:spPr>
        <p:txBody>
          <a:bodyPr wrap="square" lIns="137160" tIns="27432" rIns="91440" bIns="27432" anchor="ctr" rtlCol="0">
            <a:noAutofit/>
          </a:bodyPr>
          <a:lstStyle/>
          <a:p>
            <a:pPr algn="l">
              <a:lnSpc>
                <a:spcPct val="100000"/>
              </a:lnSpc>
              <a:spcBef>
                <a:spcPts val="0"/>
              </a:spcBef>
              <a:spcAft>
                <a:spcPts val="0"/>
              </a:spcAft>
              <a:buNone/>
            </a:pPr>
            <a:r>
              <a:rPr lang="fr-FR" sz="1000" b="0" i="0" dirty="0">
                <a:solidFill>
                  <a:srgbClr val="0B5C8A"/>
                </a:solidFill>
                <a:latin typeface="Consolas"/>
                <a:cs typeface="Consolas"/>
              </a:rPr>
              <a:t>costs.yaml + SSMSI → cout, surcout_risque</a:t>
            </a:r>
            <a:endParaRPr lang="fr-FR" sz="1000" dirty="0"/>
          </a:p>
          <a:p>
            <a:pPr algn="l">
              <a:lnSpc>
                <a:spcPct val="100000"/>
              </a:lnSpc>
              <a:spcBef>
                <a:spcPts val="100"/>
              </a:spcBef>
              <a:spcAft>
                <a:spcPts val="0"/>
              </a:spcAft>
              <a:buNone/>
            </a:pPr>
            <a:r>
              <a:rPr lang="fr-FR" sz="1000" b="0" i="0" dirty="0">
                <a:solidFill>
                  <a:srgbClr val="5B6573"/>
                </a:solidFill>
                <a:latin typeface="Segoe UI"/>
                <a:cs typeface="Segoe UI"/>
              </a:rPr>
              <a:t>le coût de chaque station sur 3 ans</a:t>
            </a:r>
            <a:endParaRPr lang="fr-FR" sz="1000" dirty="0"/>
          </a:p>
        </p:txBody>
      </p:sp>
      <p:sp>
        <p:nvSpPr>
          <p:cNvPr id="15" name="Forme 15"/>
          <p:cNvSpPr/>
          <p:nvPr/>
        </p:nvSpPr>
        <p:spPr>
          <a:xfrm>
            <a:off x="7909560" y="4443984"/>
            <a:ext cx="3822192" cy="676656"/>
          </a:xfrm>
          <a:prstGeom prst="roundRect">
            <a:avLst>
              <a:gd name="adj" fmla="val 8000"/>
            </a:avLst>
          </a:prstGeom>
          <a:solidFill>
            <a:srgbClr val="E6EFFB"/>
          </a:solidFill>
          <a:ln>
            <a:noFill/>
          </a:ln>
        </p:spPr>
        <p:txBody>
          <a:bodyPr wrap="square" lIns="137160" tIns="27432" rIns="91440" bIns="27432" anchor="ctr" rtlCol="0">
            <a:noAutofit/>
          </a:bodyPr>
          <a:lstStyle/>
          <a:p>
            <a:pPr algn="l">
              <a:lnSpc>
                <a:spcPct val="100000"/>
              </a:lnSpc>
              <a:spcBef>
                <a:spcPts val="0"/>
              </a:spcBef>
              <a:spcAft>
                <a:spcPts val="0"/>
              </a:spcAft>
              <a:buNone/>
            </a:pPr>
            <a:r>
              <a:rPr lang="fr-FR" sz="1000" b="0" i="0" dirty="0">
                <a:solidFill>
                  <a:srgbClr val="0B5C8A"/>
                </a:solidFill>
                <a:latin typeface="Consolas"/>
                <a:cs typeface="Consolas"/>
              </a:rPr>
              <a:t>meta.json</a:t>
            </a:r>
            <a:endParaRPr lang="fr-FR" sz="1000" dirty="0"/>
          </a:p>
          <a:p>
            <a:pPr algn="l">
              <a:lnSpc>
                <a:spcPct val="100000"/>
              </a:lnSpc>
              <a:spcBef>
                <a:spcPts val="100"/>
              </a:spcBef>
              <a:spcAft>
                <a:spcPts val="0"/>
              </a:spcAft>
              <a:buNone/>
            </a:pPr>
            <a:r>
              <a:rPr lang="fr-FR" sz="1000" b="0" i="0" dirty="0">
                <a:solidFill>
                  <a:srgbClr val="5B6573"/>
                </a:solidFill>
                <a:latin typeface="Segoe UI"/>
                <a:cs typeface="Segoe UI"/>
              </a:rPr>
              <a:t>la date, le jour type, la version V2 affichés</a:t>
            </a:r>
            <a:endParaRPr lang="fr-FR" sz="1000" dirty="0"/>
          </a:p>
        </p:txBody>
      </p:sp>
      <p:sp>
        <p:nvSpPr>
          <p:cNvPr id="16" name="Forme 16"/>
          <p:cNvSpPr/>
          <p:nvPr/>
        </p:nvSpPr>
        <p:spPr>
          <a:xfrm>
            <a:off x="7909560" y="5212080"/>
            <a:ext cx="3822192" cy="676656"/>
          </a:xfrm>
          <a:prstGeom prst="roundRect">
            <a:avLst>
              <a:gd name="adj" fmla="val 8000"/>
            </a:avLst>
          </a:prstGeom>
          <a:solidFill>
            <a:srgbClr val="E6EFFB"/>
          </a:solidFill>
          <a:ln>
            <a:noFill/>
          </a:ln>
        </p:spPr>
        <p:txBody>
          <a:bodyPr wrap="square" lIns="137160" tIns="27432" rIns="91440" bIns="27432" anchor="ctr" rtlCol="0">
            <a:noAutofit/>
          </a:bodyPr>
          <a:lstStyle/>
          <a:p>
            <a:pPr algn="l">
              <a:lnSpc>
                <a:spcPct val="100000"/>
              </a:lnSpc>
              <a:spcBef>
                <a:spcPts val="0"/>
              </a:spcBef>
              <a:spcAft>
                <a:spcPts val="0"/>
              </a:spcAft>
              <a:buNone/>
            </a:pPr>
            <a:r>
              <a:rPr lang="fr-FR" sz="1000" b="0" i="0" dirty="0">
                <a:solidFill>
                  <a:srgbClr val="0B5C8A"/>
                </a:solidFill>
                <a:latin typeface="Consolas"/>
                <a:cs typeface="Consolas"/>
              </a:rPr>
              <a:t>recommandations_*.csv</a:t>
            </a:r>
            <a:endParaRPr lang="fr-FR" sz="1000" dirty="0"/>
          </a:p>
          <a:p>
            <a:pPr algn="l">
              <a:lnSpc>
                <a:spcPct val="100000"/>
              </a:lnSpc>
              <a:spcBef>
                <a:spcPts val="100"/>
              </a:spcBef>
              <a:spcAft>
                <a:spcPts val="0"/>
              </a:spcAft>
              <a:buNone/>
            </a:pPr>
            <a:r>
              <a:rPr lang="fr-FR" sz="1000" b="0" i="0" dirty="0">
                <a:solidFill>
                  <a:srgbClr val="5B6573"/>
                </a:solidFill>
                <a:latin typeface="Segoe UI"/>
                <a:cs typeface="Segoe UI"/>
              </a:rPr>
              <a:t>les scénarios précalculés (démo instantanée)</a:t>
            </a:r>
            <a:endParaRPr lang="fr-FR" sz="1000" dirty="0"/>
          </a:p>
        </p:txBody>
      </p:sp>
      <p:sp>
        <p:nvSpPr>
          <p:cNvPr id="17" name="Forme 17"/>
          <p:cNvSpPr/>
          <p:nvPr/>
        </p:nvSpPr>
        <p:spPr>
          <a:xfrm>
            <a:off x="457200" y="6053328"/>
            <a:ext cx="7223760" cy="301752"/>
          </a:xfrm>
          <a:prstGeom prst="rect">
            <a:avLst/>
          </a:prstGeom>
          <a:solidFill>
            <a:srgbClr val="14213D"/>
          </a:solidFill>
          <a:ln>
            <a:noFill/>
          </a:ln>
        </p:spPr>
        <p:txBody>
          <a:bodyPr wrap="square" lIns="109728" tIns="54864" rIns="109728" bIns="54864" anchor="ctr" rtlCol="0">
            <a:noAutofit/>
          </a:bodyPr>
          <a:lstStyle/>
          <a:p>
            <a:pPr algn="ctr">
              <a:lnSpc>
                <a:spcPct val="100000"/>
              </a:lnSpc>
              <a:spcBef>
                <a:spcPts val="0"/>
              </a:spcBef>
              <a:spcAft>
                <a:spcPts val="0"/>
              </a:spcAft>
              <a:buNone/>
            </a:pPr>
            <a:r>
              <a:rPr lang="fr-FR" sz="1050" b="1" i="0" dirty="0">
                <a:solidFill>
                  <a:srgbClr val="FFFFFF"/>
                </a:solidFill>
                <a:latin typeface="Segoe UI"/>
                <a:cs typeface="Segoe UI"/>
              </a:rPr>
              <a:t>12 stations · +34 979 habitants · 19,0 % → 24,1 % · 13,6 € par habitant gagné sur 3 ans</a:t>
            </a:r>
            <a:endParaRPr lang="fr-FR"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rme 3"/>
          <p:cNvSpPr/>
          <p:nvPr/>
        </p:nvSpPr>
        <p:spPr>
          <a:xfrm>
            <a:off x="0" y="0"/>
            <a:ext cx="128016" cy="6858000"/>
          </a:xfrm>
          <a:prstGeom prst="rect">
            <a:avLst/>
          </a:prstGeom>
          <a:solidFill>
            <a:srgbClr val="D64545"/>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4" name="Forme 4"/>
          <p:cNvSpPr/>
          <p:nvPr/>
        </p:nvSpPr>
        <p:spPr>
          <a:xfrm>
            <a:off x="457200" y="256032"/>
            <a:ext cx="7315200" cy="2743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050" b="1" i="0" dirty="0">
                <a:solidFill>
                  <a:srgbClr val="D64545"/>
                </a:solidFill>
                <a:latin typeface="Segoe UI"/>
                <a:cs typeface="Segoe UI"/>
              </a:rPr>
              <a:t>PARTIE 7 · LES LIMITES</a:t>
            </a:r>
            <a:endParaRPr lang="fr-FR" sz="1050" dirty="0"/>
          </a:p>
        </p:txBody>
      </p:sp>
      <p:sp>
        <p:nvSpPr>
          <p:cNvPr id="5" name="Forme 5"/>
          <p:cNvSpPr/>
          <p:nvPr/>
        </p:nvSpPr>
        <p:spPr>
          <a:xfrm>
            <a:off x="457200" y="502920"/>
            <a:ext cx="11247120" cy="5486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2500" b="1" i="0" dirty="0">
                <a:solidFill>
                  <a:srgbClr val="14213D"/>
                </a:solidFill>
                <a:latin typeface="Segoe UI"/>
                <a:cs typeface="Segoe UI"/>
              </a:rPr>
              <a:t>Les limites des données, et leur impact</a:t>
            </a:r>
            <a:endParaRPr lang="fr-FR" sz="2500" dirty="0"/>
          </a:p>
        </p:txBody>
      </p:sp>
      <p:sp>
        <p:nvSpPr>
          <p:cNvPr id="6" name="Forme 6"/>
          <p:cNvSpPr/>
          <p:nvPr/>
        </p:nvSpPr>
        <p:spPr>
          <a:xfrm>
            <a:off x="457200" y="987552"/>
            <a:ext cx="11247120" cy="3200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250" b="0" i="0" dirty="0">
                <a:solidFill>
                  <a:srgbClr val="5B6573"/>
                </a:solidFill>
                <a:latin typeface="Segoe UI"/>
                <a:cs typeface="Segoe UI"/>
              </a:rPr>
              <a:t>On les dit avant qu'on nous les demande.</a:t>
            </a:r>
            <a:endParaRPr lang="fr-FR" sz="1250" dirty="0"/>
          </a:p>
        </p:txBody>
      </p:sp>
      <p:sp>
        <p:nvSpPr>
          <p:cNvPr id="7" name="Forme 7"/>
          <p:cNvSpPr/>
          <p:nvPr/>
        </p:nvSpPr>
        <p:spPr>
          <a:xfrm>
            <a:off x="457200" y="6446520"/>
            <a:ext cx="11274552" cy="10973"/>
          </a:xfrm>
          <a:prstGeom prst="rect">
            <a:avLst/>
          </a:prstGeom>
          <a:solidFill>
            <a:srgbClr val="D5DAE1"/>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8" name="Forme 8"/>
          <p:cNvSpPr/>
          <p:nvPr/>
        </p:nvSpPr>
        <p:spPr>
          <a:xfrm>
            <a:off x="457200" y="6492240"/>
            <a:ext cx="7315200" cy="256032"/>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00" b="0" i="0" dirty="0">
                <a:solidFill>
                  <a:srgbClr val="5B6573"/>
                </a:solidFill>
                <a:latin typeface="Segoe UI"/>
                <a:cs typeface="Segoe UI"/>
              </a:rPr>
              <a:t>Hackathon Mobility × Citiz · Nos données, de A à Z</a:t>
            </a:r>
            <a:endParaRPr lang="fr-FR" sz="900" dirty="0"/>
          </a:p>
        </p:txBody>
      </p:sp>
      <p:sp>
        <p:nvSpPr>
          <p:cNvPr id="9" name="Forme 9"/>
          <p:cNvSpPr/>
          <p:nvPr/>
        </p:nvSpPr>
        <p:spPr>
          <a:xfrm>
            <a:off x="10360152" y="6492240"/>
            <a:ext cx="1371600" cy="256032"/>
          </a:xfrm>
          <a:prstGeom prst="rect">
            <a:avLst/>
          </a:prstGeom>
          <a:noFill/>
          <a:ln>
            <a:noFill/>
          </a:ln>
        </p:spPr>
        <p:txBody>
          <a:bodyPr wrap="square" lIns="18288" tIns="18288" rIns="18288" bIns="18288" anchor="t" rtlCol="0">
            <a:noAutofit/>
          </a:bodyPr>
          <a:lstStyle/>
          <a:p>
            <a:pPr algn="r">
              <a:lnSpc>
                <a:spcPct val="100000"/>
              </a:lnSpc>
              <a:spcBef>
                <a:spcPts val="0"/>
              </a:spcBef>
              <a:spcAft>
                <a:spcPts val="0"/>
              </a:spcAft>
              <a:buNone/>
            </a:pPr>
            <a:r>
              <a:rPr lang="fr-FR" sz="900" b="0" i="0" dirty="0">
                <a:solidFill>
                  <a:srgbClr val="5B6573"/>
                </a:solidFill>
                <a:latin typeface="Segoe UI"/>
                <a:cs typeface="Segoe UI"/>
              </a:rPr>
              <a:t>26</a:t>
            </a:r>
            <a:endParaRPr lang="fr-FR" sz="900" dirty="0"/>
          </a:p>
        </p:txBody>
      </p:sp>
      <p:graphicFrame>
        <p:nvGraphicFramePr>
          <p:cNvPr id="10" name="Tableau 10"/>
          <p:cNvGraphicFramePr>
            <a:graphicFrameLocks noGrp="1"/>
          </p:cNvGraphicFramePr>
          <p:nvPr/>
        </p:nvGraphicFramePr>
        <p:xfrm>
          <a:off x="457200" y="1371600"/>
          <a:ext cx="11274552" cy="4572000"/>
        </p:xfrm>
        <a:graphic>
          <a:graphicData uri="http://schemas.openxmlformats.org/drawingml/2006/table">
            <a:tbl>
              <a:tblPr firstRow="1" bandRow="1"/>
              <a:tblGrid>
                <a:gridCol w="3291840"/>
                <a:gridCol w="4114800"/>
                <a:gridCol w="3867912"/>
              </a:tblGrid>
              <a:tr h="457200">
                <a:tc>
                  <a:txBody>
                    <a:bodyPr wrap="square" lIns="109728" tIns="54864" rIns="109728" bIns="54864" anchor="t" rtlCol="0">
                      <a:noAutofit/>
                    </a:bodyPr>
                    <a:lstStyle/>
                    <a:p>
                      <a:pPr algn="l">
                        <a:lnSpc>
                          <a:spcPct val="95000"/>
                        </a:lnSpc>
                        <a:spcBef>
                          <a:spcPts val="0"/>
                        </a:spcBef>
                        <a:spcAft>
                          <a:spcPts val="0"/>
                        </a:spcAft>
                        <a:buNone/>
                      </a:pPr>
                      <a:r>
                        <a:rPr lang="fr-FR" sz="1000" b="1" i="0" dirty="0">
                          <a:solidFill>
                            <a:srgbClr val="FFFFFF"/>
                          </a:solidFill>
                          <a:latin typeface="Segoe UI"/>
                          <a:cs typeface="Segoe UI"/>
                        </a:rPr>
                        <a:t>Limite</a:t>
                      </a:r>
                      <a:endParaRPr lang="fr-FR" sz="10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D64545"/>
                    </a:solidFill>
                  </a:tcPr>
                </a:tc>
                <a:tc>
                  <a:txBody>
                    <a:bodyPr wrap="square" lIns="109728" tIns="54864" rIns="109728" bIns="54864" anchor="t" rtlCol="0">
                      <a:noAutofit/>
                    </a:bodyPr>
                    <a:lstStyle/>
                    <a:p>
                      <a:pPr algn="l">
                        <a:lnSpc>
                          <a:spcPct val="95000"/>
                        </a:lnSpc>
                        <a:spcBef>
                          <a:spcPts val="0"/>
                        </a:spcBef>
                        <a:spcAft>
                          <a:spcPts val="0"/>
                        </a:spcAft>
                        <a:buNone/>
                      </a:pPr>
                      <a:r>
                        <a:rPr lang="fr-FR" sz="1000" b="1" i="0" dirty="0">
                          <a:solidFill>
                            <a:srgbClr val="FFFFFF"/>
                          </a:solidFill>
                          <a:latin typeface="Segoe UI"/>
                          <a:cs typeface="Segoe UI"/>
                        </a:rPr>
                        <a:t>Impact</a:t>
                      </a:r>
                      <a:endParaRPr lang="fr-FR" sz="10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D64545"/>
                    </a:solidFill>
                  </a:tcPr>
                </a:tc>
                <a:tc>
                  <a:txBody>
                    <a:bodyPr wrap="square" lIns="109728" tIns="54864" rIns="109728" bIns="54864" anchor="t" rtlCol="0">
                      <a:noAutofit/>
                    </a:bodyPr>
                    <a:lstStyle/>
                    <a:p>
                      <a:pPr algn="l">
                        <a:lnSpc>
                          <a:spcPct val="95000"/>
                        </a:lnSpc>
                        <a:spcBef>
                          <a:spcPts val="0"/>
                        </a:spcBef>
                        <a:spcAft>
                          <a:spcPts val="0"/>
                        </a:spcAft>
                        <a:buNone/>
                      </a:pPr>
                      <a:r>
                        <a:rPr lang="fr-FR" sz="1000" b="1" i="0" dirty="0">
                          <a:solidFill>
                            <a:srgbClr val="FFFFFF"/>
                          </a:solidFill>
                          <a:latin typeface="Segoe UI"/>
                          <a:cs typeface="Segoe UI"/>
                        </a:rPr>
                        <a:t>Ce qu'on fait</a:t>
                      </a:r>
                      <a:endParaRPr lang="fr-FR" sz="10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D64545"/>
                    </a:solidFill>
                  </a:tcPr>
                </a:tc>
              </a:tr>
              <a:tr h="457200">
                <a:tc>
                  <a:txBody>
                    <a:bodyPr wrap="square" lIns="109728" tIns="54864" rIns="109728" bIns="54864" anchor="t" rtlCol="0">
                      <a:noAutofit/>
                    </a:bodyPr>
                    <a:lstStyle/>
                    <a:p>
                      <a:pPr algn="l">
                        <a:lnSpc>
                          <a:spcPct val="95000"/>
                        </a:lnSpc>
                        <a:spcBef>
                          <a:spcPts val="0"/>
                        </a:spcBef>
                        <a:spcAft>
                          <a:spcPts val="0"/>
                        </a:spcAft>
                        <a:buNone/>
                      </a:pPr>
                      <a:r>
                        <a:rPr lang="fr-FR" sz="1000" b="1" i="0" dirty="0">
                          <a:solidFill>
                            <a:srgbClr val="1F2933"/>
                          </a:solidFill>
                          <a:latin typeface="Segoe UI"/>
                          <a:cs typeface="Segoe UI"/>
                        </a:rPr>
                        <a:t>Getaround, Zity, Free2Move, Communauto… invisibles</a:t>
                      </a:r>
                      <a:endParaRPr lang="fr-FR" sz="10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1000" b="0" i="0" dirty="0">
                          <a:solidFill>
                            <a:srgbClr val="1F2933"/>
                          </a:solidFill>
                          <a:latin typeface="Segoe UI"/>
                          <a:cs typeface="Segoe UI"/>
                        </a:rPr>
                        <a:t>l'autopartage existant est sous-estimé ; le critère avantage à tort les grandes villes</a:t>
                      </a:r>
                      <a:endParaRPr lang="fr-FR" sz="10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1000" b="0" i="0" dirty="0">
                          <a:solidFill>
                            <a:srgbClr val="1F2933"/>
                          </a:solidFill>
                          <a:latin typeface="Segoe UI"/>
                          <a:cs typeface="Segoe UI"/>
                        </a:rPr>
                        <a:t>dit clairement ; Marguerite ajouté via l'open data de Nantes</a:t>
                      </a:r>
                      <a:endParaRPr lang="fr-FR" sz="10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r h="457200">
                <a:tc>
                  <a:txBody>
                    <a:bodyPr wrap="square" lIns="109728" tIns="54864" rIns="109728" bIns="54864" anchor="t" rtlCol="0">
                      <a:noAutofit/>
                    </a:bodyPr>
                    <a:lstStyle/>
                    <a:p>
                      <a:pPr algn="l">
                        <a:lnSpc>
                          <a:spcPct val="95000"/>
                        </a:lnSpc>
                        <a:spcBef>
                          <a:spcPts val="0"/>
                        </a:spcBef>
                        <a:spcAft>
                          <a:spcPts val="0"/>
                        </a:spcAft>
                        <a:buNone/>
                      </a:pPr>
                      <a:r>
                        <a:rPr lang="fr-FR" sz="1000" b="1" i="0" dirty="0">
                          <a:solidFill>
                            <a:srgbClr val="1F2933"/>
                          </a:solidFill>
                          <a:latin typeface="Segoe UI"/>
                          <a:cs typeface="Segoe UI"/>
                        </a:rPr>
                        <a:t>Filosofi : −10 % d'habitants</a:t>
                      </a:r>
                      <a:endParaRPr lang="fr-FR" sz="10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DF3F3"/>
                    </a:solidFill>
                  </a:tcPr>
                </a:tc>
                <a:tc>
                  <a:txBody>
                    <a:bodyPr wrap="square" lIns="109728" tIns="54864" rIns="109728" bIns="54864" anchor="t" rtlCol="0">
                      <a:noAutofit/>
                    </a:bodyPr>
                    <a:lstStyle/>
                    <a:p>
                      <a:pPr algn="l">
                        <a:lnSpc>
                          <a:spcPct val="95000"/>
                        </a:lnSpc>
                        <a:spcBef>
                          <a:spcPts val="0"/>
                        </a:spcBef>
                        <a:spcAft>
                          <a:spcPts val="0"/>
                        </a:spcAft>
                        <a:buNone/>
                      </a:pPr>
                      <a:r>
                        <a:rPr lang="fr-FR" sz="1000" b="0" i="0" dirty="0">
                          <a:solidFill>
                            <a:srgbClr val="1F2933"/>
                          </a:solidFill>
                          <a:latin typeface="Segoe UI"/>
                          <a:cs typeface="Segoe UI"/>
                        </a:rPr>
                        <a:t>étudiants, foyers, EHPAD manquants</a:t>
                      </a:r>
                      <a:endParaRPr lang="fr-FR" sz="10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DF3F3"/>
                    </a:solidFill>
                  </a:tcPr>
                </a:tc>
                <a:tc>
                  <a:txBody>
                    <a:bodyPr wrap="square" lIns="109728" tIns="54864" rIns="109728" bIns="54864" anchor="t" rtlCol="0">
                      <a:noAutofit/>
                    </a:bodyPr>
                    <a:lstStyle/>
                    <a:p>
                      <a:pPr algn="l">
                        <a:lnSpc>
                          <a:spcPct val="95000"/>
                        </a:lnSpc>
                        <a:spcBef>
                          <a:spcPts val="0"/>
                        </a:spcBef>
                        <a:spcAft>
                          <a:spcPts val="0"/>
                        </a:spcAft>
                        <a:buNone/>
                      </a:pPr>
                      <a:r>
                        <a:rPr lang="fr-FR" sz="1000" b="0" i="0" dirty="0">
                          <a:solidFill>
                            <a:srgbClr val="1F2933"/>
                          </a:solidFill>
                          <a:latin typeface="Segoe UI"/>
                          <a:cs typeface="Segoe UI"/>
                        </a:rPr>
                        <a:t>calage commune par commune sur le recensement</a:t>
                      </a:r>
                      <a:endParaRPr lang="fr-FR" sz="10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DF3F3"/>
                    </a:solidFill>
                  </a:tcPr>
                </a:tc>
              </a:tr>
              <a:tr h="457200">
                <a:tc>
                  <a:txBody>
                    <a:bodyPr wrap="square" lIns="109728" tIns="54864" rIns="109728" bIns="54864" anchor="t" rtlCol="0">
                      <a:noAutofit/>
                    </a:bodyPr>
                    <a:lstStyle/>
                    <a:p>
                      <a:pPr algn="l">
                        <a:lnSpc>
                          <a:spcPct val="95000"/>
                        </a:lnSpc>
                        <a:spcBef>
                          <a:spcPts val="0"/>
                        </a:spcBef>
                        <a:spcAft>
                          <a:spcPts val="0"/>
                        </a:spcAft>
                        <a:buNone/>
                      </a:pPr>
                      <a:r>
                        <a:rPr lang="fr-FR" sz="1000" b="1" i="0" dirty="0">
                          <a:solidFill>
                            <a:srgbClr val="1F2933"/>
                          </a:solidFill>
                          <a:latin typeface="Segoe UI"/>
                          <a:cs typeface="Segoe UI"/>
                        </a:rPr>
                        <a:t>Historique Citiz inexploitable</a:t>
                      </a:r>
                      <a:endParaRPr lang="fr-FR" sz="10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1000" b="0" i="0" dirty="0">
                          <a:solidFill>
                            <a:srgbClr val="1F2933"/>
                          </a:solidFill>
                          <a:latin typeface="Segoe UI"/>
                          <a:cs typeface="Segoe UI"/>
                        </a:rPr>
                        <a:t>34 photos, 12 changements de disponibilité : pas d'usage réel</a:t>
                      </a:r>
                      <a:endParaRPr lang="fr-FR" sz="10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1000" b="0" i="0" dirty="0">
                          <a:solidFill>
                            <a:srgbClr val="1F2933"/>
                          </a:solidFill>
                          <a:latin typeface="Segoe UI"/>
                          <a:cs typeface="Segoe UI"/>
                        </a:rPr>
                        <a:t>cible = présence d'une station ; le modèle apprend où Citiz s'est installé</a:t>
                      </a:r>
                      <a:endParaRPr lang="fr-FR" sz="10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r h="457200">
                <a:tc>
                  <a:txBody>
                    <a:bodyPr wrap="square" lIns="109728" tIns="54864" rIns="109728" bIns="54864" anchor="t" rtlCol="0">
                      <a:noAutofit/>
                    </a:bodyPr>
                    <a:lstStyle/>
                    <a:p>
                      <a:pPr algn="l">
                        <a:lnSpc>
                          <a:spcPct val="95000"/>
                        </a:lnSpc>
                        <a:spcBef>
                          <a:spcPts val="0"/>
                        </a:spcBef>
                        <a:spcAft>
                          <a:spcPts val="0"/>
                        </a:spcAft>
                        <a:buNone/>
                      </a:pPr>
                      <a:r>
                        <a:rPr lang="fr-FR" sz="1000" b="1" i="0" dirty="0">
                          <a:solidFill>
                            <a:srgbClr val="1F2933"/>
                          </a:solidFill>
                          <a:latin typeface="Segoe UI"/>
                          <a:cs typeface="Segoe UI"/>
                        </a:rPr>
                        <a:t>DROM incomplets</a:t>
                      </a:r>
                      <a:endParaRPr lang="fr-FR" sz="10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DF3F3"/>
                    </a:solidFill>
                  </a:tcPr>
                </a:tc>
                <a:tc>
                  <a:txBody>
                    <a:bodyPr wrap="square" lIns="109728" tIns="54864" rIns="109728" bIns="54864" anchor="t" rtlCol="0">
                      <a:noAutofit/>
                    </a:bodyPr>
                    <a:lstStyle/>
                    <a:p>
                      <a:pPr algn="l">
                        <a:lnSpc>
                          <a:spcPct val="95000"/>
                        </a:lnSpc>
                        <a:spcBef>
                          <a:spcPts val="0"/>
                        </a:spcBef>
                        <a:spcAft>
                          <a:spcPts val="0"/>
                        </a:spcAft>
                        <a:buNone/>
                      </a:pPr>
                      <a:r>
                        <a:rPr lang="fr-FR" sz="1000" b="0" i="0" dirty="0">
                          <a:solidFill>
                            <a:srgbClr val="1F2933"/>
                          </a:solidFill>
                          <a:latin typeface="Segoe UI"/>
                          <a:cs typeface="Segoe UI"/>
                        </a:rPr>
                        <a:t>Guadeloupe, Guyane, Mayotte absents de Filosofi ; GTFS Guyane partiel</a:t>
                      </a:r>
                      <a:endParaRPr lang="fr-FR" sz="10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DF3F3"/>
                    </a:solidFill>
                  </a:tcPr>
                </a:tc>
                <a:tc>
                  <a:txBody>
                    <a:bodyPr wrap="square" lIns="109728" tIns="54864" rIns="109728" bIns="54864" anchor="t" rtlCol="0">
                      <a:noAutofit/>
                    </a:bodyPr>
                    <a:lstStyle/>
                    <a:p>
                      <a:pPr algn="l">
                        <a:lnSpc>
                          <a:spcPct val="95000"/>
                        </a:lnSpc>
                        <a:spcBef>
                          <a:spcPts val="0"/>
                        </a:spcBef>
                        <a:spcAft>
                          <a:spcPts val="0"/>
                        </a:spcAft>
                        <a:buNone/>
                      </a:pPr>
                      <a:r>
                        <a:rPr lang="fr-FR" sz="1000" b="0" i="0" dirty="0">
                          <a:solidFill>
                            <a:srgbClr val="1F2933"/>
                          </a:solidFill>
                          <a:latin typeface="Segoe UI"/>
                          <a:cs typeface="Segoe UI"/>
                        </a:rPr>
                        <a:t>affichés en « offre seule », sans indicateur par habitant</a:t>
                      </a:r>
                      <a:endParaRPr lang="fr-FR" sz="10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DF3F3"/>
                    </a:solidFill>
                  </a:tcPr>
                </a:tc>
              </a:tr>
              <a:tr h="457200">
                <a:tc>
                  <a:txBody>
                    <a:bodyPr wrap="square" lIns="109728" tIns="54864" rIns="109728" bIns="54864" anchor="t" rtlCol="0">
                      <a:noAutofit/>
                    </a:bodyPr>
                    <a:lstStyle/>
                    <a:p>
                      <a:pPr algn="l">
                        <a:lnSpc>
                          <a:spcPct val="95000"/>
                        </a:lnSpc>
                        <a:spcBef>
                          <a:spcPts val="0"/>
                        </a:spcBef>
                        <a:spcAft>
                          <a:spcPts val="0"/>
                        </a:spcAft>
                        <a:buNone/>
                      </a:pPr>
                      <a:r>
                        <a:rPr lang="fr-FR" sz="1000" b="1" i="0" dirty="0">
                          <a:solidFill>
                            <a:srgbClr val="1F2933"/>
                          </a:solidFill>
                          <a:latin typeface="Segoe UI"/>
                          <a:cs typeface="Segoe UI"/>
                        </a:rPr>
                        <a:t>OpenStreetMap rempli par des bénévoles</a:t>
                      </a:r>
                      <a:endParaRPr lang="fr-FR" sz="10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1000" b="0" i="0" dirty="0">
                          <a:solidFill>
                            <a:srgbClr val="1F2933"/>
                          </a:solidFill>
                          <a:latin typeface="Segoe UI"/>
                          <a:cs typeface="Segoe UI"/>
                        </a:rPr>
                        <a:t>un chemin manquant fausse une distance à pied locale</a:t>
                      </a:r>
                      <a:endParaRPr lang="fr-FR" sz="10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1000" b="0" i="0" dirty="0">
                          <a:solidFill>
                            <a:srgbClr val="1F2933"/>
                          </a:solidFill>
                          <a:latin typeface="Segoe UI"/>
                          <a:cs typeface="Segoe UI"/>
                        </a:rPr>
                        <a:t>filtre d'osmnx ; plus grand réseau connecté (1 835 tronçons isolés écartés à Nantes)</a:t>
                      </a:r>
                      <a:endParaRPr lang="fr-FR" sz="10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r h="457200">
                <a:tc>
                  <a:txBody>
                    <a:bodyPr wrap="square" lIns="109728" tIns="54864" rIns="109728" bIns="54864" anchor="t" rtlCol="0">
                      <a:noAutofit/>
                    </a:bodyPr>
                    <a:lstStyle/>
                    <a:p>
                      <a:pPr algn="l">
                        <a:lnSpc>
                          <a:spcPct val="95000"/>
                        </a:lnSpc>
                        <a:spcBef>
                          <a:spcPts val="0"/>
                        </a:spcBef>
                        <a:spcAft>
                          <a:spcPts val="0"/>
                        </a:spcAft>
                        <a:buNone/>
                      </a:pPr>
                      <a:r>
                        <a:rPr lang="fr-FR" sz="1000" b="1" i="0" dirty="0">
                          <a:solidFill>
                            <a:srgbClr val="1F2933"/>
                          </a:solidFill>
                          <a:latin typeface="Segoe UI"/>
                          <a:cs typeface="Segoe UI"/>
                        </a:rPr>
                        <a:t>Délinquance seulement par commune</a:t>
                      </a:r>
                      <a:endParaRPr lang="fr-FR" sz="10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DF3F3"/>
                    </a:solidFill>
                  </a:tcPr>
                </a:tc>
                <a:tc>
                  <a:txBody>
                    <a:bodyPr wrap="square" lIns="109728" tIns="54864" rIns="109728" bIns="54864" anchor="t" rtlCol="0">
                      <a:noAutofit/>
                    </a:bodyPr>
                    <a:lstStyle/>
                    <a:p>
                      <a:pPr algn="l">
                        <a:lnSpc>
                          <a:spcPct val="95000"/>
                        </a:lnSpc>
                        <a:spcBef>
                          <a:spcPts val="0"/>
                        </a:spcBef>
                        <a:spcAft>
                          <a:spcPts val="0"/>
                        </a:spcAft>
                        <a:buNone/>
                      </a:pPr>
                      <a:r>
                        <a:rPr lang="fr-FR" sz="1000" b="0" i="0" dirty="0">
                          <a:solidFill>
                            <a:srgbClr val="1F2933"/>
                          </a:solidFill>
                          <a:latin typeface="Segoe UI"/>
                          <a:cs typeface="Segoe UI"/>
                        </a:rPr>
                        <a:t>même risque pour tous les quartiers d'une commune</a:t>
                      </a:r>
                      <a:endParaRPr lang="fr-FR" sz="10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DF3F3"/>
                    </a:solidFill>
                  </a:tcPr>
                </a:tc>
                <a:tc>
                  <a:txBody>
                    <a:bodyPr wrap="square" lIns="109728" tIns="54864" rIns="109728" bIns="54864" anchor="t" rtlCol="0">
                      <a:noAutofit/>
                    </a:bodyPr>
                    <a:lstStyle/>
                    <a:p>
                      <a:pPr algn="l">
                        <a:lnSpc>
                          <a:spcPct val="95000"/>
                        </a:lnSpc>
                        <a:spcBef>
                          <a:spcPts val="0"/>
                        </a:spcBef>
                        <a:spcAft>
                          <a:spcPts val="0"/>
                        </a:spcAft>
                        <a:buNone/>
                      </a:pPr>
                      <a:r>
                        <a:rPr lang="fr-FR" sz="1000" b="0" i="0" dirty="0">
                          <a:solidFill>
                            <a:srgbClr val="1F2933"/>
                          </a:solidFill>
                          <a:latin typeface="Segoe UI"/>
                          <a:cs typeface="Segoe UI"/>
                        </a:rPr>
                        <a:t>commune ≥ 10 000 hab., sinon EPCI ; hors du score principal</a:t>
                      </a:r>
                      <a:endParaRPr lang="fr-FR" sz="10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DF3F3"/>
                    </a:solidFill>
                  </a:tcPr>
                </a:tc>
              </a:tr>
              <a:tr h="457200">
                <a:tc>
                  <a:txBody>
                    <a:bodyPr wrap="square" lIns="109728" tIns="54864" rIns="109728" bIns="54864" anchor="t" rtlCol="0">
                      <a:noAutofit/>
                    </a:bodyPr>
                    <a:lstStyle/>
                    <a:p>
                      <a:pPr algn="l">
                        <a:lnSpc>
                          <a:spcPct val="95000"/>
                        </a:lnSpc>
                        <a:spcBef>
                          <a:spcPts val="0"/>
                        </a:spcBef>
                        <a:spcAft>
                          <a:spcPts val="0"/>
                        </a:spcAft>
                        <a:buNone/>
                      </a:pPr>
                      <a:r>
                        <a:rPr lang="fr-FR" sz="1000" b="1" i="0" dirty="0">
                          <a:solidFill>
                            <a:srgbClr val="1F2933"/>
                          </a:solidFill>
                          <a:latin typeface="Segoe UI"/>
                          <a:cs typeface="Segoe UI"/>
                        </a:rPr>
                        <a:t>GTFS et GBFS changent chaque jour</a:t>
                      </a:r>
                      <a:endParaRPr lang="fr-FR" sz="10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1000" b="0" i="0" dirty="0">
                          <a:solidFill>
                            <a:srgbClr val="1F2933"/>
                          </a:solidFill>
                          <a:latin typeface="Segoe UI"/>
                          <a:cs typeface="Segoe UI"/>
                        </a:rPr>
                        <a:t>un autre jour de téléchargement donne d'autres chiffres</a:t>
                      </a:r>
                      <a:endParaRPr lang="fr-FR" sz="10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1000" b="0" i="0" dirty="0">
                          <a:solidFill>
                            <a:srgbClr val="1F2933"/>
                          </a:solidFill>
                          <a:latin typeface="Segoe UI"/>
                          <a:cs typeface="Segoe UI"/>
                        </a:rPr>
                        <a:t>jour type figé ; données de référence du 19/10/2026</a:t>
                      </a:r>
                      <a:endParaRPr lang="fr-FR" sz="10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r h="457200">
                <a:tc>
                  <a:txBody>
                    <a:bodyPr wrap="square" lIns="109728" tIns="54864" rIns="109728" bIns="54864" anchor="t" rtlCol="0">
                      <a:noAutofit/>
                    </a:bodyPr>
                    <a:lstStyle/>
                    <a:p>
                      <a:pPr algn="l">
                        <a:lnSpc>
                          <a:spcPct val="95000"/>
                        </a:lnSpc>
                        <a:spcBef>
                          <a:spcPts val="0"/>
                        </a:spcBef>
                        <a:spcAft>
                          <a:spcPts val="0"/>
                        </a:spcAft>
                        <a:buNone/>
                      </a:pPr>
                      <a:r>
                        <a:rPr lang="fr-FR" sz="1000" b="1" i="0" dirty="0">
                          <a:solidFill>
                            <a:srgbClr val="1F2933"/>
                          </a:solidFill>
                          <a:latin typeface="Segoe UI"/>
                          <a:cs typeface="Segoe UI"/>
                        </a:rPr>
                        <a:t>Années différentes</a:t>
                      </a:r>
                      <a:endParaRPr lang="fr-FR" sz="10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DF3F3"/>
                    </a:solidFill>
                  </a:tcPr>
                </a:tc>
                <a:tc>
                  <a:txBody>
                    <a:bodyPr wrap="square" lIns="109728" tIns="54864" rIns="109728" bIns="54864" anchor="t" rtlCol="0">
                      <a:noAutofit/>
                    </a:bodyPr>
                    <a:lstStyle/>
                    <a:p>
                      <a:pPr algn="l">
                        <a:lnSpc>
                          <a:spcPct val="95000"/>
                        </a:lnSpc>
                        <a:spcBef>
                          <a:spcPts val="0"/>
                        </a:spcBef>
                        <a:spcAft>
                          <a:spcPts val="0"/>
                        </a:spcAft>
                        <a:buNone/>
                      </a:pPr>
                      <a:r>
                        <a:rPr lang="fr-FR" sz="1000" b="0" i="0" dirty="0">
                          <a:solidFill>
                            <a:srgbClr val="1F2933"/>
                          </a:solidFill>
                          <a:latin typeface="Segoe UI"/>
                          <a:cs typeface="Segoe UI"/>
                        </a:rPr>
                        <a:t>Filosofi 2021, recensement 2023, BPE 2025, IRIS 2026</a:t>
                      </a:r>
                      <a:endParaRPr lang="fr-FR" sz="10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DF3F3"/>
                    </a:solidFill>
                  </a:tcPr>
                </a:tc>
                <a:tc>
                  <a:txBody>
                    <a:bodyPr wrap="square" lIns="109728" tIns="54864" rIns="109728" bIns="54864" anchor="t" rtlCol="0">
                      <a:noAutofit/>
                    </a:bodyPr>
                    <a:lstStyle/>
                    <a:p>
                      <a:pPr algn="l">
                        <a:lnSpc>
                          <a:spcPct val="95000"/>
                        </a:lnSpc>
                        <a:spcBef>
                          <a:spcPts val="0"/>
                        </a:spcBef>
                        <a:spcAft>
                          <a:spcPts val="0"/>
                        </a:spcAft>
                        <a:buNone/>
                      </a:pPr>
                      <a:r>
                        <a:rPr lang="fr-FR" sz="1000" b="0" i="0" dirty="0">
                          <a:solidFill>
                            <a:srgbClr val="1F2933"/>
                          </a:solidFill>
                          <a:latin typeface="Segoe UI"/>
                          <a:cs typeface="Segoe UI"/>
                        </a:rPr>
                        <a:t>repli sur la commune quand un IRIS a changé</a:t>
                      </a:r>
                      <a:endParaRPr lang="fr-FR" sz="10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DF3F3"/>
                    </a:solidFill>
                  </a:tcPr>
                </a:tc>
              </a:tr>
              <a:tr h="457200">
                <a:tc>
                  <a:txBody>
                    <a:bodyPr wrap="square" lIns="109728" tIns="54864" rIns="109728" bIns="54864" anchor="t" rtlCol="0">
                      <a:noAutofit/>
                    </a:bodyPr>
                    <a:lstStyle/>
                    <a:p>
                      <a:pPr algn="l">
                        <a:lnSpc>
                          <a:spcPct val="95000"/>
                        </a:lnSpc>
                        <a:spcBef>
                          <a:spcPts val="0"/>
                        </a:spcBef>
                        <a:spcAft>
                          <a:spcPts val="0"/>
                        </a:spcAft>
                        <a:buNone/>
                      </a:pPr>
                      <a:r>
                        <a:rPr lang="fr-FR" sz="1000" b="1" i="0" dirty="0">
                          <a:solidFill>
                            <a:srgbClr val="1F2933"/>
                          </a:solidFill>
                          <a:latin typeface="Segoe UI"/>
                          <a:cs typeface="Segoe UI"/>
                        </a:rPr>
                        <a:t>Cible à vol d'oiseau, risque estimé</a:t>
                      </a:r>
                      <a:endParaRPr lang="fr-FR" sz="10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1000" b="0" i="0" dirty="0">
                          <a:solidFill>
                            <a:srgbClr val="1F2933"/>
                          </a:solidFill>
                          <a:latin typeface="Segoe UI"/>
                          <a:cs typeface="Segoe UI"/>
                        </a:rPr>
                        <a:t>variables du modèle en V1 ; surcoût de vol = hypothèse</a:t>
                      </a:r>
                      <a:endParaRPr lang="fr-FR" sz="10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c>
                  <a:txBody>
                    <a:bodyPr wrap="square" lIns="109728" tIns="54864" rIns="109728" bIns="54864" anchor="t" rtlCol="0">
                      <a:noAutofit/>
                    </a:bodyPr>
                    <a:lstStyle/>
                    <a:p>
                      <a:pPr algn="l">
                        <a:lnSpc>
                          <a:spcPct val="95000"/>
                        </a:lnSpc>
                        <a:spcBef>
                          <a:spcPts val="0"/>
                        </a:spcBef>
                        <a:spcAft>
                          <a:spcPts val="0"/>
                        </a:spcAft>
                        <a:buNone/>
                      </a:pPr>
                      <a:r>
                        <a:rPr lang="fr-FR" sz="1000" b="0" i="0" dirty="0">
                          <a:solidFill>
                            <a:srgbClr val="1F2933"/>
                          </a:solidFill>
                          <a:latin typeface="Segoe UI"/>
                          <a:cs typeface="Segoe UI"/>
                        </a:rPr>
                        <a:t>à valider avec Citiz ; affiché à part</a:t>
                      </a:r>
                      <a:endParaRPr lang="fr-FR" sz="1000" dirty="0"/>
                    </a:p>
                  </a:txBody>
                  <a:tcPr marL="64008" marR="64008" marT="36576" marB="36576" anchor="ctr">
                    <a:lnL w="6350">
                      <a:solidFill>
                        <a:srgbClr val="D5DAE1"/>
                      </a:solidFill>
                    </a:lnL>
                    <a:lnR w="6350">
                      <a:solidFill>
                        <a:srgbClr val="D5DAE1"/>
                      </a:solidFill>
                    </a:lnR>
                    <a:lnT w="6350">
                      <a:solidFill>
                        <a:srgbClr val="D5DAE1"/>
                      </a:solidFill>
                    </a:lnT>
                    <a:lnB w="6350">
                      <a:solidFill>
                        <a:srgbClr val="D5DAE1"/>
                      </a:solidFill>
                    </a:lnB>
                    <a:solidFill>
                      <a:srgbClr val="FFFFFF"/>
                    </a:solidFill>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rme 3"/>
          <p:cNvSpPr/>
          <p:nvPr/>
        </p:nvSpPr>
        <p:spPr>
          <a:xfrm>
            <a:off x="0" y="0"/>
            <a:ext cx="128016" cy="6858000"/>
          </a:xfrm>
          <a:prstGeom prst="rect">
            <a:avLst/>
          </a:prstGeom>
          <a:solidFill>
            <a:srgbClr val="5B6573"/>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4" name="Forme 4"/>
          <p:cNvSpPr/>
          <p:nvPr/>
        </p:nvSpPr>
        <p:spPr>
          <a:xfrm>
            <a:off x="457200" y="256032"/>
            <a:ext cx="7315200" cy="2743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050" b="1" i="0" dirty="0">
                <a:solidFill>
                  <a:srgbClr val="5B6573"/>
                </a:solidFill>
                <a:latin typeface="Segoe UI"/>
                <a:cs typeface="Segoe UI"/>
              </a:rPr>
              <a:t>PARTIE 8 · LEXIQUE</a:t>
            </a:r>
            <a:endParaRPr lang="fr-FR" sz="1050" dirty="0"/>
          </a:p>
        </p:txBody>
      </p:sp>
      <p:sp>
        <p:nvSpPr>
          <p:cNvPr id="5" name="Forme 5"/>
          <p:cNvSpPr/>
          <p:nvPr/>
        </p:nvSpPr>
        <p:spPr>
          <a:xfrm>
            <a:off x="457200" y="502920"/>
            <a:ext cx="11247120" cy="5486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2500" b="1" i="0" dirty="0">
                <a:solidFill>
                  <a:srgbClr val="14213D"/>
                </a:solidFill>
                <a:latin typeface="Segoe UI"/>
                <a:cs typeface="Segoe UI"/>
              </a:rPr>
              <a:t>Lexique</a:t>
            </a:r>
            <a:endParaRPr lang="fr-FR" sz="2500" dirty="0"/>
          </a:p>
        </p:txBody>
      </p:sp>
      <p:sp>
        <p:nvSpPr>
          <p:cNvPr id="6" name="Forme 6"/>
          <p:cNvSpPr/>
          <p:nvPr/>
        </p:nvSpPr>
        <p:spPr>
          <a:xfrm>
            <a:off x="457200" y="987552"/>
            <a:ext cx="11247120" cy="3200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250" b="0" i="0" dirty="0">
                <a:solidFill>
                  <a:srgbClr val="5B6573"/>
                </a:solidFill>
                <a:latin typeface="Segoe UI"/>
                <a:cs typeface="Segoe UI"/>
              </a:rPr>
              <a:t>14 mots, en mots simples.</a:t>
            </a:r>
            <a:endParaRPr lang="fr-FR" sz="1250" dirty="0"/>
          </a:p>
        </p:txBody>
      </p:sp>
      <p:sp>
        <p:nvSpPr>
          <p:cNvPr id="7" name="Forme 7"/>
          <p:cNvSpPr/>
          <p:nvPr/>
        </p:nvSpPr>
        <p:spPr>
          <a:xfrm>
            <a:off x="457200" y="6446520"/>
            <a:ext cx="11274552" cy="10973"/>
          </a:xfrm>
          <a:prstGeom prst="rect">
            <a:avLst/>
          </a:prstGeom>
          <a:solidFill>
            <a:srgbClr val="D5DAE1"/>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8" name="Forme 8"/>
          <p:cNvSpPr/>
          <p:nvPr/>
        </p:nvSpPr>
        <p:spPr>
          <a:xfrm>
            <a:off x="457200" y="6492240"/>
            <a:ext cx="7315200" cy="256032"/>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00" b="0" i="0" dirty="0">
                <a:solidFill>
                  <a:srgbClr val="5B6573"/>
                </a:solidFill>
                <a:latin typeface="Segoe UI"/>
                <a:cs typeface="Segoe UI"/>
              </a:rPr>
              <a:t>Hackathon Mobility × Citiz · Nos données, de A à Z</a:t>
            </a:r>
            <a:endParaRPr lang="fr-FR" sz="900" dirty="0"/>
          </a:p>
        </p:txBody>
      </p:sp>
      <p:sp>
        <p:nvSpPr>
          <p:cNvPr id="9" name="Forme 9"/>
          <p:cNvSpPr/>
          <p:nvPr/>
        </p:nvSpPr>
        <p:spPr>
          <a:xfrm>
            <a:off x="10360152" y="6492240"/>
            <a:ext cx="1371600" cy="256032"/>
          </a:xfrm>
          <a:prstGeom prst="rect">
            <a:avLst/>
          </a:prstGeom>
          <a:noFill/>
          <a:ln>
            <a:noFill/>
          </a:ln>
        </p:spPr>
        <p:txBody>
          <a:bodyPr wrap="square" lIns="18288" tIns="18288" rIns="18288" bIns="18288" anchor="t" rtlCol="0">
            <a:noAutofit/>
          </a:bodyPr>
          <a:lstStyle/>
          <a:p>
            <a:pPr algn="r">
              <a:lnSpc>
                <a:spcPct val="100000"/>
              </a:lnSpc>
              <a:spcBef>
                <a:spcPts val="0"/>
              </a:spcBef>
              <a:spcAft>
                <a:spcPts val="0"/>
              </a:spcAft>
              <a:buNone/>
            </a:pPr>
            <a:r>
              <a:rPr lang="fr-FR" sz="900" b="0" i="0" dirty="0">
                <a:solidFill>
                  <a:srgbClr val="5B6573"/>
                </a:solidFill>
                <a:latin typeface="Segoe UI"/>
                <a:cs typeface="Segoe UI"/>
              </a:rPr>
              <a:t>27</a:t>
            </a:r>
            <a:endParaRPr lang="fr-FR" sz="900" dirty="0"/>
          </a:p>
        </p:txBody>
      </p:sp>
      <p:sp>
        <p:nvSpPr>
          <p:cNvPr id="10" name="Forme 10"/>
          <p:cNvSpPr/>
          <p:nvPr/>
        </p:nvSpPr>
        <p:spPr>
          <a:xfrm>
            <a:off x="457200" y="1371600"/>
            <a:ext cx="1783080" cy="603504"/>
          </a:xfrm>
          <a:prstGeom prst="roundRect">
            <a:avLst>
              <a:gd name="adj" fmla="val 14000"/>
            </a:avLst>
          </a:prstGeom>
          <a:solidFill>
            <a:srgbClr val="14213D"/>
          </a:solidFill>
          <a:ln>
            <a:noFill/>
          </a:ln>
        </p:spPr>
        <p:txBody>
          <a:bodyPr wrap="square" lIns="45720" tIns="0" rIns="45720" bIns="0" anchor="ctr" rtlCol="0">
            <a:noAutofit/>
          </a:bodyPr>
          <a:lstStyle/>
          <a:p>
            <a:pPr algn="ctr">
              <a:lnSpc>
                <a:spcPct val="100000"/>
              </a:lnSpc>
              <a:spcBef>
                <a:spcPts val="0"/>
              </a:spcBef>
              <a:spcAft>
                <a:spcPts val="0"/>
              </a:spcAft>
              <a:buNone/>
            </a:pPr>
            <a:r>
              <a:rPr lang="fr-FR" sz="1150" b="1" i="0" dirty="0">
                <a:solidFill>
                  <a:srgbClr val="FFFFFF"/>
                </a:solidFill>
                <a:latin typeface="Segoe UI"/>
                <a:cs typeface="Segoe UI"/>
              </a:rPr>
              <a:t>GTFS</a:t>
            </a:r>
            <a:endParaRPr lang="fr-FR" sz="1150" dirty="0"/>
          </a:p>
        </p:txBody>
      </p:sp>
      <p:sp>
        <p:nvSpPr>
          <p:cNvPr id="11" name="Forme 11"/>
          <p:cNvSpPr/>
          <p:nvPr/>
        </p:nvSpPr>
        <p:spPr>
          <a:xfrm>
            <a:off x="2377440" y="1371600"/>
            <a:ext cx="3657600" cy="603504"/>
          </a:xfrm>
          <a:prstGeom prst="rect">
            <a:avLst/>
          </a:prstGeom>
          <a:noFill/>
          <a:ln>
            <a:noFill/>
          </a:ln>
        </p:spPr>
        <p:txBody>
          <a:bodyPr wrap="square" lIns="18288" tIns="18288" rIns="18288" bIns="18288" anchor="ctr" rtlCol="0">
            <a:noAutofit/>
          </a:bodyPr>
          <a:lstStyle/>
          <a:p>
            <a:pPr algn="l">
              <a:lnSpc>
                <a:spcPct val="100000"/>
              </a:lnSpc>
              <a:spcBef>
                <a:spcPts val="0"/>
              </a:spcBef>
              <a:spcAft>
                <a:spcPts val="0"/>
              </a:spcAft>
              <a:buNone/>
            </a:pPr>
            <a:r>
              <a:rPr lang="fr-FR" sz="1050" b="0" i="0" dirty="0">
                <a:solidFill>
                  <a:srgbClr val="1F2933"/>
                </a:solidFill>
                <a:latin typeface="Segoe UI"/>
                <a:cs typeface="Segoe UI"/>
              </a:rPr>
              <a:t>format standard des horaires de transport en commun : arrêts, lignes, courses, horaires (un zip de fichiers texte).</a:t>
            </a:r>
            <a:endParaRPr lang="fr-FR" sz="1050" dirty="0"/>
          </a:p>
        </p:txBody>
      </p:sp>
      <p:sp>
        <p:nvSpPr>
          <p:cNvPr id="12" name="Forme 12"/>
          <p:cNvSpPr/>
          <p:nvPr/>
        </p:nvSpPr>
        <p:spPr>
          <a:xfrm>
            <a:off x="6172200" y="1371600"/>
            <a:ext cx="1783080" cy="603504"/>
          </a:xfrm>
          <a:prstGeom prst="roundRect">
            <a:avLst>
              <a:gd name="adj" fmla="val 14000"/>
            </a:avLst>
          </a:prstGeom>
          <a:solidFill>
            <a:srgbClr val="0E9F8E"/>
          </a:solidFill>
          <a:ln>
            <a:noFill/>
          </a:ln>
        </p:spPr>
        <p:txBody>
          <a:bodyPr wrap="square" lIns="45720" tIns="0" rIns="45720" bIns="0" anchor="ctr" rtlCol="0">
            <a:noAutofit/>
          </a:bodyPr>
          <a:lstStyle/>
          <a:p>
            <a:pPr algn="ctr">
              <a:lnSpc>
                <a:spcPct val="100000"/>
              </a:lnSpc>
              <a:spcBef>
                <a:spcPts val="0"/>
              </a:spcBef>
              <a:spcAft>
                <a:spcPts val="0"/>
              </a:spcAft>
              <a:buNone/>
            </a:pPr>
            <a:r>
              <a:rPr lang="fr-FR" sz="1150" b="1" i="0" dirty="0">
                <a:solidFill>
                  <a:srgbClr val="FFFFFF"/>
                </a:solidFill>
                <a:latin typeface="Segoe UI"/>
                <a:cs typeface="Segoe UI"/>
              </a:rPr>
              <a:t>GBFS</a:t>
            </a:r>
            <a:endParaRPr lang="fr-FR" sz="1150" dirty="0"/>
          </a:p>
        </p:txBody>
      </p:sp>
      <p:sp>
        <p:nvSpPr>
          <p:cNvPr id="13" name="Forme 13"/>
          <p:cNvSpPr/>
          <p:nvPr/>
        </p:nvSpPr>
        <p:spPr>
          <a:xfrm>
            <a:off x="8092440" y="1371600"/>
            <a:ext cx="3657600" cy="603504"/>
          </a:xfrm>
          <a:prstGeom prst="rect">
            <a:avLst/>
          </a:prstGeom>
          <a:noFill/>
          <a:ln>
            <a:noFill/>
          </a:ln>
        </p:spPr>
        <p:txBody>
          <a:bodyPr wrap="square" lIns="18288" tIns="18288" rIns="18288" bIns="18288" anchor="ctr" rtlCol="0">
            <a:noAutofit/>
          </a:bodyPr>
          <a:lstStyle/>
          <a:p>
            <a:pPr algn="l">
              <a:lnSpc>
                <a:spcPct val="100000"/>
              </a:lnSpc>
              <a:spcBef>
                <a:spcPts val="0"/>
              </a:spcBef>
              <a:spcAft>
                <a:spcPts val="0"/>
              </a:spcAft>
              <a:buNone/>
            </a:pPr>
            <a:r>
              <a:rPr lang="fr-FR" sz="1050" b="0" i="0" dirty="0">
                <a:solidFill>
                  <a:srgbClr val="1F2933"/>
                </a:solidFill>
                <a:latin typeface="Segoe UI"/>
                <a:cs typeface="Segoe UI"/>
              </a:rPr>
              <a:t>format standard des services partagés (vélos, trottinettes, voitures) : où sont les stations, combien de véhicules libres.</a:t>
            </a:r>
            <a:endParaRPr lang="fr-FR" sz="1050" dirty="0"/>
          </a:p>
        </p:txBody>
      </p:sp>
      <p:sp>
        <p:nvSpPr>
          <p:cNvPr id="14" name="Forme 14"/>
          <p:cNvSpPr/>
          <p:nvPr/>
        </p:nvSpPr>
        <p:spPr>
          <a:xfrm>
            <a:off x="457200" y="2075688"/>
            <a:ext cx="1783080" cy="603504"/>
          </a:xfrm>
          <a:prstGeom prst="roundRect">
            <a:avLst>
              <a:gd name="adj" fmla="val 14000"/>
            </a:avLst>
          </a:prstGeom>
          <a:solidFill>
            <a:srgbClr val="0E9F8E"/>
          </a:solidFill>
          <a:ln>
            <a:noFill/>
          </a:ln>
        </p:spPr>
        <p:txBody>
          <a:bodyPr wrap="square" lIns="45720" tIns="0" rIns="45720" bIns="0" anchor="ctr" rtlCol="0">
            <a:noAutofit/>
          </a:bodyPr>
          <a:lstStyle/>
          <a:p>
            <a:pPr algn="ctr">
              <a:lnSpc>
                <a:spcPct val="100000"/>
              </a:lnSpc>
              <a:spcBef>
                <a:spcPts val="0"/>
              </a:spcBef>
              <a:spcAft>
                <a:spcPts val="0"/>
              </a:spcAft>
              <a:buNone/>
            </a:pPr>
            <a:r>
              <a:rPr lang="fr-FR" sz="1150" b="1" i="0" dirty="0">
                <a:solidFill>
                  <a:srgbClr val="FFFFFF"/>
                </a:solidFill>
                <a:latin typeface="Segoe UI"/>
                <a:cs typeface="Segoe UI"/>
              </a:rPr>
              <a:t>Filosofi</a:t>
            </a:r>
            <a:endParaRPr lang="fr-FR" sz="1150" dirty="0"/>
          </a:p>
        </p:txBody>
      </p:sp>
      <p:sp>
        <p:nvSpPr>
          <p:cNvPr id="15" name="Forme 15"/>
          <p:cNvSpPr/>
          <p:nvPr/>
        </p:nvSpPr>
        <p:spPr>
          <a:xfrm>
            <a:off x="2377440" y="2075688"/>
            <a:ext cx="3657600" cy="603504"/>
          </a:xfrm>
          <a:prstGeom prst="rect">
            <a:avLst/>
          </a:prstGeom>
          <a:noFill/>
          <a:ln>
            <a:noFill/>
          </a:ln>
        </p:spPr>
        <p:txBody>
          <a:bodyPr wrap="square" lIns="18288" tIns="18288" rIns="18288" bIns="18288" anchor="ctr" rtlCol="0">
            <a:noAutofit/>
          </a:bodyPr>
          <a:lstStyle/>
          <a:p>
            <a:pPr algn="l">
              <a:lnSpc>
                <a:spcPct val="100000"/>
              </a:lnSpc>
              <a:spcBef>
                <a:spcPts val="0"/>
              </a:spcBef>
              <a:spcAft>
                <a:spcPts val="0"/>
              </a:spcAft>
              <a:buNone/>
            </a:pPr>
            <a:r>
              <a:rPr lang="fr-FR" sz="1050" b="0" i="0" dirty="0">
                <a:solidFill>
                  <a:srgbClr val="1F2933"/>
                </a:solidFill>
                <a:latin typeface="Segoe UI"/>
                <a:cs typeface="Segoe UI"/>
              </a:rPr>
              <a:t>fichier de l'INSEE tiré des données fiscales : habitants, ménages et revenus.</a:t>
            </a:r>
            <a:endParaRPr lang="fr-FR" sz="1050" dirty="0"/>
          </a:p>
        </p:txBody>
      </p:sp>
      <p:sp>
        <p:nvSpPr>
          <p:cNvPr id="16" name="Forme 16"/>
          <p:cNvSpPr/>
          <p:nvPr/>
        </p:nvSpPr>
        <p:spPr>
          <a:xfrm>
            <a:off x="6172200" y="2075688"/>
            <a:ext cx="1783080" cy="603504"/>
          </a:xfrm>
          <a:prstGeom prst="roundRect">
            <a:avLst>
              <a:gd name="adj" fmla="val 14000"/>
            </a:avLst>
          </a:prstGeom>
          <a:solidFill>
            <a:srgbClr val="14213D"/>
          </a:solidFill>
          <a:ln>
            <a:noFill/>
          </a:ln>
        </p:spPr>
        <p:txBody>
          <a:bodyPr wrap="square" lIns="45720" tIns="0" rIns="45720" bIns="0" anchor="ctr" rtlCol="0">
            <a:noAutofit/>
          </a:bodyPr>
          <a:lstStyle/>
          <a:p>
            <a:pPr algn="ctr">
              <a:lnSpc>
                <a:spcPct val="100000"/>
              </a:lnSpc>
              <a:spcBef>
                <a:spcPts val="0"/>
              </a:spcBef>
              <a:spcAft>
                <a:spcPts val="0"/>
              </a:spcAft>
              <a:buNone/>
            </a:pPr>
            <a:r>
              <a:rPr lang="fr-FR" sz="1150" b="1" i="0" dirty="0">
                <a:solidFill>
                  <a:srgbClr val="FFFFFF"/>
                </a:solidFill>
                <a:latin typeface="Segoe UI"/>
                <a:cs typeface="Segoe UI"/>
              </a:rPr>
              <a:t>Carreau 200 m</a:t>
            </a:r>
            <a:endParaRPr lang="fr-FR" sz="1150" dirty="0"/>
          </a:p>
        </p:txBody>
      </p:sp>
      <p:sp>
        <p:nvSpPr>
          <p:cNvPr id="17" name="Forme 17"/>
          <p:cNvSpPr/>
          <p:nvPr/>
        </p:nvSpPr>
        <p:spPr>
          <a:xfrm>
            <a:off x="8092440" y="2075688"/>
            <a:ext cx="3657600" cy="603504"/>
          </a:xfrm>
          <a:prstGeom prst="rect">
            <a:avLst/>
          </a:prstGeom>
          <a:noFill/>
          <a:ln>
            <a:noFill/>
          </a:ln>
        </p:spPr>
        <p:txBody>
          <a:bodyPr wrap="square" lIns="18288" tIns="18288" rIns="18288" bIns="18288" anchor="ctr" rtlCol="0">
            <a:noAutofit/>
          </a:bodyPr>
          <a:lstStyle/>
          <a:p>
            <a:pPr algn="l">
              <a:lnSpc>
                <a:spcPct val="100000"/>
              </a:lnSpc>
              <a:spcBef>
                <a:spcPts val="0"/>
              </a:spcBef>
              <a:spcAft>
                <a:spcPts val="0"/>
              </a:spcAft>
              <a:buNone/>
            </a:pPr>
            <a:r>
              <a:rPr lang="fr-FR" sz="1050" b="0" i="0" dirty="0">
                <a:solidFill>
                  <a:srgbClr val="1F2933"/>
                </a:solidFill>
                <a:latin typeface="Segoe UI"/>
                <a:cs typeface="Segoe UI"/>
              </a:rPr>
              <a:t>carré de 200 m × 200 m de la grille INSEE : notre unité de calcul (2,3 millions en France).</a:t>
            </a:r>
            <a:endParaRPr lang="fr-FR" sz="1050" dirty="0"/>
          </a:p>
        </p:txBody>
      </p:sp>
      <p:sp>
        <p:nvSpPr>
          <p:cNvPr id="18" name="Forme 18"/>
          <p:cNvSpPr/>
          <p:nvPr/>
        </p:nvSpPr>
        <p:spPr>
          <a:xfrm>
            <a:off x="457200" y="2779776"/>
            <a:ext cx="1783080" cy="603504"/>
          </a:xfrm>
          <a:prstGeom prst="roundRect">
            <a:avLst>
              <a:gd name="adj" fmla="val 14000"/>
            </a:avLst>
          </a:prstGeom>
          <a:solidFill>
            <a:srgbClr val="14213D"/>
          </a:solidFill>
          <a:ln>
            <a:noFill/>
          </a:ln>
        </p:spPr>
        <p:txBody>
          <a:bodyPr wrap="square" lIns="45720" tIns="0" rIns="45720" bIns="0" anchor="ctr" rtlCol="0">
            <a:noAutofit/>
          </a:bodyPr>
          <a:lstStyle/>
          <a:p>
            <a:pPr algn="ctr">
              <a:lnSpc>
                <a:spcPct val="100000"/>
              </a:lnSpc>
              <a:spcBef>
                <a:spcPts val="0"/>
              </a:spcBef>
              <a:spcAft>
                <a:spcPts val="0"/>
              </a:spcAft>
              <a:buNone/>
            </a:pPr>
            <a:r>
              <a:rPr lang="fr-FR" sz="1150" b="1" i="0" dirty="0">
                <a:solidFill>
                  <a:srgbClr val="FFFFFF"/>
                </a:solidFill>
                <a:latin typeface="Segoe UI"/>
                <a:cs typeface="Segoe UI"/>
              </a:rPr>
              <a:t>IRIS</a:t>
            </a:r>
            <a:endParaRPr lang="fr-FR" sz="1150" dirty="0"/>
          </a:p>
        </p:txBody>
      </p:sp>
      <p:sp>
        <p:nvSpPr>
          <p:cNvPr id="19" name="Forme 19"/>
          <p:cNvSpPr/>
          <p:nvPr/>
        </p:nvSpPr>
        <p:spPr>
          <a:xfrm>
            <a:off x="2377440" y="2779776"/>
            <a:ext cx="3657600" cy="603504"/>
          </a:xfrm>
          <a:prstGeom prst="rect">
            <a:avLst/>
          </a:prstGeom>
          <a:noFill/>
          <a:ln>
            <a:noFill/>
          </a:ln>
        </p:spPr>
        <p:txBody>
          <a:bodyPr wrap="square" lIns="18288" tIns="18288" rIns="18288" bIns="18288" anchor="ctr" rtlCol="0">
            <a:noAutofit/>
          </a:bodyPr>
          <a:lstStyle/>
          <a:p>
            <a:pPr algn="l">
              <a:lnSpc>
                <a:spcPct val="100000"/>
              </a:lnSpc>
              <a:spcBef>
                <a:spcPts val="0"/>
              </a:spcBef>
              <a:spcAft>
                <a:spcPts val="0"/>
              </a:spcAft>
              <a:buNone/>
            </a:pPr>
            <a:r>
              <a:rPr lang="fr-FR" sz="1050" b="0" i="0" dirty="0">
                <a:solidFill>
                  <a:srgbClr val="1F2933"/>
                </a:solidFill>
                <a:latin typeface="Segoe UI"/>
                <a:cs typeface="Segoe UI"/>
              </a:rPr>
              <a:t>petit quartier statistique de l'INSEE, environ 2 000 habitants.</a:t>
            </a:r>
            <a:endParaRPr lang="fr-FR" sz="1050" dirty="0"/>
          </a:p>
        </p:txBody>
      </p:sp>
      <p:sp>
        <p:nvSpPr>
          <p:cNvPr id="20" name="Forme 20"/>
          <p:cNvSpPr/>
          <p:nvPr/>
        </p:nvSpPr>
        <p:spPr>
          <a:xfrm>
            <a:off x="6172200" y="2779776"/>
            <a:ext cx="1783080" cy="603504"/>
          </a:xfrm>
          <a:prstGeom prst="roundRect">
            <a:avLst>
              <a:gd name="adj" fmla="val 14000"/>
            </a:avLst>
          </a:prstGeom>
          <a:solidFill>
            <a:srgbClr val="0E9F8E"/>
          </a:solidFill>
          <a:ln>
            <a:noFill/>
          </a:ln>
        </p:spPr>
        <p:txBody>
          <a:bodyPr wrap="square" lIns="45720" tIns="0" rIns="45720" bIns="0" anchor="ctr" rtlCol="0">
            <a:noAutofit/>
          </a:bodyPr>
          <a:lstStyle/>
          <a:p>
            <a:pPr algn="ctr">
              <a:lnSpc>
                <a:spcPct val="100000"/>
              </a:lnSpc>
              <a:spcBef>
                <a:spcPts val="0"/>
              </a:spcBef>
              <a:spcAft>
                <a:spcPts val="0"/>
              </a:spcAft>
              <a:buNone/>
            </a:pPr>
            <a:r>
              <a:rPr lang="fr-FR" sz="1150" b="1" i="0" dirty="0">
                <a:solidFill>
                  <a:srgbClr val="FFFFFF"/>
                </a:solidFill>
                <a:latin typeface="Segoe UI"/>
                <a:cs typeface="Segoe UI"/>
              </a:rPr>
              <a:t>EPCI</a:t>
            </a:r>
            <a:endParaRPr lang="fr-FR" sz="1150" dirty="0"/>
          </a:p>
        </p:txBody>
      </p:sp>
      <p:sp>
        <p:nvSpPr>
          <p:cNvPr id="21" name="Forme 21"/>
          <p:cNvSpPr/>
          <p:nvPr/>
        </p:nvSpPr>
        <p:spPr>
          <a:xfrm>
            <a:off x="8092440" y="2779776"/>
            <a:ext cx="3657600" cy="603504"/>
          </a:xfrm>
          <a:prstGeom prst="rect">
            <a:avLst/>
          </a:prstGeom>
          <a:noFill/>
          <a:ln>
            <a:noFill/>
          </a:ln>
        </p:spPr>
        <p:txBody>
          <a:bodyPr wrap="square" lIns="18288" tIns="18288" rIns="18288" bIns="18288" anchor="ctr" rtlCol="0">
            <a:noAutofit/>
          </a:bodyPr>
          <a:lstStyle/>
          <a:p>
            <a:pPr algn="l">
              <a:lnSpc>
                <a:spcPct val="100000"/>
              </a:lnSpc>
              <a:spcBef>
                <a:spcPts val="0"/>
              </a:spcBef>
              <a:spcAft>
                <a:spcPts val="0"/>
              </a:spcAft>
              <a:buNone/>
            </a:pPr>
            <a:r>
              <a:rPr lang="fr-FR" sz="1050" b="0" i="0" dirty="0">
                <a:solidFill>
                  <a:srgbClr val="1F2933"/>
                </a:solidFill>
                <a:latin typeface="Segoe UI"/>
                <a:cs typeface="Segoe UI"/>
              </a:rPr>
              <a:t>intercommunalité (métropole, agglomération…) : Nantes Métropole = 24 communes.</a:t>
            </a:r>
            <a:endParaRPr lang="fr-FR" sz="1050" dirty="0"/>
          </a:p>
        </p:txBody>
      </p:sp>
      <p:sp>
        <p:nvSpPr>
          <p:cNvPr id="22" name="Forme 22"/>
          <p:cNvSpPr/>
          <p:nvPr/>
        </p:nvSpPr>
        <p:spPr>
          <a:xfrm>
            <a:off x="457200" y="3483864"/>
            <a:ext cx="1783080" cy="603504"/>
          </a:xfrm>
          <a:prstGeom prst="roundRect">
            <a:avLst>
              <a:gd name="adj" fmla="val 14000"/>
            </a:avLst>
          </a:prstGeom>
          <a:solidFill>
            <a:srgbClr val="0E9F8E"/>
          </a:solidFill>
          <a:ln>
            <a:noFill/>
          </a:ln>
        </p:spPr>
        <p:txBody>
          <a:bodyPr wrap="square" lIns="45720" tIns="0" rIns="45720" bIns="0" anchor="ctr" rtlCol="0">
            <a:noAutofit/>
          </a:bodyPr>
          <a:lstStyle/>
          <a:p>
            <a:pPr algn="ctr">
              <a:lnSpc>
                <a:spcPct val="100000"/>
              </a:lnSpc>
              <a:spcBef>
                <a:spcPts val="0"/>
              </a:spcBef>
              <a:spcAft>
                <a:spcPts val="0"/>
              </a:spcAft>
              <a:buNone/>
            </a:pPr>
            <a:r>
              <a:rPr lang="fr-FR" sz="1150" b="1" i="0" dirty="0">
                <a:solidFill>
                  <a:srgbClr val="FFFFFF"/>
                </a:solidFill>
                <a:latin typeface="Segoe UI"/>
                <a:cs typeface="Segoe UI"/>
              </a:rPr>
              <a:t>BPE</a:t>
            </a:r>
            <a:endParaRPr lang="fr-FR" sz="1150" dirty="0"/>
          </a:p>
        </p:txBody>
      </p:sp>
      <p:sp>
        <p:nvSpPr>
          <p:cNvPr id="23" name="Forme 23"/>
          <p:cNvSpPr/>
          <p:nvPr/>
        </p:nvSpPr>
        <p:spPr>
          <a:xfrm>
            <a:off x="2377440" y="3483864"/>
            <a:ext cx="3657600" cy="603504"/>
          </a:xfrm>
          <a:prstGeom prst="rect">
            <a:avLst/>
          </a:prstGeom>
          <a:noFill/>
          <a:ln>
            <a:noFill/>
          </a:ln>
        </p:spPr>
        <p:txBody>
          <a:bodyPr wrap="square" lIns="18288" tIns="18288" rIns="18288" bIns="18288" anchor="ctr" rtlCol="0">
            <a:noAutofit/>
          </a:bodyPr>
          <a:lstStyle/>
          <a:p>
            <a:pPr algn="l">
              <a:lnSpc>
                <a:spcPct val="100000"/>
              </a:lnSpc>
              <a:spcBef>
                <a:spcPts val="0"/>
              </a:spcBef>
              <a:spcAft>
                <a:spcPts val="0"/>
              </a:spcAft>
              <a:buNone/>
            </a:pPr>
            <a:r>
              <a:rPr lang="fr-FR" sz="1050" b="0" i="0" dirty="0">
                <a:solidFill>
                  <a:srgbClr val="1F2933"/>
                </a:solidFill>
                <a:latin typeface="Segoe UI"/>
                <a:cs typeface="Segoe UI"/>
              </a:rPr>
              <a:t>Base permanente des équipements : commerces, écoles, médecins… avec leur position.</a:t>
            </a:r>
            <a:endParaRPr lang="fr-FR" sz="1050" dirty="0"/>
          </a:p>
        </p:txBody>
      </p:sp>
      <p:sp>
        <p:nvSpPr>
          <p:cNvPr id="24" name="Forme 24"/>
          <p:cNvSpPr/>
          <p:nvPr/>
        </p:nvSpPr>
        <p:spPr>
          <a:xfrm>
            <a:off x="6172200" y="3483864"/>
            <a:ext cx="1783080" cy="603504"/>
          </a:xfrm>
          <a:prstGeom prst="roundRect">
            <a:avLst>
              <a:gd name="adj" fmla="val 14000"/>
            </a:avLst>
          </a:prstGeom>
          <a:solidFill>
            <a:srgbClr val="14213D"/>
          </a:solidFill>
          <a:ln>
            <a:noFill/>
          </a:ln>
        </p:spPr>
        <p:txBody>
          <a:bodyPr wrap="square" lIns="45720" tIns="0" rIns="45720" bIns="0" anchor="ctr" rtlCol="0">
            <a:noAutofit/>
          </a:bodyPr>
          <a:lstStyle/>
          <a:p>
            <a:pPr algn="ctr">
              <a:lnSpc>
                <a:spcPct val="100000"/>
              </a:lnSpc>
              <a:spcBef>
                <a:spcPts val="0"/>
              </a:spcBef>
              <a:spcAft>
                <a:spcPts val="0"/>
              </a:spcAft>
              <a:buNone/>
            </a:pPr>
            <a:r>
              <a:rPr lang="fr-FR" sz="1150" b="1" i="0" dirty="0">
                <a:solidFill>
                  <a:srgbClr val="FFFFFF"/>
                </a:solidFill>
                <a:latin typeface="Segoe UI"/>
                <a:cs typeface="Segoe UI"/>
              </a:rPr>
              <a:t>V1 / V2</a:t>
            </a:r>
            <a:endParaRPr lang="fr-FR" sz="1150" dirty="0"/>
          </a:p>
        </p:txBody>
      </p:sp>
      <p:sp>
        <p:nvSpPr>
          <p:cNvPr id="25" name="Forme 25"/>
          <p:cNvSpPr/>
          <p:nvPr/>
        </p:nvSpPr>
        <p:spPr>
          <a:xfrm>
            <a:off x="8092440" y="3483864"/>
            <a:ext cx="3657600" cy="603504"/>
          </a:xfrm>
          <a:prstGeom prst="rect">
            <a:avLst/>
          </a:prstGeom>
          <a:noFill/>
          <a:ln>
            <a:noFill/>
          </a:ln>
        </p:spPr>
        <p:txBody>
          <a:bodyPr wrap="square" lIns="18288" tIns="18288" rIns="18288" bIns="18288" anchor="ctr" rtlCol="0">
            <a:noAutofit/>
          </a:bodyPr>
          <a:lstStyle/>
          <a:p>
            <a:pPr algn="l">
              <a:lnSpc>
                <a:spcPct val="100000"/>
              </a:lnSpc>
              <a:spcBef>
                <a:spcPts val="0"/>
              </a:spcBef>
              <a:spcAft>
                <a:spcPts val="0"/>
              </a:spcAft>
              <a:buNone/>
            </a:pPr>
            <a:r>
              <a:rPr lang="fr-FR" sz="1050" b="0" i="0" dirty="0">
                <a:solidFill>
                  <a:srgbClr val="1F2933"/>
                </a:solidFill>
                <a:latin typeface="Segoe UI"/>
                <a:cs typeface="Segoe UI"/>
              </a:rPr>
              <a:t>V1 : 400 m à vol d'oiseau. V2 : 400 m de vraie marche par les rues. La V1 surestime l'offre de 80 à 93 %.</a:t>
            </a:r>
            <a:endParaRPr lang="fr-FR" sz="1050" dirty="0"/>
          </a:p>
        </p:txBody>
      </p:sp>
      <p:sp>
        <p:nvSpPr>
          <p:cNvPr id="26" name="Forme 26"/>
          <p:cNvSpPr/>
          <p:nvPr/>
        </p:nvSpPr>
        <p:spPr>
          <a:xfrm>
            <a:off x="457200" y="4187952"/>
            <a:ext cx="1783080" cy="603504"/>
          </a:xfrm>
          <a:prstGeom prst="roundRect">
            <a:avLst>
              <a:gd name="adj" fmla="val 14000"/>
            </a:avLst>
          </a:prstGeom>
          <a:solidFill>
            <a:srgbClr val="14213D"/>
          </a:solidFill>
          <a:ln>
            <a:noFill/>
          </a:ln>
        </p:spPr>
        <p:txBody>
          <a:bodyPr wrap="square" lIns="45720" tIns="0" rIns="45720" bIns="0" anchor="ctr" rtlCol="0">
            <a:noAutofit/>
          </a:bodyPr>
          <a:lstStyle/>
          <a:p>
            <a:pPr algn="ctr">
              <a:lnSpc>
                <a:spcPct val="100000"/>
              </a:lnSpc>
              <a:spcBef>
                <a:spcPts val="0"/>
              </a:spcBef>
              <a:spcAft>
                <a:spcPts val="0"/>
              </a:spcAft>
              <a:buNone/>
            </a:pPr>
            <a:r>
              <a:rPr lang="fr-FR" sz="1150" b="1" i="0" dirty="0">
                <a:solidFill>
                  <a:srgbClr val="FFFFFF"/>
                </a:solidFill>
                <a:latin typeface="Segoe UI"/>
                <a:cs typeface="Segoe UI"/>
              </a:rPr>
              <a:t>2SFCA</a:t>
            </a:r>
            <a:endParaRPr lang="fr-FR" sz="1150" dirty="0"/>
          </a:p>
        </p:txBody>
      </p:sp>
      <p:sp>
        <p:nvSpPr>
          <p:cNvPr id="27" name="Forme 27"/>
          <p:cNvSpPr/>
          <p:nvPr/>
        </p:nvSpPr>
        <p:spPr>
          <a:xfrm>
            <a:off x="2377440" y="4187952"/>
            <a:ext cx="3657600" cy="603504"/>
          </a:xfrm>
          <a:prstGeom prst="rect">
            <a:avLst/>
          </a:prstGeom>
          <a:noFill/>
          <a:ln>
            <a:noFill/>
          </a:ln>
        </p:spPr>
        <p:txBody>
          <a:bodyPr wrap="square" lIns="18288" tIns="18288" rIns="18288" bIns="18288" anchor="ctr" rtlCol="0">
            <a:noAutofit/>
          </a:bodyPr>
          <a:lstStyle/>
          <a:p>
            <a:pPr algn="l">
              <a:lnSpc>
                <a:spcPct val="100000"/>
              </a:lnSpc>
              <a:spcBef>
                <a:spcPts val="0"/>
              </a:spcBef>
              <a:spcAft>
                <a:spcPts val="0"/>
              </a:spcAft>
              <a:buNone/>
            </a:pPr>
            <a:r>
              <a:rPr lang="fr-FR" sz="1050" b="0" i="0" dirty="0">
                <a:solidFill>
                  <a:srgbClr val="1F2933"/>
                </a:solidFill>
                <a:latin typeface="Segoe UI"/>
                <a:cs typeface="Segoe UI"/>
              </a:rPr>
              <a:t>on partage l'offre d'un arrêt entre tous les habitants qui y ont accès : options pour 1 000 habitants.</a:t>
            </a:r>
            <a:endParaRPr lang="fr-FR" sz="1050" dirty="0"/>
          </a:p>
        </p:txBody>
      </p:sp>
      <p:sp>
        <p:nvSpPr>
          <p:cNvPr id="28" name="Forme 28"/>
          <p:cNvSpPr/>
          <p:nvPr/>
        </p:nvSpPr>
        <p:spPr>
          <a:xfrm>
            <a:off x="6172200" y="4187952"/>
            <a:ext cx="1783080" cy="603504"/>
          </a:xfrm>
          <a:prstGeom prst="roundRect">
            <a:avLst>
              <a:gd name="adj" fmla="val 14000"/>
            </a:avLst>
          </a:prstGeom>
          <a:solidFill>
            <a:srgbClr val="0E9F8E"/>
          </a:solidFill>
          <a:ln>
            <a:noFill/>
          </a:ln>
        </p:spPr>
        <p:txBody>
          <a:bodyPr wrap="square" lIns="45720" tIns="0" rIns="45720" bIns="0" anchor="ctr" rtlCol="0">
            <a:noAutofit/>
          </a:bodyPr>
          <a:lstStyle/>
          <a:p>
            <a:pPr algn="ctr">
              <a:lnSpc>
                <a:spcPct val="100000"/>
              </a:lnSpc>
              <a:spcBef>
                <a:spcPts val="0"/>
              </a:spcBef>
              <a:spcAft>
                <a:spcPts val="0"/>
              </a:spcAft>
              <a:buNone/>
            </a:pPr>
            <a:r>
              <a:rPr lang="fr-FR" sz="1150" b="1" i="0" dirty="0">
                <a:solidFill>
                  <a:srgbClr val="FFFFFF"/>
                </a:solidFill>
                <a:latin typeface="Segoe UI"/>
                <a:cs typeface="Segoe UI"/>
              </a:rPr>
              <a:t>Lakehouse</a:t>
            </a:r>
            <a:endParaRPr lang="fr-FR" sz="1150" dirty="0"/>
          </a:p>
        </p:txBody>
      </p:sp>
      <p:sp>
        <p:nvSpPr>
          <p:cNvPr id="29" name="Forme 29"/>
          <p:cNvSpPr/>
          <p:nvPr/>
        </p:nvSpPr>
        <p:spPr>
          <a:xfrm>
            <a:off x="8092440" y="4187952"/>
            <a:ext cx="3657600" cy="603504"/>
          </a:xfrm>
          <a:prstGeom prst="rect">
            <a:avLst/>
          </a:prstGeom>
          <a:noFill/>
          <a:ln>
            <a:noFill/>
          </a:ln>
        </p:spPr>
        <p:txBody>
          <a:bodyPr wrap="square" lIns="18288" tIns="18288" rIns="18288" bIns="18288" anchor="ctr" rtlCol="0">
            <a:noAutofit/>
          </a:bodyPr>
          <a:lstStyle/>
          <a:p>
            <a:pPr algn="l">
              <a:lnSpc>
                <a:spcPct val="100000"/>
              </a:lnSpc>
              <a:spcBef>
                <a:spcPts val="0"/>
              </a:spcBef>
              <a:spcAft>
                <a:spcPts val="0"/>
              </a:spcAft>
              <a:buNone/>
            </a:pPr>
            <a:r>
              <a:rPr lang="fr-FR" sz="1050" b="0" i="0" dirty="0">
                <a:solidFill>
                  <a:srgbClr val="1F2933"/>
                </a:solidFill>
                <a:latin typeface="Segoe UI"/>
                <a:cs typeface="Segoe UI"/>
              </a:rPr>
              <a:t>espace de stockage de Microsoft Fabric qui range à la fois des fichiers et des tables.</a:t>
            </a:r>
            <a:endParaRPr lang="fr-FR" sz="1050" dirty="0"/>
          </a:p>
        </p:txBody>
      </p:sp>
      <p:sp>
        <p:nvSpPr>
          <p:cNvPr id="30" name="Forme 30"/>
          <p:cNvSpPr/>
          <p:nvPr/>
        </p:nvSpPr>
        <p:spPr>
          <a:xfrm>
            <a:off x="457200" y="4892040"/>
            <a:ext cx="1783080" cy="603504"/>
          </a:xfrm>
          <a:prstGeom prst="roundRect">
            <a:avLst>
              <a:gd name="adj" fmla="val 14000"/>
            </a:avLst>
          </a:prstGeom>
          <a:solidFill>
            <a:srgbClr val="0E9F8E"/>
          </a:solidFill>
          <a:ln>
            <a:noFill/>
          </a:ln>
        </p:spPr>
        <p:txBody>
          <a:bodyPr wrap="square" lIns="45720" tIns="0" rIns="45720" bIns="0" anchor="ctr" rtlCol="0">
            <a:noAutofit/>
          </a:bodyPr>
          <a:lstStyle/>
          <a:p>
            <a:pPr algn="ctr">
              <a:lnSpc>
                <a:spcPct val="100000"/>
              </a:lnSpc>
              <a:spcBef>
                <a:spcPts val="0"/>
              </a:spcBef>
              <a:spcAft>
                <a:spcPts val="0"/>
              </a:spcAft>
              <a:buNone/>
            </a:pPr>
            <a:r>
              <a:rPr lang="fr-FR" sz="1150" b="1" i="0" dirty="0">
                <a:solidFill>
                  <a:srgbClr val="FFFFFF"/>
                </a:solidFill>
                <a:latin typeface="Segoe UI"/>
                <a:cs typeface="Segoe UI"/>
              </a:rPr>
              <a:t>Bronze / Silver / Gold</a:t>
            </a:r>
            <a:endParaRPr lang="fr-FR" sz="1150" dirty="0"/>
          </a:p>
        </p:txBody>
      </p:sp>
      <p:sp>
        <p:nvSpPr>
          <p:cNvPr id="31" name="Forme 31"/>
          <p:cNvSpPr/>
          <p:nvPr/>
        </p:nvSpPr>
        <p:spPr>
          <a:xfrm>
            <a:off x="2377440" y="4892040"/>
            <a:ext cx="3657600" cy="603504"/>
          </a:xfrm>
          <a:prstGeom prst="rect">
            <a:avLst/>
          </a:prstGeom>
          <a:noFill/>
          <a:ln>
            <a:noFill/>
          </a:ln>
        </p:spPr>
        <p:txBody>
          <a:bodyPr wrap="square" lIns="18288" tIns="18288" rIns="18288" bIns="18288" anchor="ctr" rtlCol="0">
            <a:noAutofit/>
          </a:bodyPr>
          <a:lstStyle/>
          <a:p>
            <a:pPr algn="l">
              <a:lnSpc>
                <a:spcPct val="100000"/>
              </a:lnSpc>
              <a:spcBef>
                <a:spcPts val="0"/>
              </a:spcBef>
              <a:spcAft>
                <a:spcPts val="0"/>
              </a:spcAft>
              <a:buNone/>
            </a:pPr>
            <a:r>
              <a:rPr lang="fr-FR" sz="1050" b="0" i="0" dirty="0">
                <a:solidFill>
                  <a:srgbClr val="1F2933"/>
                </a:solidFill>
                <a:latin typeface="Segoe UI"/>
                <a:cs typeface="Segoe UI"/>
              </a:rPr>
              <a:t>brut tel que téléchargé / nettoyé / prêt à l'emploi (indicateurs, recommandations).</a:t>
            </a:r>
            <a:endParaRPr lang="fr-FR" sz="1050" dirty="0"/>
          </a:p>
        </p:txBody>
      </p:sp>
      <p:sp>
        <p:nvSpPr>
          <p:cNvPr id="32" name="Forme 32"/>
          <p:cNvSpPr/>
          <p:nvPr/>
        </p:nvSpPr>
        <p:spPr>
          <a:xfrm>
            <a:off x="6172200" y="4892040"/>
            <a:ext cx="1783080" cy="603504"/>
          </a:xfrm>
          <a:prstGeom prst="roundRect">
            <a:avLst>
              <a:gd name="adj" fmla="val 14000"/>
            </a:avLst>
          </a:prstGeom>
          <a:solidFill>
            <a:srgbClr val="14213D"/>
          </a:solidFill>
          <a:ln>
            <a:noFill/>
          </a:ln>
        </p:spPr>
        <p:txBody>
          <a:bodyPr wrap="square" lIns="45720" tIns="0" rIns="45720" bIns="0" anchor="ctr" rtlCol="0">
            <a:noAutofit/>
          </a:bodyPr>
          <a:lstStyle/>
          <a:p>
            <a:pPr algn="ctr">
              <a:lnSpc>
                <a:spcPct val="100000"/>
              </a:lnSpc>
              <a:spcBef>
                <a:spcPts val="0"/>
              </a:spcBef>
              <a:spcAft>
                <a:spcPts val="0"/>
              </a:spcAft>
              <a:buNone/>
            </a:pPr>
            <a:r>
              <a:rPr lang="fr-FR" sz="1150" b="1" i="0" dirty="0">
                <a:solidFill>
                  <a:srgbClr val="FFFFFF"/>
                </a:solidFill>
                <a:latin typeface="Segoe UI"/>
                <a:cs typeface="Segoe UI"/>
              </a:rPr>
              <a:t>ILP</a:t>
            </a:r>
            <a:endParaRPr lang="fr-FR" sz="1150" dirty="0"/>
          </a:p>
        </p:txBody>
      </p:sp>
      <p:sp>
        <p:nvSpPr>
          <p:cNvPr id="33" name="Forme 33"/>
          <p:cNvSpPr/>
          <p:nvPr/>
        </p:nvSpPr>
        <p:spPr>
          <a:xfrm>
            <a:off x="8092440" y="4892040"/>
            <a:ext cx="3657600" cy="603504"/>
          </a:xfrm>
          <a:prstGeom prst="rect">
            <a:avLst/>
          </a:prstGeom>
          <a:noFill/>
          <a:ln>
            <a:noFill/>
          </a:ln>
        </p:spPr>
        <p:txBody>
          <a:bodyPr wrap="square" lIns="18288" tIns="18288" rIns="18288" bIns="18288" anchor="ctr" rtlCol="0">
            <a:noAutofit/>
          </a:bodyPr>
          <a:lstStyle/>
          <a:p>
            <a:pPr algn="l">
              <a:lnSpc>
                <a:spcPct val="100000"/>
              </a:lnSpc>
              <a:spcBef>
                <a:spcPts val="0"/>
              </a:spcBef>
              <a:spcAft>
                <a:spcPts val="0"/>
              </a:spcAft>
              <a:buNone/>
            </a:pPr>
            <a:r>
              <a:rPr lang="fr-FR" sz="1050" b="0" i="0" dirty="0">
                <a:solidFill>
                  <a:srgbClr val="1F2933"/>
                </a:solidFill>
                <a:latin typeface="Segoe UI"/>
                <a:cs typeface="Segoe UI"/>
              </a:rPr>
              <a:t>programme linéaire en nombres entiers : le solveur trouve le meilleur choix exact de stations sous budget.</a:t>
            </a:r>
            <a:endParaRPr lang="fr-FR" sz="1050" dirty="0"/>
          </a:p>
        </p:txBody>
      </p:sp>
      <p:sp>
        <p:nvSpPr>
          <p:cNvPr id="34" name="Forme 34"/>
          <p:cNvSpPr/>
          <p:nvPr/>
        </p:nvSpPr>
        <p:spPr>
          <a:xfrm>
            <a:off x="457200" y="5596128"/>
            <a:ext cx="1783080" cy="603504"/>
          </a:xfrm>
          <a:prstGeom prst="roundRect">
            <a:avLst>
              <a:gd name="adj" fmla="val 14000"/>
            </a:avLst>
          </a:prstGeom>
          <a:solidFill>
            <a:srgbClr val="14213D"/>
          </a:solidFill>
          <a:ln>
            <a:noFill/>
          </a:ln>
        </p:spPr>
        <p:txBody>
          <a:bodyPr wrap="square" lIns="45720" tIns="0" rIns="45720" bIns="0" anchor="ctr" rtlCol="0">
            <a:noAutofit/>
          </a:bodyPr>
          <a:lstStyle/>
          <a:p>
            <a:pPr algn="ctr">
              <a:lnSpc>
                <a:spcPct val="100000"/>
              </a:lnSpc>
              <a:spcBef>
                <a:spcPts val="0"/>
              </a:spcBef>
              <a:spcAft>
                <a:spcPts val="0"/>
              </a:spcAft>
              <a:buNone/>
            </a:pPr>
            <a:r>
              <a:rPr lang="fr-FR" sz="1150" b="1" i="0" dirty="0">
                <a:solidFill>
                  <a:srgbClr val="FFFFFF"/>
                </a:solidFill>
                <a:latin typeface="Segoe UI"/>
                <a:cs typeface="Segoe UI"/>
              </a:rPr>
              <a:t>Glouton</a:t>
            </a:r>
            <a:endParaRPr lang="fr-FR" sz="1150" dirty="0"/>
          </a:p>
        </p:txBody>
      </p:sp>
      <p:sp>
        <p:nvSpPr>
          <p:cNvPr id="35" name="Forme 35"/>
          <p:cNvSpPr/>
          <p:nvPr/>
        </p:nvSpPr>
        <p:spPr>
          <a:xfrm>
            <a:off x="2377440" y="5596128"/>
            <a:ext cx="3657600" cy="603504"/>
          </a:xfrm>
          <a:prstGeom prst="rect">
            <a:avLst/>
          </a:prstGeom>
          <a:noFill/>
          <a:ln>
            <a:noFill/>
          </a:ln>
        </p:spPr>
        <p:txBody>
          <a:bodyPr wrap="square" lIns="18288" tIns="18288" rIns="18288" bIns="18288" anchor="ctr" rtlCol="0">
            <a:noAutofit/>
          </a:bodyPr>
          <a:lstStyle/>
          <a:p>
            <a:pPr algn="l">
              <a:lnSpc>
                <a:spcPct val="100000"/>
              </a:lnSpc>
              <a:spcBef>
                <a:spcPts val="0"/>
              </a:spcBef>
              <a:spcAft>
                <a:spcPts val="0"/>
              </a:spcAft>
              <a:buNone/>
            </a:pPr>
            <a:r>
              <a:rPr lang="fr-FR" sz="1050" b="0" i="0" dirty="0">
                <a:solidFill>
                  <a:srgbClr val="1F2933"/>
                </a:solidFill>
                <a:latin typeface="Segoe UI"/>
                <a:cs typeface="Segoe UI"/>
              </a:rPr>
              <a:t>on prend à chaque fois la station qui rapporte le plus, sans revenir en arrière : rapide, pas toujours optimal.</a:t>
            </a:r>
            <a:endParaRPr lang="fr-FR" sz="1050" dirty="0"/>
          </a:p>
        </p:txBody>
      </p:sp>
      <p:sp>
        <p:nvSpPr>
          <p:cNvPr id="36" name="Forme 36"/>
          <p:cNvSpPr/>
          <p:nvPr/>
        </p:nvSpPr>
        <p:spPr>
          <a:xfrm>
            <a:off x="6172200" y="5596128"/>
            <a:ext cx="1783080" cy="603504"/>
          </a:xfrm>
          <a:prstGeom prst="roundRect">
            <a:avLst>
              <a:gd name="adj" fmla="val 14000"/>
            </a:avLst>
          </a:prstGeom>
          <a:solidFill>
            <a:srgbClr val="0E9F8E"/>
          </a:solidFill>
          <a:ln>
            <a:noFill/>
          </a:ln>
        </p:spPr>
        <p:txBody>
          <a:bodyPr wrap="square" lIns="45720" tIns="0" rIns="45720" bIns="0" anchor="ctr" rtlCol="0">
            <a:noAutofit/>
          </a:bodyPr>
          <a:lstStyle/>
          <a:p>
            <a:pPr algn="ctr">
              <a:lnSpc>
                <a:spcPct val="100000"/>
              </a:lnSpc>
              <a:spcBef>
                <a:spcPts val="0"/>
              </a:spcBef>
              <a:spcAft>
                <a:spcPts val="0"/>
              </a:spcAft>
              <a:buNone/>
            </a:pPr>
            <a:r>
              <a:rPr lang="fr-FR" sz="1150" b="1" i="0" dirty="0">
                <a:solidFill>
                  <a:srgbClr val="FFFFFF"/>
                </a:solidFill>
                <a:latin typeface="Segoe UI"/>
                <a:cs typeface="Segoe UI"/>
              </a:rPr>
              <a:t>Jour type</a:t>
            </a:r>
            <a:endParaRPr lang="fr-FR" sz="1150" dirty="0"/>
          </a:p>
        </p:txBody>
      </p:sp>
      <p:sp>
        <p:nvSpPr>
          <p:cNvPr id="37" name="Forme 37"/>
          <p:cNvSpPr/>
          <p:nvPr/>
        </p:nvSpPr>
        <p:spPr>
          <a:xfrm>
            <a:off x="8092440" y="5596128"/>
            <a:ext cx="3657600" cy="603504"/>
          </a:xfrm>
          <a:prstGeom prst="rect">
            <a:avLst/>
          </a:prstGeom>
          <a:noFill/>
          <a:ln>
            <a:noFill/>
          </a:ln>
        </p:spPr>
        <p:txBody>
          <a:bodyPr wrap="square" lIns="18288" tIns="18288" rIns="18288" bIns="18288" anchor="ctr" rtlCol="0">
            <a:noAutofit/>
          </a:bodyPr>
          <a:lstStyle/>
          <a:p>
            <a:pPr algn="l">
              <a:lnSpc>
                <a:spcPct val="100000"/>
              </a:lnSpc>
              <a:spcBef>
                <a:spcPts val="0"/>
              </a:spcBef>
              <a:spcAft>
                <a:spcPts val="0"/>
              </a:spcAft>
              <a:buNone/>
            </a:pPr>
            <a:r>
              <a:rPr lang="fr-FR" sz="1050" b="0" i="0" dirty="0">
                <a:solidFill>
                  <a:srgbClr val="1F2933"/>
                </a:solidFill>
                <a:latin typeface="Segoe UI"/>
                <a:cs typeface="Segoe UI"/>
              </a:rPr>
              <a:t>le mardi 17/11/2026, figé, sur lequel on compte les passages de tous les réseaux.</a:t>
            </a:r>
            <a:endParaRPr lang="fr-FR"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rme 3"/>
          <p:cNvSpPr/>
          <p:nvPr/>
        </p:nvSpPr>
        <p:spPr>
          <a:xfrm>
            <a:off x="0" y="0"/>
            <a:ext cx="128016" cy="6858000"/>
          </a:xfrm>
          <a:prstGeom prst="rect">
            <a:avLst/>
          </a:prstGeom>
          <a:solidFill>
            <a:srgbClr val="0E9F8E"/>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4" name="Forme 4"/>
          <p:cNvSpPr/>
          <p:nvPr/>
        </p:nvSpPr>
        <p:spPr>
          <a:xfrm>
            <a:off x="457200" y="256032"/>
            <a:ext cx="7315200" cy="2743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050" b="1" i="0" dirty="0">
                <a:solidFill>
                  <a:srgbClr val="0E9F8E"/>
                </a:solidFill>
                <a:latin typeface="Segoe UI"/>
                <a:cs typeface="Segoe UI"/>
              </a:rPr>
              <a:t>PARTIE 9 · VERSION ORALE</a:t>
            </a:r>
            <a:endParaRPr lang="fr-FR" sz="1050" dirty="0"/>
          </a:p>
        </p:txBody>
      </p:sp>
      <p:sp>
        <p:nvSpPr>
          <p:cNvPr id="5" name="Forme 5"/>
          <p:cNvSpPr/>
          <p:nvPr/>
        </p:nvSpPr>
        <p:spPr>
          <a:xfrm>
            <a:off x="457200" y="502920"/>
            <a:ext cx="11247120" cy="5486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2500" b="1" i="0" dirty="0">
                <a:solidFill>
                  <a:srgbClr val="14213D"/>
                </a:solidFill>
                <a:latin typeface="Segoe UI"/>
                <a:cs typeface="Segoe UI"/>
              </a:rPr>
              <a:t>Le résumé d'une minute</a:t>
            </a:r>
            <a:endParaRPr lang="fr-FR" sz="2500" dirty="0"/>
          </a:p>
        </p:txBody>
      </p:sp>
      <p:sp>
        <p:nvSpPr>
          <p:cNvPr id="6" name="Forme 6"/>
          <p:cNvSpPr/>
          <p:nvPr/>
        </p:nvSpPr>
        <p:spPr>
          <a:xfrm>
            <a:off x="457200" y="987552"/>
            <a:ext cx="11247120" cy="3200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250" b="0" i="0" dirty="0">
                <a:solidFill>
                  <a:srgbClr val="5B6573"/>
                </a:solidFill>
                <a:latin typeface="Segoe UI"/>
                <a:cs typeface="Segoe UI"/>
              </a:rPr>
              <a:t>À dire tel quel, calmement : environ 160 mots.</a:t>
            </a:r>
            <a:endParaRPr lang="fr-FR" sz="1250" dirty="0"/>
          </a:p>
        </p:txBody>
      </p:sp>
      <p:sp>
        <p:nvSpPr>
          <p:cNvPr id="7" name="Forme 7"/>
          <p:cNvSpPr/>
          <p:nvPr/>
        </p:nvSpPr>
        <p:spPr>
          <a:xfrm>
            <a:off x="457200" y="6446520"/>
            <a:ext cx="11274552" cy="10973"/>
          </a:xfrm>
          <a:prstGeom prst="rect">
            <a:avLst/>
          </a:prstGeom>
          <a:solidFill>
            <a:srgbClr val="D5DAE1"/>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8" name="Forme 8"/>
          <p:cNvSpPr/>
          <p:nvPr/>
        </p:nvSpPr>
        <p:spPr>
          <a:xfrm>
            <a:off x="457200" y="6492240"/>
            <a:ext cx="7315200" cy="256032"/>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00" b="0" i="0" dirty="0">
                <a:solidFill>
                  <a:srgbClr val="5B6573"/>
                </a:solidFill>
                <a:latin typeface="Segoe UI"/>
                <a:cs typeface="Segoe UI"/>
              </a:rPr>
              <a:t>Hackathon Mobility × Citiz · Nos données, de A à Z</a:t>
            </a:r>
            <a:endParaRPr lang="fr-FR" sz="900" dirty="0"/>
          </a:p>
        </p:txBody>
      </p:sp>
      <p:sp>
        <p:nvSpPr>
          <p:cNvPr id="9" name="Forme 9"/>
          <p:cNvSpPr/>
          <p:nvPr/>
        </p:nvSpPr>
        <p:spPr>
          <a:xfrm>
            <a:off x="10360152" y="6492240"/>
            <a:ext cx="1371600" cy="256032"/>
          </a:xfrm>
          <a:prstGeom prst="rect">
            <a:avLst/>
          </a:prstGeom>
          <a:noFill/>
          <a:ln>
            <a:noFill/>
          </a:ln>
        </p:spPr>
        <p:txBody>
          <a:bodyPr wrap="square" lIns="18288" tIns="18288" rIns="18288" bIns="18288" anchor="t" rtlCol="0">
            <a:noAutofit/>
          </a:bodyPr>
          <a:lstStyle/>
          <a:p>
            <a:pPr algn="r">
              <a:lnSpc>
                <a:spcPct val="100000"/>
              </a:lnSpc>
              <a:spcBef>
                <a:spcPts val="0"/>
              </a:spcBef>
              <a:spcAft>
                <a:spcPts val="0"/>
              </a:spcAft>
              <a:buNone/>
            </a:pPr>
            <a:r>
              <a:rPr lang="fr-FR" sz="900" b="0" i="0" dirty="0">
                <a:solidFill>
                  <a:srgbClr val="5B6573"/>
                </a:solidFill>
                <a:latin typeface="Segoe UI"/>
                <a:cs typeface="Segoe UI"/>
              </a:rPr>
              <a:t>28</a:t>
            </a:r>
            <a:endParaRPr lang="fr-FR" sz="900" dirty="0"/>
          </a:p>
        </p:txBody>
      </p:sp>
      <p:sp>
        <p:nvSpPr>
          <p:cNvPr id="10" name="Forme 10"/>
          <p:cNvSpPr/>
          <p:nvPr/>
        </p:nvSpPr>
        <p:spPr>
          <a:xfrm>
            <a:off x="457200" y="1371600"/>
            <a:ext cx="11274552" cy="4206240"/>
          </a:xfrm>
          <a:prstGeom prst="roundRect">
            <a:avLst>
              <a:gd name="adj" fmla="val 4000"/>
            </a:avLst>
          </a:prstGeom>
          <a:solidFill>
            <a:srgbClr val="E3F4F2"/>
          </a:solidFill>
          <a:ln>
            <a:noFill/>
          </a:ln>
        </p:spPr>
        <p:txBody>
          <a:bodyPr wrap="square" lIns="411480" tIns="274320" rIns="411480" bIns="228600" anchor="t" rtlCol="0">
            <a:noAutofit/>
          </a:bodyPr>
          <a:lstStyle/>
          <a:p>
            <a:pPr algn="l">
              <a:lnSpc>
                <a:spcPct val="110000"/>
              </a:lnSpc>
              <a:spcBef>
                <a:spcPts val="0"/>
              </a:spcBef>
              <a:spcAft>
                <a:spcPts val="0"/>
              </a:spcAft>
              <a:buNone/>
            </a:pPr>
            <a:r>
              <a:rPr lang="fr-FR" sz="1500" b="0" i="0" dirty="0">
                <a:solidFill>
                  <a:srgbClr val="1F2933"/>
                </a:solidFill>
                <a:latin typeface="Segoe UI"/>
                <a:cs typeface="Segoe UI"/>
              </a:rPr>
              <a:t>« Toutes nos données sont </a:t>
            </a:r>
            <a:r>
              <a:rPr lang="fr-FR" sz="1500" b="1" i="0" dirty="0">
                <a:solidFill>
                  <a:srgbClr val="1F2933"/>
                </a:solidFill>
                <a:latin typeface="Segoe UI"/>
                <a:cs typeface="Segoe UI"/>
              </a:rPr>
              <a:t>ouvertes</a:t>
            </a:r>
            <a:r>
              <a:rPr lang="fr-FR" sz="1500" b="0" i="0" dirty="0">
                <a:solidFill>
                  <a:srgbClr val="1F2933"/>
                </a:solidFill>
                <a:latin typeface="Segoe UI"/>
                <a:cs typeface="Segoe UI"/>
              </a:rPr>
              <a:t> : quatorze sources publiques, de l'INSEE, de l'IGN, de transport.data.gouv.fr, d'OpenStreetMap, du ministère de l'Intérieur et de Nantes Métropole.</a:t>
            </a:r>
            <a:endParaRPr lang="fr-FR" sz="1500" dirty="0"/>
          </a:p>
          <a:p>
            <a:pPr algn="l">
              <a:lnSpc>
                <a:spcPct val="110000"/>
              </a:lnSpc>
              <a:spcBef>
                <a:spcPts val="800"/>
              </a:spcBef>
              <a:spcAft>
                <a:spcPts val="0"/>
              </a:spcAft>
              <a:buNone/>
            </a:pPr>
            <a:r>
              <a:rPr lang="fr-FR" sz="1500" b="0" i="0" dirty="0">
                <a:solidFill>
                  <a:srgbClr val="1F2933"/>
                </a:solidFill>
                <a:latin typeface="Segoe UI"/>
                <a:cs typeface="Segoe UI"/>
              </a:rPr>
              <a:t>Un seul script les </a:t>
            </a:r>
            <a:r>
              <a:rPr lang="fr-FR" sz="1500" b="1" i="0" dirty="0">
                <a:solidFill>
                  <a:srgbClr val="1F2933"/>
                </a:solidFill>
                <a:latin typeface="Segoe UI"/>
                <a:cs typeface="Segoe UI"/>
              </a:rPr>
              <a:t>télécharge automatiquement</a:t>
            </a:r>
            <a:r>
              <a:rPr lang="fr-FR" sz="1500" b="0" i="0" dirty="0">
                <a:solidFill>
                  <a:srgbClr val="1F2933"/>
                </a:solidFill>
                <a:latin typeface="Segoe UI"/>
                <a:cs typeface="Segoe UI"/>
              </a:rPr>
              <a:t> : il interroge l'API nationale des transports pour trouver les 548 fichiers d'horaires et les flux de vélos et d'autopartage, il lit le catalogue de l'IGN pour prendre la dernière édition, et il </a:t>
            </a:r>
            <a:r>
              <a:rPr lang="fr-FR" sz="1500" b="1" i="0" dirty="0">
                <a:solidFill>
                  <a:srgbClr val="1F2933"/>
                </a:solidFill>
                <a:latin typeface="Segoe UI"/>
                <a:cs typeface="Segoe UI"/>
              </a:rPr>
              <a:t>reprend tout seul</a:t>
            </a:r>
            <a:r>
              <a:rPr lang="fr-FR" sz="1500" b="0" i="0" dirty="0">
                <a:solidFill>
                  <a:srgbClr val="1F2933"/>
                </a:solidFill>
                <a:latin typeface="Segoe UI"/>
                <a:cs typeface="Segoe UI"/>
              </a:rPr>
              <a:t> s'il est coupé. Un deuxième script </a:t>
            </a:r>
            <a:r>
              <a:rPr lang="fr-FR" sz="1500" b="1" i="0" dirty="0">
                <a:solidFill>
                  <a:srgbClr val="1F2933"/>
                </a:solidFill>
                <a:latin typeface="Segoe UI"/>
                <a:cs typeface="Segoe UI"/>
              </a:rPr>
              <a:t>vérifie</a:t>
            </a:r>
            <a:r>
              <a:rPr lang="fr-FR" sz="1500" b="0" i="0" dirty="0">
                <a:solidFill>
                  <a:srgbClr val="1F2933"/>
                </a:solidFill>
                <a:latin typeface="Segoe UI"/>
                <a:cs typeface="Segoe UI"/>
              </a:rPr>
              <a:t> chaque fichier.</a:t>
            </a:r>
            <a:endParaRPr lang="fr-FR" sz="1500" dirty="0"/>
          </a:p>
          <a:p>
            <a:pPr algn="l">
              <a:lnSpc>
                <a:spcPct val="110000"/>
              </a:lnSpc>
              <a:spcBef>
                <a:spcPts val="800"/>
              </a:spcBef>
              <a:spcAft>
                <a:spcPts val="0"/>
              </a:spcAft>
              <a:buNone/>
            </a:pPr>
            <a:r>
              <a:rPr lang="fr-FR" sz="1500" b="0" i="0" dirty="0">
                <a:solidFill>
                  <a:srgbClr val="1F2933"/>
                </a:solidFill>
                <a:latin typeface="Segoe UI"/>
                <a:cs typeface="Segoe UI"/>
              </a:rPr>
              <a:t>Ensuite on </a:t>
            </a:r>
            <a:r>
              <a:rPr lang="fr-FR" sz="1500" b="1" i="0" dirty="0">
                <a:solidFill>
                  <a:srgbClr val="1F2933"/>
                </a:solidFill>
                <a:latin typeface="Segoe UI"/>
                <a:cs typeface="Segoe UI"/>
              </a:rPr>
              <a:t>nettoie</a:t>
            </a:r>
            <a:r>
              <a:rPr lang="fr-FR" sz="1500" b="0" i="0" dirty="0">
                <a:solidFill>
                  <a:srgbClr val="1F2933"/>
                </a:solidFill>
                <a:latin typeface="Segoe UI"/>
                <a:cs typeface="Segoe UI"/>
              </a:rPr>
              <a:t> : on fusionne les arrêts en double, on fige un mardi type pour les horaires, et on recale la population sur le recensement, parce que Filosofi oublie environ 10 % des habitants, surtout des étudiants.</a:t>
            </a:r>
            <a:endParaRPr lang="fr-FR" sz="1500" dirty="0"/>
          </a:p>
          <a:p>
            <a:pPr algn="l">
              <a:lnSpc>
                <a:spcPct val="110000"/>
              </a:lnSpc>
              <a:spcBef>
                <a:spcPts val="800"/>
              </a:spcBef>
              <a:spcAft>
                <a:spcPts val="0"/>
              </a:spcAft>
              <a:buNone/>
            </a:pPr>
            <a:r>
              <a:rPr lang="fr-FR" sz="1500" b="0" i="0" dirty="0">
                <a:solidFill>
                  <a:srgbClr val="1F2933"/>
                </a:solidFill>
                <a:latin typeface="Segoe UI"/>
                <a:cs typeface="Segoe UI"/>
              </a:rPr>
              <a:t>Enfin, pour chaque carreau de 200 mètres, on compte les options à </a:t>
            </a:r>
            <a:r>
              <a:rPr lang="fr-FR" sz="1500" b="1" i="0" dirty="0">
                <a:solidFill>
                  <a:srgbClr val="1F2933"/>
                </a:solidFill>
                <a:latin typeface="Segoe UI"/>
                <a:cs typeface="Segoe UI"/>
              </a:rPr>
              <a:t>5 minutes de vraie marche</a:t>
            </a:r>
            <a:r>
              <a:rPr lang="fr-FR" sz="1500" b="0" i="0" dirty="0">
                <a:solidFill>
                  <a:srgbClr val="1F2933"/>
                </a:solidFill>
                <a:latin typeface="Segoe UI"/>
                <a:cs typeface="Segoe UI"/>
              </a:rPr>
              <a:t>. Tout se reconstruit en </a:t>
            </a:r>
            <a:r>
              <a:rPr lang="fr-FR" sz="1500" b="1" i="0" dirty="0">
                <a:solidFill>
                  <a:srgbClr val="1F2933"/>
                </a:solidFill>
                <a:latin typeface="Segoe UI"/>
                <a:cs typeface="Segoe UI"/>
              </a:rPr>
              <a:t>cinq commandes</a:t>
            </a:r>
            <a:r>
              <a:rPr lang="fr-FR" sz="1500" b="0" i="0" dirty="0">
                <a:solidFill>
                  <a:srgbClr val="1F2933"/>
                </a:solidFill>
                <a:latin typeface="Segoe UI"/>
                <a:cs typeface="Segoe UI"/>
              </a:rPr>
              <a:t>, </a:t>
            </a:r>
            <a:r>
              <a:rPr lang="fr-FR" sz="1500" b="1" i="0" dirty="0">
                <a:solidFill>
                  <a:srgbClr val="1F2933"/>
                </a:solidFill>
                <a:latin typeface="Segoe UI"/>
                <a:cs typeface="Segoe UI"/>
              </a:rPr>
              <a:t>82 tests</a:t>
            </a:r>
            <a:r>
              <a:rPr lang="fr-FR" sz="1500" b="0" i="0" dirty="0">
                <a:solidFill>
                  <a:srgbClr val="1F2933"/>
                </a:solidFill>
                <a:latin typeface="Segoe UI"/>
                <a:cs typeface="Segoe UI"/>
              </a:rPr>
              <a:t> vérifient le résultat, et la même chaîne tourne dans Fabric en Bronze, Silver, Gold. »</a:t>
            </a:r>
            <a:endParaRPr lang="fr-FR" sz="1500" dirty="0"/>
          </a:p>
        </p:txBody>
      </p:sp>
      <p:sp>
        <p:nvSpPr>
          <p:cNvPr id="11" name="Forme 11"/>
          <p:cNvSpPr/>
          <p:nvPr/>
        </p:nvSpPr>
        <p:spPr>
          <a:xfrm>
            <a:off x="457200" y="5715000"/>
            <a:ext cx="11274552" cy="548640"/>
          </a:xfrm>
          <a:prstGeom prst="roundRect">
            <a:avLst>
              <a:gd name="adj" fmla="val 10000"/>
            </a:avLst>
          </a:prstGeom>
          <a:solidFill>
            <a:srgbClr val="F4F6F9"/>
          </a:solidFill>
          <a:ln>
            <a:noFill/>
          </a:ln>
        </p:spPr>
        <p:txBody>
          <a:bodyPr wrap="square" lIns="274320" tIns="27432" rIns="274320" bIns="27432" anchor="ctr" rtlCol="0">
            <a:noAutofit/>
          </a:bodyPr>
          <a:lstStyle/>
          <a:p>
            <a:pPr algn="l">
              <a:lnSpc>
                <a:spcPct val="100000"/>
              </a:lnSpc>
              <a:spcBef>
                <a:spcPts val="0"/>
              </a:spcBef>
              <a:spcAft>
                <a:spcPts val="0"/>
              </a:spcAft>
              <a:buNone/>
            </a:pPr>
            <a:r>
              <a:rPr lang="fr-FR" sz="1100" b="0" i="0" dirty="0">
                <a:solidFill>
                  <a:srgbClr val="1F2933"/>
                </a:solidFill>
                <a:latin typeface="Segoe UI"/>
                <a:cs typeface="Segoe UI"/>
              </a:rPr>
              <a:t>À montrer si on a l'écran : </a:t>
            </a:r>
            <a:r>
              <a:rPr lang="fr-FR" sz="1100" b="0" i="0" dirty="0">
                <a:solidFill>
                  <a:srgbClr val="0B7A6E"/>
                </a:solidFill>
                <a:latin typeface="Consolas"/>
                <a:cs typeface="Consolas"/>
              </a:rPr>
              <a:t>docs/sources.md</a:t>
            </a:r>
            <a:r>
              <a:rPr lang="fr-FR" sz="1100" b="0" i="0" dirty="0">
                <a:solidFill>
                  <a:srgbClr val="1F2933"/>
                </a:solidFill>
                <a:latin typeface="Segoe UI"/>
                <a:cs typeface="Segoe UI"/>
              </a:rPr>
              <a:t> (liens), </a:t>
            </a:r>
            <a:r>
              <a:rPr lang="fr-FR" sz="1100" b="0" i="0" dirty="0">
                <a:solidFill>
                  <a:srgbClr val="0B7A6E"/>
                </a:solidFill>
                <a:latin typeface="Consolas"/>
                <a:cs typeface="Consolas"/>
              </a:rPr>
              <a:t>data/raw/manifest.csv</a:t>
            </a:r>
            <a:r>
              <a:rPr lang="fr-FR" sz="1100" b="0" i="0" dirty="0">
                <a:solidFill>
                  <a:srgbClr val="1F2933"/>
                </a:solidFill>
                <a:latin typeface="Segoe UI"/>
                <a:cs typeface="Segoe UI"/>
              </a:rPr>
              <a:t> (traçabilité), </a:t>
            </a:r>
            <a:r>
              <a:rPr lang="fr-FR" sz="1100" b="0" i="0" dirty="0">
                <a:solidFill>
                  <a:srgbClr val="0B7A6E"/>
                </a:solidFill>
                <a:latin typeface="Consolas"/>
                <a:cs typeface="Consolas"/>
              </a:rPr>
              <a:t>data/raw/check_report.md</a:t>
            </a:r>
            <a:r>
              <a:rPr lang="fr-FR" sz="1100" b="0" i="0" dirty="0">
                <a:solidFill>
                  <a:srgbClr val="1F2933"/>
                </a:solidFill>
                <a:latin typeface="Segoe UI"/>
                <a:cs typeface="Segoe UI"/>
              </a:rPr>
              <a:t> (vérification).</a:t>
            </a:r>
            <a:endParaRPr lang="fr-FR"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rme 3"/>
          <p:cNvSpPr/>
          <p:nvPr/>
        </p:nvSpPr>
        <p:spPr>
          <a:xfrm>
            <a:off x="0" y="0"/>
            <a:ext cx="128016" cy="6858000"/>
          </a:xfrm>
          <a:prstGeom prst="rect">
            <a:avLst/>
          </a:prstGeom>
          <a:solidFill>
            <a:srgbClr val="0E9F8E"/>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4" name="Forme 4"/>
          <p:cNvSpPr/>
          <p:nvPr/>
        </p:nvSpPr>
        <p:spPr>
          <a:xfrm>
            <a:off x="457200" y="256032"/>
            <a:ext cx="7315200" cy="2743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050" b="1" i="0" dirty="0">
                <a:solidFill>
                  <a:srgbClr val="0E9F8E"/>
                </a:solidFill>
                <a:latin typeface="Segoe UI"/>
                <a:cs typeface="Segoe UI"/>
              </a:rPr>
              <a:t>PARTIE 9 · VERSION ORALE</a:t>
            </a:r>
            <a:endParaRPr lang="fr-FR" sz="1050" dirty="0"/>
          </a:p>
        </p:txBody>
      </p:sp>
      <p:sp>
        <p:nvSpPr>
          <p:cNvPr id="5" name="Forme 5"/>
          <p:cNvSpPr/>
          <p:nvPr/>
        </p:nvSpPr>
        <p:spPr>
          <a:xfrm>
            <a:off x="457200" y="502920"/>
            <a:ext cx="11247120" cy="5486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2500" b="1" i="0" dirty="0">
                <a:solidFill>
                  <a:srgbClr val="14213D"/>
                </a:solidFill>
                <a:latin typeface="Segoe UI"/>
                <a:cs typeface="Segoe UI"/>
              </a:rPr>
              <a:t>Les 5 questions les plus probables sur les données</a:t>
            </a:r>
            <a:endParaRPr lang="fr-FR" sz="2500" dirty="0"/>
          </a:p>
        </p:txBody>
      </p:sp>
      <p:sp>
        <p:nvSpPr>
          <p:cNvPr id="6" name="Forme 6"/>
          <p:cNvSpPr/>
          <p:nvPr/>
        </p:nvSpPr>
        <p:spPr>
          <a:xfrm>
            <a:off x="457200" y="987552"/>
            <a:ext cx="11247120" cy="32004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250" b="0" i="0" dirty="0">
                <a:solidFill>
                  <a:srgbClr val="5B6573"/>
                </a:solidFill>
                <a:latin typeface="Segoe UI"/>
                <a:cs typeface="Segoe UI"/>
              </a:rPr>
              <a:t>Réponse courte d'abord, le chiffre ensuite.</a:t>
            </a:r>
            <a:endParaRPr lang="fr-FR" sz="1250" dirty="0"/>
          </a:p>
        </p:txBody>
      </p:sp>
      <p:sp>
        <p:nvSpPr>
          <p:cNvPr id="7" name="Forme 7"/>
          <p:cNvSpPr/>
          <p:nvPr/>
        </p:nvSpPr>
        <p:spPr>
          <a:xfrm>
            <a:off x="457200" y="6446520"/>
            <a:ext cx="11274552" cy="10973"/>
          </a:xfrm>
          <a:prstGeom prst="rect">
            <a:avLst/>
          </a:prstGeom>
          <a:solidFill>
            <a:srgbClr val="D5DAE1"/>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8" name="Forme 8"/>
          <p:cNvSpPr/>
          <p:nvPr/>
        </p:nvSpPr>
        <p:spPr>
          <a:xfrm>
            <a:off x="457200" y="6492240"/>
            <a:ext cx="7315200" cy="256032"/>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900" b="0" i="0" dirty="0">
                <a:solidFill>
                  <a:srgbClr val="5B6573"/>
                </a:solidFill>
                <a:latin typeface="Segoe UI"/>
                <a:cs typeface="Segoe UI"/>
              </a:rPr>
              <a:t>Hackathon Mobility × Citiz · Nos données, de A à Z</a:t>
            </a:r>
            <a:endParaRPr lang="fr-FR" sz="900" dirty="0"/>
          </a:p>
        </p:txBody>
      </p:sp>
      <p:sp>
        <p:nvSpPr>
          <p:cNvPr id="9" name="Forme 9"/>
          <p:cNvSpPr/>
          <p:nvPr/>
        </p:nvSpPr>
        <p:spPr>
          <a:xfrm>
            <a:off x="10360152" y="6492240"/>
            <a:ext cx="1371600" cy="256032"/>
          </a:xfrm>
          <a:prstGeom prst="rect">
            <a:avLst/>
          </a:prstGeom>
          <a:noFill/>
          <a:ln>
            <a:noFill/>
          </a:ln>
        </p:spPr>
        <p:txBody>
          <a:bodyPr wrap="square" lIns="18288" tIns="18288" rIns="18288" bIns="18288" anchor="t" rtlCol="0">
            <a:noAutofit/>
          </a:bodyPr>
          <a:lstStyle/>
          <a:p>
            <a:pPr algn="r">
              <a:lnSpc>
                <a:spcPct val="100000"/>
              </a:lnSpc>
              <a:spcBef>
                <a:spcPts val="0"/>
              </a:spcBef>
              <a:spcAft>
                <a:spcPts val="0"/>
              </a:spcAft>
              <a:buNone/>
            </a:pPr>
            <a:r>
              <a:rPr lang="fr-FR" sz="900" b="0" i="0" dirty="0">
                <a:solidFill>
                  <a:srgbClr val="5B6573"/>
                </a:solidFill>
                <a:latin typeface="Segoe UI"/>
                <a:cs typeface="Segoe UI"/>
              </a:rPr>
              <a:t>29</a:t>
            </a:r>
            <a:endParaRPr lang="fr-FR" sz="900" dirty="0"/>
          </a:p>
        </p:txBody>
      </p:sp>
      <p:sp>
        <p:nvSpPr>
          <p:cNvPr id="10" name="Forme 10"/>
          <p:cNvSpPr/>
          <p:nvPr/>
        </p:nvSpPr>
        <p:spPr>
          <a:xfrm>
            <a:off x="457200" y="1371600"/>
            <a:ext cx="548640" cy="868680"/>
          </a:xfrm>
          <a:prstGeom prst="roundRect">
            <a:avLst>
              <a:gd name="adj" fmla="val 12000"/>
            </a:avLst>
          </a:prstGeom>
          <a:solidFill>
            <a:srgbClr val="0E9F8E"/>
          </a:solidFill>
          <a:ln>
            <a:noFill/>
          </a:ln>
        </p:spPr>
        <p:txBody>
          <a:bodyPr wrap="square" lIns="0" tIns="0" rIns="0" bIns="0" anchor="ctr" rtlCol="0">
            <a:noAutofit/>
          </a:bodyPr>
          <a:lstStyle/>
          <a:p>
            <a:pPr algn="ctr">
              <a:lnSpc>
                <a:spcPct val="100000"/>
              </a:lnSpc>
              <a:spcBef>
                <a:spcPts val="0"/>
              </a:spcBef>
              <a:spcAft>
                <a:spcPts val="0"/>
              </a:spcAft>
              <a:buNone/>
            </a:pPr>
            <a:r>
              <a:rPr lang="fr-FR" sz="1400" b="1" i="0" dirty="0">
                <a:solidFill>
                  <a:srgbClr val="FFFFFF"/>
                </a:solidFill>
                <a:latin typeface="Segoe UI"/>
                <a:cs typeface="Segoe UI"/>
              </a:rPr>
              <a:t>Q1</a:t>
            </a:r>
            <a:endParaRPr lang="fr-FR" sz="1400" dirty="0"/>
          </a:p>
        </p:txBody>
      </p:sp>
      <p:sp>
        <p:nvSpPr>
          <p:cNvPr id="11" name="Forme 11"/>
          <p:cNvSpPr/>
          <p:nvPr/>
        </p:nvSpPr>
        <p:spPr>
          <a:xfrm>
            <a:off x="1097280" y="1371600"/>
            <a:ext cx="10634472" cy="868680"/>
          </a:xfrm>
          <a:prstGeom prst="roundRect">
            <a:avLst>
              <a:gd name="adj" fmla="val 6000"/>
            </a:avLst>
          </a:prstGeom>
          <a:solidFill>
            <a:srgbClr val="F4F6F9"/>
          </a:solidFill>
          <a:ln>
            <a:noFill/>
          </a:ln>
        </p:spPr>
        <p:txBody>
          <a:bodyPr wrap="square" lIns="182880" tIns="36576" rIns="182880" bIns="36576" anchor="ctr" rtlCol="0">
            <a:noAutofit/>
          </a:bodyPr>
          <a:lstStyle/>
          <a:p>
            <a:pPr algn="l">
              <a:lnSpc>
                <a:spcPct val="100000"/>
              </a:lnSpc>
              <a:spcBef>
                <a:spcPts val="0"/>
              </a:spcBef>
              <a:spcAft>
                <a:spcPts val="0"/>
              </a:spcAft>
              <a:buNone/>
            </a:pPr>
            <a:r>
              <a:rPr lang="fr-FR" sz="1300" b="1" i="0" dirty="0">
                <a:solidFill>
                  <a:srgbClr val="14213D"/>
                </a:solidFill>
                <a:latin typeface="Segoe UI"/>
                <a:cs typeface="Segoe UI"/>
              </a:rPr>
              <a:t>Vos données sont-elles à jour et reproductibles ?</a:t>
            </a:r>
            <a:endParaRPr lang="fr-FR" sz="1300" dirty="0"/>
          </a:p>
          <a:p>
            <a:pPr algn="l">
              <a:lnSpc>
                <a:spcPct val="100000"/>
              </a:lnSpc>
              <a:spcBef>
                <a:spcPts val="200"/>
              </a:spcBef>
              <a:spcAft>
                <a:spcPts val="0"/>
              </a:spcAft>
              <a:buNone/>
            </a:pPr>
            <a:r>
              <a:rPr lang="fr-FR" sz="1150" b="0" i="0" dirty="0">
                <a:solidFill>
                  <a:srgbClr val="1F2933"/>
                </a:solidFill>
                <a:latin typeface="Segoe UI"/>
                <a:cs typeface="Segoe UI"/>
              </a:rPr>
              <a:t>Téléchargées le 19/10/2026, horaires lus sur un mardi figé (17/11/2026). </a:t>
            </a:r>
            <a:r>
              <a:rPr lang="fr-FR" sz="1150" b="0" i="0" dirty="0">
                <a:solidFill>
                  <a:srgbClr val="0B7A6E"/>
                </a:solidFill>
                <a:latin typeface="Consolas"/>
                <a:cs typeface="Consolas"/>
              </a:rPr>
              <a:t>manifest.csv</a:t>
            </a:r>
            <a:r>
              <a:rPr lang="fr-FR" sz="1150" b="0" i="0" dirty="0">
                <a:solidFill>
                  <a:srgbClr val="1F2933"/>
                </a:solidFill>
                <a:latin typeface="Segoe UI"/>
                <a:cs typeface="Segoe UI"/>
              </a:rPr>
              <a:t> garde l'URL, la taille et la date de chaque fichier ; tout se relance en 5 commandes.</a:t>
            </a:r>
            <a:endParaRPr lang="fr-FR" sz="1150" dirty="0"/>
          </a:p>
        </p:txBody>
      </p:sp>
      <p:sp>
        <p:nvSpPr>
          <p:cNvPr id="12" name="Forme 12"/>
          <p:cNvSpPr/>
          <p:nvPr/>
        </p:nvSpPr>
        <p:spPr>
          <a:xfrm>
            <a:off x="457200" y="2359152"/>
            <a:ext cx="548640" cy="868680"/>
          </a:xfrm>
          <a:prstGeom prst="roundRect">
            <a:avLst>
              <a:gd name="adj" fmla="val 12000"/>
            </a:avLst>
          </a:prstGeom>
          <a:solidFill>
            <a:srgbClr val="0E9F8E"/>
          </a:solidFill>
          <a:ln>
            <a:noFill/>
          </a:ln>
        </p:spPr>
        <p:txBody>
          <a:bodyPr wrap="square" lIns="0" tIns="0" rIns="0" bIns="0" anchor="ctr" rtlCol="0">
            <a:noAutofit/>
          </a:bodyPr>
          <a:lstStyle/>
          <a:p>
            <a:pPr algn="ctr">
              <a:lnSpc>
                <a:spcPct val="100000"/>
              </a:lnSpc>
              <a:spcBef>
                <a:spcPts val="0"/>
              </a:spcBef>
              <a:spcAft>
                <a:spcPts val="0"/>
              </a:spcAft>
              <a:buNone/>
            </a:pPr>
            <a:r>
              <a:rPr lang="fr-FR" sz="1400" b="1" i="0" dirty="0">
                <a:solidFill>
                  <a:srgbClr val="FFFFFF"/>
                </a:solidFill>
                <a:latin typeface="Segoe UI"/>
                <a:cs typeface="Segoe UI"/>
              </a:rPr>
              <a:t>Q2</a:t>
            </a:r>
            <a:endParaRPr lang="fr-FR" sz="1400" dirty="0"/>
          </a:p>
        </p:txBody>
      </p:sp>
      <p:sp>
        <p:nvSpPr>
          <p:cNvPr id="13" name="Forme 13"/>
          <p:cNvSpPr/>
          <p:nvPr/>
        </p:nvSpPr>
        <p:spPr>
          <a:xfrm>
            <a:off x="1097280" y="2359152"/>
            <a:ext cx="10634472" cy="868680"/>
          </a:xfrm>
          <a:prstGeom prst="roundRect">
            <a:avLst>
              <a:gd name="adj" fmla="val 6000"/>
            </a:avLst>
          </a:prstGeom>
          <a:solidFill>
            <a:srgbClr val="F4F6F9"/>
          </a:solidFill>
          <a:ln>
            <a:noFill/>
          </a:ln>
        </p:spPr>
        <p:txBody>
          <a:bodyPr wrap="square" lIns="182880" tIns="36576" rIns="182880" bIns="36576" anchor="ctr" rtlCol="0">
            <a:noAutofit/>
          </a:bodyPr>
          <a:lstStyle/>
          <a:p>
            <a:pPr algn="l">
              <a:lnSpc>
                <a:spcPct val="100000"/>
              </a:lnSpc>
              <a:spcBef>
                <a:spcPts val="0"/>
              </a:spcBef>
              <a:spcAft>
                <a:spcPts val="0"/>
              </a:spcAft>
              <a:buNone/>
            </a:pPr>
            <a:r>
              <a:rPr lang="fr-FR" sz="1300" b="1" i="0" dirty="0">
                <a:solidFill>
                  <a:srgbClr val="14213D"/>
                </a:solidFill>
                <a:latin typeface="Segoe UI"/>
                <a:cs typeface="Segoe UI"/>
              </a:rPr>
              <a:t>Pourquoi recaler la population ?</a:t>
            </a:r>
            <a:endParaRPr lang="fr-FR" sz="1300" dirty="0"/>
          </a:p>
          <a:p>
            <a:pPr algn="l">
              <a:lnSpc>
                <a:spcPct val="100000"/>
              </a:lnSpc>
              <a:spcBef>
                <a:spcPts val="200"/>
              </a:spcBef>
              <a:spcAft>
                <a:spcPts val="0"/>
              </a:spcAft>
              <a:buNone/>
            </a:pPr>
            <a:r>
              <a:rPr lang="fr-FR" sz="1150" b="0" i="0" dirty="0">
                <a:solidFill>
                  <a:srgbClr val="1F2933"/>
                </a:solidFill>
                <a:latin typeface="Segoe UI"/>
                <a:cs typeface="Segoe UI"/>
              </a:rPr>
              <a:t>Filosofi ne compte que les ménages fiscaux ordinaires : 625 546 habitants à Nantes contre 689 456 au recensement. On recale commune par commune ; la répartition dans la commune reste celle de Filosofi.</a:t>
            </a:r>
            <a:endParaRPr lang="fr-FR" sz="1150" dirty="0"/>
          </a:p>
        </p:txBody>
      </p:sp>
      <p:sp>
        <p:nvSpPr>
          <p:cNvPr id="14" name="Forme 14"/>
          <p:cNvSpPr/>
          <p:nvPr/>
        </p:nvSpPr>
        <p:spPr>
          <a:xfrm>
            <a:off x="457200" y="3346704"/>
            <a:ext cx="548640" cy="868680"/>
          </a:xfrm>
          <a:prstGeom prst="roundRect">
            <a:avLst>
              <a:gd name="adj" fmla="val 12000"/>
            </a:avLst>
          </a:prstGeom>
          <a:solidFill>
            <a:srgbClr val="0E9F8E"/>
          </a:solidFill>
          <a:ln>
            <a:noFill/>
          </a:ln>
        </p:spPr>
        <p:txBody>
          <a:bodyPr wrap="square" lIns="0" tIns="0" rIns="0" bIns="0" anchor="ctr" rtlCol="0">
            <a:noAutofit/>
          </a:bodyPr>
          <a:lstStyle/>
          <a:p>
            <a:pPr algn="ctr">
              <a:lnSpc>
                <a:spcPct val="100000"/>
              </a:lnSpc>
              <a:spcBef>
                <a:spcPts val="0"/>
              </a:spcBef>
              <a:spcAft>
                <a:spcPts val="0"/>
              </a:spcAft>
              <a:buNone/>
            </a:pPr>
            <a:r>
              <a:rPr lang="fr-FR" sz="1400" b="1" i="0" dirty="0">
                <a:solidFill>
                  <a:srgbClr val="FFFFFF"/>
                </a:solidFill>
                <a:latin typeface="Segoe UI"/>
                <a:cs typeface="Segoe UI"/>
              </a:rPr>
              <a:t>Q3</a:t>
            </a:r>
            <a:endParaRPr lang="fr-FR" sz="1400" dirty="0"/>
          </a:p>
        </p:txBody>
      </p:sp>
      <p:sp>
        <p:nvSpPr>
          <p:cNvPr id="15" name="Forme 15"/>
          <p:cNvSpPr/>
          <p:nvPr/>
        </p:nvSpPr>
        <p:spPr>
          <a:xfrm>
            <a:off x="1097280" y="3346704"/>
            <a:ext cx="10634472" cy="868680"/>
          </a:xfrm>
          <a:prstGeom prst="roundRect">
            <a:avLst>
              <a:gd name="adj" fmla="val 6000"/>
            </a:avLst>
          </a:prstGeom>
          <a:solidFill>
            <a:srgbClr val="F4F6F9"/>
          </a:solidFill>
          <a:ln>
            <a:noFill/>
          </a:ln>
        </p:spPr>
        <p:txBody>
          <a:bodyPr wrap="square" lIns="182880" tIns="36576" rIns="182880" bIns="36576" anchor="ctr" rtlCol="0">
            <a:noAutofit/>
          </a:bodyPr>
          <a:lstStyle/>
          <a:p>
            <a:pPr algn="l">
              <a:lnSpc>
                <a:spcPct val="100000"/>
              </a:lnSpc>
              <a:spcBef>
                <a:spcPts val="0"/>
              </a:spcBef>
              <a:spcAft>
                <a:spcPts val="0"/>
              </a:spcAft>
              <a:buNone/>
            </a:pPr>
            <a:r>
              <a:rPr lang="fr-FR" sz="1300" b="1" i="0" dirty="0">
                <a:solidFill>
                  <a:srgbClr val="14213D"/>
                </a:solidFill>
                <a:latin typeface="Segoe UI"/>
                <a:cs typeface="Segoe UI"/>
              </a:rPr>
              <a:t>Et l'autopartage qui n'est pas en open data, comme Getaround ?</a:t>
            </a:r>
            <a:endParaRPr lang="fr-FR" sz="1300" dirty="0"/>
          </a:p>
          <a:p>
            <a:pPr algn="l">
              <a:lnSpc>
                <a:spcPct val="100000"/>
              </a:lnSpc>
              <a:spcBef>
                <a:spcPts val="200"/>
              </a:spcBef>
              <a:spcAft>
                <a:spcPts val="0"/>
              </a:spcAft>
              <a:buNone/>
            </a:pPr>
            <a:r>
              <a:rPr lang="fr-FR" sz="1150" b="0" i="0" dirty="0">
                <a:solidFill>
                  <a:srgbClr val="1F2933"/>
                </a:solidFill>
                <a:latin typeface="Segoe UI"/>
                <a:cs typeface="Segoe UI"/>
              </a:rPr>
              <a:t>Il est invisible, et nous le disons. Nous avons ajouté les 61 stations Marguerite grâce à l'open data de Nantes Métropole. Notre critère mesure l'autopartage « visible ».</a:t>
            </a:r>
            <a:endParaRPr lang="fr-FR" sz="1150" dirty="0"/>
          </a:p>
        </p:txBody>
      </p:sp>
      <p:sp>
        <p:nvSpPr>
          <p:cNvPr id="16" name="Forme 16"/>
          <p:cNvSpPr/>
          <p:nvPr/>
        </p:nvSpPr>
        <p:spPr>
          <a:xfrm>
            <a:off x="457200" y="4334256"/>
            <a:ext cx="548640" cy="868680"/>
          </a:xfrm>
          <a:prstGeom prst="roundRect">
            <a:avLst>
              <a:gd name="adj" fmla="val 12000"/>
            </a:avLst>
          </a:prstGeom>
          <a:solidFill>
            <a:srgbClr val="0E9F8E"/>
          </a:solidFill>
          <a:ln>
            <a:noFill/>
          </a:ln>
        </p:spPr>
        <p:txBody>
          <a:bodyPr wrap="square" lIns="0" tIns="0" rIns="0" bIns="0" anchor="ctr" rtlCol="0">
            <a:noAutofit/>
          </a:bodyPr>
          <a:lstStyle/>
          <a:p>
            <a:pPr algn="ctr">
              <a:lnSpc>
                <a:spcPct val="100000"/>
              </a:lnSpc>
              <a:spcBef>
                <a:spcPts val="0"/>
              </a:spcBef>
              <a:spcAft>
                <a:spcPts val="0"/>
              </a:spcAft>
              <a:buNone/>
            </a:pPr>
            <a:r>
              <a:rPr lang="fr-FR" sz="1400" b="1" i="0" dirty="0">
                <a:solidFill>
                  <a:srgbClr val="FFFFFF"/>
                </a:solidFill>
                <a:latin typeface="Segoe UI"/>
                <a:cs typeface="Segoe UI"/>
              </a:rPr>
              <a:t>Q4</a:t>
            </a:r>
            <a:endParaRPr lang="fr-FR" sz="1400" dirty="0"/>
          </a:p>
        </p:txBody>
      </p:sp>
      <p:sp>
        <p:nvSpPr>
          <p:cNvPr id="17" name="Forme 17"/>
          <p:cNvSpPr/>
          <p:nvPr/>
        </p:nvSpPr>
        <p:spPr>
          <a:xfrm>
            <a:off x="1097280" y="4334256"/>
            <a:ext cx="10634472" cy="868680"/>
          </a:xfrm>
          <a:prstGeom prst="roundRect">
            <a:avLst>
              <a:gd name="adj" fmla="val 6000"/>
            </a:avLst>
          </a:prstGeom>
          <a:solidFill>
            <a:srgbClr val="F4F6F9"/>
          </a:solidFill>
          <a:ln>
            <a:noFill/>
          </a:ln>
        </p:spPr>
        <p:txBody>
          <a:bodyPr wrap="square" lIns="182880" tIns="36576" rIns="182880" bIns="36576" anchor="ctr" rtlCol="0">
            <a:noAutofit/>
          </a:bodyPr>
          <a:lstStyle/>
          <a:p>
            <a:pPr algn="l">
              <a:lnSpc>
                <a:spcPct val="100000"/>
              </a:lnSpc>
              <a:spcBef>
                <a:spcPts val="0"/>
              </a:spcBef>
              <a:spcAft>
                <a:spcPts val="0"/>
              </a:spcAft>
              <a:buNone/>
            </a:pPr>
            <a:r>
              <a:rPr lang="fr-FR" sz="1300" b="1" i="0" dirty="0">
                <a:solidFill>
                  <a:srgbClr val="14213D"/>
                </a:solidFill>
                <a:latin typeface="Segoe UI"/>
                <a:cs typeface="Segoe UI"/>
              </a:rPr>
              <a:t>Comment évitez-vous de compter deux fois un arrêt ?</a:t>
            </a:r>
            <a:endParaRPr lang="fr-FR" sz="1300" dirty="0"/>
          </a:p>
          <a:p>
            <a:pPr algn="l">
              <a:lnSpc>
                <a:spcPct val="100000"/>
              </a:lnSpc>
              <a:spcBef>
                <a:spcPts val="200"/>
              </a:spcBef>
              <a:spcAft>
                <a:spcPts val="0"/>
              </a:spcAft>
              <a:buNone/>
            </a:pPr>
            <a:r>
              <a:rPr lang="fr-FR" sz="1150" b="0" i="0" dirty="0">
                <a:solidFill>
                  <a:srgbClr val="1F2933"/>
                </a:solidFill>
                <a:latin typeface="Segoe UI"/>
                <a:cs typeface="Segoe UI"/>
              </a:rPr>
              <a:t>On fusionne les points d'un même mode à moins de 40 m (150 m pour les gares) : à Nantes, 2 536 arrêts de bus deviennent 1 682 ; en France, 533 613 points deviennent 231 092.</a:t>
            </a:r>
            <a:endParaRPr lang="fr-FR" sz="1150" dirty="0"/>
          </a:p>
        </p:txBody>
      </p:sp>
      <p:sp>
        <p:nvSpPr>
          <p:cNvPr id="18" name="Forme 18"/>
          <p:cNvSpPr/>
          <p:nvPr/>
        </p:nvSpPr>
        <p:spPr>
          <a:xfrm>
            <a:off x="457200" y="5321808"/>
            <a:ext cx="548640" cy="868680"/>
          </a:xfrm>
          <a:prstGeom prst="roundRect">
            <a:avLst>
              <a:gd name="adj" fmla="val 12000"/>
            </a:avLst>
          </a:prstGeom>
          <a:solidFill>
            <a:srgbClr val="0E9F8E"/>
          </a:solidFill>
          <a:ln>
            <a:noFill/>
          </a:ln>
        </p:spPr>
        <p:txBody>
          <a:bodyPr wrap="square" lIns="0" tIns="0" rIns="0" bIns="0" anchor="ctr" rtlCol="0">
            <a:noAutofit/>
          </a:bodyPr>
          <a:lstStyle/>
          <a:p>
            <a:pPr algn="ctr">
              <a:lnSpc>
                <a:spcPct val="100000"/>
              </a:lnSpc>
              <a:spcBef>
                <a:spcPts val="0"/>
              </a:spcBef>
              <a:spcAft>
                <a:spcPts val="0"/>
              </a:spcAft>
              <a:buNone/>
            </a:pPr>
            <a:r>
              <a:rPr lang="fr-FR" sz="1400" b="1" i="0" dirty="0">
                <a:solidFill>
                  <a:srgbClr val="FFFFFF"/>
                </a:solidFill>
                <a:latin typeface="Segoe UI"/>
                <a:cs typeface="Segoe UI"/>
              </a:rPr>
              <a:t>Q5</a:t>
            </a:r>
            <a:endParaRPr lang="fr-FR" sz="1400" dirty="0"/>
          </a:p>
        </p:txBody>
      </p:sp>
      <p:sp>
        <p:nvSpPr>
          <p:cNvPr id="19" name="Forme 19"/>
          <p:cNvSpPr/>
          <p:nvPr/>
        </p:nvSpPr>
        <p:spPr>
          <a:xfrm>
            <a:off x="1097280" y="5321808"/>
            <a:ext cx="10634472" cy="868680"/>
          </a:xfrm>
          <a:prstGeom prst="roundRect">
            <a:avLst>
              <a:gd name="adj" fmla="val 6000"/>
            </a:avLst>
          </a:prstGeom>
          <a:solidFill>
            <a:srgbClr val="F4F6F9"/>
          </a:solidFill>
          <a:ln>
            <a:noFill/>
          </a:ln>
        </p:spPr>
        <p:txBody>
          <a:bodyPr wrap="square" lIns="182880" tIns="36576" rIns="182880" bIns="36576" anchor="ctr" rtlCol="0">
            <a:noAutofit/>
          </a:bodyPr>
          <a:lstStyle/>
          <a:p>
            <a:pPr algn="l">
              <a:lnSpc>
                <a:spcPct val="100000"/>
              </a:lnSpc>
              <a:spcBef>
                <a:spcPts val="0"/>
              </a:spcBef>
              <a:spcAft>
                <a:spcPts val="0"/>
              </a:spcAft>
              <a:buNone/>
            </a:pPr>
            <a:r>
              <a:rPr lang="fr-FR" sz="1300" b="1" i="0" dirty="0">
                <a:solidFill>
                  <a:srgbClr val="14213D"/>
                </a:solidFill>
                <a:latin typeface="Segoe UI"/>
                <a:cs typeface="Segoe UI"/>
              </a:rPr>
              <a:t>Pourquoi ne pas mesurer l'usage réel des stations Citiz ?</a:t>
            </a:r>
            <a:endParaRPr lang="fr-FR" sz="1300" dirty="0"/>
          </a:p>
          <a:p>
            <a:pPr algn="l">
              <a:lnSpc>
                <a:spcPct val="100000"/>
              </a:lnSpc>
              <a:spcBef>
                <a:spcPts val="200"/>
              </a:spcBef>
              <a:spcAft>
                <a:spcPts val="0"/>
              </a:spcAft>
              <a:buNone/>
            </a:pPr>
            <a:r>
              <a:rPr lang="fr-FR" sz="1150" b="0" i="0" dirty="0">
                <a:solidFill>
                  <a:srgbClr val="1F2933"/>
                </a:solidFill>
                <a:latin typeface="Segoe UI"/>
                <a:cs typeface="Segoe UI"/>
              </a:rPr>
              <a:t>Le GBFS ne donne qu'un instantané. Nous avons photographié les stations toutes les 5 minutes, mais 34 photos et 12 changements, c'est trop peu. Cible retenue : la présence d'une station, et nous en disons la limite.</a:t>
            </a:r>
            <a:endParaRPr lang="fr-FR"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4213D"/>
        </a:solidFill>
        <a:effectLst/>
      </p:bgPr>
    </p:bg>
    <p:spTree>
      <p:nvGrpSpPr>
        <p:cNvPr id="1" name=""/>
        <p:cNvGrpSpPr/>
        <p:nvPr/>
      </p:nvGrpSpPr>
      <p:grpSpPr>
        <a:xfrm>
          <a:off x="0" y="0"/>
          <a:ext cx="0" cy="0"/>
          <a:chOff x="0" y="0"/>
          <a:chExt cx="0" cy="0"/>
        </a:xfrm>
      </p:grpSpPr>
      <p:sp>
        <p:nvSpPr>
          <p:cNvPr id="3" name="Forme 3"/>
          <p:cNvSpPr/>
          <p:nvPr/>
        </p:nvSpPr>
        <p:spPr>
          <a:xfrm>
            <a:off x="0" y="0"/>
            <a:ext cx="12191695" cy="109728"/>
          </a:xfrm>
          <a:prstGeom prst="rect">
            <a:avLst/>
          </a:prstGeom>
          <a:solidFill>
            <a:srgbClr val="0E9F8E"/>
          </a:solidFill>
          <a:ln>
            <a:noFill/>
          </a:ln>
        </p:spPr>
        <p:txBody>
          <a:bodyPr wrap="square" lIns="109728" tIns="54864" rIns="109728" bIns="54864" anchor="t" rtlCol="0">
            <a:noAutofit/>
          </a:bodyPr>
          <a:lstStyle/>
          <a:p>
            <a:pPr algn="l">
              <a:lnSpc>
                <a:spcPct val="100000"/>
              </a:lnSpc>
              <a:spcBef>
                <a:spcPts val="0"/>
              </a:spcBef>
              <a:spcAft>
                <a:spcPts val="0"/>
              </a:spcAft>
              <a:buNone/>
            </a:pPr>
            <a:endParaRPr lang="fr-FR" sz="1400" dirty="0"/>
          </a:p>
        </p:txBody>
      </p:sp>
      <p:sp>
        <p:nvSpPr>
          <p:cNvPr id="4" name="Forme 4"/>
          <p:cNvSpPr/>
          <p:nvPr/>
        </p:nvSpPr>
        <p:spPr>
          <a:xfrm>
            <a:off x="731520" y="1097280"/>
            <a:ext cx="10515600" cy="73152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3600" b="1" i="0" dirty="0">
                <a:solidFill>
                  <a:srgbClr val="FFFFFF"/>
                </a:solidFill>
                <a:latin typeface="Segoe UI"/>
                <a:cs typeface="Segoe UI"/>
              </a:rPr>
              <a:t>À retenir</a:t>
            </a:r>
            <a:endParaRPr lang="fr-FR" sz="3600" dirty="0"/>
          </a:p>
        </p:txBody>
      </p:sp>
      <p:sp>
        <p:nvSpPr>
          <p:cNvPr id="5" name="Forme 5"/>
          <p:cNvSpPr/>
          <p:nvPr/>
        </p:nvSpPr>
        <p:spPr>
          <a:xfrm>
            <a:off x="731520" y="2103120"/>
            <a:ext cx="5212080" cy="1600200"/>
          </a:xfrm>
          <a:prstGeom prst="roundRect">
            <a:avLst>
              <a:gd name="adj" fmla="val 7000"/>
            </a:avLst>
          </a:prstGeom>
          <a:solidFill>
            <a:srgbClr val="1E3556"/>
          </a:solidFill>
          <a:ln>
            <a:noFill/>
          </a:ln>
        </p:spPr>
        <p:txBody>
          <a:bodyPr wrap="square" lIns="274320" tIns="182880" rIns="274320" bIns="137160" anchor="t" rtlCol="0">
            <a:noAutofit/>
          </a:bodyPr>
          <a:lstStyle/>
          <a:p>
            <a:pPr algn="l">
              <a:lnSpc>
                <a:spcPct val="100000"/>
              </a:lnSpc>
              <a:spcBef>
                <a:spcPts val="0"/>
              </a:spcBef>
              <a:spcAft>
                <a:spcPts val="0"/>
              </a:spcAft>
              <a:buNone/>
            </a:pPr>
            <a:r>
              <a:rPr lang="fr-FR" sz="1800" b="1" i="0" dirty="0">
                <a:solidFill>
                  <a:srgbClr val="5FD3C4"/>
                </a:solidFill>
                <a:latin typeface="Segoe UI"/>
                <a:cs typeface="Segoe UI"/>
              </a:rPr>
              <a:t>100 % open data</a:t>
            </a:r>
            <a:endParaRPr lang="fr-FR" sz="1800" dirty="0"/>
          </a:p>
          <a:p>
            <a:pPr algn="l">
              <a:lnSpc>
                <a:spcPct val="100000"/>
              </a:lnSpc>
              <a:spcBef>
                <a:spcPts val="600"/>
              </a:spcBef>
              <a:spcAft>
                <a:spcPts val="0"/>
              </a:spcAft>
              <a:buNone/>
            </a:pPr>
            <a:r>
              <a:rPr lang="fr-FR" sz="1300" b="0" i="0" dirty="0">
                <a:solidFill>
                  <a:srgbClr val="FFFFFF"/>
                </a:solidFill>
                <a:latin typeface="Segoe UI"/>
                <a:cs typeface="Segoe UI"/>
              </a:rPr>
              <a:t>14 sources publiques, chacune avec son lien exact, sa licence et sa date.</a:t>
            </a:r>
            <a:endParaRPr lang="fr-FR" sz="1300" dirty="0"/>
          </a:p>
        </p:txBody>
      </p:sp>
      <p:sp>
        <p:nvSpPr>
          <p:cNvPr id="6" name="Forme 6"/>
          <p:cNvSpPr/>
          <p:nvPr/>
        </p:nvSpPr>
        <p:spPr>
          <a:xfrm>
            <a:off x="6217920" y="2103120"/>
            <a:ext cx="5212080" cy="1600200"/>
          </a:xfrm>
          <a:prstGeom prst="roundRect">
            <a:avLst>
              <a:gd name="adj" fmla="val 7000"/>
            </a:avLst>
          </a:prstGeom>
          <a:solidFill>
            <a:srgbClr val="1E3556"/>
          </a:solidFill>
          <a:ln>
            <a:noFill/>
          </a:ln>
        </p:spPr>
        <p:txBody>
          <a:bodyPr wrap="square" lIns="274320" tIns="182880" rIns="274320" bIns="137160" anchor="t" rtlCol="0">
            <a:noAutofit/>
          </a:bodyPr>
          <a:lstStyle/>
          <a:p>
            <a:pPr algn="l">
              <a:lnSpc>
                <a:spcPct val="100000"/>
              </a:lnSpc>
              <a:spcBef>
                <a:spcPts val="0"/>
              </a:spcBef>
              <a:spcAft>
                <a:spcPts val="0"/>
              </a:spcAft>
              <a:buNone/>
            </a:pPr>
            <a:r>
              <a:rPr lang="fr-FR" sz="1800" b="1" i="0" dirty="0">
                <a:solidFill>
                  <a:srgbClr val="5FD3C4"/>
                </a:solidFill>
                <a:latin typeface="Segoe UI"/>
                <a:cs typeface="Segoe UI"/>
              </a:rPr>
              <a:t>Automatisé et vérifié</a:t>
            </a:r>
            <a:endParaRPr lang="fr-FR" sz="1800" dirty="0"/>
          </a:p>
          <a:p>
            <a:pPr algn="l">
              <a:lnSpc>
                <a:spcPct val="100000"/>
              </a:lnSpc>
              <a:spcBef>
                <a:spcPts val="600"/>
              </a:spcBef>
              <a:spcAft>
                <a:spcPts val="0"/>
              </a:spcAft>
              <a:buNone/>
            </a:pPr>
            <a:r>
              <a:rPr lang="fr-FR" sz="1300" b="0" i="0" dirty="0">
                <a:solidFill>
                  <a:srgbClr val="FFFFFF"/>
                </a:solidFill>
                <a:latin typeface="Segoe UI"/>
                <a:cs typeface="Segoe UI"/>
              </a:rPr>
              <a:t>Téléchargement, vérification, nettoyage et calculs : un script par étape, 82 tests.</a:t>
            </a:r>
            <a:endParaRPr lang="fr-FR" sz="1300" dirty="0"/>
          </a:p>
        </p:txBody>
      </p:sp>
      <p:sp>
        <p:nvSpPr>
          <p:cNvPr id="7" name="Forme 7"/>
          <p:cNvSpPr/>
          <p:nvPr/>
        </p:nvSpPr>
        <p:spPr>
          <a:xfrm>
            <a:off x="731520" y="3931920"/>
            <a:ext cx="5212080" cy="1600200"/>
          </a:xfrm>
          <a:prstGeom prst="roundRect">
            <a:avLst>
              <a:gd name="adj" fmla="val 7000"/>
            </a:avLst>
          </a:prstGeom>
          <a:solidFill>
            <a:srgbClr val="1E3556"/>
          </a:solidFill>
          <a:ln>
            <a:noFill/>
          </a:ln>
        </p:spPr>
        <p:txBody>
          <a:bodyPr wrap="square" lIns="274320" tIns="182880" rIns="274320" bIns="137160" anchor="t" rtlCol="0">
            <a:noAutofit/>
          </a:bodyPr>
          <a:lstStyle/>
          <a:p>
            <a:pPr algn="l">
              <a:lnSpc>
                <a:spcPct val="100000"/>
              </a:lnSpc>
              <a:spcBef>
                <a:spcPts val="0"/>
              </a:spcBef>
              <a:spcAft>
                <a:spcPts val="0"/>
              </a:spcAft>
              <a:buNone/>
            </a:pPr>
            <a:r>
              <a:rPr lang="fr-FR" sz="1800" b="1" i="0" dirty="0">
                <a:solidFill>
                  <a:srgbClr val="5FD3C4"/>
                </a:solidFill>
                <a:latin typeface="Segoe UI"/>
                <a:cs typeface="Segoe UI"/>
              </a:rPr>
              <a:t>Nettoyé, et chiffré</a:t>
            </a:r>
            <a:endParaRPr lang="fr-FR" sz="1800" dirty="0"/>
          </a:p>
          <a:p>
            <a:pPr algn="l">
              <a:lnSpc>
                <a:spcPct val="100000"/>
              </a:lnSpc>
              <a:spcBef>
                <a:spcPts val="600"/>
              </a:spcBef>
              <a:spcAft>
                <a:spcPts val="0"/>
              </a:spcAft>
              <a:buNone/>
            </a:pPr>
            <a:r>
              <a:rPr lang="fr-FR" sz="1300" b="0" i="0" dirty="0">
                <a:solidFill>
                  <a:srgbClr val="FFFFFF"/>
                </a:solidFill>
                <a:latin typeface="Segoe UI"/>
                <a:cs typeface="Segoe UI"/>
              </a:rPr>
              <a:t>Doublons, jour type, calage, secret statistique : chaque traitement a son avant / après.</a:t>
            </a:r>
            <a:endParaRPr lang="fr-FR" sz="1300" dirty="0"/>
          </a:p>
        </p:txBody>
      </p:sp>
      <p:sp>
        <p:nvSpPr>
          <p:cNvPr id="8" name="Forme 8"/>
          <p:cNvSpPr/>
          <p:nvPr/>
        </p:nvSpPr>
        <p:spPr>
          <a:xfrm>
            <a:off x="6217920" y="3931920"/>
            <a:ext cx="5212080" cy="1600200"/>
          </a:xfrm>
          <a:prstGeom prst="roundRect">
            <a:avLst>
              <a:gd name="adj" fmla="val 7000"/>
            </a:avLst>
          </a:prstGeom>
          <a:solidFill>
            <a:srgbClr val="1E3556"/>
          </a:solidFill>
          <a:ln>
            <a:noFill/>
          </a:ln>
        </p:spPr>
        <p:txBody>
          <a:bodyPr wrap="square" lIns="274320" tIns="182880" rIns="274320" bIns="137160" anchor="t" rtlCol="0">
            <a:noAutofit/>
          </a:bodyPr>
          <a:lstStyle/>
          <a:p>
            <a:pPr algn="l">
              <a:lnSpc>
                <a:spcPct val="100000"/>
              </a:lnSpc>
              <a:spcBef>
                <a:spcPts val="0"/>
              </a:spcBef>
              <a:spcAft>
                <a:spcPts val="0"/>
              </a:spcAft>
              <a:buNone/>
            </a:pPr>
            <a:r>
              <a:rPr lang="fr-FR" sz="1800" b="1" i="0" dirty="0">
                <a:solidFill>
                  <a:srgbClr val="5FD3C4"/>
                </a:solidFill>
                <a:latin typeface="Segoe UI"/>
                <a:cs typeface="Segoe UI"/>
              </a:rPr>
              <a:t>Honnête sur les limites</a:t>
            </a:r>
            <a:endParaRPr lang="fr-FR" sz="1800" dirty="0"/>
          </a:p>
          <a:p>
            <a:pPr algn="l">
              <a:lnSpc>
                <a:spcPct val="100000"/>
              </a:lnSpc>
              <a:spcBef>
                <a:spcPts val="600"/>
              </a:spcBef>
              <a:spcAft>
                <a:spcPts val="0"/>
              </a:spcAft>
              <a:buNone/>
            </a:pPr>
            <a:r>
              <a:rPr lang="fr-FR" sz="1300" b="0" i="0" dirty="0">
                <a:solidFill>
                  <a:srgbClr val="FFFFFF"/>
                </a:solidFill>
                <a:latin typeface="Segoe UI"/>
                <a:cs typeface="Segoe UI"/>
              </a:rPr>
              <a:t>Getaround invisible, historique Citiz trop court, DROM incomplets : dit et mesuré.</a:t>
            </a:r>
            <a:endParaRPr lang="fr-FR" sz="1300" dirty="0"/>
          </a:p>
        </p:txBody>
      </p:sp>
      <p:sp>
        <p:nvSpPr>
          <p:cNvPr id="9" name="Forme 9"/>
          <p:cNvSpPr/>
          <p:nvPr/>
        </p:nvSpPr>
        <p:spPr>
          <a:xfrm>
            <a:off x="731520" y="5989320"/>
            <a:ext cx="10789920" cy="365760"/>
          </a:xfrm>
          <a:prstGeom prst="rect">
            <a:avLst/>
          </a:prstGeom>
          <a:noFill/>
          <a:ln>
            <a:noFill/>
          </a:ln>
        </p:spPr>
        <p:txBody>
          <a:bodyPr wrap="square" lIns="18288" tIns="18288" rIns="18288" bIns="18288" anchor="t" rtlCol="0">
            <a:noAutofit/>
          </a:bodyPr>
          <a:lstStyle/>
          <a:p>
            <a:pPr algn="l">
              <a:lnSpc>
                <a:spcPct val="100000"/>
              </a:lnSpc>
              <a:spcBef>
                <a:spcPts val="0"/>
              </a:spcBef>
              <a:spcAft>
                <a:spcPts val="0"/>
              </a:spcAft>
              <a:buNone/>
            </a:pPr>
            <a:r>
              <a:rPr lang="fr-FR" sz="1200" b="0" i="0" dirty="0">
                <a:solidFill>
                  <a:srgbClr val="9FB0C6"/>
                </a:solidFill>
                <a:latin typeface="Segoe UI"/>
                <a:cs typeface="Segoe UI"/>
              </a:rPr>
              <a:t>Le détail : docs/sources.md · docs/methodologie.md · docs/chiffres_cles.md · docs/RECUPERER_LES_DONNEES.md</a:t>
            </a:r>
            <a:endParaRPr lang="fr-FR" sz="1200" dirty="0"/>
          </a:p>
        </p:txBody>
      </p:sp>
    </p:spTree>
  </p:cSld>
  <p:clrMapOvr>
    <a:masterClrMapping/>
  </p:clrMapOvr>
</p:sld>
</file>

<file path=ppt/theme/theme1.xml><?xml version="1.0" encoding="utf-8"?>
<a:theme xmlns:a="http://schemas.openxmlformats.org/drawingml/2006/main" name="Donnees">
  <a:themeElements>
    <a:clrScheme name="Donnees">
      <a:dk1>
        <a:srgbClr val="1F2933"/>
      </a:dk1>
      <a:lt1>
        <a:srgbClr val="FFFFFF"/>
      </a:lt1>
      <a:dk2>
        <a:srgbClr val="14213D"/>
      </a:dk2>
      <a:lt2>
        <a:srgbClr val="F4F6F9"/>
      </a:lt2>
      <a:accent1>
        <a:srgbClr val="0E9F8E"/>
      </a:accent1>
      <a:accent2>
        <a:srgbClr val="F2A541"/>
      </a:accent2>
      <a:accent3>
        <a:srgbClr val="3D7DD8"/>
      </a:accent3>
      <a:accent4>
        <a:srgbClr val="D64545"/>
      </a:accent4>
      <a:accent5>
        <a:srgbClr val="7B61C9"/>
      </a:accent5>
      <a:accent6>
        <a:srgbClr val="5B6573"/>
      </a:accent6>
      <a:hlink>
        <a:srgbClr val="3D7DD8"/>
      </a:hlink>
      <a:folHlink>
        <a:srgbClr val="7B61C9"/>
      </a:folHlink>
    </a:clrScheme>
    <a:fontScheme name="Donnees">
      <a:majorFont>
        <a:latin typeface="Segoe UI"/>
        <a:ea typeface=""/>
        <a:cs typeface=""/>
      </a:majorFont>
      <a:minorFont>
        <a:latin typeface="Segoe UI"/>
        <a:ea typeface=""/>
        <a:cs typeface=""/>
      </a:minorFont>
    </a:fontScheme>
    <a:fmtScheme name="Donnees">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Slides>30</Slides>
</Properties>
</file>

<file path=docProps/core.xml><?xml version="1.0" encoding="utf-8"?>
<cp:coreProperties xmlns:cp="http://schemas.openxmlformats.org/package/2006/metadata/core-properties" xmlns:dc="http://purl.org/dc/elements/1.1/" xmlns:dcterms="http://purl.org/dc/terms/" xmlns:xsi="http://www.w3.org/2001/XMLSchema-instance">
  <dc:title>Nos données, de A à Z</dc:title>
  <dc:creator>Hackathon Mobility × Citiz</dc:creator>
  <cp:lastModifiedBy>Hackathon Mobility × Citiz</cp:lastModifiedBy>
</cp:coreProperties>
</file>