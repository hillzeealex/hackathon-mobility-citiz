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12191695"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3200"/>
      </a:lvl1pPr>
    </p:titleStyle>
    <p:bodyStyle>
      <a:lvl1pPr>
        <a:defRPr sz="1800"/>
      </a:lvl1pPr>
    </p:bodyStyle>
    <p:otherStyle>
      <a:lvl1pPr>
        <a:defRPr sz="1800"/>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LogoB" Type="http://schemas.openxmlformats.org/officeDocument/2006/relationships/image" Target="../media/citiz_logo_blanc.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Logo" Type="http://schemas.openxmlformats.org/officeDocument/2006/relationships/image" Target="../media/citiz_logo.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Logo" Type="http://schemas.openxmlformats.org/officeDocument/2006/relationships/image" Target="../media/citiz_logo.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Logo" Type="http://schemas.openxmlformats.org/officeDocument/2006/relationships/image" Target="../media/citiz_logo.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LogoB" Type="http://schemas.openxmlformats.org/officeDocument/2006/relationships/image" Target="../media/citiz_logo_blanc.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2B4B5"/>
        </a:solidFill>
        <a:effectLst/>
      </p:bgPr>
    </p:bg>
    <p:spTree>
      <p:nvGrpSpPr>
        <p:cNvPr id="1" name=""/>
        <p:cNvGrpSpPr/>
        <p:nvPr/>
      </p:nvGrpSpPr>
      <p:grpSpPr>
        <a:xfrm>
          <a:off x="0" y="0"/>
          <a:ext cx="0" cy="0"/>
          <a:chOff x="0" y="0"/>
          <a:chExt cx="0" cy="0"/>
        </a:xfrm>
      </p:grpSpPr>
      <p:sp>
        <p:nvSpPr>
          <p:cNvPr id="4" name="Forme 4"/>
          <p:cNvSpPr/>
          <p:nvPr/>
        </p:nvSpPr>
        <p:spPr>
          <a:xfrm>
            <a:off x="731520" y="960120"/>
            <a:ext cx="10058400" cy="36576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400" b="1" i="0" dirty="0">
                <a:solidFill>
                  <a:srgbClr val="FFFFFF"/>
                </a:solidFill>
                <a:latin typeface="Arial"/>
                <a:cs typeface="Arial"/>
              </a:rPr>
              <a:t>HACKATHON MOBILITY · EPITECH × CITIZ × MICROSOFT</a:t>
            </a:r>
            <a:endParaRPr lang="fr-FR" sz="1400" dirty="0"/>
          </a:p>
        </p:txBody>
      </p:sp>
      <p:sp>
        <p:nvSpPr>
          <p:cNvPr id="5" name="Forme 5"/>
          <p:cNvSpPr/>
          <p:nvPr/>
        </p:nvSpPr>
        <p:spPr>
          <a:xfrm>
            <a:off x="731520" y="1371600"/>
            <a:ext cx="10515600" cy="109728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5000" b="1" i="0" dirty="0">
                <a:solidFill>
                  <a:srgbClr val="FFFFFF"/>
                </a:solidFill>
                <a:latin typeface="Arial"/>
                <a:cs typeface="Arial"/>
              </a:rPr>
              <a:t>Nos données, de A à Z</a:t>
            </a:r>
            <a:endParaRPr lang="fr-FR" sz="5000" dirty="0"/>
          </a:p>
        </p:txBody>
      </p:sp>
      <p:sp>
        <p:nvSpPr>
          <p:cNvPr id="6" name="Forme 6"/>
          <p:cNvSpPr/>
          <p:nvPr/>
        </p:nvSpPr>
        <p:spPr>
          <a:xfrm>
            <a:off x="731520" y="2514600"/>
            <a:ext cx="10515600" cy="82296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900" b="0" i="0" dirty="0">
                <a:solidFill>
                  <a:srgbClr val="FFFFFF"/>
                </a:solidFill>
                <a:latin typeface="Arial"/>
                <a:cs typeface="Arial"/>
              </a:rPr>
              <a:t>Sources, extraction, nettoyage, automatisation : tout ce qu'il faut pour présenter et défendre notre partie données devant le jury.</a:t>
            </a:r>
            <a:endParaRPr lang="fr-FR" sz="1900" dirty="0"/>
          </a:p>
        </p:txBody>
      </p:sp>
      <p:sp>
        <p:nvSpPr>
          <p:cNvPr id="7" name="Forme 7"/>
          <p:cNvSpPr/>
          <p:nvPr/>
        </p:nvSpPr>
        <p:spPr>
          <a:xfrm>
            <a:off x="731520" y="3840480"/>
            <a:ext cx="2514600" cy="1463040"/>
          </a:xfrm>
          <a:prstGeom prst="roundRect">
            <a:avLst>
              <a:gd name="adj" fmla="val 8000"/>
            </a:avLst>
          </a:prstGeom>
          <a:solidFill>
            <a:srgbClr val="20A4B0"/>
          </a:solidFill>
          <a:ln>
            <a:noFill/>
          </a:ln>
        </p:spPr>
        <p:txBody>
          <a:bodyPr wrap="square" lIns="182880" tIns="137160" rIns="182880" bIns="91440" anchor="t" rtlCol="0">
            <a:noAutofit/>
          </a:bodyPr>
          <a:lstStyle/>
          <a:p>
            <a:pPr algn="l">
              <a:lnSpc>
                <a:spcPct val="100000"/>
              </a:lnSpc>
              <a:spcBef>
                <a:spcPts val="0"/>
              </a:spcBef>
              <a:spcAft>
                <a:spcPts val="0"/>
              </a:spcAft>
              <a:buNone/>
            </a:pPr>
            <a:r>
              <a:rPr lang="fr-FR" sz="3200" b="1" i="0" dirty="0">
                <a:solidFill>
                  <a:srgbClr val="FFFFFF"/>
                </a:solidFill>
                <a:latin typeface="Arial"/>
                <a:cs typeface="Arial"/>
              </a:rPr>
              <a:t>14</a:t>
            </a:r>
            <a:endParaRPr lang="fr-FR" sz="3200" dirty="0"/>
          </a:p>
          <a:p>
            <a:pPr algn="l">
              <a:lnSpc>
                <a:spcPct val="100000"/>
              </a:lnSpc>
              <a:spcBef>
                <a:spcPts val="400"/>
              </a:spcBef>
              <a:spcAft>
                <a:spcPts val="0"/>
              </a:spcAft>
              <a:buNone/>
            </a:pPr>
            <a:r>
              <a:rPr lang="fr-FR" sz="1200" b="0" i="0" dirty="0">
                <a:solidFill>
                  <a:srgbClr val="FFFFFF"/>
                </a:solidFill>
                <a:latin typeface="Arial"/>
                <a:cs typeface="Arial"/>
              </a:rPr>
              <a:t>sources ouvertes, toutes téléchargées par un script</a:t>
            </a:r>
            <a:endParaRPr lang="fr-FR" sz="1200" dirty="0"/>
          </a:p>
        </p:txBody>
      </p:sp>
      <p:sp>
        <p:nvSpPr>
          <p:cNvPr id="8" name="Forme 8"/>
          <p:cNvSpPr/>
          <p:nvPr/>
        </p:nvSpPr>
        <p:spPr>
          <a:xfrm>
            <a:off x="3474720" y="3840480"/>
            <a:ext cx="2514600" cy="1463040"/>
          </a:xfrm>
          <a:prstGeom prst="roundRect">
            <a:avLst>
              <a:gd name="adj" fmla="val 8000"/>
            </a:avLst>
          </a:prstGeom>
          <a:solidFill>
            <a:srgbClr val="20A4B0"/>
          </a:solidFill>
          <a:ln>
            <a:noFill/>
          </a:ln>
        </p:spPr>
        <p:txBody>
          <a:bodyPr wrap="square" lIns="182880" tIns="137160" rIns="182880" bIns="91440" anchor="t" rtlCol="0">
            <a:noAutofit/>
          </a:bodyPr>
          <a:lstStyle/>
          <a:p>
            <a:pPr algn="l">
              <a:lnSpc>
                <a:spcPct val="100000"/>
              </a:lnSpc>
              <a:spcBef>
                <a:spcPts val="0"/>
              </a:spcBef>
              <a:spcAft>
                <a:spcPts val="0"/>
              </a:spcAft>
              <a:buNone/>
            </a:pPr>
            <a:r>
              <a:rPr lang="fr-FR" sz="3200" b="1" i="0" dirty="0">
                <a:solidFill>
                  <a:srgbClr val="FFFFFF"/>
                </a:solidFill>
                <a:latin typeface="Arial"/>
                <a:cs typeface="Arial"/>
              </a:rPr>
              <a:t>4,8 Go</a:t>
            </a:r>
            <a:endParaRPr lang="fr-FR" sz="3200" dirty="0"/>
          </a:p>
          <a:p>
            <a:pPr algn="l">
              <a:lnSpc>
                <a:spcPct val="100000"/>
              </a:lnSpc>
              <a:spcBef>
                <a:spcPts val="400"/>
              </a:spcBef>
              <a:spcAft>
                <a:spcPts val="0"/>
              </a:spcAft>
              <a:buNone/>
            </a:pPr>
            <a:r>
              <a:rPr lang="fr-FR" sz="1200" b="0" i="0" dirty="0">
                <a:solidFill>
                  <a:srgbClr val="FFFFFF"/>
                </a:solidFill>
                <a:latin typeface="Arial"/>
                <a:cs typeface="Arial"/>
              </a:rPr>
              <a:t>de données brutes, tracées dans manifest.csv</a:t>
            </a:r>
            <a:endParaRPr lang="fr-FR" sz="1200" dirty="0"/>
          </a:p>
        </p:txBody>
      </p:sp>
      <p:sp>
        <p:nvSpPr>
          <p:cNvPr id="9" name="Forme 9"/>
          <p:cNvSpPr/>
          <p:nvPr/>
        </p:nvSpPr>
        <p:spPr>
          <a:xfrm>
            <a:off x="6217920" y="3840480"/>
            <a:ext cx="2514600" cy="1463040"/>
          </a:xfrm>
          <a:prstGeom prst="roundRect">
            <a:avLst>
              <a:gd name="adj" fmla="val 8000"/>
            </a:avLst>
          </a:prstGeom>
          <a:solidFill>
            <a:srgbClr val="20A4B0"/>
          </a:solidFill>
          <a:ln>
            <a:noFill/>
          </a:ln>
        </p:spPr>
        <p:txBody>
          <a:bodyPr wrap="square" lIns="182880" tIns="137160" rIns="182880" bIns="91440" anchor="t" rtlCol="0">
            <a:noAutofit/>
          </a:bodyPr>
          <a:lstStyle/>
          <a:p>
            <a:pPr algn="l">
              <a:lnSpc>
                <a:spcPct val="100000"/>
              </a:lnSpc>
              <a:spcBef>
                <a:spcPts val="0"/>
              </a:spcBef>
              <a:spcAft>
                <a:spcPts val="0"/>
              </a:spcAft>
              <a:buNone/>
            </a:pPr>
            <a:r>
              <a:rPr lang="fr-FR" sz="3200" b="1" i="0" dirty="0">
                <a:solidFill>
                  <a:srgbClr val="FFFFFF"/>
                </a:solidFill>
                <a:latin typeface="Arial"/>
                <a:cs typeface="Arial"/>
              </a:rPr>
              <a:t>2,3 M</a:t>
            </a:r>
            <a:endParaRPr lang="fr-FR" sz="3200" dirty="0"/>
          </a:p>
          <a:p>
            <a:pPr algn="l">
              <a:lnSpc>
                <a:spcPct val="100000"/>
              </a:lnSpc>
              <a:spcBef>
                <a:spcPts val="400"/>
              </a:spcBef>
              <a:spcAft>
                <a:spcPts val="0"/>
              </a:spcAft>
              <a:buNone/>
            </a:pPr>
            <a:r>
              <a:rPr lang="fr-FR" sz="1200" b="0" i="0" dirty="0">
                <a:solidFill>
                  <a:srgbClr val="FFFFFF"/>
                </a:solidFill>
                <a:latin typeface="Arial"/>
                <a:cs typeface="Arial"/>
              </a:rPr>
              <a:t>carreaux de 200 m calculés pour la France</a:t>
            </a:r>
            <a:endParaRPr lang="fr-FR" sz="1200" dirty="0"/>
          </a:p>
        </p:txBody>
      </p:sp>
      <p:sp>
        <p:nvSpPr>
          <p:cNvPr id="10" name="Forme 10"/>
          <p:cNvSpPr/>
          <p:nvPr/>
        </p:nvSpPr>
        <p:spPr>
          <a:xfrm>
            <a:off x="8961120" y="3840480"/>
            <a:ext cx="2514600" cy="1463040"/>
          </a:xfrm>
          <a:prstGeom prst="roundRect">
            <a:avLst>
              <a:gd name="adj" fmla="val 8000"/>
            </a:avLst>
          </a:prstGeom>
          <a:solidFill>
            <a:srgbClr val="20A4B0"/>
          </a:solidFill>
          <a:ln>
            <a:noFill/>
          </a:ln>
        </p:spPr>
        <p:txBody>
          <a:bodyPr wrap="square" lIns="182880" tIns="137160" rIns="182880" bIns="91440" anchor="t" rtlCol="0">
            <a:noAutofit/>
          </a:bodyPr>
          <a:lstStyle/>
          <a:p>
            <a:pPr algn="l">
              <a:lnSpc>
                <a:spcPct val="100000"/>
              </a:lnSpc>
              <a:spcBef>
                <a:spcPts val="0"/>
              </a:spcBef>
              <a:spcAft>
                <a:spcPts val="0"/>
              </a:spcAft>
              <a:buNone/>
            </a:pPr>
            <a:r>
              <a:rPr lang="fr-FR" sz="3200" b="1" i="0" dirty="0">
                <a:solidFill>
                  <a:srgbClr val="FFFFFF"/>
                </a:solidFill>
                <a:latin typeface="Arial"/>
                <a:cs typeface="Arial"/>
              </a:rPr>
              <a:t>82</a:t>
            </a:r>
            <a:endParaRPr lang="fr-FR" sz="3200" dirty="0"/>
          </a:p>
          <a:p>
            <a:pPr algn="l">
              <a:lnSpc>
                <a:spcPct val="100000"/>
              </a:lnSpc>
              <a:spcBef>
                <a:spcPts val="400"/>
              </a:spcBef>
              <a:spcAft>
                <a:spcPts val="0"/>
              </a:spcAft>
              <a:buNone/>
            </a:pPr>
            <a:r>
              <a:rPr lang="fr-FR" sz="1200" b="0" i="0" dirty="0">
                <a:solidFill>
                  <a:srgbClr val="FFFFFF"/>
                </a:solidFill>
                <a:latin typeface="Arial"/>
                <a:cs typeface="Arial"/>
              </a:rPr>
              <a:t>tests automatiques, tous verts</a:t>
            </a:r>
            <a:endParaRPr lang="fr-FR" sz="1200" dirty="0"/>
          </a:p>
        </p:txBody>
      </p:sp>
      <p:sp>
        <p:nvSpPr>
          <p:cNvPr id="11" name="Forme 11"/>
          <p:cNvSpPr/>
          <p:nvPr/>
        </p:nvSpPr>
        <p:spPr>
          <a:xfrm>
            <a:off x="731520" y="5897880"/>
            <a:ext cx="10789920" cy="36576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DBF4F4"/>
                </a:solidFill>
                <a:latin typeface="Arial"/>
                <a:cs typeface="Arial"/>
              </a:rPr>
              <a:t>Nantes Métropole : recommandations  ·  Grenoble : ville exemple et test à l'aveugle  ·  Nice : contre-exemple</a:t>
            </a:r>
            <a:endParaRPr lang="fr-FR" sz="1250" dirty="0"/>
          </a:p>
        </p:txBody>
      </p:sp>
      <p:pic>
        <p:nvPicPr>
          <p:cNvPr id="9001" name="Logo Citiz blanc" descr="Logo Citiz blanc"/>
          <p:cNvPicPr>
            <a:picLocks noChangeAspect="1"/>
          </p:cNvPicPr>
          <p:nvPr/>
        </p:nvPicPr>
        <p:blipFill>
          <a:blip r:embed="rIdLogoB"/>
          <a:stretch>
            <a:fillRect/>
          </a:stretch>
        </p:blipFill>
        <p:spPr>
          <a:xfrm>
            <a:off x="731520" y="228600"/>
            <a:ext cx="1783080" cy="7223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411480"/>
            <a:ext cx="10972800" cy="64008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800" b="1" i="0" dirty="0">
                <a:solidFill>
                  <a:srgbClr val="202020"/>
                </a:solidFill>
                <a:latin typeface="Arial"/>
                <a:cs typeface="Arial"/>
              </a:rPr>
              <a:t>Sommaire</a:t>
            </a:r>
            <a:endParaRPr lang="fr-FR" sz="2800" dirty="0"/>
          </a:p>
        </p:txBody>
      </p:sp>
      <p:sp>
        <p:nvSpPr>
          <p:cNvPr id="5" name="Forme 5"/>
          <p:cNvSpPr/>
          <p:nvPr/>
        </p:nvSpPr>
        <p:spPr>
          <a:xfrm>
            <a:off x="457200" y="1325880"/>
            <a:ext cx="3611880" cy="1508760"/>
          </a:xfrm>
          <a:prstGeom prst="roundRect">
            <a:avLst>
              <a:gd name="adj" fmla="val 6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6" name="Forme 6"/>
          <p:cNvSpPr/>
          <p:nvPr/>
        </p:nvSpPr>
        <p:spPr>
          <a:xfrm>
            <a:off x="640080" y="1554480"/>
            <a:ext cx="566928" cy="566928"/>
          </a:xfrm>
          <a:prstGeom prst="ellipse">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2000" b="1" i="0" dirty="0">
                <a:solidFill>
                  <a:srgbClr val="FFFFFF"/>
                </a:solidFill>
                <a:latin typeface="Arial"/>
                <a:cs typeface="Arial"/>
              </a:rPr>
              <a:t>1</a:t>
            </a:r>
            <a:endParaRPr lang="fr-FR" sz="2000" dirty="0"/>
          </a:p>
        </p:txBody>
      </p:sp>
      <p:sp>
        <p:nvSpPr>
          <p:cNvPr id="7" name="Forme 7"/>
          <p:cNvSpPr/>
          <p:nvPr/>
        </p:nvSpPr>
        <p:spPr>
          <a:xfrm>
            <a:off x="1371600" y="1527048"/>
            <a:ext cx="2606040" cy="11887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500" b="1" i="0" dirty="0">
                <a:solidFill>
                  <a:srgbClr val="202020"/>
                </a:solidFill>
                <a:latin typeface="Arial"/>
                <a:cs typeface="Arial"/>
              </a:rPr>
              <a:t>Vue d'ensemble</a:t>
            </a:r>
            <a:endParaRPr lang="fr-FR" sz="1500" dirty="0"/>
          </a:p>
          <a:p>
            <a:pPr algn="l">
              <a:lnSpc>
                <a:spcPct val="100000"/>
              </a:lnSpc>
              <a:spcBef>
                <a:spcPts val="400"/>
              </a:spcBef>
              <a:spcAft>
                <a:spcPts val="0"/>
              </a:spcAft>
              <a:buNone/>
            </a:pPr>
            <a:r>
              <a:rPr lang="fr-FR" sz="1100" b="0" i="0" dirty="0">
                <a:solidFill>
                  <a:srgbClr val="616060"/>
                </a:solidFill>
                <a:latin typeface="Arial"/>
                <a:cs typeface="Arial"/>
              </a:rPr>
              <a:t>Le parcours des données, Bronze / Silver / Gold</a:t>
            </a:r>
            <a:endParaRPr lang="fr-FR" sz="1100" dirty="0"/>
          </a:p>
        </p:txBody>
      </p:sp>
      <p:sp>
        <p:nvSpPr>
          <p:cNvPr id="8" name="Forme 8"/>
          <p:cNvSpPr/>
          <p:nvPr/>
        </p:nvSpPr>
        <p:spPr>
          <a:xfrm>
            <a:off x="4251960" y="1325880"/>
            <a:ext cx="3611880" cy="1508760"/>
          </a:xfrm>
          <a:prstGeom prst="roundRect">
            <a:avLst>
              <a:gd name="adj" fmla="val 6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9" name="Forme 9"/>
          <p:cNvSpPr/>
          <p:nvPr/>
        </p:nvSpPr>
        <p:spPr>
          <a:xfrm>
            <a:off x="4434840" y="1554480"/>
            <a:ext cx="566928" cy="566928"/>
          </a:xfrm>
          <a:prstGeom prst="ellipse">
            <a:avLst/>
          </a:prstGeom>
          <a:solidFill>
            <a:srgbClr val="20A4B0"/>
          </a:solidFill>
          <a:ln>
            <a:noFill/>
          </a:ln>
        </p:spPr>
        <p:txBody>
          <a:bodyPr wrap="square" lIns="0" tIns="0" rIns="0" bIns="0" anchor="ctr" rtlCol="0">
            <a:noAutofit/>
          </a:bodyPr>
          <a:lstStyle/>
          <a:p>
            <a:pPr algn="ctr">
              <a:lnSpc>
                <a:spcPct val="100000"/>
              </a:lnSpc>
              <a:spcBef>
                <a:spcPts val="0"/>
              </a:spcBef>
              <a:spcAft>
                <a:spcPts val="0"/>
              </a:spcAft>
              <a:buNone/>
            </a:pPr>
            <a:r>
              <a:rPr lang="fr-FR" sz="2000" b="1" i="0" dirty="0">
                <a:solidFill>
                  <a:srgbClr val="FFFFFF"/>
                </a:solidFill>
                <a:latin typeface="Arial"/>
                <a:cs typeface="Arial"/>
              </a:rPr>
              <a:t>2</a:t>
            </a:r>
            <a:endParaRPr lang="fr-FR" sz="2000" dirty="0"/>
          </a:p>
        </p:txBody>
      </p:sp>
      <p:sp>
        <p:nvSpPr>
          <p:cNvPr id="10" name="Forme 10"/>
          <p:cNvSpPr/>
          <p:nvPr/>
        </p:nvSpPr>
        <p:spPr>
          <a:xfrm>
            <a:off x="5166360" y="1527048"/>
            <a:ext cx="2606040" cy="11887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500" b="1" i="0" dirty="0">
                <a:solidFill>
                  <a:srgbClr val="202020"/>
                </a:solidFill>
                <a:latin typeface="Arial"/>
                <a:cs typeface="Arial"/>
              </a:rPr>
              <a:t>Les sources</a:t>
            </a:r>
            <a:endParaRPr lang="fr-FR" sz="1500" dirty="0"/>
          </a:p>
          <a:p>
            <a:pPr algn="l">
              <a:lnSpc>
                <a:spcPct val="100000"/>
              </a:lnSpc>
              <a:spcBef>
                <a:spcPts val="400"/>
              </a:spcBef>
              <a:spcAft>
                <a:spcPts val="0"/>
              </a:spcAft>
              <a:buNone/>
            </a:pPr>
            <a:r>
              <a:rPr lang="fr-FR" sz="1100" b="0" i="0" dirty="0">
                <a:solidFill>
                  <a:srgbClr val="616060"/>
                </a:solidFill>
                <a:latin typeface="Arial"/>
                <a:cs typeface="Arial"/>
              </a:rPr>
              <a:t>14 sources : lien exact, licence, taille, colonnes</a:t>
            </a:r>
            <a:endParaRPr lang="fr-FR" sz="1100" dirty="0"/>
          </a:p>
        </p:txBody>
      </p:sp>
      <p:sp>
        <p:nvSpPr>
          <p:cNvPr id="11" name="Forme 11"/>
          <p:cNvSpPr/>
          <p:nvPr/>
        </p:nvSpPr>
        <p:spPr>
          <a:xfrm>
            <a:off x="8046720" y="1325880"/>
            <a:ext cx="3611880" cy="1508760"/>
          </a:xfrm>
          <a:prstGeom prst="roundRect">
            <a:avLst>
              <a:gd name="adj" fmla="val 6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2" name="Forme 12"/>
          <p:cNvSpPr/>
          <p:nvPr/>
        </p:nvSpPr>
        <p:spPr>
          <a:xfrm>
            <a:off x="8229600" y="1554480"/>
            <a:ext cx="566928" cy="566928"/>
          </a:xfrm>
          <a:prstGeom prst="ellipse">
            <a:avLst/>
          </a:prstGeom>
          <a:solidFill>
            <a:srgbClr val="514E98"/>
          </a:solidFill>
          <a:ln>
            <a:noFill/>
          </a:ln>
        </p:spPr>
        <p:txBody>
          <a:bodyPr wrap="square" lIns="0" tIns="0" rIns="0" bIns="0" anchor="ctr" rtlCol="0">
            <a:noAutofit/>
          </a:bodyPr>
          <a:lstStyle/>
          <a:p>
            <a:pPr algn="ctr">
              <a:lnSpc>
                <a:spcPct val="100000"/>
              </a:lnSpc>
              <a:spcBef>
                <a:spcPts val="0"/>
              </a:spcBef>
              <a:spcAft>
                <a:spcPts val="0"/>
              </a:spcAft>
              <a:buNone/>
            </a:pPr>
            <a:r>
              <a:rPr lang="fr-FR" sz="2000" b="1" i="0" dirty="0">
                <a:solidFill>
                  <a:srgbClr val="FFFFFF"/>
                </a:solidFill>
                <a:latin typeface="Arial"/>
                <a:cs typeface="Arial"/>
              </a:rPr>
              <a:t>3</a:t>
            </a:r>
            <a:endParaRPr lang="fr-FR" sz="2000" dirty="0"/>
          </a:p>
        </p:txBody>
      </p:sp>
      <p:sp>
        <p:nvSpPr>
          <p:cNvPr id="13" name="Forme 13"/>
          <p:cNvSpPr/>
          <p:nvPr/>
        </p:nvSpPr>
        <p:spPr>
          <a:xfrm>
            <a:off x="8961120" y="1527048"/>
            <a:ext cx="2606040" cy="11887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500" b="1" i="0" dirty="0">
                <a:solidFill>
                  <a:srgbClr val="202020"/>
                </a:solidFill>
                <a:latin typeface="Arial"/>
                <a:cs typeface="Arial"/>
              </a:rPr>
              <a:t>L'extraction</a:t>
            </a:r>
            <a:endParaRPr lang="fr-FR" sz="1500" dirty="0"/>
          </a:p>
          <a:p>
            <a:pPr algn="l">
              <a:lnSpc>
                <a:spcPct val="100000"/>
              </a:lnSpc>
              <a:spcBef>
                <a:spcPts val="400"/>
              </a:spcBef>
              <a:spcAft>
                <a:spcPts val="0"/>
              </a:spcAft>
              <a:buNone/>
            </a:pPr>
            <a:r>
              <a:rPr lang="fr-FR" sz="1100" b="0" i="0" dirty="0">
                <a:solidFill>
                  <a:srgbClr val="616060"/>
                </a:solidFill>
                <a:latin typeface="Arial"/>
                <a:cs typeface="Arial"/>
              </a:rPr>
              <a:t>API, flux GBFS, flux Atom IGN, réseau piéton</a:t>
            </a:r>
            <a:endParaRPr lang="fr-FR" sz="1100" dirty="0"/>
          </a:p>
        </p:txBody>
      </p:sp>
      <p:sp>
        <p:nvSpPr>
          <p:cNvPr id="14" name="Forme 14"/>
          <p:cNvSpPr/>
          <p:nvPr/>
        </p:nvSpPr>
        <p:spPr>
          <a:xfrm>
            <a:off x="457200" y="3017520"/>
            <a:ext cx="3611880" cy="1508760"/>
          </a:xfrm>
          <a:prstGeom prst="roundRect">
            <a:avLst>
              <a:gd name="adj" fmla="val 6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5" name="Forme 15"/>
          <p:cNvSpPr/>
          <p:nvPr/>
        </p:nvSpPr>
        <p:spPr>
          <a:xfrm>
            <a:off x="640080" y="3246120"/>
            <a:ext cx="566928" cy="566928"/>
          </a:xfrm>
          <a:prstGeom prst="ellipse">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2000" b="1" i="0" dirty="0">
                <a:solidFill>
                  <a:srgbClr val="FFFFFF"/>
                </a:solidFill>
                <a:latin typeface="Arial"/>
                <a:cs typeface="Arial"/>
              </a:rPr>
              <a:t>4</a:t>
            </a:r>
            <a:endParaRPr lang="fr-FR" sz="2000" dirty="0"/>
          </a:p>
        </p:txBody>
      </p:sp>
      <p:sp>
        <p:nvSpPr>
          <p:cNvPr id="16" name="Forme 16"/>
          <p:cNvSpPr/>
          <p:nvPr/>
        </p:nvSpPr>
        <p:spPr>
          <a:xfrm>
            <a:off x="1371600" y="3218688"/>
            <a:ext cx="2606040" cy="11887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500" b="1" i="0" dirty="0">
                <a:solidFill>
                  <a:srgbClr val="202020"/>
                </a:solidFill>
                <a:latin typeface="Arial"/>
                <a:cs typeface="Arial"/>
              </a:rPr>
              <a:t>Le nettoyage</a:t>
            </a:r>
            <a:endParaRPr lang="fr-FR" sz="1500" dirty="0"/>
          </a:p>
          <a:p>
            <a:pPr algn="l">
              <a:lnSpc>
                <a:spcPct val="100000"/>
              </a:lnSpc>
              <a:spcBef>
                <a:spcPts val="400"/>
              </a:spcBef>
              <a:spcAft>
                <a:spcPts val="0"/>
              </a:spcAft>
              <a:buNone/>
            </a:pPr>
            <a:r>
              <a:rPr lang="fr-FR" sz="1100" b="0" i="0" dirty="0">
                <a:solidFill>
                  <a:srgbClr val="616060"/>
                </a:solidFill>
                <a:latin typeface="Arial"/>
                <a:cs typeface="Arial"/>
              </a:rPr>
              <a:t>9 traitements, chiffrés avant / après</a:t>
            </a:r>
            <a:endParaRPr lang="fr-FR" sz="1100" dirty="0"/>
          </a:p>
        </p:txBody>
      </p:sp>
      <p:sp>
        <p:nvSpPr>
          <p:cNvPr id="17" name="Forme 17"/>
          <p:cNvSpPr/>
          <p:nvPr/>
        </p:nvSpPr>
        <p:spPr>
          <a:xfrm>
            <a:off x="4251960" y="3017520"/>
            <a:ext cx="3611880" cy="1508760"/>
          </a:xfrm>
          <a:prstGeom prst="roundRect">
            <a:avLst>
              <a:gd name="adj" fmla="val 6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8" name="Forme 18"/>
          <p:cNvSpPr/>
          <p:nvPr/>
        </p:nvSpPr>
        <p:spPr>
          <a:xfrm>
            <a:off x="4434840" y="3246120"/>
            <a:ext cx="566928" cy="566928"/>
          </a:xfrm>
          <a:prstGeom prst="ellipse">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2000" b="1" i="0" dirty="0">
                <a:solidFill>
                  <a:srgbClr val="FFFFFF"/>
                </a:solidFill>
                <a:latin typeface="Arial"/>
                <a:cs typeface="Arial"/>
              </a:rPr>
              <a:t>5</a:t>
            </a:r>
            <a:endParaRPr lang="fr-FR" sz="2000" dirty="0"/>
          </a:p>
        </p:txBody>
      </p:sp>
      <p:sp>
        <p:nvSpPr>
          <p:cNvPr id="19" name="Forme 19"/>
          <p:cNvSpPr/>
          <p:nvPr/>
        </p:nvSpPr>
        <p:spPr>
          <a:xfrm>
            <a:off x="5166360" y="3218688"/>
            <a:ext cx="2606040" cy="11887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500" b="1" i="0" dirty="0">
                <a:solidFill>
                  <a:srgbClr val="202020"/>
                </a:solidFill>
                <a:latin typeface="Arial"/>
                <a:cs typeface="Arial"/>
              </a:rPr>
              <a:t>L'automatisation</a:t>
            </a:r>
            <a:endParaRPr lang="fr-FR" sz="1500" dirty="0"/>
          </a:p>
          <a:p>
            <a:pPr algn="l">
              <a:lnSpc>
                <a:spcPct val="100000"/>
              </a:lnSpc>
              <a:spcBef>
                <a:spcPts val="400"/>
              </a:spcBef>
              <a:spcAft>
                <a:spcPts val="0"/>
              </a:spcAft>
              <a:buNone/>
            </a:pPr>
            <a:r>
              <a:rPr lang="fr-FR" sz="1100" b="0" i="0" dirty="0">
                <a:solidFill>
                  <a:srgbClr val="616060"/>
                </a:solidFill>
                <a:latin typeface="Arial"/>
                <a:cs typeface="Arial"/>
              </a:rPr>
              <a:t>Scripts, tests, tout reconstruire en 5 commandes</a:t>
            </a:r>
            <a:endParaRPr lang="fr-FR" sz="1100" dirty="0"/>
          </a:p>
        </p:txBody>
      </p:sp>
      <p:sp>
        <p:nvSpPr>
          <p:cNvPr id="20" name="Forme 20"/>
          <p:cNvSpPr/>
          <p:nvPr/>
        </p:nvSpPr>
        <p:spPr>
          <a:xfrm>
            <a:off x="8046720" y="3017520"/>
            <a:ext cx="3611880" cy="1508760"/>
          </a:xfrm>
          <a:prstGeom prst="roundRect">
            <a:avLst>
              <a:gd name="adj" fmla="val 6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1" name="Forme 21"/>
          <p:cNvSpPr/>
          <p:nvPr/>
        </p:nvSpPr>
        <p:spPr>
          <a:xfrm>
            <a:off x="8229600" y="3246120"/>
            <a:ext cx="566928" cy="566928"/>
          </a:xfrm>
          <a:prstGeom prst="ellipse">
            <a:avLst/>
          </a:prstGeom>
          <a:solidFill>
            <a:srgbClr val="20A4B0"/>
          </a:solidFill>
          <a:ln>
            <a:noFill/>
          </a:ln>
        </p:spPr>
        <p:txBody>
          <a:bodyPr wrap="square" lIns="0" tIns="0" rIns="0" bIns="0" anchor="ctr" rtlCol="0">
            <a:noAutofit/>
          </a:bodyPr>
          <a:lstStyle/>
          <a:p>
            <a:pPr algn="ctr">
              <a:lnSpc>
                <a:spcPct val="100000"/>
              </a:lnSpc>
              <a:spcBef>
                <a:spcPts val="0"/>
              </a:spcBef>
              <a:spcAft>
                <a:spcPts val="0"/>
              </a:spcAft>
              <a:buNone/>
            </a:pPr>
            <a:r>
              <a:rPr lang="fr-FR" sz="2000" b="1" i="0" dirty="0">
                <a:solidFill>
                  <a:srgbClr val="FFFFFF"/>
                </a:solidFill>
                <a:latin typeface="Arial"/>
                <a:cs typeface="Arial"/>
              </a:rPr>
              <a:t>6</a:t>
            </a:r>
            <a:endParaRPr lang="fr-FR" sz="2000" dirty="0"/>
          </a:p>
        </p:txBody>
      </p:sp>
      <p:sp>
        <p:nvSpPr>
          <p:cNvPr id="22" name="Forme 22"/>
          <p:cNvSpPr/>
          <p:nvPr/>
        </p:nvSpPr>
        <p:spPr>
          <a:xfrm>
            <a:off x="8961120" y="3218688"/>
            <a:ext cx="2606040" cy="11887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500" b="1" i="0" dirty="0">
                <a:solidFill>
                  <a:srgbClr val="202020"/>
                </a:solidFill>
                <a:latin typeface="Arial"/>
                <a:cs typeface="Arial"/>
              </a:rPr>
              <a:t>Les tables produites</a:t>
            </a:r>
            <a:endParaRPr lang="fr-FR" sz="1500" dirty="0"/>
          </a:p>
          <a:p>
            <a:pPr algn="l">
              <a:lnSpc>
                <a:spcPct val="100000"/>
              </a:lnSpc>
              <a:spcBef>
                <a:spcPts val="400"/>
              </a:spcBef>
              <a:spcAft>
                <a:spcPts val="0"/>
              </a:spcAft>
              <a:buNone/>
            </a:pPr>
            <a:r>
              <a:rPr lang="fr-FR" sz="1100" b="0" i="0" dirty="0">
                <a:solidFill>
                  <a:srgbClr val="616060"/>
                </a:solidFill>
                <a:latin typeface="Arial"/>
                <a:cs typeface="Arial"/>
              </a:rPr>
              <a:t>Ce que lit l'application, ligne par ligne</a:t>
            </a:r>
            <a:endParaRPr lang="fr-FR" sz="1100" dirty="0"/>
          </a:p>
        </p:txBody>
      </p:sp>
      <p:sp>
        <p:nvSpPr>
          <p:cNvPr id="23" name="Forme 23"/>
          <p:cNvSpPr/>
          <p:nvPr/>
        </p:nvSpPr>
        <p:spPr>
          <a:xfrm>
            <a:off x="457200" y="4709160"/>
            <a:ext cx="3611880" cy="1508760"/>
          </a:xfrm>
          <a:prstGeom prst="roundRect">
            <a:avLst>
              <a:gd name="adj" fmla="val 6000"/>
            </a:avLst>
          </a:prstGeom>
          <a:solidFill>
            <a:srgbClr val="FDECEB"/>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4" name="Forme 24"/>
          <p:cNvSpPr/>
          <p:nvPr/>
        </p:nvSpPr>
        <p:spPr>
          <a:xfrm>
            <a:off x="640080" y="4937760"/>
            <a:ext cx="566928" cy="566928"/>
          </a:xfrm>
          <a:prstGeom prst="ellipse">
            <a:avLst/>
          </a:prstGeom>
          <a:solidFill>
            <a:srgbClr val="E63329"/>
          </a:solidFill>
          <a:ln>
            <a:noFill/>
          </a:ln>
        </p:spPr>
        <p:txBody>
          <a:bodyPr wrap="square" lIns="0" tIns="0" rIns="0" bIns="0" anchor="ctr" rtlCol="0">
            <a:noAutofit/>
          </a:bodyPr>
          <a:lstStyle/>
          <a:p>
            <a:pPr algn="ctr">
              <a:lnSpc>
                <a:spcPct val="100000"/>
              </a:lnSpc>
              <a:spcBef>
                <a:spcPts val="0"/>
              </a:spcBef>
              <a:spcAft>
                <a:spcPts val="0"/>
              </a:spcAft>
              <a:buNone/>
            </a:pPr>
            <a:r>
              <a:rPr lang="fr-FR" sz="2000" b="1" i="0" dirty="0">
                <a:solidFill>
                  <a:srgbClr val="FFFFFF"/>
                </a:solidFill>
                <a:latin typeface="Arial"/>
                <a:cs typeface="Arial"/>
              </a:rPr>
              <a:t>7</a:t>
            </a:r>
            <a:endParaRPr lang="fr-FR" sz="2000" dirty="0"/>
          </a:p>
        </p:txBody>
      </p:sp>
      <p:sp>
        <p:nvSpPr>
          <p:cNvPr id="25" name="Forme 25"/>
          <p:cNvSpPr/>
          <p:nvPr/>
        </p:nvSpPr>
        <p:spPr>
          <a:xfrm>
            <a:off x="1371600" y="4910328"/>
            <a:ext cx="2606040" cy="11887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500" b="1" i="0" dirty="0">
                <a:solidFill>
                  <a:srgbClr val="202020"/>
                </a:solidFill>
                <a:latin typeface="Arial"/>
                <a:cs typeface="Arial"/>
              </a:rPr>
              <a:t>Les limites</a:t>
            </a:r>
            <a:endParaRPr lang="fr-FR" sz="1500" dirty="0"/>
          </a:p>
          <a:p>
            <a:pPr algn="l">
              <a:lnSpc>
                <a:spcPct val="100000"/>
              </a:lnSpc>
              <a:spcBef>
                <a:spcPts val="400"/>
              </a:spcBef>
              <a:spcAft>
                <a:spcPts val="0"/>
              </a:spcAft>
              <a:buNone/>
            </a:pPr>
            <a:r>
              <a:rPr lang="fr-FR" sz="1100" b="0" i="0" dirty="0">
                <a:solidFill>
                  <a:srgbClr val="616060"/>
                </a:solidFill>
                <a:latin typeface="Arial"/>
                <a:cs typeface="Arial"/>
              </a:rPr>
              <a:t>Ce que les données ne disent pas, et l'impact</a:t>
            </a:r>
            <a:endParaRPr lang="fr-FR" sz="1100" dirty="0"/>
          </a:p>
        </p:txBody>
      </p:sp>
      <p:sp>
        <p:nvSpPr>
          <p:cNvPr id="26" name="Forme 26"/>
          <p:cNvSpPr/>
          <p:nvPr/>
        </p:nvSpPr>
        <p:spPr>
          <a:xfrm>
            <a:off x="4251960" y="4709160"/>
            <a:ext cx="3611880" cy="1508760"/>
          </a:xfrm>
          <a:prstGeom prst="roundRect">
            <a:avLst>
              <a:gd name="adj" fmla="val 6000"/>
            </a:avLst>
          </a:prstGeom>
          <a:solidFill>
            <a:srgbClr val="F5F5F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7" name="Forme 27"/>
          <p:cNvSpPr/>
          <p:nvPr/>
        </p:nvSpPr>
        <p:spPr>
          <a:xfrm>
            <a:off x="4434840" y="4937760"/>
            <a:ext cx="566928" cy="566928"/>
          </a:xfrm>
          <a:prstGeom prst="ellipse">
            <a:avLst/>
          </a:prstGeom>
          <a:solidFill>
            <a:srgbClr val="616060"/>
          </a:solidFill>
          <a:ln>
            <a:noFill/>
          </a:ln>
        </p:spPr>
        <p:txBody>
          <a:bodyPr wrap="square" lIns="0" tIns="0" rIns="0" bIns="0" anchor="ctr" rtlCol="0">
            <a:noAutofit/>
          </a:bodyPr>
          <a:lstStyle/>
          <a:p>
            <a:pPr algn="ctr">
              <a:lnSpc>
                <a:spcPct val="100000"/>
              </a:lnSpc>
              <a:spcBef>
                <a:spcPts val="0"/>
              </a:spcBef>
              <a:spcAft>
                <a:spcPts val="0"/>
              </a:spcAft>
              <a:buNone/>
            </a:pPr>
            <a:r>
              <a:rPr lang="fr-FR" sz="2000" b="1" i="0" dirty="0">
                <a:solidFill>
                  <a:srgbClr val="FFFFFF"/>
                </a:solidFill>
                <a:latin typeface="Arial"/>
                <a:cs typeface="Arial"/>
              </a:rPr>
              <a:t>8</a:t>
            </a:r>
            <a:endParaRPr lang="fr-FR" sz="2000" dirty="0"/>
          </a:p>
        </p:txBody>
      </p:sp>
      <p:sp>
        <p:nvSpPr>
          <p:cNvPr id="28" name="Forme 28"/>
          <p:cNvSpPr/>
          <p:nvPr/>
        </p:nvSpPr>
        <p:spPr>
          <a:xfrm>
            <a:off x="5166360" y="4910328"/>
            <a:ext cx="2606040" cy="11887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500" b="1" i="0" dirty="0">
                <a:solidFill>
                  <a:srgbClr val="202020"/>
                </a:solidFill>
                <a:latin typeface="Arial"/>
                <a:cs typeface="Arial"/>
              </a:rPr>
              <a:t>Lexique</a:t>
            </a:r>
            <a:endParaRPr lang="fr-FR" sz="1500" dirty="0"/>
          </a:p>
          <a:p>
            <a:pPr algn="l">
              <a:lnSpc>
                <a:spcPct val="100000"/>
              </a:lnSpc>
              <a:spcBef>
                <a:spcPts val="400"/>
              </a:spcBef>
              <a:spcAft>
                <a:spcPts val="0"/>
              </a:spcAft>
              <a:buNone/>
            </a:pPr>
            <a:r>
              <a:rPr lang="fr-FR" sz="1100" b="0" i="0" dirty="0">
                <a:solidFill>
                  <a:srgbClr val="616060"/>
                </a:solidFill>
                <a:latin typeface="Arial"/>
                <a:cs typeface="Arial"/>
              </a:rPr>
              <a:t>14 mots expliqués simplement</a:t>
            </a:r>
            <a:endParaRPr lang="fr-FR" sz="1100" dirty="0"/>
          </a:p>
        </p:txBody>
      </p:sp>
      <p:sp>
        <p:nvSpPr>
          <p:cNvPr id="29" name="Forme 29"/>
          <p:cNvSpPr/>
          <p:nvPr/>
        </p:nvSpPr>
        <p:spPr>
          <a:xfrm>
            <a:off x="8046720" y="4709160"/>
            <a:ext cx="3611880" cy="1508760"/>
          </a:xfrm>
          <a:prstGeom prst="roundRect">
            <a:avLst>
              <a:gd name="adj" fmla="val 6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30" name="Forme 30"/>
          <p:cNvSpPr/>
          <p:nvPr/>
        </p:nvSpPr>
        <p:spPr>
          <a:xfrm>
            <a:off x="8229600" y="4937760"/>
            <a:ext cx="566928" cy="566928"/>
          </a:xfrm>
          <a:prstGeom prst="ellipse">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2000" b="1" i="0" dirty="0">
                <a:solidFill>
                  <a:srgbClr val="FFFFFF"/>
                </a:solidFill>
                <a:latin typeface="Arial"/>
                <a:cs typeface="Arial"/>
              </a:rPr>
              <a:t>9</a:t>
            </a:r>
            <a:endParaRPr lang="fr-FR" sz="2000" dirty="0"/>
          </a:p>
        </p:txBody>
      </p:sp>
      <p:sp>
        <p:nvSpPr>
          <p:cNvPr id="31" name="Forme 31"/>
          <p:cNvSpPr/>
          <p:nvPr/>
        </p:nvSpPr>
        <p:spPr>
          <a:xfrm>
            <a:off x="8961120" y="4910328"/>
            <a:ext cx="2606040" cy="11887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500" b="1" i="0" dirty="0">
                <a:solidFill>
                  <a:srgbClr val="202020"/>
                </a:solidFill>
                <a:latin typeface="Arial"/>
                <a:cs typeface="Arial"/>
              </a:rPr>
              <a:t>Version orale</a:t>
            </a:r>
            <a:endParaRPr lang="fr-FR" sz="1500" dirty="0"/>
          </a:p>
          <a:p>
            <a:pPr algn="l">
              <a:lnSpc>
                <a:spcPct val="100000"/>
              </a:lnSpc>
              <a:spcBef>
                <a:spcPts val="400"/>
              </a:spcBef>
              <a:spcAft>
                <a:spcPts val="0"/>
              </a:spcAft>
              <a:buNone/>
            </a:pPr>
            <a:r>
              <a:rPr lang="fr-FR" sz="1100" b="0" i="0" dirty="0">
                <a:solidFill>
                  <a:srgbClr val="616060"/>
                </a:solidFill>
                <a:latin typeface="Arial"/>
                <a:cs typeface="Arial"/>
              </a:rPr>
              <a:t>1 minute pour le jury + 5 questions probables</a:t>
            </a:r>
            <a:endParaRPr lang="fr-FR" sz="1100" dirty="0"/>
          </a:p>
        </p:txBody>
      </p:sp>
      <p:pic>
        <p:nvPicPr>
          <p:cNvPr id="9002"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32B4B5"/>
                </a:solidFill>
                <a:latin typeface="Arial"/>
                <a:cs typeface="Arial"/>
              </a:rPr>
              <a:t>PARTIE 1 · VUE D'ENSEMBLE</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Le parcours complet des données</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Six étapes, chacune lancée par un script ; tout est relançable de zéro.</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3</a:t>
            </a:r>
            <a:endParaRPr lang="fr-FR" sz="900" dirty="0"/>
          </a:p>
        </p:txBody>
      </p:sp>
      <p:sp>
        <p:nvSpPr>
          <p:cNvPr id="10" name="Forme 10"/>
          <p:cNvSpPr/>
          <p:nvPr/>
        </p:nvSpPr>
        <p:spPr>
          <a:xfrm>
            <a:off x="457200" y="1508760"/>
            <a:ext cx="1691640" cy="502920"/>
          </a:xfrm>
          <a:prstGeom prst="roundRect">
            <a:avLst>
              <a:gd name="adj" fmla="val 12000"/>
            </a:avLst>
          </a:prstGeom>
          <a:solidFill>
            <a:srgbClr val="32B4B5"/>
          </a:solidFill>
          <a:ln>
            <a:noFill/>
          </a:ln>
        </p:spPr>
        <p:txBody>
          <a:bodyPr wrap="square" lIns="27432" tIns="0" rIns="27432" bIns="0" anchor="ctr" rtlCol="0">
            <a:noAutofit/>
          </a:bodyPr>
          <a:lstStyle/>
          <a:p>
            <a:pPr algn="ctr">
              <a:lnSpc>
                <a:spcPct val="100000"/>
              </a:lnSpc>
              <a:spcBef>
                <a:spcPts val="0"/>
              </a:spcBef>
              <a:spcAft>
                <a:spcPts val="0"/>
              </a:spcAft>
              <a:buNone/>
            </a:pPr>
            <a:r>
              <a:rPr lang="fr-FR" sz="1250" b="1" i="0" dirty="0">
                <a:solidFill>
                  <a:srgbClr val="FFFFFF"/>
                </a:solidFill>
                <a:latin typeface="Arial"/>
                <a:cs typeface="Arial"/>
              </a:rPr>
              <a:t>1. Sources</a:t>
            </a:r>
            <a:endParaRPr lang="fr-FR" sz="1250" dirty="0"/>
          </a:p>
        </p:txBody>
      </p:sp>
      <p:sp>
        <p:nvSpPr>
          <p:cNvPr id="11" name="Forme 11"/>
          <p:cNvSpPr/>
          <p:nvPr/>
        </p:nvSpPr>
        <p:spPr>
          <a:xfrm>
            <a:off x="457200" y="2057400"/>
            <a:ext cx="1691640" cy="1874520"/>
          </a:xfrm>
          <a:prstGeom prst="roundRect">
            <a:avLst>
              <a:gd name="adj" fmla="val 6000"/>
            </a:avLst>
          </a:prstGeom>
          <a:solidFill>
            <a:srgbClr val="DBF4F4"/>
          </a:solidFill>
          <a:ln>
            <a:noFill/>
          </a:ln>
        </p:spPr>
        <p:txBody>
          <a:bodyPr wrap="square" lIns="73152" tIns="91440" rIns="73152" bIns="45720" anchor="t" rtlCol="0">
            <a:noAutofit/>
          </a:bodyPr>
          <a:lstStyle/>
          <a:p>
            <a:pPr algn="ctr">
              <a:lnSpc>
                <a:spcPct val="100000"/>
              </a:lnSpc>
              <a:spcBef>
                <a:spcPts val="300"/>
              </a:spcBef>
              <a:spcAft>
                <a:spcPts val="0"/>
              </a:spcAft>
              <a:buNone/>
            </a:pPr>
            <a:r>
              <a:rPr lang="fr-FR" sz="900" b="1" i="0" dirty="0">
                <a:solidFill>
                  <a:srgbClr val="202020"/>
                </a:solidFill>
                <a:latin typeface="Arial"/>
                <a:cs typeface="Arial"/>
              </a:rPr>
              <a:t>14 sources ouvertes</a:t>
            </a:r>
            <a:endParaRPr lang="fr-FR" sz="900" dirty="0"/>
          </a:p>
          <a:p>
            <a:pPr algn="ctr">
              <a:lnSpc>
                <a:spcPct val="100000"/>
              </a:lnSpc>
              <a:spcBef>
                <a:spcPts val="300"/>
              </a:spcBef>
              <a:spcAft>
                <a:spcPts val="0"/>
              </a:spcAft>
              <a:buNone/>
            </a:pPr>
            <a:r>
              <a:rPr lang="fr-FR" sz="900" b="0" i="0" dirty="0">
                <a:solidFill>
                  <a:srgbClr val="202020"/>
                </a:solidFill>
                <a:latin typeface="Arial"/>
                <a:cs typeface="Arial"/>
              </a:rPr>
              <a:t>INSEE, IGN, transport.data.gouv.fr, OpenStreetMap, SSMSI, Nantes Métropole</a:t>
            </a:r>
            <a:endParaRPr lang="fr-FR" sz="900" dirty="0"/>
          </a:p>
        </p:txBody>
      </p:sp>
      <p:cxnSp>
        <p:nvCxnSpPr>
          <p:cNvPr id="12" name="Flèche 12"/>
          <p:cNvCxnSpPr/>
          <p:nvPr/>
        </p:nvCxnSpPr>
        <p:spPr>
          <a:xfrm>
            <a:off x="2167128" y="1764792"/>
            <a:ext cx="173736" cy="0"/>
          </a:xfrm>
          <a:prstGeom prst="straightConnector1">
            <a:avLst/>
          </a:prstGeom>
          <a:ln w="28575">
            <a:solidFill>
              <a:srgbClr val="616060"/>
            </a:solidFill>
            <a:tailEnd type="triangle" w="med" len="med"/>
          </a:ln>
        </p:spPr>
      </p:cxnSp>
      <p:sp>
        <p:nvSpPr>
          <p:cNvPr id="13" name="Forme 13"/>
          <p:cNvSpPr/>
          <p:nvPr/>
        </p:nvSpPr>
        <p:spPr>
          <a:xfrm>
            <a:off x="2359152" y="1508760"/>
            <a:ext cx="1691640" cy="502920"/>
          </a:xfrm>
          <a:prstGeom prst="roundRect">
            <a:avLst>
              <a:gd name="adj" fmla="val 12000"/>
            </a:avLst>
          </a:prstGeom>
          <a:solidFill>
            <a:srgbClr val="20A4B0"/>
          </a:solidFill>
          <a:ln>
            <a:noFill/>
          </a:ln>
        </p:spPr>
        <p:txBody>
          <a:bodyPr wrap="square" lIns="27432" tIns="0" rIns="27432" bIns="0" anchor="ctr" rtlCol="0">
            <a:noAutofit/>
          </a:bodyPr>
          <a:lstStyle/>
          <a:p>
            <a:pPr algn="ctr">
              <a:lnSpc>
                <a:spcPct val="100000"/>
              </a:lnSpc>
              <a:spcBef>
                <a:spcPts val="0"/>
              </a:spcBef>
              <a:spcAft>
                <a:spcPts val="0"/>
              </a:spcAft>
              <a:buNone/>
            </a:pPr>
            <a:r>
              <a:rPr lang="fr-FR" sz="1250" b="1" i="0" dirty="0">
                <a:solidFill>
                  <a:srgbClr val="FFFFFF"/>
                </a:solidFill>
                <a:latin typeface="Arial"/>
                <a:cs typeface="Arial"/>
              </a:rPr>
              <a:t>2. Téléchargement</a:t>
            </a:r>
            <a:endParaRPr lang="fr-FR" sz="1250" dirty="0"/>
          </a:p>
        </p:txBody>
      </p:sp>
      <p:sp>
        <p:nvSpPr>
          <p:cNvPr id="14" name="Forme 14"/>
          <p:cNvSpPr/>
          <p:nvPr/>
        </p:nvSpPr>
        <p:spPr>
          <a:xfrm>
            <a:off x="2359152" y="2057400"/>
            <a:ext cx="1691640" cy="1874520"/>
          </a:xfrm>
          <a:prstGeom prst="roundRect">
            <a:avLst>
              <a:gd name="adj" fmla="val 6000"/>
            </a:avLst>
          </a:prstGeom>
          <a:solidFill>
            <a:srgbClr val="DBF4F4"/>
          </a:solidFill>
          <a:ln>
            <a:noFill/>
          </a:ln>
        </p:spPr>
        <p:txBody>
          <a:bodyPr wrap="square" lIns="73152" tIns="91440" rIns="73152" bIns="45720" anchor="t" rtlCol="0">
            <a:noAutofit/>
          </a:bodyPr>
          <a:lstStyle/>
          <a:p>
            <a:pPr algn="ctr">
              <a:lnSpc>
                <a:spcPct val="100000"/>
              </a:lnSpc>
              <a:spcBef>
                <a:spcPts val="300"/>
              </a:spcBef>
              <a:spcAft>
                <a:spcPts val="0"/>
              </a:spcAft>
              <a:buNone/>
            </a:pPr>
            <a:r>
              <a:rPr lang="fr-FR" sz="900" b="0" i="0" dirty="0">
                <a:solidFill>
                  <a:srgbClr val="20A4B0"/>
                </a:solidFill>
                <a:latin typeface="Consolas"/>
                <a:cs typeface="Consolas"/>
              </a:rPr>
              <a:t>download_all.py</a:t>
            </a:r>
            <a:endParaRPr lang="fr-FR" sz="900" dirty="0"/>
          </a:p>
          <a:p>
            <a:pPr algn="ctr">
              <a:lnSpc>
                <a:spcPct val="100000"/>
              </a:lnSpc>
              <a:spcBef>
                <a:spcPts val="300"/>
              </a:spcBef>
              <a:spcAft>
                <a:spcPts val="0"/>
              </a:spcAft>
              <a:buNone/>
            </a:pPr>
            <a:r>
              <a:rPr lang="fr-FR" sz="900" b="0" i="0" dirty="0">
                <a:solidFill>
                  <a:srgbClr val="20A4B0"/>
                </a:solidFill>
                <a:latin typeface="Consolas"/>
                <a:cs typeface="Consolas"/>
              </a:rPr>
              <a:t>collect_gbfs_status.py</a:t>
            </a:r>
            <a:endParaRPr lang="fr-FR" sz="900" dirty="0"/>
          </a:p>
          <a:p>
            <a:pPr algn="ctr">
              <a:lnSpc>
                <a:spcPct val="100000"/>
              </a:lnSpc>
              <a:spcBef>
                <a:spcPts val="300"/>
              </a:spcBef>
              <a:spcAft>
                <a:spcPts val="0"/>
              </a:spcAft>
              <a:buNone/>
            </a:pPr>
            <a:r>
              <a:rPr lang="fr-FR" sz="900" b="0" i="0" dirty="0">
                <a:solidFill>
                  <a:srgbClr val="202020"/>
                </a:solidFill>
                <a:latin typeface="Arial"/>
                <a:cs typeface="Arial"/>
              </a:rPr>
              <a:t>→ </a:t>
            </a:r>
            <a:r>
              <a:rPr lang="fr-FR" sz="900" b="0" i="0" dirty="0">
                <a:solidFill>
                  <a:srgbClr val="20A4B0"/>
                </a:solidFill>
                <a:latin typeface="Consolas"/>
                <a:cs typeface="Consolas"/>
              </a:rPr>
              <a:t>data/raw/</a:t>
            </a:r>
            <a:r>
              <a:rPr lang="fr-FR" sz="900" b="0" i="0" dirty="0">
                <a:solidFill>
                  <a:srgbClr val="202020"/>
                </a:solidFill>
                <a:latin typeface="Arial"/>
                <a:cs typeface="Arial"/>
              </a:rPr>
              <a:t> + </a:t>
            </a:r>
            <a:r>
              <a:rPr lang="fr-FR" sz="900" b="0" i="0" dirty="0">
                <a:solidFill>
                  <a:srgbClr val="20A4B0"/>
                </a:solidFill>
                <a:latin typeface="Consolas"/>
                <a:cs typeface="Consolas"/>
              </a:rPr>
              <a:t>manifest.csv</a:t>
            </a:r>
            <a:endParaRPr lang="fr-FR" sz="900" dirty="0"/>
          </a:p>
        </p:txBody>
      </p:sp>
      <p:cxnSp>
        <p:nvCxnSpPr>
          <p:cNvPr id="15" name="Flèche 15"/>
          <p:cNvCxnSpPr/>
          <p:nvPr/>
        </p:nvCxnSpPr>
        <p:spPr>
          <a:xfrm>
            <a:off x="4069080" y="1764792"/>
            <a:ext cx="173736" cy="0"/>
          </a:xfrm>
          <a:prstGeom prst="straightConnector1">
            <a:avLst/>
          </a:prstGeom>
          <a:ln w="28575">
            <a:solidFill>
              <a:srgbClr val="616060"/>
            </a:solidFill>
            <a:tailEnd type="triangle" w="med" len="med"/>
          </a:ln>
        </p:spPr>
      </p:cxnSp>
      <p:sp>
        <p:nvSpPr>
          <p:cNvPr id="16" name="Forme 16"/>
          <p:cNvSpPr/>
          <p:nvPr/>
        </p:nvSpPr>
        <p:spPr>
          <a:xfrm>
            <a:off x="4261104" y="1508760"/>
            <a:ext cx="1691640" cy="502920"/>
          </a:xfrm>
          <a:prstGeom prst="roundRect">
            <a:avLst>
              <a:gd name="adj" fmla="val 12000"/>
            </a:avLst>
          </a:prstGeom>
          <a:solidFill>
            <a:srgbClr val="514E98"/>
          </a:solidFill>
          <a:ln>
            <a:noFill/>
          </a:ln>
        </p:spPr>
        <p:txBody>
          <a:bodyPr wrap="square" lIns="27432" tIns="0" rIns="27432" bIns="0" anchor="ctr" rtlCol="0">
            <a:noAutofit/>
          </a:bodyPr>
          <a:lstStyle/>
          <a:p>
            <a:pPr algn="ctr">
              <a:lnSpc>
                <a:spcPct val="100000"/>
              </a:lnSpc>
              <a:spcBef>
                <a:spcPts val="0"/>
              </a:spcBef>
              <a:spcAft>
                <a:spcPts val="0"/>
              </a:spcAft>
              <a:buNone/>
            </a:pPr>
            <a:r>
              <a:rPr lang="fr-FR" sz="1250" b="1" i="0" dirty="0">
                <a:solidFill>
                  <a:srgbClr val="FFFFFF"/>
                </a:solidFill>
                <a:latin typeface="Arial"/>
                <a:cs typeface="Arial"/>
              </a:rPr>
              <a:t>3. Vérification</a:t>
            </a:r>
            <a:endParaRPr lang="fr-FR" sz="1250" dirty="0"/>
          </a:p>
        </p:txBody>
      </p:sp>
      <p:sp>
        <p:nvSpPr>
          <p:cNvPr id="17" name="Forme 17"/>
          <p:cNvSpPr/>
          <p:nvPr/>
        </p:nvSpPr>
        <p:spPr>
          <a:xfrm>
            <a:off x="4261104" y="2057400"/>
            <a:ext cx="1691640" cy="1874520"/>
          </a:xfrm>
          <a:prstGeom prst="roundRect">
            <a:avLst>
              <a:gd name="adj" fmla="val 6000"/>
            </a:avLst>
          </a:prstGeom>
          <a:solidFill>
            <a:srgbClr val="DBF4F4"/>
          </a:solidFill>
          <a:ln>
            <a:noFill/>
          </a:ln>
        </p:spPr>
        <p:txBody>
          <a:bodyPr wrap="square" lIns="73152" tIns="91440" rIns="73152" bIns="45720" anchor="t" rtlCol="0">
            <a:noAutofit/>
          </a:bodyPr>
          <a:lstStyle/>
          <a:p>
            <a:pPr algn="ctr">
              <a:lnSpc>
                <a:spcPct val="100000"/>
              </a:lnSpc>
              <a:spcBef>
                <a:spcPts val="300"/>
              </a:spcBef>
              <a:spcAft>
                <a:spcPts val="0"/>
              </a:spcAft>
              <a:buNone/>
            </a:pPr>
            <a:r>
              <a:rPr lang="fr-FR" sz="900" b="0" i="0" dirty="0">
                <a:solidFill>
                  <a:srgbClr val="20A4B0"/>
                </a:solidFill>
                <a:latin typeface="Consolas"/>
                <a:cs typeface="Consolas"/>
              </a:rPr>
              <a:t>check_data.py</a:t>
            </a:r>
            <a:endParaRPr lang="fr-FR" sz="900" dirty="0"/>
          </a:p>
          <a:p>
            <a:pPr algn="ctr">
              <a:lnSpc>
                <a:spcPct val="100000"/>
              </a:lnSpc>
              <a:spcBef>
                <a:spcPts val="300"/>
              </a:spcBef>
              <a:spcAft>
                <a:spcPts val="0"/>
              </a:spcAft>
              <a:buNone/>
            </a:pPr>
            <a:r>
              <a:rPr lang="fr-FR" sz="900" b="0" i="0" dirty="0">
                <a:solidFill>
                  <a:srgbClr val="202020"/>
                </a:solidFill>
                <a:latin typeface="Arial"/>
                <a:cs typeface="Arial"/>
              </a:rPr>
              <a:t>✅ ⚠️ ❌ par fichier</a:t>
            </a:r>
            <a:endParaRPr lang="fr-FR" sz="900" dirty="0"/>
          </a:p>
          <a:p>
            <a:pPr algn="ctr">
              <a:lnSpc>
                <a:spcPct val="100000"/>
              </a:lnSpc>
              <a:spcBef>
                <a:spcPts val="300"/>
              </a:spcBef>
              <a:spcAft>
                <a:spcPts val="0"/>
              </a:spcAft>
              <a:buNone/>
            </a:pPr>
            <a:r>
              <a:rPr lang="fr-FR" sz="900" b="0" i="0" dirty="0">
                <a:solidFill>
                  <a:srgbClr val="202020"/>
                </a:solidFill>
                <a:latin typeface="Arial"/>
                <a:cs typeface="Arial"/>
              </a:rPr>
              <a:t>→ </a:t>
            </a:r>
            <a:r>
              <a:rPr lang="fr-FR" sz="900" b="0" i="0" dirty="0">
                <a:solidFill>
                  <a:srgbClr val="20A4B0"/>
                </a:solidFill>
                <a:latin typeface="Consolas"/>
                <a:cs typeface="Consolas"/>
              </a:rPr>
              <a:t>check_report.md</a:t>
            </a:r>
            <a:endParaRPr lang="fr-FR" sz="900" dirty="0"/>
          </a:p>
        </p:txBody>
      </p:sp>
      <p:cxnSp>
        <p:nvCxnSpPr>
          <p:cNvPr id="18" name="Flèche 18"/>
          <p:cNvCxnSpPr/>
          <p:nvPr/>
        </p:nvCxnSpPr>
        <p:spPr>
          <a:xfrm>
            <a:off x="5971032" y="1764792"/>
            <a:ext cx="173736" cy="0"/>
          </a:xfrm>
          <a:prstGeom prst="straightConnector1">
            <a:avLst/>
          </a:prstGeom>
          <a:ln w="28575">
            <a:solidFill>
              <a:srgbClr val="616060"/>
            </a:solidFill>
            <a:tailEnd type="triangle" w="med" len="med"/>
          </a:ln>
        </p:spPr>
      </p:cxnSp>
      <p:sp>
        <p:nvSpPr>
          <p:cNvPr id="19" name="Forme 19"/>
          <p:cNvSpPr/>
          <p:nvPr/>
        </p:nvSpPr>
        <p:spPr>
          <a:xfrm>
            <a:off x="6163056" y="1508760"/>
            <a:ext cx="1691640" cy="502920"/>
          </a:xfrm>
          <a:prstGeom prst="roundRect">
            <a:avLst>
              <a:gd name="adj" fmla="val 12000"/>
            </a:avLst>
          </a:prstGeom>
          <a:solidFill>
            <a:srgbClr val="32B4B5"/>
          </a:solidFill>
          <a:ln>
            <a:noFill/>
          </a:ln>
        </p:spPr>
        <p:txBody>
          <a:bodyPr wrap="square" lIns="27432" tIns="0" rIns="27432" bIns="0" anchor="ctr" rtlCol="0">
            <a:noAutofit/>
          </a:bodyPr>
          <a:lstStyle/>
          <a:p>
            <a:pPr algn="ctr">
              <a:lnSpc>
                <a:spcPct val="100000"/>
              </a:lnSpc>
              <a:spcBef>
                <a:spcPts val="0"/>
              </a:spcBef>
              <a:spcAft>
                <a:spcPts val="0"/>
              </a:spcAft>
              <a:buNone/>
            </a:pPr>
            <a:r>
              <a:rPr lang="fr-FR" sz="1250" b="1" i="0" dirty="0">
                <a:solidFill>
                  <a:srgbClr val="FFFFFF"/>
                </a:solidFill>
                <a:latin typeface="Arial"/>
                <a:cs typeface="Arial"/>
              </a:rPr>
              <a:t>4. Nettoyage</a:t>
            </a:r>
            <a:endParaRPr lang="fr-FR" sz="1250" dirty="0"/>
          </a:p>
        </p:txBody>
      </p:sp>
      <p:sp>
        <p:nvSpPr>
          <p:cNvPr id="20" name="Forme 20"/>
          <p:cNvSpPr/>
          <p:nvPr/>
        </p:nvSpPr>
        <p:spPr>
          <a:xfrm>
            <a:off x="6163056" y="2057400"/>
            <a:ext cx="1691640" cy="1874520"/>
          </a:xfrm>
          <a:prstGeom prst="roundRect">
            <a:avLst>
              <a:gd name="adj" fmla="val 6000"/>
            </a:avLst>
          </a:prstGeom>
          <a:solidFill>
            <a:srgbClr val="DBF4F4"/>
          </a:solidFill>
          <a:ln>
            <a:noFill/>
          </a:ln>
        </p:spPr>
        <p:txBody>
          <a:bodyPr wrap="square" lIns="73152" tIns="91440" rIns="73152" bIns="45720" anchor="t" rtlCol="0">
            <a:noAutofit/>
          </a:bodyPr>
          <a:lstStyle/>
          <a:p>
            <a:pPr algn="ctr">
              <a:lnSpc>
                <a:spcPct val="100000"/>
              </a:lnSpc>
              <a:spcBef>
                <a:spcPts val="300"/>
              </a:spcBef>
              <a:spcAft>
                <a:spcPts val="0"/>
              </a:spcAft>
              <a:buNone/>
            </a:pPr>
            <a:r>
              <a:rPr lang="fr-FR" sz="900" b="0" i="0" dirty="0">
                <a:solidFill>
                  <a:srgbClr val="20A4B0"/>
                </a:solidFill>
                <a:latin typeface="Consolas"/>
                <a:cs typeface="Consolas"/>
              </a:rPr>
              <a:t>zone.py</a:t>
            </a:r>
            <a:r>
              <a:rPr lang="fr-FR" sz="900" b="0" i="0" dirty="0">
                <a:solidFill>
                  <a:srgbClr val="202020"/>
                </a:solidFill>
                <a:latin typeface="Arial"/>
                <a:cs typeface="Arial"/>
              </a:rPr>
              <a:t> · </a:t>
            </a:r>
            <a:r>
              <a:rPr lang="fr-FR" sz="900" b="0" i="0" dirty="0">
                <a:solidFill>
                  <a:srgbClr val="20A4B0"/>
                </a:solidFill>
                <a:latin typeface="Consolas"/>
                <a:cs typeface="Consolas"/>
              </a:rPr>
              <a:t>population.py</a:t>
            </a:r>
            <a:endParaRPr lang="fr-FR" sz="900" dirty="0"/>
          </a:p>
          <a:p>
            <a:pPr algn="ctr">
              <a:lnSpc>
                <a:spcPct val="100000"/>
              </a:lnSpc>
              <a:spcBef>
                <a:spcPts val="300"/>
              </a:spcBef>
              <a:spcAft>
                <a:spcPts val="0"/>
              </a:spcAft>
              <a:buNone/>
            </a:pPr>
            <a:r>
              <a:rPr lang="fr-FR" sz="900" b="0" i="0" dirty="0">
                <a:solidFill>
                  <a:srgbClr val="20A4B0"/>
                </a:solidFill>
                <a:latin typeface="Consolas"/>
                <a:cs typeface="Consolas"/>
              </a:rPr>
              <a:t>offer.py</a:t>
            </a:r>
            <a:r>
              <a:rPr lang="fr-FR" sz="900" b="0" i="0" dirty="0">
                <a:solidFill>
                  <a:srgbClr val="202020"/>
                </a:solidFill>
                <a:latin typeface="Arial"/>
                <a:cs typeface="Arial"/>
              </a:rPr>
              <a:t> · </a:t>
            </a:r>
            <a:r>
              <a:rPr lang="fr-FR" sz="900" b="0" i="0" dirty="0">
                <a:solidFill>
                  <a:srgbClr val="20A4B0"/>
                </a:solidFill>
                <a:latin typeface="Consolas"/>
                <a:cs typeface="Consolas"/>
              </a:rPr>
              <a:t>geo.py</a:t>
            </a:r>
            <a:endParaRPr lang="fr-FR" sz="900" dirty="0"/>
          </a:p>
          <a:p>
            <a:pPr algn="ctr">
              <a:lnSpc>
                <a:spcPct val="100000"/>
              </a:lnSpc>
              <a:spcBef>
                <a:spcPts val="300"/>
              </a:spcBef>
              <a:spcAft>
                <a:spcPts val="0"/>
              </a:spcAft>
              <a:buNone/>
            </a:pPr>
            <a:r>
              <a:rPr lang="fr-FR" sz="900" b="0" i="0" dirty="0">
                <a:solidFill>
                  <a:srgbClr val="202020"/>
                </a:solidFill>
                <a:latin typeface="Arial"/>
                <a:cs typeface="Arial"/>
              </a:rPr>
              <a:t>→ </a:t>
            </a:r>
            <a:r>
              <a:rPr lang="fr-FR" sz="900" b="0" i="0" dirty="0">
                <a:solidFill>
                  <a:srgbClr val="20A4B0"/>
                </a:solidFill>
                <a:latin typeface="Consolas"/>
                <a:cs typeface="Consolas"/>
              </a:rPr>
              <a:t>data/processed/&lt;ville&gt;/</a:t>
            </a:r>
            <a:endParaRPr lang="fr-FR" sz="900" dirty="0"/>
          </a:p>
        </p:txBody>
      </p:sp>
      <p:cxnSp>
        <p:nvCxnSpPr>
          <p:cNvPr id="21" name="Flèche 21"/>
          <p:cNvCxnSpPr/>
          <p:nvPr/>
        </p:nvCxnSpPr>
        <p:spPr>
          <a:xfrm>
            <a:off x="7872984" y="1764792"/>
            <a:ext cx="173736" cy="0"/>
          </a:xfrm>
          <a:prstGeom prst="straightConnector1">
            <a:avLst/>
          </a:prstGeom>
          <a:ln w="28575">
            <a:solidFill>
              <a:srgbClr val="616060"/>
            </a:solidFill>
            <a:tailEnd type="triangle" w="med" len="med"/>
          </a:ln>
        </p:spPr>
      </p:cxnSp>
      <p:sp>
        <p:nvSpPr>
          <p:cNvPr id="22" name="Forme 22"/>
          <p:cNvSpPr/>
          <p:nvPr/>
        </p:nvSpPr>
        <p:spPr>
          <a:xfrm>
            <a:off x="8065008" y="1508760"/>
            <a:ext cx="1691640" cy="502920"/>
          </a:xfrm>
          <a:prstGeom prst="roundRect">
            <a:avLst>
              <a:gd name="adj" fmla="val 12000"/>
            </a:avLst>
          </a:prstGeom>
          <a:solidFill>
            <a:srgbClr val="E63329"/>
          </a:solidFill>
          <a:ln>
            <a:noFill/>
          </a:ln>
        </p:spPr>
        <p:txBody>
          <a:bodyPr wrap="square" lIns="27432" tIns="0" rIns="27432" bIns="0" anchor="ctr" rtlCol="0">
            <a:noAutofit/>
          </a:bodyPr>
          <a:lstStyle/>
          <a:p>
            <a:pPr algn="ctr">
              <a:lnSpc>
                <a:spcPct val="100000"/>
              </a:lnSpc>
              <a:spcBef>
                <a:spcPts val="0"/>
              </a:spcBef>
              <a:spcAft>
                <a:spcPts val="0"/>
              </a:spcAft>
              <a:buNone/>
            </a:pPr>
            <a:r>
              <a:rPr lang="fr-FR" sz="1250" b="1" i="0" dirty="0">
                <a:solidFill>
                  <a:srgbClr val="FFFFFF"/>
                </a:solidFill>
                <a:latin typeface="Arial"/>
                <a:cs typeface="Arial"/>
              </a:rPr>
              <a:t>5. Calculs</a:t>
            </a:r>
            <a:endParaRPr lang="fr-FR" sz="1250" dirty="0"/>
          </a:p>
        </p:txBody>
      </p:sp>
      <p:sp>
        <p:nvSpPr>
          <p:cNvPr id="23" name="Forme 23"/>
          <p:cNvSpPr/>
          <p:nvPr/>
        </p:nvSpPr>
        <p:spPr>
          <a:xfrm>
            <a:off x="8065008" y="2057400"/>
            <a:ext cx="1691640" cy="1874520"/>
          </a:xfrm>
          <a:prstGeom prst="roundRect">
            <a:avLst>
              <a:gd name="adj" fmla="val 6000"/>
            </a:avLst>
          </a:prstGeom>
          <a:solidFill>
            <a:srgbClr val="FDECEB"/>
          </a:solidFill>
          <a:ln>
            <a:noFill/>
          </a:ln>
        </p:spPr>
        <p:txBody>
          <a:bodyPr wrap="square" lIns="73152" tIns="91440" rIns="73152" bIns="45720" anchor="t" rtlCol="0">
            <a:noAutofit/>
          </a:bodyPr>
          <a:lstStyle/>
          <a:p>
            <a:pPr algn="ctr">
              <a:lnSpc>
                <a:spcPct val="100000"/>
              </a:lnSpc>
              <a:spcBef>
                <a:spcPts val="300"/>
              </a:spcBef>
              <a:spcAft>
                <a:spcPts val="0"/>
              </a:spcAft>
              <a:buNone/>
            </a:pPr>
            <a:r>
              <a:rPr lang="fr-FR" sz="900" b="0" i="0" dirty="0">
                <a:solidFill>
                  <a:srgbClr val="20A4B0"/>
                </a:solidFill>
                <a:latin typeface="Consolas"/>
                <a:cs typeface="Consolas"/>
              </a:rPr>
              <a:t>build_access.py</a:t>
            </a:r>
            <a:r>
              <a:rPr lang="fr-FR" sz="900" b="0" i="0" dirty="0">
                <a:solidFill>
                  <a:srgbClr val="202020"/>
                </a:solidFill>
                <a:latin typeface="Arial"/>
                <a:cs typeface="Arial"/>
              </a:rPr>
              <a:t> (V1, V2)</a:t>
            </a:r>
            <a:endParaRPr lang="fr-FR" sz="900" dirty="0"/>
          </a:p>
          <a:p>
            <a:pPr algn="ctr">
              <a:lnSpc>
                <a:spcPct val="100000"/>
              </a:lnSpc>
              <a:spcBef>
                <a:spcPts val="300"/>
              </a:spcBef>
              <a:spcAft>
                <a:spcPts val="0"/>
              </a:spcAft>
              <a:buNone/>
            </a:pPr>
            <a:r>
              <a:rPr lang="fr-FR" sz="900" b="0" i="0" dirty="0">
                <a:solidFill>
                  <a:srgbClr val="20A4B0"/>
                </a:solidFill>
                <a:latin typeface="Consolas"/>
                <a:cs typeface="Consolas"/>
              </a:rPr>
              <a:t>served.py</a:t>
            </a:r>
            <a:endParaRPr lang="fr-FR" sz="900" dirty="0"/>
          </a:p>
          <a:p>
            <a:pPr algn="ctr">
              <a:lnSpc>
                <a:spcPct val="100000"/>
              </a:lnSpc>
              <a:spcBef>
                <a:spcPts val="300"/>
              </a:spcBef>
              <a:spcAft>
                <a:spcPts val="0"/>
              </a:spcAft>
              <a:buNone/>
            </a:pPr>
            <a:r>
              <a:rPr lang="fr-FR" sz="900" b="0" i="0" dirty="0">
                <a:solidFill>
                  <a:srgbClr val="20A4B0"/>
                </a:solidFill>
                <a:latin typeface="Consolas"/>
                <a:cs typeface="Consolas"/>
              </a:rPr>
              <a:t>model/train.py</a:t>
            </a:r>
            <a:endParaRPr lang="fr-FR" sz="900" dirty="0"/>
          </a:p>
          <a:p>
            <a:pPr algn="ctr">
              <a:lnSpc>
                <a:spcPct val="100000"/>
              </a:lnSpc>
              <a:spcBef>
                <a:spcPts val="300"/>
              </a:spcBef>
              <a:spcAft>
                <a:spcPts val="0"/>
              </a:spcAft>
              <a:buNone/>
            </a:pPr>
            <a:r>
              <a:rPr lang="fr-FR" sz="900" b="0" i="0" dirty="0">
                <a:solidFill>
                  <a:srgbClr val="20A4B0"/>
                </a:solidFill>
                <a:latin typeface="Consolas"/>
                <a:cs typeface="Consolas"/>
              </a:rPr>
              <a:t>optim/build_reco.py</a:t>
            </a:r>
            <a:endParaRPr lang="fr-FR" sz="900" dirty="0"/>
          </a:p>
        </p:txBody>
      </p:sp>
      <p:cxnSp>
        <p:nvCxnSpPr>
          <p:cNvPr id="24" name="Flèche 24"/>
          <p:cNvCxnSpPr/>
          <p:nvPr/>
        </p:nvCxnSpPr>
        <p:spPr>
          <a:xfrm>
            <a:off x="9774936" y="1764792"/>
            <a:ext cx="173736" cy="0"/>
          </a:xfrm>
          <a:prstGeom prst="straightConnector1">
            <a:avLst/>
          </a:prstGeom>
          <a:ln w="28575">
            <a:solidFill>
              <a:srgbClr val="616060"/>
            </a:solidFill>
            <a:tailEnd type="triangle" w="med" len="med"/>
          </a:ln>
        </p:spPr>
      </p:cxnSp>
      <p:sp>
        <p:nvSpPr>
          <p:cNvPr id="25" name="Forme 25"/>
          <p:cNvSpPr/>
          <p:nvPr/>
        </p:nvSpPr>
        <p:spPr>
          <a:xfrm>
            <a:off x="9966960" y="1508760"/>
            <a:ext cx="1691640" cy="502920"/>
          </a:xfrm>
          <a:prstGeom prst="roundRect">
            <a:avLst>
              <a:gd name="adj" fmla="val 12000"/>
            </a:avLst>
          </a:prstGeom>
          <a:solidFill>
            <a:srgbClr val="20A4B0"/>
          </a:solidFill>
          <a:ln>
            <a:noFill/>
          </a:ln>
        </p:spPr>
        <p:txBody>
          <a:bodyPr wrap="square" lIns="27432" tIns="0" rIns="27432" bIns="0" anchor="ctr" rtlCol="0">
            <a:noAutofit/>
          </a:bodyPr>
          <a:lstStyle/>
          <a:p>
            <a:pPr algn="ctr">
              <a:lnSpc>
                <a:spcPct val="100000"/>
              </a:lnSpc>
              <a:spcBef>
                <a:spcPts val="0"/>
              </a:spcBef>
              <a:spcAft>
                <a:spcPts val="0"/>
              </a:spcAft>
              <a:buNone/>
            </a:pPr>
            <a:r>
              <a:rPr lang="fr-FR" sz="1250" b="1" i="0" dirty="0">
                <a:solidFill>
                  <a:srgbClr val="FFFFFF"/>
                </a:solidFill>
                <a:latin typeface="Arial"/>
                <a:cs typeface="Arial"/>
              </a:rPr>
              <a:t>6. Restitution</a:t>
            </a:r>
            <a:endParaRPr lang="fr-FR" sz="1250" dirty="0"/>
          </a:p>
        </p:txBody>
      </p:sp>
      <p:sp>
        <p:nvSpPr>
          <p:cNvPr id="26" name="Forme 26"/>
          <p:cNvSpPr/>
          <p:nvPr/>
        </p:nvSpPr>
        <p:spPr>
          <a:xfrm>
            <a:off x="9966960" y="2057400"/>
            <a:ext cx="1691640" cy="1874520"/>
          </a:xfrm>
          <a:prstGeom prst="roundRect">
            <a:avLst>
              <a:gd name="adj" fmla="val 6000"/>
            </a:avLst>
          </a:prstGeom>
          <a:solidFill>
            <a:srgbClr val="F5F5F5"/>
          </a:solidFill>
          <a:ln>
            <a:noFill/>
          </a:ln>
        </p:spPr>
        <p:txBody>
          <a:bodyPr wrap="square" lIns="73152" tIns="91440" rIns="73152" bIns="45720" anchor="t" rtlCol="0">
            <a:noAutofit/>
          </a:bodyPr>
          <a:lstStyle/>
          <a:p>
            <a:pPr algn="ctr">
              <a:lnSpc>
                <a:spcPct val="100000"/>
              </a:lnSpc>
              <a:spcBef>
                <a:spcPts val="300"/>
              </a:spcBef>
              <a:spcAft>
                <a:spcPts val="0"/>
              </a:spcAft>
              <a:buNone/>
            </a:pPr>
            <a:r>
              <a:rPr lang="fr-FR" sz="900" b="0" i="0" dirty="0">
                <a:solidFill>
                  <a:srgbClr val="202020"/>
                </a:solidFill>
                <a:latin typeface="Arial"/>
                <a:cs typeface="Arial"/>
              </a:rPr>
              <a:t>Appli Streamlit </a:t>
            </a:r>
            <a:r>
              <a:rPr lang="fr-FR" sz="900" b="0" i="0" dirty="0">
                <a:solidFill>
                  <a:srgbClr val="20A4B0"/>
                </a:solidFill>
                <a:latin typeface="Consolas"/>
                <a:cs typeface="Consolas"/>
              </a:rPr>
              <a:t>app/</a:t>
            </a:r>
            <a:endParaRPr lang="fr-FR" sz="900" dirty="0"/>
          </a:p>
          <a:p>
            <a:pPr algn="ctr">
              <a:lnSpc>
                <a:spcPct val="100000"/>
              </a:lnSpc>
              <a:spcBef>
                <a:spcPts val="300"/>
              </a:spcBef>
              <a:spcAft>
                <a:spcPts val="0"/>
              </a:spcAft>
              <a:buNone/>
            </a:pPr>
            <a:r>
              <a:rPr lang="fr-FR" sz="900" b="0" i="0" dirty="0">
                <a:solidFill>
                  <a:srgbClr val="202020"/>
                </a:solidFill>
                <a:latin typeface="Arial"/>
                <a:cs typeface="Arial"/>
              </a:rPr>
              <a:t>Fabric </a:t>
            </a:r>
            <a:r>
              <a:rPr lang="fr-FR" sz="900" b="0" i="0" dirty="0">
                <a:solidFill>
                  <a:srgbClr val="20A4B0"/>
                </a:solidFill>
                <a:latin typeface="Consolas"/>
                <a:cs typeface="Consolas"/>
              </a:rPr>
              <a:t>fabric/</a:t>
            </a:r>
            <a:endParaRPr lang="fr-FR" sz="900" dirty="0"/>
          </a:p>
          <a:p>
            <a:pPr algn="ctr">
              <a:lnSpc>
                <a:spcPct val="100000"/>
              </a:lnSpc>
              <a:spcBef>
                <a:spcPts val="300"/>
              </a:spcBef>
              <a:spcAft>
                <a:spcPts val="0"/>
              </a:spcAft>
              <a:buNone/>
            </a:pPr>
            <a:r>
              <a:rPr lang="fr-FR" sz="900" b="0" i="0" dirty="0">
                <a:solidFill>
                  <a:srgbClr val="202020"/>
                </a:solidFill>
                <a:latin typeface="Arial"/>
                <a:cs typeface="Arial"/>
              </a:rPr>
              <a:t>Rapport Power BI</a:t>
            </a:r>
            <a:endParaRPr lang="fr-FR" sz="900" dirty="0"/>
          </a:p>
        </p:txBody>
      </p:sp>
      <p:sp>
        <p:nvSpPr>
          <p:cNvPr id="27" name="Forme 27"/>
          <p:cNvSpPr/>
          <p:nvPr/>
        </p:nvSpPr>
        <p:spPr>
          <a:xfrm>
            <a:off x="457200" y="4114800"/>
            <a:ext cx="5495544" cy="731520"/>
          </a:xfrm>
          <a:prstGeom prst="roundRect">
            <a:avLst>
              <a:gd name="adj" fmla="val 10000"/>
            </a:avLst>
          </a:prstGeom>
          <a:solidFill>
            <a:srgbClr val="CD7F32"/>
          </a:solidFill>
          <a:ln>
            <a:noFill/>
          </a:ln>
        </p:spPr>
        <p:txBody>
          <a:bodyPr wrap="square" lIns="45720" tIns="18288" rIns="45720" bIns="18288" anchor="ctr" rtlCol="0">
            <a:noAutofit/>
          </a:bodyPr>
          <a:lstStyle/>
          <a:p>
            <a:pPr algn="ctr">
              <a:lnSpc>
                <a:spcPct val="100000"/>
              </a:lnSpc>
              <a:spcBef>
                <a:spcPts val="0"/>
              </a:spcBef>
              <a:spcAft>
                <a:spcPts val="0"/>
              </a:spcAft>
              <a:buNone/>
            </a:pPr>
            <a:r>
              <a:rPr lang="fr-FR" sz="1150" b="1" i="0" dirty="0">
                <a:solidFill>
                  <a:srgbClr val="FFFFFF"/>
                </a:solidFill>
                <a:latin typeface="Arial"/>
                <a:cs typeface="Arial"/>
              </a:rPr>
              <a:t>BRONZE · data/raw</a:t>
            </a:r>
            <a:endParaRPr lang="fr-FR" sz="1150" dirty="0"/>
          </a:p>
          <a:p>
            <a:pPr algn="ctr">
              <a:lnSpc>
                <a:spcPct val="100000"/>
              </a:lnSpc>
              <a:spcBef>
                <a:spcPts val="0"/>
              </a:spcBef>
              <a:spcAft>
                <a:spcPts val="0"/>
              </a:spcAft>
              <a:buNone/>
            </a:pPr>
            <a:r>
              <a:rPr lang="fr-FR" sz="950" b="0" i="0" dirty="0">
                <a:solidFill>
                  <a:srgbClr val="FFFFFF"/>
                </a:solidFill>
                <a:latin typeface="Arial"/>
                <a:cs typeface="Arial"/>
              </a:rPr>
              <a:t>fichiers bruts tels que téléchargés + manifest.csv</a:t>
            </a:r>
            <a:endParaRPr lang="fr-FR" sz="950" dirty="0"/>
          </a:p>
        </p:txBody>
      </p:sp>
      <p:sp>
        <p:nvSpPr>
          <p:cNvPr id="28" name="Forme 28"/>
          <p:cNvSpPr/>
          <p:nvPr/>
        </p:nvSpPr>
        <p:spPr>
          <a:xfrm>
            <a:off x="6163056" y="4114800"/>
            <a:ext cx="1691640" cy="731520"/>
          </a:xfrm>
          <a:prstGeom prst="roundRect">
            <a:avLst>
              <a:gd name="adj" fmla="val 10000"/>
            </a:avLst>
          </a:prstGeom>
          <a:solidFill>
            <a:srgbClr val="8A8D91"/>
          </a:solidFill>
          <a:ln>
            <a:noFill/>
          </a:ln>
        </p:spPr>
        <p:txBody>
          <a:bodyPr wrap="square" lIns="45720" tIns="18288" rIns="45720" bIns="18288" anchor="ctr" rtlCol="0">
            <a:noAutofit/>
          </a:bodyPr>
          <a:lstStyle/>
          <a:p>
            <a:pPr algn="ctr">
              <a:lnSpc>
                <a:spcPct val="100000"/>
              </a:lnSpc>
              <a:spcBef>
                <a:spcPts val="0"/>
              </a:spcBef>
              <a:spcAft>
                <a:spcPts val="0"/>
              </a:spcAft>
              <a:buNone/>
            </a:pPr>
            <a:r>
              <a:rPr lang="fr-FR" sz="1150" b="1" i="0" dirty="0">
                <a:solidFill>
                  <a:srgbClr val="FFFFFF"/>
                </a:solidFill>
                <a:latin typeface="Arial"/>
                <a:cs typeface="Arial"/>
              </a:rPr>
              <a:t>SILVER · data/processed</a:t>
            </a:r>
            <a:endParaRPr lang="fr-FR" sz="1150" dirty="0"/>
          </a:p>
          <a:p>
            <a:pPr algn="ctr">
              <a:lnSpc>
                <a:spcPct val="100000"/>
              </a:lnSpc>
              <a:spcBef>
                <a:spcPts val="0"/>
              </a:spcBef>
              <a:spcAft>
                <a:spcPts val="0"/>
              </a:spcAft>
              <a:buNone/>
            </a:pPr>
            <a:r>
              <a:rPr lang="fr-FR" sz="950" b="0" i="0" dirty="0">
                <a:solidFill>
                  <a:srgbClr val="FFFFFF"/>
                </a:solidFill>
                <a:latin typeface="Arial"/>
                <a:cs typeface="Arial"/>
              </a:rPr>
              <a:t>données nettoyées</a:t>
            </a:r>
            <a:endParaRPr lang="fr-FR" sz="950" dirty="0"/>
          </a:p>
        </p:txBody>
      </p:sp>
      <p:sp>
        <p:nvSpPr>
          <p:cNvPr id="29" name="Forme 29"/>
          <p:cNvSpPr/>
          <p:nvPr/>
        </p:nvSpPr>
        <p:spPr>
          <a:xfrm>
            <a:off x="8065008" y="4114800"/>
            <a:ext cx="3593592" cy="731520"/>
          </a:xfrm>
          <a:prstGeom prst="roundRect">
            <a:avLst>
              <a:gd name="adj" fmla="val 10000"/>
            </a:avLst>
          </a:prstGeom>
          <a:solidFill>
            <a:srgbClr val="C9A227"/>
          </a:solidFill>
          <a:ln>
            <a:noFill/>
          </a:ln>
        </p:spPr>
        <p:txBody>
          <a:bodyPr wrap="square" lIns="45720" tIns="18288" rIns="45720" bIns="18288" anchor="ctr" rtlCol="0">
            <a:noAutofit/>
          </a:bodyPr>
          <a:lstStyle/>
          <a:p>
            <a:pPr algn="ctr">
              <a:lnSpc>
                <a:spcPct val="100000"/>
              </a:lnSpc>
              <a:spcBef>
                <a:spcPts val="0"/>
              </a:spcBef>
              <a:spcAft>
                <a:spcPts val="0"/>
              </a:spcAft>
              <a:buNone/>
            </a:pPr>
            <a:r>
              <a:rPr lang="fr-FR" sz="1150" b="1" i="0" dirty="0">
                <a:solidFill>
                  <a:srgbClr val="FFFFFF"/>
                </a:solidFill>
                <a:latin typeface="Arial"/>
                <a:cs typeface="Arial"/>
              </a:rPr>
              <a:t>GOLD · indicateurs</a:t>
            </a:r>
            <a:endParaRPr lang="fr-FR" sz="1150" dirty="0"/>
          </a:p>
          <a:p>
            <a:pPr algn="ctr">
              <a:lnSpc>
                <a:spcPct val="100000"/>
              </a:lnSpc>
              <a:spcBef>
                <a:spcPts val="0"/>
              </a:spcBef>
              <a:spcAft>
                <a:spcPts val="0"/>
              </a:spcAft>
              <a:buNone/>
            </a:pPr>
            <a:r>
              <a:rPr lang="fr-FR" sz="950" b="0" i="0" dirty="0">
                <a:solidFill>
                  <a:srgbClr val="FFFFFF"/>
                </a:solidFill>
                <a:latin typeface="Arial"/>
                <a:cs typeface="Arial"/>
              </a:rPr>
              <a:t>accès, prédictions, recommandations</a:t>
            </a:r>
            <a:endParaRPr lang="fr-FR" sz="950" dirty="0"/>
          </a:p>
        </p:txBody>
      </p:sp>
      <p:sp>
        <p:nvSpPr>
          <p:cNvPr id="30" name="Forme 30"/>
          <p:cNvSpPr/>
          <p:nvPr/>
        </p:nvSpPr>
        <p:spPr>
          <a:xfrm>
            <a:off x="457200" y="5074920"/>
            <a:ext cx="11274552" cy="1188720"/>
          </a:xfrm>
          <a:prstGeom prst="roundRect">
            <a:avLst>
              <a:gd name="adj" fmla="val 6000"/>
            </a:avLst>
          </a:prstGeom>
          <a:solidFill>
            <a:srgbClr val="F5F5F5"/>
          </a:solidFill>
          <a:ln>
            <a:noFill/>
          </a:ln>
        </p:spPr>
        <p:txBody>
          <a:bodyPr wrap="square" lIns="228600" tIns="109728" rIns="228600" bIns="91440" anchor="t" rtlCol="0">
            <a:noAutofit/>
          </a:bodyPr>
          <a:lstStyle/>
          <a:p>
            <a:pPr algn="l">
              <a:lnSpc>
                <a:spcPct val="100000"/>
              </a:lnSpc>
              <a:spcBef>
                <a:spcPts val="0"/>
              </a:spcBef>
              <a:spcAft>
                <a:spcPts val="0"/>
              </a:spcAft>
              <a:buNone/>
            </a:pPr>
            <a:r>
              <a:rPr lang="fr-FR" sz="1200" b="1" i="0" dirty="0">
                <a:solidFill>
                  <a:srgbClr val="202020"/>
                </a:solidFill>
                <a:latin typeface="Arial"/>
                <a:cs typeface="Arial"/>
              </a:rPr>
              <a:t>Le même parcours dans Microsoft Fabric</a:t>
            </a:r>
            <a:r>
              <a:rPr lang="fr-FR" sz="1200" b="0" i="0" dirty="0">
                <a:solidFill>
                  <a:srgbClr val="202020"/>
                </a:solidFill>
                <a:latin typeface="Arial"/>
                <a:cs typeface="Arial"/>
              </a:rPr>
              <a:t> : 6 notebooks alimentent 3 lakehouses, puis Power BI lit directement « gold ».</a:t>
            </a:r>
            <a:endParaRPr lang="fr-FR" sz="1200" dirty="0"/>
          </a:p>
          <a:p>
            <a:pPr algn="l">
              <a:lnSpc>
                <a:spcPct val="100000"/>
              </a:lnSpc>
              <a:spcBef>
                <a:spcPts val="600"/>
              </a:spcBef>
              <a:spcAft>
                <a:spcPts val="0"/>
              </a:spcAft>
              <a:buNone/>
            </a:pPr>
            <a:r>
              <a:rPr lang="fr-FR" sz="1100" b="0" i="0" dirty="0">
                <a:solidFill>
                  <a:srgbClr val="20A4B0"/>
                </a:solidFill>
                <a:latin typeface="Consolas"/>
                <a:cs typeface="Consolas"/>
              </a:rPr>
              <a:t>bronze_notebook</a:t>
            </a:r>
            <a:r>
              <a:rPr lang="fr-FR" sz="1100" b="0" i="0" dirty="0">
                <a:solidFill>
                  <a:srgbClr val="616060"/>
                </a:solidFill>
                <a:latin typeface="Arial"/>
                <a:cs typeface="Arial"/>
              </a:rPr>
              <a:t> → lakehouse </a:t>
            </a:r>
            <a:r>
              <a:rPr lang="fr-FR" sz="1100" b="1" i="0" dirty="0">
                <a:solidFill>
                  <a:srgbClr val="616060"/>
                </a:solidFill>
                <a:latin typeface="Arial"/>
                <a:cs typeface="Arial"/>
              </a:rPr>
              <a:t>bronze</a:t>
            </a:r>
            <a:r>
              <a:rPr lang="fr-FR" sz="1100" b="0" i="0" dirty="0">
                <a:solidFill>
                  <a:srgbClr val="616060"/>
                </a:solidFill>
                <a:latin typeface="Arial"/>
                <a:cs typeface="Arial"/>
              </a:rPr>
              <a:t>   →   </a:t>
            </a:r>
            <a:r>
              <a:rPr lang="fr-FR" sz="1100" b="0" i="0" dirty="0">
                <a:solidFill>
                  <a:srgbClr val="20A4B0"/>
                </a:solidFill>
                <a:latin typeface="Consolas"/>
                <a:cs typeface="Consolas"/>
              </a:rPr>
              <a:t>silver_notebook</a:t>
            </a:r>
            <a:r>
              <a:rPr lang="fr-FR" sz="1100" b="0" i="0" dirty="0">
                <a:solidFill>
                  <a:srgbClr val="616060"/>
                </a:solidFill>
                <a:latin typeface="Arial"/>
                <a:cs typeface="Arial"/>
              </a:rPr>
              <a:t> → </a:t>
            </a:r>
            <a:r>
              <a:rPr lang="fr-FR" sz="1100" b="1" i="0" dirty="0">
                <a:solidFill>
                  <a:srgbClr val="616060"/>
                </a:solidFill>
                <a:latin typeface="Arial"/>
                <a:cs typeface="Arial"/>
              </a:rPr>
              <a:t>silver</a:t>
            </a:r>
            <a:r>
              <a:rPr lang="fr-FR" sz="1100" b="0" i="0" dirty="0">
                <a:solidFill>
                  <a:srgbClr val="616060"/>
                </a:solidFill>
                <a:latin typeface="Arial"/>
                <a:cs typeface="Arial"/>
              </a:rPr>
              <a:t>   →   </a:t>
            </a:r>
            <a:r>
              <a:rPr lang="fr-FR" sz="1100" b="0" i="0" dirty="0">
                <a:solidFill>
                  <a:srgbClr val="20A4B0"/>
                </a:solidFill>
                <a:latin typeface="Consolas"/>
                <a:cs typeface="Consolas"/>
              </a:rPr>
              <a:t>acces_notebook</a:t>
            </a:r>
            <a:r>
              <a:rPr lang="fr-FR" sz="1100" b="0" i="0" dirty="0">
                <a:solidFill>
                  <a:srgbClr val="616060"/>
                </a:solidFill>
                <a:latin typeface="Arial"/>
                <a:cs typeface="Arial"/>
              </a:rPr>
              <a:t>, </a:t>
            </a:r>
            <a:r>
              <a:rPr lang="fr-FR" sz="1100" b="0" i="0" dirty="0">
                <a:solidFill>
                  <a:srgbClr val="20A4B0"/>
                </a:solidFill>
                <a:latin typeface="Consolas"/>
                <a:cs typeface="Consolas"/>
              </a:rPr>
              <a:t>modele_notebook</a:t>
            </a:r>
            <a:r>
              <a:rPr lang="fr-FR" sz="1100" b="0" i="0" dirty="0">
                <a:solidFill>
                  <a:srgbClr val="616060"/>
                </a:solidFill>
                <a:latin typeface="Arial"/>
                <a:cs typeface="Arial"/>
              </a:rPr>
              <a:t>, </a:t>
            </a:r>
            <a:r>
              <a:rPr lang="fr-FR" sz="1100" b="0" i="0" dirty="0">
                <a:solidFill>
                  <a:srgbClr val="20A4B0"/>
                </a:solidFill>
                <a:latin typeface="Consolas"/>
                <a:cs typeface="Consolas"/>
              </a:rPr>
              <a:t>optimisation_notebook</a:t>
            </a:r>
            <a:r>
              <a:rPr lang="fr-FR" sz="1100" b="0" i="0" dirty="0">
                <a:solidFill>
                  <a:srgbClr val="616060"/>
                </a:solidFill>
                <a:latin typeface="Arial"/>
                <a:cs typeface="Arial"/>
              </a:rPr>
              <a:t>, </a:t>
            </a:r>
            <a:r>
              <a:rPr lang="fr-FR" sz="1100" b="0" i="0" dirty="0">
                <a:solidFill>
                  <a:srgbClr val="20A4B0"/>
                </a:solidFill>
                <a:latin typeface="Consolas"/>
                <a:cs typeface="Consolas"/>
              </a:rPr>
              <a:t>gold_notebook</a:t>
            </a:r>
            <a:r>
              <a:rPr lang="fr-FR" sz="1100" b="0" i="0" dirty="0">
                <a:solidFill>
                  <a:srgbClr val="616060"/>
                </a:solidFill>
                <a:latin typeface="Arial"/>
                <a:cs typeface="Arial"/>
              </a:rPr>
              <a:t> → </a:t>
            </a:r>
            <a:r>
              <a:rPr lang="fr-FR" sz="1100" b="1" i="0" dirty="0">
                <a:solidFill>
                  <a:srgbClr val="616060"/>
                </a:solidFill>
                <a:latin typeface="Arial"/>
                <a:cs typeface="Arial"/>
              </a:rPr>
              <a:t>gold</a:t>
            </a:r>
            <a:r>
              <a:rPr lang="fr-FR" sz="1100" b="0" i="0" dirty="0">
                <a:solidFill>
                  <a:srgbClr val="616060"/>
                </a:solidFill>
                <a:latin typeface="Arial"/>
                <a:cs typeface="Arial"/>
              </a:rPr>
              <a:t>   →   rapport </a:t>
            </a:r>
            <a:r>
              <a:rPr lang="fr-FR" sz="1100" b="0" i="0" dirty="0">
                <a:solidFill>
                  <a:srgbClr val="20A4B0"/>
                </a:solidFill>
                <a:latin typeface="Consolas"/>
                <a:cs typeface="Consolas"/>
              </a:rPr>
              <a:t>citiz_acces_investissement</a:t>
            </a:r>
            <a:r>
              <a:rPr lang="fr-FR" sz="1100" b="0" i="0" dirty="0">
                <a:solidFill>
                  <a:srgbClr val="616060"/>
                </a:solidFill>
                <a:latin typeface="Arial"/>
                <a:cs typeface="Arial"/>
              </a:rPr>
              <a:t> (7 pages)</a:t>
            </a:r>
            <a:endParaRPr lang="fr-FR" sz="1100" dirty="0"/>
          </a:p>
        </p:txBody>
      </p:sp>
      <p:pic>
        <p:nvPicPr>
          <p:cNvPr id="9003"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32B4B5"/>
                </a:solidFill>
                <a:latin typeface="Arial"/>
                <a:cs typeface="Arial"/>
              </a:rPr>
              <a:t>PARTIE 1 · VUE D'ENSEMBLE</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De la donnée brute à la recommandation</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En 5 lignes, puis la correspondance avec l'architecture Fabric.</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4</a:t>
            </a:r>
            <a:endParaRPr lang="fr-FR" sz="900" dirty="0"/>
          </a:p>
        </p:txBody>
      </p:sp>
      <p:sp>
        <p:nvSpPr>
          <p:cNvPr id="10" name="Forme 10"/>
          <p:cNvSpPr/>
          <p:nvPr/>
        </p:nvSpPr>
        <p:spPr>
          <a:xfrm>
            <a:off x="457200" y="1508760"/>
            <a:ext cx="502920" cy="502920"/>
          </a:xfrm>
          <a:prstGeom prst="ellipse">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1700" b="1" i="0" dirty="0">
                <a:solidFill>
                  <a:srgbClr val="FFFFFF"/>
                </a:solidFill>
                <a:latin typeface="Arial"/>
                <a:cs typeface="Arial"/>
              </a:rPr>
              <a:t>1</a:t>
            </a:r>
            <a:endParaRPr lang="fr-FR" sz="1700" dirty="0"/>
          </a:p>
        </p:txBody>
      </p:sp>
      <p:sp>
        <p:nvSpPr>
          <p:cNvPr id="11" name="Forme 11"/>
          <p:cNvSpPr/>
          <p:nvPr/>
        </p:nvSpPr>
        <p:spPr>
          <a:xfrm>
            <a:off x="1143000" y="1463040"/>
            <a:ext cx="5120640" cy="86868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250" b="0" i="0" dirty="0">
                <a:solidFill>
                  <a:srgbClr val="202020"/>
                </a:solidFill>
                <a:latin typeface="Arial"/>
                <a:cs typeface="Arial"/>
              </a:rPr>
              <a:t>On </a:t>
            </a:r>
            <a:r>
              <a:rPr lang="fr-FR" sz="1250" b="1" i="0" dirty="0">
                <a:solidFill>
                  <a:srgbClr val="202020"/>
                </a:solidFill>
                <a:latin typeface="Arial"/>
                <a:cs typeface="Arial"/>
              </a:rPr>
              <a:t>télécharge automatiquement</a:t>
            </a:r>
            <a:r>
              <a:rPr lang="fr-FR" sz="1250" b="0" i="0" dirty="0">
                <a:solidFill>
                  <a:srgbClr val="202020"/>
                </a:solidFill>
                <a:latin typeface="Arial"/>
                <a:cs typeface="Arial"/>
              </a:rPr>
              <a:t> 14 sources ouvertes : horaires de bus et de trams, vélos et voitures partagés, population, rues.</a:t>
            </a:r>
            <a:endParaRPr lang="fr-FR" sz="1250" dirty="0"/>
          </a:p>
        </p:txBody>
      </p:sp>
      <p:sp>
        <p:nvSpPr>
          <p:cNvPr id="12" name="Forme 12"/>
          <p:cNvSpPr/>
          <p:nvPr/>
        </p:nvSpPr>
        <p:spPr>
          <a:xfrm>
            <a:off x="457200" y="2468880"/>
            <a:ext cx="502920" cy="502920"/>
          </a:xfrm>
          <a:prstGeom prst="ellipse">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1700" b="1" i="0" dirty="0">
                <a:solidFill>
                  <a:srgbClr val="FFFFFF"/>
                </a:solidFill>
                <a:latin typeface="Arial"/>
                <a:cs typeface="Arial"/>
              </a:rPr>
              <a:t>2</a:t>
            </a:r>
            <a:endParaRPr lang="fr-FR" sz="1700" dirty="0"/>
          </a:p>
        </p:txBody>
      </p:sp>
      <p:sp>
        <p:nvSpPr>
          <p:cNvPr id="13" name="Forme 13"/>
          <p:cNvSpPr/>
          <p:nvPr/>
        </p:nvSpPr>
        <p:spPr>
          <a:xfrm>
            <a:off x="1143000" y="2423160"/>
            <a:ext cx="5120640" cy="86868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250" b="0" i="0" dirty="0">
                <a:solidFill>
                  <a:srgbClr val="202020"/>
                </a:solidFill>
                <a:latin typeface="Arial"/>
                <a:cs typeface="Arial"/>
              </a:rPr>
              <a:t>On </a:t>
            </a:r>
            <a:r>
              <a:rPr lang="fr-FR" sz="1250" b="1" i="0" dirty="0">
                <a:solidFill>
                  <a:srgbClr val="202020"/>
                </a:solidFill>
                <a:latin typeface="Arial"/>
                <a:cs typeface="Arial"/>
              </a:rPr>
              <a:t>vérifie</a:t>
            </a:r>
            <a:r>
              <a:rPr lang="fr-FR" sz="1250" b="0" i="0" dirty="0">
                <a:solidFill>
                  <a:srgbClr val="202020"/>
                </a:solidFill>
                <a:latin typeface="Arial"/>
                <a:cs typeface="Arial"/>
              </a:rPr>
              <a:t> chaque fichier, puis on </a:t>
            </a:r>
            <a:r>
              <a:rPr lang="fr-FR" sz="1250" b="1" i="0" dirty="0">
                <a:solidFill>
                  <a:srgbClr val="202020"/>
                </a:solidFill>
                <a:latin typeface="Arial"/>
                <a:cs typeface="Arial"/>
              </a:rPr>
              <a:t>nettoie</a:t>
            </a:r>
            <a:r>
              <a:rPr lang="fr-FR" sz="1250" b="0" i="0" dirty="0">
                <a:solidFill>
                  <a:srgbClr val="202020"/>
                </a:solidFill>
                <a:latin typeface="Arial"/>
                <a:cs typeface="Arial"/>
              </a:rPr>
              <a:t> : arrêts en double fusionnés, un jour de semaine figé, population recalée sur le recensement.</a:t>
            </a:r>
            <a:endParaRPr lang="fr-FR" sz="1250" dirty="0"/>
          </a:p>
        </p:txBody>
      </p:sp>
      <p:sp>
        <p:nvSpPr>
          <p:cNvPr id="14" name="Forme 14"/>
          <p:cNvSpPr/>
          <p:nvPr/>
        </p:nvSpPr>
        <p:spPr>
          <a:xfrm>
            <a:off x="457200" y="3429000"/>
            <a:ext cx="502920" cy="502920"/>
          </a:xfrm>
          <a:prstGeom prst="ellipse">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1700" b="1" i="0" dirty="0">
                <a:solidFill>
                  <a:srgbClr val="FFFFFF"/>
                </a:solidFill>
                <a:latin typeface="Arial"/>
                <a:cs typeface="Arial"/>
              </a:rPr>
              <a:t>3</a:t>
            </a:r>
            <a:endParaRPr lang="fr-FR" sz="1700" dirty="0"/>
          </a:p>
        </p:txBody>
      </p:sp>
      <p:sp>
        <p:nvSpPr>
          <p:cNvPr id="15" name="Forme 15"/>
          <p:cNvSpPr/>
          <p:nvPr/>
        </p:nvSpPr>
        <p:spPr>
          <a:xfrm>
            <a:off x="1143000" y="3383280"/>
            <a:ext cx="5120640" cy="86868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250" b="0" i="0" dirty="0">
                <a:solidFill>
                  <a:srgbClr val="202020"/>
                </a:solidFill>
                <a:latin typeface="Arial"/>
                <a:cs typeface="Arial"/>
              </a:rPr>
              <a:t>Pour chaque carreau habité de 200 m, on </a:t>
            </a:r>
            <a:r>
              <a:rPr lang="fr-FR" sz="1250" b="1" i="0" dirty="0">
                <a:solidFill>
                  <a:srgbClr val="202020"/>
                </a:solidFill>
                <a:latin typeface="Arial"/>
                <a:cs typeface="Arial"/>
              </a:rPr>
              <a:t>compte les options de mobilité à 5 minutes de vraie marche</a:t>
            </a:r>
            <a:r>
              <a:rPr lang="fr-FR" sz="1250" b="0" i="0" dirty="0">
                <a:solidFill>
                  <a:srgbClr val="202020"/>
                </a:solidFill>
                <a:latin typeface="Arial"/>
                <a:cs typeface="Arial"/>
              </a:rPr>
              <a:t> (400 m par les rues).</a:t>
            </a:r>
            <a:endParaRPr lang="fr-FR" sz="1250" dirty="0"/>
          </a:p>
        </p:txBody>
      </p:sp>
      <p:sp>
        <p:nvSpPr>
          <p:cNvPr id="16" name="Forme 16"/>
          <p:cNvSpPr/>
          <p:nvPr/>
        </p:nvSpPr>
        <p:spPr>
          <a:xfrm>
            <a:off x="457200" y="4389120"/>
            <a:ext cx="502920" cy="502920"/>
          </a:xfrm>
          <a:prstGeom prst="ellipse">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1700" b="1" i="0" dirty="0">
                <a:solidFill>
                  <a:srgbClr val="FFFFFF"/>
                </a:solidFill>
                <a:latin typeface="Arial"/>
                <a:cs typeface="Arial"/>
              </a:rPr>
              <a:t>4</a:t>
            </a:r>
            <a:endParaRPr lang="fr-FR" sz="1700" dirty="0"/>
          </a:p>
        </p:txBody>
      </p:sp>
      <p:sp>
        <p:nvSpPr>
          <p:cNvPr id="17" name="Forme 17"/>
          <p:cNvSpPr/>
          <p:nvPr/>
        </p:nvSpPr>
        <p:spPr>
          <a:xfrm>
            <a:off x="1143000" y="4343400"/>
            <a:ext cx="5120640" cy="86868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250" b="0" i="0" dirty="0">
                <a:solidFill>
                  <a:srgbClr val="202020"/>
                </a:solidFill>
                <a:latin typeface="Arial"/>
                <a:cs typeface="Arial"/>
              </a:rPr>
              <a:t>Un </a:t>
            </a:r>
            <a:r>
              <a:rPr lang="fr-FR" sz="1250" b="1" i="0" dirty="0">
                <a:solidFill>
                  <a:srgbClr val="202020"/>
                </a:solidFill>
                <a:latin typeface="Arial"/>
                <a:cs typeface="Arial"/>
              </a:rPr>
              <a:t>modèle</a:t>
            </a:r>
            <a:r>
              <a:rPr lang="fr-FR" sz="1250" b="0" i="0" dirty="0">
                <a:solidFill>
                  <a:srgbClr val="202020"/>
                </a:solidFill>
                <a:latin typeface="Arial"/>
                <a:cs typeface="Arial"/>
              </a:rPr>
              <a:t> apprend, sur 106 intercommunalités où Citiz est présent, où une station a le plus de chances de fonctionner.</a:t>
            </a:r>
            <a:endParaRPr lang="fr-FR" sz="1250" dirty="0"/>
          </a:p>
        </p:txBody>
      </p:sp>
      <p:sp>
        <p:nvSpPr>
          <p:cNvPr id="18" name="Forme 18"/>
          <p:cNvSpPr/>
          <p:nvPr/>
        </p:nvSpPr>
        <p:spPr>
          <a:xfrm>
            <a:off x="457200" y="5349240"/>
            <a:ext cx="502920" cy="502920"/>
          </a:xfrm>
          <a:prstGeom prst="ellipse">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1700" b="1" i="0" dirty="0">
                <a:solidFill>
                  <a:srgbClr val="FFFFFF"/>
                </a:solidFill>
                <a:latin typeface="Arial"/>
                <a:cs typeface="Arial"/>
              </a:rPr>
              <a:t>5</a:t>
            </a:r>
            <a:endParaRPr lang="fr-FR" sz="1700" dirty="0"/>
          </a:p>
        </p:txBody>
      </p:sp>
      <p:sp>
        <p:nvSpPr>
          <p:cNvPr id="19" name="Forme 19"/>
          <p:cNvSpPr/>
          <p:nvPr/>
        </p:nvSpPr>
        <p:spPr>
          <a:xfrm>
            <a:off x="1143000" y="5303520"/>
            <a:ext cx="5120640" cy="86868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250" b="0" i="0" dirty="0">
                <a:solidFill>
                  <a:srgbClr val="202020"/>
                </a:solidFill>
                <a:latin typeface="Arial"/>
                <a:cs typeface="Arial"/>
              </a:rPr>
              <a:t>Sous un budget, l'</a:t>
            </a:r>
            <a:r>
              <a:rPr lang="fr-FR" sz="1250" b="1" i="0" dirty="0">
                <a:solidFill>
                  <a:srgbClr val="202020"/>
                </a:solidFill>
                <a:latin typeface="Arial"/>
                <a:cs typeface="Arial"/>
              </a:rPr>
              <a:t>optimiseur</a:t>
            </a:r>
            <a:r>
              <a:rPr lang="fr-FR" sz="1250" b="0" i="0" dirty="0">
                <a:solidFill>
                  <a:srgbClr val="202020"/>
                </a:solidFill>
                <a:latin typeface="Arial"/>
                <a:cs typeface="Arial"/>
              </a:rPr>
              <a:t> choisit les emplacements qui gagnent le plus d'habitants : </a:t>
            </a:r>
            <a:r>
              <a:rPr lang="fr-FR" sz="1250" b="1" i="0" dirty="0">
                <a:solidFill>
                  <a:srgbClr val="202020"/>
                </a:solidFill>
                <a:latin typeface="Arial"/>
                <a:cs typeface="Arial"/>
              </a:rPr>
              <a:t>13 stations pour 500 000 € à Nantes, +22 510 habitants</a:t>
            </a:r>
            <a:r>
              <a:rPr lang="fr-FR" sz="1250" b="0" i="0" dirty="0">
                <a:solidFill>
                  <a:srgbClr val="202020"/>
                </a:solidFill>
                <a:latin typeface="Arial"/>
                <a:cs typeface="Arial"/>
              </a:rPr>
              <a:t>.</a:t>
            </a:r>
            <a:endParaRPr lang="fr-FR" sz="1250" dirty="0"/>
          </a:p>
        </p:txBody>
      </p:sp>
      <p:sp>
        <p:nvSpPr>
          <p:cNvPr id="20" name="Forme 20"/>
          <p:cNvSpPr/>
          <p:nvPr/>
        </p:nvSpPr>
        <p:spPr>
          <a:xfrm>
            <a:off x="6583680" y="1417320"/>
            <a:ext cx="5148072" cy="1481328"/>
          </a:xfrm>
          <a:prstGeom prst="roundRect">
            <a:avLst>
              <a:gd name="adj" fmla="val 4000"/>
            </a:avLst>
          </a:prstGeom>
          <a:solidFill>
            <a:srgbClr val="F9EDE3"/>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1" name="Forme 21"/>
          <p:cNvSpPr/>
          <p:nvPr/>
        </p:nvSpPr>
        <p:spPr>
          <a:xfrm>
            <a:off x="6583680" y="1417320"/>
            <a:ext cx="64008" cy="1481328"/>
          </a:xfrm>
          <a:prstGeom prst="rect">
            <a:avLst/>
          </a:prstGeom>
          <a:solidFill>
            <a:srgbClr val="CD7F32"/>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2" name="Forme 22"/>
          <p:cNvSpPr/>
          <p:nvPr/>
        </p:nvSpPr>
        <p:spPr>
          <a:xfrm>
            <a:off x="6766560" y="1508760"/>
            <a:ext cx="4855464" cy="1344168"/>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CD7F32"/>
                </a:solidFill>
                <a:latin typeface="Arial"/>
                <a:cs typeface="Arial"/>
              </a:rPr>
              <a:t>BRONZE = data/raw</a:t>
            </a:r>
            <a:endParaRPr lang="fr-FR" sz="1300" dirty="0"/>
          </a:p>
          <a:p>
            <a:pPr algn="l">
              <a:lnSpc>
                <a:spcPct val="100000"/>
              </a:lnSpc>
              <a:spcBef>
                <a:spcPts val="200"/>
              </a:spcBef>
              <a:spcAft>
                <a:spcPts val="0"/>
              </a:spcAft>
              <a:buNone/>
            </a:pPr>
            <a:r>
              <a:rPr lang="fr-FR" sz="1050" b="0" i="0" dirty="0">
                <a:solidFill>
                  <a:srgbClr val="202020"/>
                </a:solidFill>
                <a:latin typeface="Arial"/>
                <a:cs typeface="Arial"/>
              </a:rPr>
              <a:t>Les fichiers bruts, jamais modifiés : GTFS (zip), GBFS (json), INSEE et IGN (GPKG, parquet, xlsx), OSM (pbf), SSMSI. Plus </a:t>
            </a:r>
            <a:r>
              <a:rPr lang="fr-FR" sz="1050" b="0" i="0" dirty="0">
                <a:solidFill>
                  <a:srgbClr val="20A4B0"/>
                </a:solidFill>
                <a:latin typeface="Consolas"/>
                <a:cs typeface="Consolas"/>
              </a:rPr>
              <a:t>manifest.csv</a:t>
            </a:r>
            <a:r>
              <a:rPr lang="fr-FR" sz="1050" b="0" i="0" dirty="0">
                <a:solidFill>
                  <a:srgbClr val="202020"/>
                </a:solidFill>
                <a:latin typeface="Arial"/>
                <a:cs typeface="Arial"/>
              </a:rPr>
              <a:t> : URL, taille, date.</a:t>
            </a:r>
            <a:endParaRPr lang="fr-FR" sz="1050" dirty="0"/>
          </a:p>
          <a:p>
            <a:pPr algn="l">
              <a:lnSpc>
                <a:spcPct val="100000"/>
              </a:lnSpc>
              <a:spcBef>
                <a:spcPts val="400"/>
              </a:spcBef>
              <a:spcAft>
                <a:spcPts val="0"/>
              </a:spcAft>
              <a:buNone/>
            </a:pPr>
            <a:r>
              <a:rPr lang="fr-FR" sz="1000" b="1" i="0" dirty="0">
                <a:solidFill>
                  <a:srgbClr val="CD7F32"/>
                </a:solidFill>
                <a:latin typeface="Arial"/>
                <a:cs typeface="Arial"/>
              </a:rPr>
              <a:t>Fabric : lakehouse </a:t>
            </a:r>
            <a:r>
              <a:rPr lang="fr-FR" sz="1000" b="1" i="0" dirty="0">
                <a:solidFill>
                  <a:srgbClr val="20A4B0"/>
                </a:solidFill>
                <a:latin typeface="Consolas"/>
                <a:cs typeface="Consolas"/>
              </a:rPr>
              <a:t>bronze</a:t>
            </a:r>
            <a:endParaRPr lang="fr-FR" sz="1000" dirty="0"/>
          </a:p>
        </p:txBody>
      </p:sp>
      <p:sp>
        <p:nvSpPr>
          <p:cNvPr id="23" name="Forme 23"/>
          <p:cNvSpPr/>
          <p:nvPr/>
        </p:nvSpPr>
        <p:spPr>
          <a:xfrm>
            <a:off x="6583680" y="3044952"/>
            <a:ext cx="5148072" cy="1481328"/>
          </a:xfrm>
          <a:prstGeom prst="roundRect">
            <a:avLst>
              <a:gd name="adj" fmla="val 4000"/>
            </a:avLst>
          </a:prstGeom>
          <a:solidFill>
            <a:srgbClr val="F5F5F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4" name="Forme 24"/>
          <p:cNvSpPr/>
          <p:nvPr/>
        </p:nvSpPr>
        <p:spPr>
          <a:xfrm>
            <a:off x="6583680" y="3044952"/>
            <a:ext cx="64008" cy="1481328"/>
          </a:xfrm>
          <a:prstGeom prst="rect">
            <a:avLst/>
          </a:prstGeom>
          <a:solidFill>
            <a:srgbClr val="8A8D91"/>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5" name="Forme 25"/>
          <p:cNvSpPr/>
          <p:nvPr/>
        </p:nvSpPr>
        <p:spPr>
          <a:xfrm>
            <a:off x="6766560" y="3136392"/>
            <a:ext cx="4855464" cy="1344168"/>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969696"/>
                </a:solidFill>
                <a:latin typeface="Arial"/>
                <a:cs typeface="Arial"/>
              </a:rPr>
              <a:t>SILVER = data/processed/&lt;ville&gt;</a:t>
            </a:r>
            <a:endParaRPr lang="fr-FR" sz="1300" dirty="0"/>
          </a:p>
          <a:p>
            <a:pPr algn="l">
              <a:lnSpc>
                <a:spcPct val="100000"/>
              </a:lnSpc>
              <a:spcBef>
                <a:spcPts val="200"/>
              </a:spcBef>
              <a:spcAft>
                <a:spcPts val="0"/>
              </a:spcAft>
              <a:buNone/>
            </a:pPr>
            <a:r>
              <a:rPr lang="fr-FR" sz="1050" b="0" i="0" dirty="0">
                <a:solidFill>
                  <a:srgbClr val="202020"/>
                </a:solidFill>
                <a:latin typeface="Arial"/>
                <a:cs typeface="Arial"/>
              </a:rPr>
              <a:t>Données nettoyées et rattachées : </a:t>
            </a:r>
            <a:r>
              <a:rPr lang="fr-FR" sz="1050" b="0" i="0" dirty="0">
                <a:solidFill>
                  <a:srgbClr val="20A4B0"/>
                </a:solidFill>
                <a:latin typeface="Consolas"/>
                <a:cs typeface="Consolas"/>
              </a:rPr>
              <a:t>zone.gpkg</a:t>
            </a:r>
            <a:r>
              <a:rPr lang="fr-FR" sz="1050" b="0" i="0" dirty="0">
                <a:solidFill>
                  <a:srgbClr val="202020"/>
                </a:solidFill>
                <a:latin typeface="Arial"/>
                <a:cs typeface="Arial"/>
              </a:rPr>
              <a:t>, </a:t>
            </a:r>
            <a:r>
              <a:rPr lang="fr-FR" sz="1050" b="0" i="0" dirty="0">
                <a:solidFill>
                  <a:srgbClr val="20A4B0"/>
                </a:solidFill>
                <a:latin typeface="Consolas"/>
                <a:cs typeface="Consolas"/>
              </a:rPr>
              <a:t>population.parquet</a:t>
            </a:r>
            <a:r>
              <a:rPr lang="fr-FR" sz="1050" b="0" i="0" dirty="0">
                <a:solidFill>
                  <a:srgbClr val="202020"/>
                </a:solidFill>
                <a:latin typeface="Arial"/>
                <a:cs typeface="Arial"/>
              </a:rPr>
              <a:t> (calée), </a:t>
            </a:r>
            <a:r>
              <a:rPr lang="fr-FR" sz="1050" b="0" i="0" dirty="0">
                <a:solidFill>
                  <a:srgbClr val="20A4B0"/>
                </a:solidFill>
                <a:latin typeface="Consolas"/>
                <a:cs typeface="Consolas"/>
              </a:rPr>
              <a:t>offer.parquet</a:t>
            </a:r>
            <a:r>
              <a:rPr lang="fr-FR" sz="1050" b="0" i="0" dirty="0">
                <a:solidFill>
                  <a:srgbClr val="202020"/>
                </a:solidFill>
                <a:latin typeface="Arial"/>
                <a:cs typeface="Arial"/>
              </a:rPr>
              <a:t> (dédoublonnée), réseau piéton en cache.</a:t>
            </a:r>
            <a:endParaRPr lang="fr-FR" sz="1050" dirty="0"/>
          </a:p>
          <a:p>
            <a:pPr algn="l">
              <a:lnSpc>
                <a:spcPct val="100000"/>
              </a:lnSpc>
              <a:spcBef>
                <a:spcPts val="400"/>
              </a:spcBef>
              <a:spcAft>
                <a:spcPts val="0"/>
              </a:spcAft>
              <a:buNone/>
            </a:pPr>
            <a:r>
              <a:rPr lang="fr-FR" sz="1000" b="1" i="0" dirty="0">
                <a:solidFill>
                  <a:srgbClr val="969696"/>
                </a:solidFill>
                <a:latin typeface="Arial"/>
                <a:cs typeface="Arial"/>
              </a:rPr>
              <a:t>Fabric : lakehouse </a:t>
            </a:r>
            <a:r>
              <a:rPr lang="fr-FR" sz="1000" b="1" i="0" dirty="0">
                <a:solidFill>
                  <a:srgbClr val="20A4B0"/>
                </a:solidFill>
                <a:latin typeface="Consolas"/>
                <a:cs typeface="Consolas"/>
              </a:rPr>
              <a:t>silver</a:t>
            </a:r>
            <a:endParaRPr lang="fr-FR" sz="1000" dirty="0"/>
          </a:p>
        </p:txBody>
      </p:sp>
      <p:sp>
        <p:nvSpPr>
          <p:cNvPr id="26" name="Forme 26"/>
          <p:cNvSpPr/>
          <p:nvPr/>
        </p:nvSpPr>
        <p:spPr>
          <a:xfrm>
            <a:off x="6583680" y="4672584"/>
            <a:ext cx="5148072" cy="1481328"/>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7" name="Forme 27"/>
          <p:cNvSpPr/>
          <p:nvPr/>
        </p:nvSpPr>
        <p:spPr>
          <a:xfrm>
            <a:off x="6583680" y="4672584"/>
            <a:ext cx="64008" cy="1481328"/>
          </a:xfrm>
          <a:prstGeom prst="rect">
            <a:avLst/>
          </a:prstGeom>
          <a:solidFill>
            <a:srgbClr val="C9A227"/>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8" name="Forme 28"/>
          <p:cNvSpPr/>
          <p:nvPr/>
        </p:nvSpPr>
        <p:spPr>
          <a:xfrm>
            <a:off x="6766560" y="4764024"/>
            <a:ext cx="4855464" cy="1344168"/>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C9A227"/>
                </a:solidFill>
                <a:latin typeface="Arial"/>
                <a:cs typeface="Arial"/>
              </a:rPr>
              <a:t>GOLD = indicateurs et recommandations</a:t>
            </a:r>
            <a:endParaRPr lang="fr-FR" sz="1300" dirty="0"/>
          </a:p>
          <a:p>
            <a:pPr algn="l">
              <a:lnSpc>
                <a:spcPct val="100000"/>
              </a:lnSpc>
              <a:spcBef>
                <a:spcPts val="200"/>
              </a:spcBef>
              <a:spcAft>
                <a:spcPts val="0"/>
              </a:spcAft>
              <a:buNone/>
            </a:pPr>
            <a:r>
              <a:rPr lang="fr-FR" sz="1050" b="0" i="0" dirty="0">
                <a:solidFill>
                  <a:srgbClr val="20A4B0"/>
                </a:solidFill>
                <a:latin typeface="Consolas"/>
                <a:cs typeface="Consolas"/>
              </a:rPr>
              <a:t>access_cells</a:t>
            </a:r>
            <a:r>
              <a:rPr lang="fr-FR" sz="1050" b="0" i="0" dirty="0">
                <a:solidFill>
                  <a:srgbClr val="202020"/>
                </a:solidFill>
                <a:latin typeface="Arial"/>
                <a:cs typeface="Arial"/>
              </a:rPr>
              <a:t> (options à 5 min), </a:t>
            </a:r>
            <a:r>
              <a:rPr lang="fr-FR" sz="1050" b="0" i="0" dirty="0">
                <a:solidFill>
                  <a:srgbClr val="20A4B0"/>
                </a:solidFill>
                <a:latin typeface="Consolas"/>
                <a:cs typeface="Consolas"/>
              </a:rPr>
              <a:t>offer_served</a:t>
            </a:r>
            <a:r>
              <a:rPr lang="fr-FR" sz="1050" b="0" i="0" dirty="0">
                <a:solidFill>
                  <a:srgbClr val="202020"/>
                </a:solidFill>
                <a:latin typeface="Arial"/>
                <a:cs typeface="Arial"/>
              </a:rPr>
              <a:t>, </a:t>
            </a:r>
            <a:r>
              <a:rPr lang="fr-FR" sz="1050" b="0" i="0" dirty="0">
                <a:solidFill>
                  <a:srgbClr val="20A4B0"/>
                </a:solidFill>
                <a:latin typeface="Consolas"/>
                <a:cs typeface="Consolas"/>
              </a:rPr>
              <a:t>model/predictions</a:t>
            </a:r>
            <a:r>
              <a:rPr lang="fr-FR" sz="1050" b="0" i="0" dirty="0">
                <a:solidFill>
                  <a:srgbClr val="202020"/>
                </a:solidFill>
                <a:latin typeface="Arial"/>
                <a:cs typeface="Arial"/>
              </a:rPr>
              <a:t>, </a:t>
            </a:r>
            <a:r>
              <a:rPr lang="fr-FR" sz="1050" b="0" i="0" dirty="0">
                <a:solidFill>
                  <a:srgbClr val="20A4B0"/>
                </a:solidFill>
                <a:latin typeface="Consolas"/>
                <a:cs typeface="Consolas"/>
              </a:rPr>
              <a:t>candidates</a:t>
            </a:r>
            <a:r>
              <a:rPr lang="fr-FR" sz="1050" b="0" i="0" dirty="0">
                <a:solidFill>
                  <a:srgbClr val="202020"/>
                </a:solidFill>
                <a:latin typeface="Arial"/>
                <a:cs typeface="Arial"/>
              </a:rPr>
              <a:t>, </a:t>
            </a:r>
            <a:r>
              <a:rPr lang="fr-FR" sz="1050" b="0" i="0" dirty="0">
                <a:solidFill>
                  <a:srgbClr val="20A4B0"/>
                </a:solidFill>
                <a:latin typeface="Consolas"/>
                <a:cs typeface="Consolas"/>
              </a:rPr>
              <a:t>recommandations_*.csv</a:t>
            </a:r>
            <a:r>
              <a:rPr lang="fr-FR" sz="1050" b="0" i="0" dirty="0">
                <a:solidFill>
                  <a:srgbClr val="202020"/>
                </a:solidFill>
                <a:latin typeface="Arial"/>
                <a:cs typeface="Arial"/>
              </a:rPr>
              <a:t>, </a:t>
            </a:r>
            <a:r>
              <a:rPr lang="fr-FR" sz="1050" b="0" i="0" dirty="0">
                <a:solidFill>
                  <a:srgbClr val="20A4B0"/>
                </a:solidFill>
                <a:latin typeface="Consolas"/>
                <a:cs typeface="Consolas"/>
              </a:rPr>
              <a:t>national/agg_*</a:t>
            </a:r>
            <a:r>
              <a:rPr lang="fr-FR" sz="1050" b="0" i="0" dirty="0">
                <a:solidFill>
                  <a:srgbClr val="202020"/>
                </a:solidFill>
                <a:latin typeface="Arial"/>
                <a:cs typeface="Arial"/>
              </a:rPr>
              <a:t>.</a:t>
            </a:r>
            <a:endParaRPr lang="fr-FR" sz="1050" dirty="0"/>
          </a:p>
          <a:p>
            <a:pPr algn="l">
              <a:lnSpc>
                <a:spcPct val="100000"/>
              </a:lnSpc>
              <a:spcBef>
                <a:spcPts val="400"/>
              </a:spcBef>
              <a:spcAft>
                <a:spcPts val="0"/>
              </a:spcAft>
              <a:buNone/>
            </a:pPr>
            <a:r>
              <a:rPr lang="fr-FR" sz="1000" b="1" i="0" dirty="0">
                <a:solidFill>
                  <a:srgbClr val="C9A227"/>
                </a:solidFill>
                <a:latin typeface="Arial"/>
                <a:cs typeface="Arial"/>
              </a:rPr>
              <a:t>Fabric : lakehouse </a:t>
            </a:r>
            <a:r>
              <a:rPr lang="fr-FR" sz="1000" b="1" i="0" dirty="0">
                <a:solidFill>
                  <a:srgbClr val="20A4B0"/>
                </a:solidFill>
                <a:latin typeface="Consolas"/>
                <a:cs typeface="Consolas"/>
              </a:rPr>
              <a:t>gold</a:t>
            </a:r>
            <a:r>
              <a:rPr lang="fr-FR" sz="1000" b="1" i="0" dirty="0">
                <a:solidFill>
                  <a:srgbClr val="C9A227"/>
                </a:solidFill>
                <a:latin typeface="Arial"/>
                <a:cs typeface="Arial"/>
              </a:rPr>
              <a:t> → Power BI (Direct Lake)</a:t>
            </a:r>
            <a:endParaRPr lang="fr-FR" sz="1000" dirty="0"/>
          </a:p>
        </p:txBody>
      </p:sp>
      <p:pic>
        <p:nvPicPr>
          <p:cNvPr id="9004"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20A4B0"/>
                </a:solidFill>
                <a:latin typeface="Arial"/>
                <a:cs typeface="Arial"/>
              </a:rPr>
              <a:t>PARTIE 2 · LES SOURCES</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Les 14 sources en un coup d'œil</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Toutes ouvertes ; téléchargées les 19 et 20/10/2026 ; tailles lues dans data/raw/manifest.csv.</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5</a:t>
            </a:r>
            <a:endParaRPr lang="fr-FR" sz="900" dirty="0"/>
          </a:p>
        </p:txBody>
      </p:sp>
      <p:graphicFrame>
        <p:nvGraphicFramePr>
          <p:cNvPr id="10" name="Tableau 10"/>
          <p:cNvGraphicFramePr>
            <a:graphicFrameLocks noGrp="1"/>
          </p:cNvGraphicFramePr>
          <p:nvPr/>
        </p:nvGraphicFramePr>
        <p:xfrm>
          <a:off x="457200" y="1417320"/>
          <a:ext cx="11274552" cy="4663440"/>
        </p:xfrm>
        <a:graphic>
          <a:graphicData uri="http://schemas.openxmlformats.org/drawingml/2006/table">
            <a:tbl>
              <a:tblPr firstRow="1" bandRow="1"/>
              <a:tblGrid>
                <a:gridCol w="2057400"/>
                <a:gridCol w="2331720"/>
                <a:gridCol w="960120"/>
                <a:gridCol w="1097280"/>
                <a:gridCol w="1371600"/>
                <a:gridCol w="777240"/>
                <a:gridCol w="2679192"/>
              </a:tblGrid>
              <a:tr h="310896">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FFFFFF"/>
                          </a:solidFill>
                          <a:latin typeface="Arial"/>
                          <a:cs typeface="Arial"/>
                        </a:rPr>
                        <a:t>Source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20A4B0"/>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FFFFFF"/>
                          </a:solidFill>
                          <a:latin typeface="Arial"/>
                          <a:cs typeface="Arial"/>
                        </a:rPr>
                        <a:t>Producteur</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20A4B0"/>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FFFFFF"/>
                          </a:solidFill>
                          <a:latin typeface="Arial"/>
                          <a:cs typeface="Arial"/>
                        </a:rPr>
                        <a:t>Format</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20A4B0"/>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FFFFFF"/>
                          </a:solidFill>
                          <a:latin typeface="Arial"/>
                          <a:cs typeface="Arial"/>
                        </a:rPr>
                        <a:t>Licence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20A4B0"/>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FFFFFF"/>
                          </a:solidFill>
                          <a:latin typeface="Arial"/>
                          <a:cs typeface="Arial"/>
                        </a:rPr>
                        <a:t>Édition</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20A4B0"/>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FFFFFF"/>
                          </a:solidFill>
                          <a:latin typeface="Arial"/>
                          <a:cs typeface="Arial"/>
                        </a:rPr>
                        <a:t>Taille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20A4B0"/>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FFFFFF"/>
                          </a:solidFill>
                          <a:latin typeface="Arial"/>
                          <a:cs typeface="Arial"/>
                        </a:rPr>
                        <a:t>Ce qu'on en tire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20A4B0"/>
                    </a:solidFill>
                  </a:tcPr>
                </a:tc>
              </a:tr>
              <a:tr h="310896">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GTFS (horaires)</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Réseaux, via transport.data.gouv.fr</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zip GTFS</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LO 2.0 / ODbL</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19/10/2026</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2,1 Go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arrêts, mode, passages par jour</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10896">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GBFS Citiz</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Citiz (15 réseaux)</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JSON</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LO 2.0</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19/10/2026</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2,4 Mo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1 617 stations Citiz</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10896">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GBFS autres opérateurs</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151 flux (vélos, trottinettes…)</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JSON</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LO 2.0 / ODbL</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19/10/2026</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77 Mo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vélos, trottinettes, autopartage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10896">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Arrêts nationaux</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transport.data.gouv.fr</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CSV</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LO 2.0</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19/10/2026</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437 Mo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contrôle seulement</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10896">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Filosofi carreaux 200 m</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INSEE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GPKG (zip)</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LO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2021</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309 Mo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habitants, ménages, revenus</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10896">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Logement par IRIS</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INSEE (recensement)</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XLSX (zip)</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LO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2023</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34 Mo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ménages sans voiture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10896">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BPE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INSEE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Parquet</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LO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2025</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172 Mo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équipements (modèle)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10896">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Omphale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INSEE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XLSX (zip)</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LO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2021-2070</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0,9 Mo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horizon de population (Fabric)</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10896">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ADMIN EXPRESS COG</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IGN</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GPKG (7z)</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LO 2.0</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01/01/2026</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607 Mo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communes, EPCI, population légale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10896">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CONTOURS IRIS</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IGN</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GPKG (7z)</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LO 2.0</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01/01/2026</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88 Mo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quartiers IRIS</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10896">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OpenStreetMap</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Contributeurs OSM, via Geofabrik</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PBF</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ODbL</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19 et 20/10/2026</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905 Mo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rues et chemins (marche réelle)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10896">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Délinquance communale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SSMSI (ministère de l'Intérieur)</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Parquet</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LO 2.0</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base 2025, géo. 2026</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16 Mo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non utilisée (choix éthique)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10896">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Stations autopartage Naolib</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Nantes Métropole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GeoJSON</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LO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20/10/2026</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57 Ko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61 stations Marguerite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10896">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geo.api.gouv.fr</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Etalab</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GeoJSON</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LO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à la demande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&lt; 1 Mo</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contours de secours, Citiz par EPCI</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bl>
          </a:graphicData>
        </a:graphic>
      </p:graphicFrame>
      <p:sp>
        <p:nvSpPr>
          <p:cNvPr id="11" name="Forme 11"/>
          <p:cNvSpPr/>
          <p:nvPr/>
        </p:nvSpPr>
        <p:spPr>
          <a:xfrm>
            <a:off x="457200" y="6144768"/>
            <a:ext cx="1124712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50" b="0" i="1" dirty="0">
                <a:solidFill>
                  <a:srgbClr val="616060"/>
                </a:solidFill>
                <a:latin typeface="Arial"/>
                <a:cs typeface="Arial"/>
              </a:rPr>
              <a:t>LO = Licence Ouverte (Etalab) ; ODbL = Open Database License. Licences des GTFS : 313 jeux en LO 2.0, 163 en ODbL (catalogue transport.data.gouv.fr).</a:t>
            </a:r>
            <a:endParaRPr lang="fr-FR" sz="950" dirty="0"/>
          </a:p>
        </p:txBody>
      </p:sp>
      <p:pic>
        <p:nvPicPr>
          <p:cNvPr id="9005"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20A4B0"/>
                </a:solidFill>
                <a:latin typeface="Arial"/>
                <a:cs typeface="Arial"/>
              </a:rPr>
              <a:t>PARTIE 2 · LES SOURCES</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Fiche par source (1/4)</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Producteur, lien exact utilisé dans le code, format, licence, édition, taille, colonnes utilisées et pourquoi.</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6</a:t>
            </a:r>
            <a:endParaRPr lang="fr-FR" sz="900" dirty="0"/>
          </a:p>
        </p:txBody>
      </p:sp>
      <p:sp>
        <p:nvSpPr>
          <p:cNvPr id="10" name="Forme 10"/>
          <p:cNvSpPr/>
          <p:nvPr/>
        </p:nvSpPr>
        <p:spPr>
          <a:xfrm>
            <a:off x="457200" y="1371600"/>
            <a:ext cx="5559552" cy="242316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1" name="Forme 11"/>
          <p:cNvSpPr/>
          <p:nvPr/>
        </p:nvSpPr>
        <p:spPr>
          <a:xfrm>
            <a:off x="457200" y="1371600"/>
            <a:ext cx="64008" cy="2423160"/>
          </a:xfrm>
          <a:prstGeom prst="rect">
            <a:avLst/>
          </a:prstGeom>
          <a:solidFill>
            <a:srgbClr val="20A4B0"/>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2" name="Forme 12"/>
          <p:cNvSpPr/>
          <p:nvPr/>
        </p:nvSpPr>
        <p:spPr>
          <a:xfrm>
            <a:off x="640080" y="1463040"/>
            <a:ext cx="5266944" cy="22860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20A4B0"/>
                </a:solidFill>
                <a:latin typeface="Arial"/>
                <a:cs typeface="Arial"/>
              </a:rPr>
              <a:t>1 · GTFS : horaires des transports en commun</a:t>
            </a:r>
            <a:endParaRPr lang="fr-FR" sz="1300" dirty="0"/>
          </a:p>
          <a:p>
            <a:pPr algn="l">
              <a:lnSpc>
                <a:spcPct val="100000"/>
              </a:lnSpc>
              <a:spcBef>
                <a:spcPts val="100"/>
              </a:spcBef>
              <a:spcAft>
                <a:spcPts val="0"/>
              </a:spcAft>
              <a:buNone/>
            </a:pPr>
            <a:r>
              <a:rPr lang="fr-FR" sz="1100" b="1" i="0" dirty="0">
                <a:solidFill>
                  <a:srgbClr val="202020"/>
                </a:solidFill>
                <a:latin typeface="Arial"/>
                <a:cs typeface="Arial"/>
              </a:rPr>
              <a:t>Producteur</a:t>
            </a:r>
            <a:r>
              <a:rPr lang="fr-FR" sz="1100" b="0" i="0" dirty="0">
                <a:solidFill>
                  <a:srgbClr val="202020"/>
                </a:solidFill>
                <a:latin typeface="Arial"/>
                <a:cs typeface="Arial"/>
              </a:rPr>
              <a:t> : Chaque réseau (Naolib, TAG, SNCF, Aléop…), publié sur transport.data.gouv.fr</a:t>
            </a:r>
            <a:endParaRPr lang="fr-FR" sz="1100" dirty="0"/>
          </a:p>
          <a:p>
            <a:pPr algn="l">
              <a:lnSpc>
                <a:spcPct val="100000"/>
              </a:lnSpc>
              <a:spcBef>
                <a:spcPts val="400"/>
              </a:spcBef>
              <a:spcAft>
                <a:spcPts val="0"/>
              </a:spcAft>
              <a:buNone/>
            </a:pPr>
            <a:r>
              <a:rPr lang="fr-FR" sz="850" b="0" i="0" dirty="0">
                <a:solidFill>
                  <a:srgbClr val="20A4B0"/>
                </a:solidFill>
                <a:latin typeface="Consolas"/>
                <a:cs typeface="Consolas"/>
              </a:rPr>
              <a:t>https://transport.data.gouv.fr/api/datasets  (puis chaque ressource « GTFS »)</a:t>
            </a:r>
            <a:endParaRPr lang="fr-FR" sz="850" dirty="0"/>
          </a:p>
          <a:p>
            <a:pPr algn="l">
              <a:lnSpc>
                <a:spcPct val="100000"/>
              </a:lnSpc>
              <a:spcBef>
                <a:spcPts val="400"/>
              </a:spcBef>
              <a:spcAft>
                <a:spcPts val="0"/>
              </a:spcAft>
              <a:buNone/>
            </a:pPr>
            <a:r>
              <a:rPr lang="fr-FR" sz="1100" b="1" i="0" dirty="0">
                <a:solidFill>
                  <a:srgbClr val="202020"/>
                </a:solidFill>
                <a:latin typeface="Arial"/>
                <a:cs typeface="Arial"/>
              </a:rPr>
              <a:t>zip GTFS · LO 2.0 ou ODbL · téléchargé le 19/10/2026 · 2,1 Go (548 flux)</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On utilise</a:t>
            </a:r>
            <a:r>
              <a:rPr lang="fr-FR" sz="1100" b="0" i="0" dirty="0">
                <a:solidFill>
                  <a:srgbClr val="202020"/>
                </a:solidFill>
                <a:latin typeface="Arial"/>
                <a:cs typeface="Arial"/>
              </a:rPr>
              <a:t> : stops (stop_id, stop_name, stop_lat, stop_lon), routes (route_type), trips, calendar, calendar_dates, stop_times (trip_id, stop_id), frequencies</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Pourquoi</a:t>
            </a:r>
            <a:r>
              <a:rPr lang="fr-FR" sz="1100" b="0" i="0" dirty="0">
                <a:solidFill>
                  <a:srgbClr val="202020"/>
                </a:solidFill>
                <a:latin typeface="Arial"/>
                <a:cs typeface="Arial"/>
              </a:rPr>
              <a:t> : où sont les arrêts, quel mode, combien de passages un mardi type</a:t>
            </a:r>
            <a:endParaRPr lang="fr-FR" sz="1100" dirty="0"/>
          </a:p>
          <a:p>
            <a:pPr algn="l">
              <a:lnSpc>
                <a:spcPct val="100000"/>
              </a:lnSpc>
              <a:spcBef>
                <a:spcPts val="500"/>
              </a:spcBef>
              <a:spcAft>
                <a:spcPts val="0"/>
              </a:spcAft>
              <a:buNone/>
            </a:pPr>
            <a:r>
              <a:rPr lang="fr-FR" sz="950" b="0" i="0" dirty="0">
                <a:solidFill>
                  <a:srgbClr val="616060"/>
                </a:solidFill>
                <a:latin typeface="Consolas"/>
                <a:cs typeface="Consolas"/>
              </a:rPr>
              <a:t>download_all.py › run_gtfs · offer.py › gtfs_stop_frequencies</a:t>
            </a:r>
            <a:endParaRPr lang="fr-FR" sz="950" dirty="0"/>
          </a:p>
        </p:txBody>
      </p:sp>
      <p:sp>
        <p:nvSpPr>
          <p:cNvPr id="13" name="Forme 13"/>
          <p:cNvSpPr/>
          <p:nvPr/>
        </p:nvSpPr>
        <p:spPr>
          <a:xfrm>
            <a:off x="6172200" y="1371600"/>
            <a:ext cx="5559552" cy="242316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4" name="Forme 14"/>
          <p:cNvSpPr/>
          <p:nvPr/>
        </p:nvSpPr>
        <p:spPr>
          <a:xfrm>
            <a:off x="6172200" y="1371600"/>
            <a:ext cx="64008" cy="2423160"/>
          </a:xfrm>
          <a:prstGeom prst="rect">
            <a:avLst/>
          </a:prstGeom>
          <a:solidFill>
            <a:srgbClr val="32B4B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5" name="Forme 15"/>
          <p:cNvSpPr/>
          <p:nvPr/>
        </p:nvSpPr>
        <p:spPr>
          <a:xfrm>
            <a:off x="6355080" y="1463040"/>
            <a:ext cx="5266944" cy="22860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32B4B5"/>
                </a:solidFill>
                <a:latin typeface="Arial"/>
                <a:cs typeface="Arial"/>
              </a:rPr>
              <a:t>2 · GBFS Citiz : stations d'autopartage Citiz</a:t>
            </a:r>
            <a:endParaRPr lang="fr-FR" sz="1300" dirty="0"/>
          </a:p>
          <a:p>
            <a:pPr algn="l">
              <a:lnSpc>
                <a:spcPct val="100000"/>
              </a:lnSpc>
              <a:spcBef>
                <a:spcPts val="100"/>
              </a:spcBef>
              <a:spcAft>
                <a:spcPts val="0"/>
              </a:spcAft>
              <a:buNone/>
            </a:pPr>
            <a:r>
              <a:rPr lang="fr-FR" sz="1100" b="1" i="0" dirty="0">
                <a:solidFill>
                  <a:srgbClr val="202020"/>
                </a:solidFill>
                <a:latin typeface="Arial"/>
                <a:cs typeface="Arial"/>
              </a:rPr>
              <a:t>Producteur</a:t>
            </a:r>
            <a:r>
              <a:rPr lang="fr-FR" sz="1100" b="0" i="0" dirty="0">
                <a:solidFill>
                  <a:srgbClr val="202020"/>
                </a:solidFill>
                <a:latin typeface="Arial"/>
                <a:cs typeface="Arial"/>
              </a:rPr>
              <a:t> : Citiz (15 réseaux régionaux), via transport.data.gouv.fr</a:t>
            </a:r>
            <a:endParaRPr lang="fr-FR" sz="1100" dirty="0"/>
          </a:p>
          <a:p>
            <a:pPr algn="l">
              <a:lnSpc>
                <a:spcPct val="100000"/>
              </a:lnSpc>
              <a:spcBef>
                <a:spcPts val="400"/>
              </a:spcBef>
              <a:spcAft>
                <a:spcPts val="0"/>
              </a:spcAft>
              <a:buNone/>
            </a:pPr>
            <a:r>
              <a:rPr lang="fr-FR" sz="850" b="0" i="0" dirty="0">
                <a:solidFill>
                  <a:srgbClr val="20A4B0"/>
                </a:solidFill>
                <a:latin typeface="Consolas"/>
                <a:cs typeface="Consolas"/>
              </a:rPr>
              <a:t>même API : jeux « vehicles-sharing » contenant « citiz » → gbfs.json</a:t>
            </a:r>
            <a:endParaRPr lang="fr-FR" sz="850" dirty="0"/>
          </a:p>
          <a:p>
            <a:pPr algn="l">
              <a:lnSpc>
                <a:spcPct val="100000"/>
              </a:lnSpc>
              <a:spcBef>
                <a:spcPts val="400"/>
              </a:spcBef>
              <a:spcAft>
                <a:spcPts val="0"/>
              </a:spcAft>
              <a:buNone/>
            </a:pPr>
            <a:r>
              <a:rPr lang="fr-FR" sz="1100" b="1" i="0" dirty="0">
                <a:solidFill>
                  <a:srgbClr val="202020"/>
                </a:solidFill>
                <a:latin typeface="Arial"/>
                <a:cs typeface="Arial"/>
              </a:rPr>
              <a:t>JSON GBFS · LO 2.0 · instantané du 19/10/2026 · 2,4 Mo (150 fichiers)</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On utilise</a:t>
            </a:r>
            <a:r>
              <a:rPr lang="fr-FR" sz="1100" b="0" i="0" dirty="0">
                <a:solidFill>
                  <a:srgbClr val="202020"/>
                </a:solidFill>
                <a:latin typeface="Arial"/>
                <a:cs typeface="Arial"/>
              </a:rPr>
              <a:t> : station_information (station_id, name, lat, lon, capacity) ; station_status pour l'historique</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Pourquoi</a:t>
            </a:r>
            <a:r>
              <a:rPr lang="fr-FR" sz="1100" b="0" i="0" dirty="0">
                <a:solidFill>
                  <a:srgbClr val="202020"/>
                </a:solidFill>
                <a:latin typeface="Arial"/>
                <a:cs typeface="Arial"/>
              </a:rPr>
              <a:t> : 1 617 stations : la cible du modèle et l'autopartage déjà présent</a:t>
            </a:r>
            <a:endParaRPr lang="fr-FR" sz="1100" dirty="0"/>
          </a:p>
          <a:p>
            <a:pPr algn="l">
              <a:lnSpc>
                <a:spcPct val="100000"/>
              </a:lnSpc>
              <a:spcBef>
                <a:spcPts val="500"/>
              </a:spcBef>
              <a:spcAft>
                <a:spcPts val="0"/>
              </a:spcAft>
              <a:buNone/>
            </a:pPr>
            <a:r>
              <a:rPr lang="fr-FR" sz="950" b="0" i="0" dirty="0">
                <a:solidFill>
                  <a:srgbClr val="616060"/>
                </a:solidFill>
                <a:latin typeface="Consolas"/>
                <a:cs typeface="Consolas"/>
              </a:rPr>
              <a:t>download_all.py › run_gbfs(citiz_only=True) · offer.py › gbfs_offer</a:t>
            </a:r>
            <a:endParaRPr lang="fr-FR" sz="950" dirty="0"/>
          </a:p>
        </p:txBody>
      </p:sp>
      <p:sp>
        <p:nvSpPr>
          <p:cNvPr id="16" name="Forme 16"/>
          <p:cNvSpPr/>
          <p:nvPr/>
        </p:nvSpPr>
        <p:spPr>
          <a:xfrm>
            <a:off x="457200" y="3913632"/>
            <a:ext cx="5559552" cy="242316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7" name="Forme 17"/>
          <p:cNvSpPr/>
          <p:nvPr/>
        </p:nvSpPr>
        <p:spPr>
          <a:xfrm>
            <a:off x="457200" y="3913632"/>
            <a:ext cx="64008" cy="2423160"/>
          </a:xfrm>
          <a:prstGeom prst="rect">
            <a:avLst/>
          </a:prstGeom>
          <a:solidFill>
            <a:srgbClr val="20A4B0"/>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8" name="Forme 18"/>
          <p:cNvSpPr/>
          <p:nvPr/>
        </p:nvSpPr>
        <p:spPr>
          <a:xfrm>
            <a:off x="640080" y="4005072"/>
            <a:ext cx="5266944" cy="22860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20A4B0"/>
                </a:solidFill>
                <a:latin typeface="Arial"/>
                <a:cs typeface="Arial"/>
              </a:rPr>
              <a:t>3 · GBFS autres opérateurs : vélos, trottinettes, voitures</a:t>
            </a:r>
            <a:endParaRPr lang="fr-FR" sz="1300" dirty="0"/>
          </a:p>
          <a:p>
            <a:pPr algn="l">
              <a:lnSpc>
                <a:spcPct val="100000"/>
              </a:lnSpc>
              <a:spcBef>
                <a:spcPts val="100"/>
              </a:spcBef>
              <a:spcAft>
                <a:spcPts val="0"/>
              </a:spcAft>
              <a:buNone/>
            </a:pPr>
            <a:r>
              <a:rPr lang="fr-FR" sz="1100" b="1" i="0" dirty="0">
                <a:solidFill>
                  <a:srgbClr val="202020"/>
                </a:solidFill>
                <a:latin typeface="Arial"/>
                <a:cs typeface="Arial"/>
              </a:rPr>
              <a:t>Producteur</a:t>
            </a:r>
            <a:r>
              <a:rPr lang="fr-FR" sz="1100" b="0" i="0" dirty="0">
                <a:solidFill>
                  <a:srgbClr val="202020"/>
                </a:solidFill>
                <a:latin typeface="Arial"/>
                <a:cs typeface="Arial"/>
              </a:rPr>
              <a:t> : 151 flux d'opérateurs (Voi, Dott, vélos Naolib, Clem…), via transport.data.gouv.fr</a:t>
            </a:r>
            <a:endParaRPr lang="fr-FR" sz="1100" dirty="0"/>
          </a:p>
          <a:p>
            <a:pPr algn="l">
              <a:lnSpc>
                <a:spcPct val="100000"/>
              </a:lnSpc>
              <a:spcBef>
                <a:spcPts val="400"/>
              </a:spcBef>
              <a:spcAft>
                <a:spcPts val="0"/>
              </a:spcAft>
              <a:buNone/>
            </a:pPr>
            <a:r>
              <a:rPr lang="fr-FR" sz="850" b="0" i="0" dirty="0">
                <a:solidFill>
                  <a:srgbClr val="20A4B0"/>
                </a:solidFill>
                <a:latin typeface="Consolas"/>
                <a:cs typeface="Consolas"/>
              </a:rPr>
              <a:t>même API : tous les jeux « vehicles-sharing » hors Citiz</a:t>
            </a:r>
            <a:endParaRPr lang="fr-FR" sz="850" dirty="0"/>
          </a:p>
          <a:p>
            <a:pPr algn="l">
              <a:lnSpc>
                <a:spcPct val="100000"/>
              </a:lnSpc>
              <a:spcBef>
                <a:spcPts val="400"/>
              </a:spcBef>
              <a:spcAft>
                <a:spcPts val="0"/>
              </a:spcAft>
              <a:buNone/>
            </a:pPr>
            <a:r>
              <a:rPr lang="fr-FR" sz="1100" b="1" i="0" dirty="0">
                <a:solidFill>
                  <a:srgbClr val="202020"/>
                </a:solidFill>
                <a:latin typeface="Arial"/>
                <a:cs typeface="Arial"/>
              </a:rPr>
              <a:t>JSON GBFS · LO 2.0, ODbL ou non précisée · 19/10/2026 · 77 Mo (1 303 fichiers, 15 en erreur)</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On utilise</a:t>
            </a:r>
            <a:r>
              <a:rPr lang="fr-FR" sz="1100" b="0" i="0" dirty="0">
                <a:solidFill>
                  <a:srgbClr val="202020"/>
                </a:solidFill>
                <a:latin typeface="Arial"/>
                <a:cs typeface="Arial"/>
              </a:rPr>
              <a:t> : vehicle_types (form_factor), station_information (lat, lon, capacity, is_virtual_station)</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Pourquoi</a:t>
            </a:r>
            <a:r>
              <a:rPr lang="fr-FR" sz="1100" b="0" i="0" dirty="0">
                <a:solidFill>
                  <a:srgbClr val="202020"/>
                </a:solidFill>
                <a:latin typeface="Arial"/>
                <a:cs typeface="Arial"/>
              </a:rPr>
              <a:t> : ajouter vélos, trottinettes et autres voitures partagées aux options</a:t>
            </a:r>
            <a:endParaRPr lang="fr-FR" sz="1100" dirty="0"/>
          </a:p>
          <a:p>
            <a:pPr algn="l">
              <a:lnSpc>
                <a:spcPct val="100000"/>
              </a:lnSpc>
              <a:spcBef>
                <a:spcPts val="500"/>
              </a:spcBef>
              <a:spcAft>
                <a:spcPts val="0"/>
              </a:spcAft>
              <a:buNone/>
            </a:pPr>
            <a:r>
              <a:rPr lang="fr-FR" sz="950" b="0" i="0" dirty="0">
                <a:solidFill>
                  <a:srgbClr val="616060"/>
                </a:solidFill>
                <a:latin typeface="Consolas"/>
                <a:cs typeface="Consolas"/>
              </a:rPr>
              <a:t>download_all.py › run_gbfs · offer.py › gbfs_offer, FORM_FACTOR</a:t>
            </a:r>
            <a:endParaRPr lang="fr-FR" sz="950" dirty="0"/>
          </a:p>
        </p:txBody>
      </p:sp>
      <p:sp>
        <p:nvSpPr>
          <p:cNvPr id="19" name="Forme 19"/>
          <p:cNvSpPr/>
          <p:nvPr/>
        </p:nvSpPr>
        <p:spPr>
          <a:xfrm>
            <a:off x="6172200" y="3913632"/>
            <a:ext cx="5559552" cy="2423160"/>
          </a:xfrm>
          <a:prstGeom prst="roundRect">
            <a:avLst>
              <a:gd name="adj" fmla="val 4000"/>
            </a:avLst>
          </a:prstGeom>
          <a:solidFill>
            <a:srgbClr val="F5F5F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0" name="Forme 20"/>
          <p:cNvSpPr/>
          <p:nvPr/>
        </p:nvSpPr>
        <p:spPr>
          <a:xfrm>
            <a:off x="6172200" y="3913632"/>
            <a:ext cx="64008" cy="2423160"/>
          </a:xfrm>
          <a:prstGeom prst="rect">
            <a:avLst/>
          </a:prstGeom>
          <a:solidFill>
            <a:srgbClr val="616060"/>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1" name="Forme 21"/>
          <p:cNvSpPr/>
          <p:nvPr/>
        </p:nvSpPr>
        <p:spPr>
          <a:xfrm>
            <a:off x="6355080" y="4005072"/>
            <a:ext cx="5266944" cy="22860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616060"/>
                </a:solidFill>
                <a:latin typeface="Arial"/>
                <a:cs typeface="Arial"/>
              </a:rPr>
              <a:t>4 · Fichier national des arrêts</a:t>
            </a:r>
            <a:endParaRPr lang="fr-FR" sz="1300" dirty="0"/>
          </a:p>
          <a:p>
            <a:pPr algn="l">
              <a:lnSpc>
                <a:spcPct val="100000"/>
              </a:lnSpc>
              <a:spcBef>
                <a:spcPts val="100"/>
              </a:spcBef>
              <a:spcAft>
                <a:spcPts val="0"/>
              </a:spcAft>
              <a:buNone/>
            </a:pPr>
            <a:r>
              <a:rPr lang="fr-FR" sz="1100" b="1" i="0" dirty="0">
                <a:solidFill>
                  <a:srgbClr val="202020"/>
                </a:solidFill>
                <a:latin typeface="Arial"/>
                <a:cs typeface="Arial"/>
              </a:rPr>
              <a:t>Producteur</a:t>
            </a:r>
            <a:r>
              <a:rPr lang="fr-FR" sz="1100" b="0" i="0" dirty="0">
                <a:solidFill>
                  <a:srgbClr val="202020"/>
                </a:solidFill>
                <a:latin typeface="Arial"/>
                <a:cs typeface="Arial"/>
              </a:rPr>
              <a:t> : Point d'Accès National transport.data.gouv.fr (agrégat des GTFS, non dédoublonné)</a:t>
            </a:r>
            <a:endParaRPr lang="fr-FR" sz="1100" dirty="0"/>
          </a:p>
          <a:p>
            <a:pPr algn="l">
              <a:lnSpc>
                <a:spcPct val="100000"/>
              </a:lnSpc>
              <a:spcBef>
                <a:spcPts val="400"/>
              </a:spcBef>
              <a:spcAft>
                <a:spcPts val="0"/>
              </a:spcAft>
              <a:buNone/>
            </a:pPr>
            <a:r>
              <a:rPr lang="fr-FR" sz="850" b="0" i="0" dirty="0">
                <a:solidFill>
                  <a:srgbClr val="20A4B0"/>
                </a:solidFill>
                <a:latin typeface="Consolas"/>
                <a:cs typeface="Consolas"/>
              </a:rPr>
              <a:t>https://www.data.gouv.fr/api/1/datasets/r/69cf54c6-6591-4920-b1d6-2a5292964606</a:t>
            </a:r>
            <a:endParaRPr lang="fr-FR" sz="850" dirty="0"/>
          </a:p>
          <a:p>
            <a:pPr algn="l">
              <a:lnSpc>
                <a:spcPct val="100000"/>
              </a:lnSpc>
              <a:spcBef>
                <a:spcPts val="400"/>
              </a:spcBef>
              <a:spcAft>
                <a:spcPts val="0"/>
              </a:spcAft>
              <a:buNone/>
            </a:pPr>
            <a:r>
              <a:rPr lang="fr-FR" sz="1100" b="1" i="0" dirty="0">
                <a:solidFill>
                  <a:srgbClr val="202020"/>
                </a:solidFill>
                <a:latin typeface="Arial"/>
                <a:cs typeface="Arial"/>
              </a:rPr>
              <a:t>CSV · LO 2.0 · 19/10/2026 · 437 Mo</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On utilise</a:t>
            </a:r>
            <a:r>
              <a:rPr lang="fr-FR" sz="1100" b="0" i="0" dirty="0">
                <a:solidFill>
                  <a:srgbClr val="202020"/>
                </a:solidFill>
                <a:latin typeface="Arial"/>
                <a:cs typeface="Arial"/>
              </a:rPr>
              <a:t> : rien dans les calculs : comparaisons seulement (Guyane : 557 arrêts dans l'agrégat, 267 chez nous)</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Pourquoi</a:t>
            </a:r>
            <a:r>
              <a:rPr lang="fr-FR" sz="1100" b="0" i="0" dirty="0">
                <a:solidFill>
                  <a:srgbClr val="202020"/>
                </a:solidFill>
                <a:latin typeface="Arial"/>
                <a:cs typeface="Arial"/>
              </a:rPr>
              <a:t> : ni fréquence ni mode fiable, et des doublons : on recalcule tout depuis les GTFS</a:t>
            </a:r>
            <a:endParaRPr lang="fr-FR" sz="1100" dirty="0"/>
          </a:p>
          <a:p>
            <a:pPr algn="l">
              <a:lnSpc>
                <a:spcPct val="100000"/>
              </a:lnSpc>
              <a:spcBef>
                <a:spcPts val="500"/>
              </a:spcBef>
              <a:spcAft>
                <a:spcPts val="0"/>
              </a:spcAft>
              <a:buNone/>
            </a:pPr>
            <a:r>
              <a:rPr lang="fr-FR" sz="950" b="0" i="0" dirty="0">
                <a:solidFill>
                  <a:srgbClr val="616060"/>
                </a:solidFill>
                <a:latin typeface="Consolas"/>
                <a:cs typeface="Consolas"/>
              </a:rPr>
              <a:t>download_all.py › STATIC["stops_national"] · check_data.py</a:t>
            </a:r>
            <a:endParaRPr lang="fr-FR" sz="950" dirty="0"/>
          </a:p>
        </p:txBody>
      </p:sp>
      <p:pic>
        <p:nvPicPr>
          <p:cNvPr id="9006"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20A4B0"/>
                </a:solidFill>
                <a:latin typeface="Arial"/>
                <a:cs typeface="Arial"/>
              </a:rPr>
              <a:t>PARTIE 2 · LES SOURCES</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Fiche par source (2/4)</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Producteur, lien exact utilisé dans le code, format, licence, édition, taille, colonnes utilisées et pourquoi.</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7</a:t>
            </a:r>
            <a:endParaRPr lang="fr-FR" sz="900" dirty="0"/>
          </a:p>
        </p:txBody>
      </p:sp>
      <p:sp>
        <p:nvSpPr>
          <p:cNvPr id="10" name="Forme 10"/>
          <p:cNvSpPr/>
          <p:nvPr/>
        </p:nvSpPr>
        <p:spPr>
          <a:xfrm>
            <a:off x="457200" y="1371600"/>
            <a:ext cx="5559552" cy="242316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1" name="Forme 11"/>
          <p:cNvSpPr/>
          <p:nvPr/>
        </p:nvSpPr>
        <p:spPr>
          <a:xfrm>
            <a:off x="457200" y="1371600"/>
            <a:ext cx="64008" cy="2423160"/>
          </a:xfrm>
          <a:prstGeom prst="rect">
            <a:avLst/>
          </a:prstGeom>
          <a:solidFill>
            <a:srgbClr val="20A4B0"/>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2" name="Forme 12"/>
          <p:cNvSpPr/>
          <p:nvPr/>
        </p:nvSpPr>
        <p:spPr>
          <a:xfrm>
            <a:off x="640080" y="1463040"/>
            <a:ext cx="5266944" cy="22860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20A4B0"/>
                </a:solidFill>
                <a:latin typeface="Arial"/>
                <a:cs typeface="Arial"/>
              </a:rPr>
              <a:t>5 · INSEE Filosofi 2021 : population au carreau de 200 m</a:t>
            </a:r>
            <a:endParaRPr lang="fr-FR" sz="1300" dirty="0"/>
          </a:p>
          <a:p>
            <a:pPr algn="l">
              <a:lnSpc>
                <a:spcPct val="100000"/>
              </a:lnSpc>
              <a:spcBef>
                <a:spcPts val="100"/>
              </a:spcBef>
              <a:spcAft>
                <a:spcPts val="0"/>
              </a:spcAft>
              <a:buNone/>
            </a:pPr>
            <a:r>
              <a:rPr lang="fr-FR" sz="1100" b="1" i="0" dirty="0">
                <a:solidFill>
                  <a:srgbClr val="202020"/>
                </a:solidFill>
                <a:latin typeface="Arial"/>
                <a:cs typeface="Arial"/>
              </a:rPr>
              <a:t>Producteur</a:t>
            </a:r>
            <a:r>
              <a:rPr lang="fr-FR" sz="1100" b="0" i="0" dirty="0">
                <a:solidFill>
                  <a:srgbClr val="202020"/>
                </a:solidFill>
                <a:latin typeface="Arial"/>
                <a:cs typeface="Arial"/>
              </a:rPr>
              <a:t> : INSEE (données fiscales)</a:t>
            </a:r>
            <a:endParaRPr lang="fr-FR" sz="1100" dirty="0"/>
          </a:p>
          <a:p>
            <a:pPr algn="l">
              <a:lnSpc>
                <a:spcPct val="100000"/>
              </a:lnSpc>
              <a:spcBef>
                <a:spcPts val="400"/>
              </a:spcBef>
              <a:spcAft>
                <a:spcPts val="0"/>
              </a:spcAft>
              <a:buNone/>
            </a:pPr>
            <a:r>
              <a:rPr lang="fr-FR" sz="850" b="0" i="0" dirty="0">
                <a:solidFill>
                  <a:srgbClr val="20A4B0"/>
                </a:solidFill>
                <a:latin typeface="Consolas"/>
                <a:cs typeface="Consolas"/>
              </a:rPr>
              <a:t>https://www.insee.fr/fr/statistiques/fichier/8735162/Filosofi2021_carreaux_200m_gpkg.zip</a:t>
            </a:r>
            <a:endParaRPr lang="fr-FR" sz="850" dirty="0"/>
          </a:p>
          <a:p>
            <a:pPr algn="l">
              <a:lnSpc>
                <a:spcPct val="100000"/>
              </a:lnSpc>
              <a:spcBef>
                <a:spcPts val="400"/>
              </a:spcBef>
              <a:spcAft>
                <a:spcPts val="0"/>
              </a:spcAft>
              <a:buNone/>
            </a:pPr>
            <a:r>
              <a:rPr lang="fr-FR" sz="1100" b="1" i="0" dirty="0">
                <a:solidFill>
                  <a:srgbClr val="202020"/>
                </a:solidFill>
                <a:latin typeface="Arial"/>
                <a:cs typeface="Arial"/>
              </a:rPr>
              <a:t>GeoPackage zippé · LO · millésime 2021 · 309 Mo</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On utilise</a:t>
            </a:r>
            <a:r>
              <a:rPr lang="fr-FR" sz="1100" b="0" i="0" dirty="0">
                <a:solidFill>
                  <a:srgbClr val="202020"/>
                </a:solidFill>
                <a:latin typeface="Arial"/>
                <a:cs typeface="Arial"/>
              </a:rPr>
              <a:t> : idcar_200m, ind (habitants), men (ménages), men_pauv, ind_snv (niveaux de vie), men_prop, log_soc, i_est_200, lcog_geo</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Pourquoi</a:t>
            </a:r>
            <a:r>
              <a:rPr lang="fr-FR" sz="1100" b="0" i="0" dirty="0">
                <a:solidFill>
                  <a:srgbClr val="202020"/>
                </a:solidFill>
                <a:latin typeface="Arial"/>
                <a:cs typeface="Arial"/>
              </a:rPr>
              <a:t> : combien d'habitants vivent dans chaque carreau, et leurs revenus (équité)</a:t>
            </a:r>
            <a:endParaRPr lang="fr-FR" sz="1100" dirty="0"/>
          </a:p>
          <a:p>
            <a:pPr algn="l">
              <a:lnSpc>
                <a:spcPct val="100000"/>
              </a:lnSpc>
              <a:spcBef>
                <a:spcPts val="500"/>
              </a:spcBef>
              <a:spcAft>
                <a:spcPts val="0"/>
              </a:spcAft>
              <a:buNone/>
            </a:pPr>
            <a:r>
              <a:rPr lang="fr-FR" sz="950" b="0" i="0" dirty="0">
                <a:solidFill>
                  <a:srgbClr val="616060"/>
                </a:solidFill>
                <a:latin typeface="Consolas"/>
                <a:cs typeface="Consolas"/>
              </a:rPr>
              <a:t>archives.py › filosofi_gpkg · population.py › load_filosofi · national/cells.py</a:t>
            </a:r>
            <a:endParaRPr lang="fr-FR" sz="950" dirty="0"/>
          </a:p>
        </p:txBody>
      </p:sp>
      <p:sp>
        <p:nvSpPr>
          <p:cNvPr id="13" name="Forme 13"/>
          <p:cNvSpPr/>
          <p:nvPr/>
        </p:nvSpPr>
        <p:spPr>
          <a:xfrm>
            <a:off x="6172200" y="1371600"/>
            <a:ext cx="5559552" cy="242316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4" name="Forme 14"/>
          <p:cNvSpPr/>
          <p:nvPr/>
        </p:nvSpPr>
        <p:spPr>
          <a:xfrm>
            <a:off x="6172200" y="1371600"/>
            <a:ext cx="64008" cy="2423160"/>
          </a:xfrm>
          <a:prstGeom prst="rect">
            <a:avLst/>
          </a:prstGeom>
          <a:solidFill>
            <a:srgbClr val="32B4B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5" name="Forme 15"/>
          <p:cNvSpPr/>
          <p:nvPr/>
        </p:nvSpPr>
        <p:spPr>
          <a:xfrm>
            <a:off x="6355080" y="1463040"/>
            <a:ext cx="5266944" cy="22860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32B4B5"/>
                </a:solidFill>
                <a:latin typeface="Arial"/>
                <a:cs typeface="Arial"/>
              </a:rPr>
              <a:t>6 · INSEE Logement par IRIS 2023 : motorisation</a:t>
            </a:r>
            <a:endParaRPr lang="fr-FR" sz="1300" dirty="0"/>
          </a:p>
          <a:p>
            <a:pPr algn="l">
              <a:lnSpc>
                <a:spcPct val="100000"/>
              </a:lnSpc>
              <a:spcBef>
                <a:spcPts val="100"/>
              </a:spcBef>
              <a:spcAft>
                <a:spcPts val="0"/>
              </a:spcAft>
              <a:buNone/>
            </a:pPr>
            <a:r>
              <a:rPr lang="fr-FR" sz="1100" b="1" i="0" dirty="0">
                <a:solidFill>
                  <a:srgbClr val="202020"/>
                </a:solidFill>
                <a:latin typeface="Arial"/>
                <a:cs typeface="Arial"/>
              </a:rPr>
              <a:t>Producteur</a:t>
            </a:r>
            <a:r>
              <a:rPr lang="fr-FR" sz="1100" b="0" i="0" dirty="0">
                <a:solidFill>
                  <a:srgbClr val="202020"/>
                </a:solidFill>
                <a:latin typeface="Arial"/>
                <a:cs typeface="Arial"/>
              </a:rPr>
              <a:t> : INSEE, recensement de la population 2023</a:t>
            </a:r>
            <a:endParaRPr lang="fr-FR" sz="1100" dirty="0"/>
          </a:p>
          <a:p>
            <a:pPr algn="l">
              <a:lnSpc>
                <a:spcPct val="100000"/>
              </a:lnSpc>
              <a:spcBef>
                <a:spcPts val="400"/>
              </a:spcBef>
              <a:spcAft>
                <a:spcPts val="0"/>
              </a:spcAft>
              <a:buNone/>
            </a:pPr>
            <a:r>
              <a:rPr lang="fr-FR" sz="850" b="0" i="0" dirty="0">
                <a:solidFill>
                  <a:srgbClr val="20A4B0"/>
                </a:solidFill>
                <a:latin typeface="Consolas"/>
                <a:cs typeface="Consolas"/>
              </a:rPr>
              <a:t>https://www.insee.fr/fr/statistiques/fichier/9061333/base_ic_logement_2023_xlsx.zip</a:t>
            </a:r>
            <a:endParaRPr lang="fr-FR" sz="850" dirty="0"/>
          </a:p>
          <a:p>
            <a:pPr algn="l">
              <a:lnSpc>
                <a:spcPct val="100000"/>
              </a:lnSpc>
              <a:spcBef>
                <a:spcPts val="400"/>
              </a:spcBef>
              <a:spcAft>
                <a:spcPts val="0"/>
              </a:spcAft>
              <a:buNone/>
            </a:pPr>
            <a:r>
              <a:rPr lang="fr-FR" sz="1100" b="1" i="0" dirty="0">
                <a:solidFill>
                  <a:srgbClr val="202020"/>
                </a:solidFill>
                <a:latin typeface="Arial"/>
                <a:cs typeface="Arial"/>
              </a:rPr>
              <a:t>Excel zippé · LO · 2023 · 34 Mo (+ fichier DOM de 0,1 Mo, téléchargé mais non utilisé)</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On utilise</a:t>
            </a:r>
            <a:r>
              <a:rPr lang="fr-FR" sz="1100" b="0" i="0" dirty="0">
                <a:solidFill>
                  <a:srgbClr val="202020"/>
                </a:solidFill>
                <a:latin typeface="Arial"/>
                <a:cs typeface="Arial"/>
              </a:rPr>
              <a:t> : feuilles IRIS_2023 et COM_2023_non_irisees : Code géographique, Ménages (princ), Ménages au moins une voiture</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Pourquoi</a:t>
            </a:r>
            <a:r>
              <a:rPr lang="fr-FR" sz="1100" b="0" i="0" dirty="0">
                <a:solidFill>
                  <a:srgbClr val="202020"/>
                </a:solidFill>
                <a:latin typeface="Arial"/>
                <a:cs typeface="Arial"/>
              </a:rPr>
              <a:t> : la part de ménages sans voiture : le public prioritaire de l'autopartage</a:t>
            </a:r>
            <a:endParaRPr lang="fr-FR" sz="1100" dirty="0"/>
          </a:p>
          <a:p>
            <a:pPr algn="l">
              <a:lnSpc>
                <a:spcPct val="100000"/>
              </a:lnSpc>
              <a:spcBef>
                <a:spcPts val="500"/>
              </a:spcBef>
              <a:spcAft>
                <a:spcPts val="0"/>
              </a:spcAft>
              <a:buNone/>
            </a:pPr>
            <a:r>
              <a:rPr lang="fr-FR" sz="950" b="0" i="0" dirty="0">
                <a:solidFill>
                  <a:srgbClr val="616060"/>
                </a:solidFill>
                <a:latin typeface="Consolas"/>
                <a:cs typeface="Consolas"/>
              </a:rPr>
              <a:t>population.py › logement_tables, part_sans_voiture, motorisation</a:t>
            </a:r>
            <a:endParaRPr lang="fr-FR" sz="950" dirty="0"/>
          </a:p>
        </p:txBody>
      </p:sp>
      <p:sp>
        <p:nvSpPr>
          <p:cNvPr id="16" name="Forme 16"/>
          <p:cNvSpPr/>
          <p:nvPr/>
        </p:nvSpPr>
        <p:spPr>
          <a:xfrm>
            <a:off x="457200" y="3913632"/>
            <a:ext cx="5559552" cy="242316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7" name="Forme 17"/>
          <p:cNvSpPr/>
          <p:nvPr/>
        </p:nvSpPr>
        <p:spPr>
          <a:xfrm>
            <a:off x="457200" y="3913632"/>
            <a:ext cx="64008" cy="2423160"/>
          </a:xfrm>
          <a:prstGeom prst="rect">
            <a:avLst/>
          </a:prstGeom>
          <a:solidFill>
            <a:srgbClr val="20A4B0"/>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8" name="Forme 18"/>
          <p:cNvSpPr/>
          <p:nvPr/>
        </p:nvSpPr>
        <p:spPr>
          <a:xfrm>
            <a:off x="640080" y="4005072"/>
            <a:ext cx="5266944" cy="22860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20A4B0"/>
                </a:solidFill>
                <a:latin typeface="Arial"/>
                <a:cs typeface="Arial"/>
              </a:rPr>
              <a:t>7 · INSEE BPE 2025 : équipements</a:t>
            </a:r>
            <a:endParaRPr lang="fr-FR" sz="1300" dirty="0"/>
          </a:p>
          <a:p>
            <a:pPr algn="l">
              <a:lnSpc>
                <a:spcPct val="100000"/>
              </a:lnSpc>
              <a:spcBef>
                <a:spcPts val="100"/>
              </a:spcBef>
              <a:spcAft>
                <a:spcPts val="0"/>
              </a:spcAft>
              <a:buNone/>
            </a:pPr>
            <a:r>
              <a:rPr lang="fr-FR" sz="1100" b="1" i="0" dirty="0">
                <a:solidFill>
                  <a:srgbClr val="202020"/>
                </a:solidFill>
                <a:latin typeface="Arial"/>
                <a:cs typeface="Arial"/>
              </a:rPr>
              <a:t>Producteur</a:t>
            </a:r>
            <a:r>
              <a:rPr lang="fr-FR" sz="1100" b="0" i="0" dirty="0">
                <a:solidFill>
                  <a:srgbClr val="202020"/>
                </a:solidFill>
                <a:latin typeface="Arial"/>
                <a:cs typeface="Arial"/>
              </a:rPr>
              <a:t> : INSEE, Base permanente des équipements</a:t>
            </a:r>
            <a:endParaRPr lang="fr-FR" sz="1100" dirty="0"/>
          </a:p>
          <a:p>
            <a:pPr algn="l">
              <a:lnSpc>
                <a:spcPct val="100000"/>
              </a:lnSpc>
              <a:spcBef>
                <a:spcPts val="400"/>
              </a:spcBef>
              <a:spcAft>
                <a:spcPts val="0"/>
              </a:spcAft>
              <a:buNone/>
            </a:pPr>
            <a:r>
              <a:rPr lang="fr-FR" sz="850" b="0" i="0" dirty="0">
                <a:solidFill>
                  <a:srgbClr val="20A4B0"/>
                </a:solidFill>
                <a:latin typeface="Consolas"/>
                <a:cs typeface="Consolas"/>
              </a:rPr>
              <a:t>https://www.insee.fr/fr/statistiques/fichier/8217525/BPE25.parquet</a:t>
            </a:r>
            <a:endParaRPr lang="fr-FR" sz="850" dirty="0"/>
          </a:p>
          <a:p>
            <a:pPr algn="l">
              <a:lnSpc>
                <a:spcPct val="100000"/>
              </a:lnSpc>
              <a:spcBef>
                <a:spcPts val="400"/>
              </a:spcBef>
              <a:spcAft>
                <a:spcPts val="0"/>
              </a:spcAft>
              <a:buNone/>
            </a:pPr>
            <a:r>
              <a:rPr lang="fr-FR" sz="1100" b="1" i="0" dirty="0">
                <a:solidFill>
                  <a:srgbClr val="202020"/>
                </a:solidFill>
                <a:latin typeface="Arial"/>
                <a:cs typeface="Arial"/>
              </a:rPr>
              <a:t>Parquet · LO · 2025 · 172 Mo</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On utilise</a:t>
            </a:r>
            <a:r>
              <a:rPr lang="fr-FR" sz="1100" b="0" i="0" dirty="0">
                <a:solidFill>
                  <a:srgbClr val="202020"/>
                </a:solidFill>
                <a:latin typeface="Arial"/>
                <a:cs typeface="Arial"/>
              </a:rPr>
              <a:t> : DEP, DOM (domaines A à G), LAMBERT_X, LAMBERT_Y, EPSG</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Pourquoi</a:t>
            </a:r>
            <a:r>
              <a:rPr lang="fr-FR" sz="1100" b="0" i="0" dirty="0">
                <a:solidFill>
                  <a:srgbClr val="202020"/>
                </a:solidFill>
                <a:latin typeface="Arial"/>
                <a:cs typeface="Arial"/>
              </a:rPr>
              <a:t> : commerces, écoles, santé… à 400 m : des variables du modèle</a:t>
            </a:r>
            <a:endParaRPr lang="fr-FR" sz="1100" dirty="0"/>
          </a:p>
          <a:p>
            <a:pPr algn="l">
              <a:lnSpc>
                <a:spcPct val="100000"/>
              </a:lnSpc>
              <a:spcBef>
                <a:spcPts val="500"/>
              </a:spcBef>
              <a:spcAft>
                <a:spcPts val="0"/>
              </a:spcAft>
              <a:buNone/>
            </a:pPr>
            <a:r>
              <a:rPr lang="fr-FR" sz="950" b="0" i="0" dirty="0">
                <a:solidFill>
                  <a:srgbClr val="616060"/>
                </a:solidFill>
                <a:latin typeface="Consolas"/>
                <a:cs typeface="Consolas"/>
              </a:rPr>
              <a:t>model/features.py › BPE_DOMAINS (7 domaines)</a:t>
            </a:r>
            <a:endParaRPr lang="fr-FR" sz="950" dirty="0"/>
          </a:p>
        </p:txBody>
      </p:sp>
      <p:sp>
        <p:nvSpPr>
          <p:cNvPr id="19" name="Forme 19"/>
          <p:cNvSpPr/>
          <p:nvPr/>
        </p:nvSpPr>
        <p:spPr>
          <a:xfrm>
            <a:off x="6172200" y="3913632"/>
            <a:ext cx="5559552" cy="242316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0" name="Forme 20"/>
          <p:cNvSpPr/>
          <p:nvPr/>
        </p:nvSpPr>
        <p:spPr>
          <a:xfrm>
            <a:off x="6172200" y="3913632"/>
            <a:ext cx="64008" cy="2423160"/>
          </a:xfrm>
          <a:prstGeom prst="rect">
            <a:avLst/>
          </a:prstGeom>
          <a:solidFill>
            <a:srgbClr val="32B4B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1" name="Forme 21"/>
          <p:cNvSpPr/>
          <p:nvPr/>
        </p:nvSpPr>
        <p:spPr>
          <a:xfrm>
            <a:off x="6355080" y="4005072"/>
            <a:ext cx="5266944" cy="22860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32B4B5"/>
                </a:solidFill>
                <a:latin typeface="Arial"/>
                <a:cs typeface="Arial"/>
              </a:rPr>
              <a:t>8 · INSEE Omphale : projections de population</a:t>
            </a:r>
            <a:endParaRPr lang="fr-FR" sz="1300" dirty="0"/>
          </a:p>
          <a:p>
            <a:pPr algn="l">
              <a:lnSpc>
                <a:spcPct val="100000"/>
              </a:lnSpc>
              <a:spcBef>
                <a:spcPts val="100"/>
              </a:spcBef>
              <a:spcAft>
                <a:spcPts val="0"/>
              </a:spcAft>
              <a:buNone/>
            </a:pPr>
            <a:r>
              <a:rPr lang="fr-FR" sz="1100" b="1" i="0" dirty="0">
                <a:solidFill>
                  <a:srgbClr val="202020"/>
                </a:solidFill>
                <a:latin typeface="Arial"/>
                <a:cs typeface="Arial"/>
              </a:rPr>
              <a:t>Producteur</a:t>
            </a:r>
            <a:r>
              <a:rPr lang="fr-FR" sz="1100" b="0" i="0" dirty="0">
                <a:solidFill>
                  <a:srgbClr val="202020"/>
                </a:solidFill>
                <a:latin typeface="Arial"/>
                <a:cs typeface="Arial"/>
              </a:rPr>
              <a:t> : INSEE</a:t>
            </a:r>
            <a:endParaRPr lang="fr-FR" sz="1100" dirty="0"/>
          </a:p>
          <a:p>
            <a:pPr algn="l">
              <a:lnSpc>
                <a:spcPct val="100000"/>
              </a:lnSpc>
              <a:spcBef>
                <a:spcPts val="400"/>
              </a:spcBef>
              <a:spcAft>
                <a:spcPts val="0"/>
              </a:spcAft>
              <a:buNone/>
            </a:pPr>
            <a:r>
              <a:rPr lang="fr-FR" sz="850" b="0" i="0" dirty="0">
                <a:solidFill>
                  <a:srgbClr val="20A4B0"/>
                </a:solidFill>
                <a:latin typeface="Consolas"/>
                <a:cs typeface="Consolas"/>
              </a:rPr>
              <a:t>https://www.insee.fr/fr/statistiques/fichier/6652134/projdepreg_2021-2070_excel.zip</a:t>
            </a:r>
            <a:endParaRPr lang="fr-FR" sz="850" dirty="0"/>
          </a:p>
          <a:p>
            <a:pPr algn="l">
              <a:lnSpc>
                <a:spcPct val="100000"/>
              </a:lnSpc>
              <a:spcBef>
                <a:spcPts val="400"/>
              </a:spcBef>
              <a:spcAft>
                <a:spcPts val="0"/>
              </a:spcAft>
              <a:buNone/>
            </a:pPr>
            <a:r>
              <a:rPr lang="fr-FR" sz="1100" b="1" i="0" dirty="0">
                <a:solidFill>
                  <a:srgbClr val="202020"/>
                </a:solidFill>
                <a:latin typeface="Arial"/>
                <a:cs typeface="Arial"/>
              </a:rPr>
              <a:t>Excel zippé · LO · 2021-2070, 11 scénarios, par département · 0,9 Mo</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On utilise</a:t>
            </a:r>
            <a:r>
              <a:rPr lang="fr-FR" sz="1100" b="0" i="0" dirty="0">
                <a:solidFill>
                  <a:srgbClr val="202020"/>
                </a:solidFill>
                <a:latin typeface="Arial"/>
                <a:cs typeface="Arial"/>
              </a:rPr>
              <a:t> : DEP, POP_2023, POP_2035 (scénario central)</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Pourquoi</a:t>
            </a:r>
            <a:r>
              <a:rPr lang="fr-FR" sz="1100" b="0" i="0" dirty="0">
                <a:solidFill>
                  <a:srgbClr val="202020"/>
                </a:solidFill>
                <a:latin typeface="Arial"/>
                <a:cs typeface="Arial"/>
              </a:rPr>
              <a:t> : l'horizon de population dans Fabric ; dans le pipeline Python : téléchargé, non utilisé</a:t>
            </a:r>
            <a:endParaRPr lang="fr-FR" sz="1100" dirty="0"/>
          </a:p>
          <a:p>
            <a:pPr algn="l">
              <a:lnSpc>
                <a:spcPct val="100000"/>
              </a:lnSpc>
              <a:spcBef>
                <a:spcPts val="500"/>
              </a:spcBef>
              <a:spcAft>
                <a:spcPts val="0"/>
              </a:spcAft>
              <a:buNone/>
            </a:pPr>
            <a:r>
              <a:rPr lang="fr-FR" sz="950" b="0" i="0" dirty="0">
                <a:solidFill>
                  <a:srgbClr val="616060"/>
                </a:solidFill>
                <a:latin typeface="Consolas"/>
                <a:cs typeface="Consolas"/>
              </a:rPr>
              <a:t>fabric/bronze_notebook (table projections_omphale_dep) · optimisation_notebook</a:t>
            </a:r>
            <a:endParaRPr lang="fr-FR" sz="950" dirty="0"/>
          </a:p>
        </p:txBody>
      </p:sp>
      <p:pic>
        <p:nvPicPr>
          <p:cNvPr id="9007"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20A4B0"/>
                </a:solidFill>
                <a:latin typeface="Arial"/>
                <a:cs typeface="Arial"/>
              </a:rPr>
              <a:t>PARTIE 2 · LES SOURCES</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Fiche par source (3/4)</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Producteur, lien exact utilisé dans le code, format, licence, édition, taille, colonnes utilisées et pourquoi.</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8</a:t>
            </a:r>
            <a:endParaRPr lang="fr-FR" sz="900" dirty="0"/>
          </a:p>
        </p:txBody>
      </p:sp>
      <p:sp>
        <p:nvSpPr>
          <p:cNvPr id="10" name="Forme 10"/>
          <p:cNvSpPr/>
          <p:nvPr/>
        </p:nvSpPr>
        <p:spPr>
          <a:xfrm>
            <a:off x="457200" y="1371600"/>
            <a:ext cx="5559552" cy="242316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1" name="Forme 11"/>
          <p:cNvSpPr/>
          <p:nvPr/>
        </p:nvSpPr>
        <p:spPr>
          <a:xfrm>
            <a:off x="457200" y="1371600"/>
            <a:ext cx="64008" cy="2423160"/>
          </a:xfrm>
          <a:prstGeom prst="rect">
            <a:avLst/>
          </a:prstGeom>
          <a:solidFill>
            <a:srgbClr val="20A4B0"/>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2" name="Forme 12"/>
          <p:cNvSpPr/>
          <p:nvPr/>
        </p:nvSpPr>
        <p:spPr>
          <a:xfrm>
            <a:off x="640080" y="1463040"/>
            <a:ext cx="5266944" cy="22860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20A4B0"/>
                </a:solidFill>
                <a:latin typeface="Arial"/>
                <a:cs typeface="Arial"/>
              </a:rPr>
              <a:t>9 · IGN ADMIN EXPRESS COG : communes et EPCI</a:t>
            </a:r>
            <a:endParaRPr lang="fr-FR" sz="1300" dirty="0"/>
          </a:p>
          <a:p>
            <a:pPr algn="l">
              <a:lnSpc>
                <a:spcPct val="100000"/>
              </a:lnSpc>
              <a:spcBef>
                <a:spcPts val="100"/>
              </a:spcBef>
              <a:spcAft>
                <a:spcPts val="0"/>
              </a:spcAft>
              <a:buNone/>
            </a:pPr>
            <a:r>
              <a:rPr lang="fr-FR" sz="1100" b="1" i="0" dirty="0">
                <a:solidFill>
                  <a:srgbClr val="202020"/>
                </a:solidFill>
                <a:latin typeface="Arial"/>
                <a:cs typeface="Arial"/>
              </a:rPr>
              <a:t>Producteur</a:t>
            </a:r>
            <a:r>
              <a:rPr lang="fr-FR" sz="1100" b="0" i="0" dirty="0">
                <a:solidFill>
                  <a:srgbClr val="202020"/>
                </a:solidFill>
                <a:latin typeface="Arial"/>
                <a:cs typeface="Arial"/>
              </a:rPr>
              <a:t> : IGN</a:t>
            </a:r>
            <a:endParaRPr lang="fr-FR" sz="1100" dirty="0"/>
          </a:p>
          <a:p>
            <a:pPr algn="l">
              <a:lnSpc>
                <a:spcPct val="100000"/>
              </a:lnSpc>
              <a:spcBef>
                <a:spcPts val="400"/>
              </a:spcBef>
              <a:spcAft>
                <a:spcPts val="0"/>
              </a:spcAft>
              <a:buNone/>
            </a:pPr>
            <a:r>
              <a:rPr lang="fr-FR" sz="850" b="0" i="0" dirty="0">
                <a:solidFill>
                  <a:srgbClr val="20A4B0"/>
                </a:solidFill>
                <a:latin typeface="Consolas"/>
                <a:cs typeface="Consolas"/>
              </a:rPr>
              <a:t>Atom : https://data.geopf.fr/telechargement/resource/ADMIN-EXPRESS-COG → ADMIN-EXPRESS-COG_4-0__GPKG_WGS84G_FRA_2026-01-01</a:t>
            </a:r>
            <a:endParaRPr lang="fr-FR" sz="850" dirty="0"/>
          </a:p>
          <a:p>
            <a:pPr algn="l">
              <a:lnSpc>
                <a:spcPct val="100000"/>
              </a:lnSpc>
              <a:spcBef>
                <a:spcPts val="400"/>
              </a:spcBef>
              <a:spcAft>
                <a:spcPts val="0"/>
              </a:spcAft>
              <a:buNone/>
            </a:pPr>
            <a:r>
              <a:rPr lang="fr-FR" sz="1100" b="1" i="0" dirty="0">
                <a:solidFill>
                  <a:srgbClr val="202020"/>
                </a:solidFill>
                <a:latin typeface="Arial"/>
                <a:cs typeface="Arial"/>
              </a:rPr>
              <a:t>GeoPackage en .7z · LO 2.0 · édition du 01/01/2026 · 607 Mo</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On utilise</a:t>
            </a:r>
            <a:r>
              <a:rPr lang="fr-FR" sz="1100" b="0" i="0" dirty="0">
                <a:solidFill>
                  <a:srgbClr val="202020"/>
                </a:solidFill>
                <a:latin typeface="Arial"/>
                <a:cs typeface="Arial"/>
              </a:rPr>
              <a:t> : couche commune (code_insee, nom_officiel, population, codes_siren_des_epci, date_du_recensement), couche departement</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Pourquoi</a:t>
            </a:r>
            <a:r>
              <a:rPr lang="fr-FR" sz="1100" b="0" i="0" dirty="0">
                <a:solidFill>
                  <a:srgbClr val="202020"/>
                </a:solidFill>
                <a:latin typeface="Arial"/>
                <a:cs typeface="Arial"/>
              </a:rPr>
              <a:t> : contours de la zone, rattachement des carreaux, population légale pour le calage</a:t>
            </a:r>
            <a:endParaRPr lang="fr-FR" sz="1100" dirty="0"/>
          </a:p>
          <a:p>
            <a:pPr algn="l">
              <a:lnSpc>
                <a:spcPct val="100000"/>
              </a:lnSpc>
              <a:spcBef>
                <a:spcPts val="500"/>
              </a:spcBef>
              <a:spcAft>
                <a:spcPts val="0"/>
              </a:spcAft>
              <a:buNone/>
            </a:pPr>
            <a:r>
              <a:rPr lang="fr-FR" sz="950" b="0" i="0" dirty="0">
                <a:solidFill>
                  <a:srgbClr val="616060"/>
                </a:solidFill>
                <a:latin typeface="Consolas"/>
                <a:cs typeface="Consolas"/>
              </a:rPr>
              <a:t>download_all.py › run_ign · archives.py › ign_gpkg · zone.py › build_zone</a:t>
            </a:r>
            <a:endParaRPr lang="fr-FR" sz="950" dirty="0"/>
          </a:p>
        </p:txBody>
      </p:sp>
      <p:sp>
        <p:nvSpPr>
          <p:cNvPr id="13" name="Forme 13"/>
          <p:cNvSpPr/>
          <p:nvPr/>
        </p:nvSpPr>
        <p:spPr>
          <a:xfrm>
            <a:off x="6172200" y="1371600"/>
            <a:ext cx="5559552" cy="242316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4" name="Forme 14"/>
          <p:cNvSpPr/>
          <p:nvPr/>
        </p:nvSpPr>
        <p:spPr>
          <a:xfrm>
            <a:off x="6172200" y="1371600"/>
            <a:ext cx="64008" cy="2423160"/>
          </a:xfrm>
          <a:prstGeom prst="rect">
            <a:avLst/>
          </a:prstGeom>
          <a:solidFill>
            <a:srgbClr val="32B4B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5" name="Forme 15"/>
          <p:cNvSpPr/>
          <p:nvPr/>
        </p:nvSpPr>
        <p:spPr>
          <a:xfrm>
            <a:off x="6355080" y="1463040"/>
            <a:ext cx="5266944" cy="22860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32B4B5"/>
                </a:solidFill>
                <a:latin typeface="Arial"/>
                <a:cs typeface="Arial"/>
              </a:rPr>
              <a:t>10 · IGN CONTOURS IRIS : quartiers</a:t>
            </a:r>
            <a:endParaRPr lang="fr-FR" sz="1300" dirty="0"/>
          </a:p>
          <a:p>
            <a:pPr algn="l">
              <a:lnSpc>
                <a:spcPct val="100000"/>
              </a:lnSpc>
              <a:spcBef>
                <a:spcPts val="100"/>
              </a:spcBef>
              <a:spcAft>
                <a:spcPts val="0"/>
              </a:spcAft>
              <a:buNone/>
            </a:pPr>
            <a:r>
              <a:rPr lang="fr-FR" sz="1100" b="1" i="0" dirty="0">
                <a:solidFill>
                  <a:srgbClr val="202020"/>
                </a:solidFill>
                <a:latin typeface="Arial"/>
                <a:cs typeface="Arial"/>
              </a:rPr>
              <a:t>Producteur</a:t>
            </a:r>
            <a:r>
              <a:rPr lang="fr-FR" sz="1100" b="0" i="0" dirty="0">
                <a:solidFill>
                  <a:srgbClr val="202020"/>
                </a:solidFill>
                <a:latin typeface="Arial"/>
                <a:cs typeface="Arial"/>
              </a:rPr>
              <a:t> : IGN (découpage INSEE)</a:t>
            </a:r>
            <a:endParaRPr lang="fr-FR" sz="1100" dirty="0"/>
          </a:p>
          <a:p>
            <a:pPr algn="l">
              <a:lnSpc>
                <a:spcPct val="100000"/>
              </a:lnSpc>
              <a:spcBef>
                <a:spcPts val="400"/>
              </a:spcBef>
              <a:spcAft>
                <a:spcPts val="0"/>
              </a:spcAft>
              <a:buNone/>
            </a:pPr>
            <a:r>
              <a:rPr lang="fr-FR" sz="850" b="0" i="0" dirty="0">
                <a:solidFill>
                  <a:srgbClr val="20A4B0"/>
                </a:solidFill>
                <a:latin typeface="Consolas"/>
                <a:cs typeface="Consolas"/>
              </a:rPr>
              <a:t>Atom : https://data.geopf.fr/telechargement/resource/CONTOURS-IRIS → CONTOURS-IRIS_3-0__GPKG_WGS84G_FRA_2026-01-01</a:t>
            </a:r>
            <a:endParaRPr lang="fr-FR" sz="850" dirty="0"/>
          </a:p>
          <a:p>
            <a:pPr algn="l">
              <a:lnSpc>
                <a:spcPct val="100000"/>
              </a:lnSpc>
              <a:spcBef>
                <a:spcPts val="400"/>
              </a:spcBef>
              <a:spcAft>
                <a:spcPts val="0"/>
              </a:spcAft>
              <a:buNone/>
            </a:pPr>
            <a:r>
              <a:rPr lang="fr-FR" sz="1100" b="1" i="0" dirty="0">
                <a:solidFill>
                  <a:srgbClr val="202020"/>
                </a:solidFill>
                <a:latin typeface="Arial"/>
                <a:cs typeface="Arial"/>
              </a:rPr>
              <a:t>GeoPackage en .7z · LO 2.0 · édition du 01/01/2026 · 88 Mo</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On utilise</a:t>
            </a:r>
            <a:r>
              <a:rPr lang="fr-FR" sz="1100" b="0" i="0" dirty="0">
                <a:solidFill>
                  <a:srgbClr val="202020"/>
                </a:solidFill>
                <a:latin typeface="Arial"/>
                <a:cs typeface="Arial"/>
              </a:rPr>
              <a:t> : code_iris, nom_iris, code_insee, nom_commune</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Pourquoi</a:t>
            </a:r>
            <a:r>
              <a:rPr lang="fr-FR" sz="1100" b="0" i="0" dirty="0">
                <a:solidFill>
                  <a:srgbClr val="202020"/>
                </a:solidFill>
                <a:latin typeface="Arial"/>
                <a:cs typeface="Arial"/>
              </a:rPr>
              <a:t> : rattacher chaque carreau à son IRIS (motorisation) et afficher des quartiers</a:t>
            </a:r>
            <a:endParaRPr lang="fr-FR" sz="1100" dirty="0"/>
          </a:p>
          <a:p>
            <a:pPr algn="l">
              <a:lnSpc>
                <a:spcPct val="100000"/>
              </a:lnSpc>
              <a:spcBef>
                <a:spcPts val="500"/>
              </a:spcBef>
              <a:spcAft>
                <a:spcPts val="0"/>
              </a:spcAft>
              <a:buNone/>
            </a:pPr>
            <a:r>
              <a:rPr lang="fr-FR" sz="950" b="0" i="0" dirty="0">
                <a:solidFill>
                  <a:srgbClr val="616060"/>
                </a:solidFill>
                <a:latin typeface="Consolas"/>
                <a:cs typeface="Consolas"/>
              </a:rPr>
              <a:t>population.py › motorisation · build_access.py (agrégat IRIS)</a:t>
            </a:r>
            <a:endParaRPr lang="fr-FR" sz="950" dirty="0"/>
          </a:p>
        </p:txBody>
      </p:sp>
      <p:sp>
        <p:nvSpPr>
          <p:cNvPr id="16" name="Forme 16"/>
          <p:cNvSpPr/>
          <p:nvPr/>
        </p:nvSpPr>
        <p:spPr>
          <a:xfrm>
            <a:off x="457200" y="3913632"/>
            <a:ext cx="5559552" cy="242316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7" name="Forme 17"/>
          <p:cNvSpPr/>
          <p:nvPr/>
        </p:nvSpPr>
        <p:spPr>
          <a:xfrm>
            <a:off x="457200" y="3913632"/>
            <a:ext cx="64008" cy="2423160"/>
          </a:xfrm>
          <a:prstGeom prst="rect">
            <a:avLst/>
          </a:prstGeom>
          <a:solidFill>
            <a:srgbClr val="20A4B0"/>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8" name="Forme 18"/>
          <p:cNvSpPr/>
          <p:nvPr/>
        </p:nvSpPr>
        <p:spPr>
          <a:xfrm>
            <a:off x="640080" y="4005072"/>
            <a:ext cx="5266944" cy="22860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20A4B0"/>
                </a:solidFill>
                <a:latin typeface="Arial"/>
                <a:cs typeface="Arial"/>
              </a:rPr>
              <a:t>11 · OpenStreetMap (Geofabrik) : rues et chemins</a:t>
            </a:r>
            <a:endParaRPr lang="fr-FR" sz="1300" dirty="0"/>
          </a:p>
          <a:p>
            <a:pPr algn="l">
              <a:lnSpc>
                <a:spcPct val="100000"/>
              </a:lnSpc>
              <a:spcBef>
                <a:spcPts val="100"/>
              </a:spcBef>
              <a:spcAft>
                <a:spcPts val="0"/>
              </a:spcAft>
              <a:buNone/>
            </a:pPr>
            <a:r>
              <a:rPr lang="fr-FR" sz="1100" b="1" i="0" dirty="0">
                <a:solidFill>
                  <a:srgbClr val="202020"/>
                </a:solidFill>
                <a:latin typeface="Arial"/>
                <a:cs typeface="Arial"/>
              </a:rPr>
              <a:t>Producteur</a:t>
            </a:r>
            <a:r>
              <a:rPr lang="fr-FR" sz="1100" b="0" i="0" dirty="0">
                <a:solidFill>
                  <a:srgbClr val="202020"/>
                </a:solidFill>
                <a:latin typeface="Arial"/>
                <a:cs typeface="Arial"/>
              </a:rPr>
              <a:t> : Contributeurs OpenStreetMap ; extraits régionaux Geofabrik</a:t>
            </a:r>
            <a:endParaRPr lang="fr-FR" sz="1100" dirty="0"/>
          </a:p>
          <a:p>
            <a:pPr algn="l">
              <a:lnSpc>
                <a:spcPct val="100000"/>
              </a:lnSpc>
              <a:spcBef>
                <a:spcPts val="400"/>
              </a:spcBef>
              <a:spcAft>
                <a:spcPts val="0"/>
              </a:spcAft>
              <a:buNone/>
            </a:pPr>
            <a:r>
              <a:rPr lang="fr-FR" sz="850" b="0" i="0" dirty="0">
                <a:solidFill>
                  <a:srgbClr val="20A4B0"/>
                </a:solidFill>
                <a:latin typeface="Consolas"/>
                <a:cs typeface="Consolas"/>
              </a:rPr>
              <a:t>https://download.geofabrik.de/europe/france/pays-de-la-loire-latest.osm.pbf  (et rhone-alpes-latest.osm.pbf)</a:t>
            </a:r>
            <a:endParaRPr lang="fr-FR" sz="850" dirty="0"/>
          </a:p>
          <a:p>
            <a:pPr algn="l">
              <a:lnSpc>
                <a:spcPct val="100000"/>
              </a:lnSpc>
              <a:spcBef>
                <a:spcPts val="400"/>
              </a:spcBef>
              <a:spcAft>
                <a:spcPts val="0"/>
              </a:spcAft>
              <a:buNone/>
            </a:pPr>
            <a:r>
              <a:rPr lang="fr-FR" sz="1100" b="1" i="0" dirty="0">
                <a:solidFill>
                  <a:srgbClr val="202020"/>
                </a:solidFill>
                <a:latin typeface="Arial"/>
                <a:cs typeface="Arial"/>
              </a:rPr>
              <a:t>PBF · ODbL · extraits du 19/10 (Rhône-Alpes) et du 20/10/2026 (Pays de la Loire) · 905 Mo</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On utilise</a:t>
            </a:r>
            <a:r>
              <a:rPr lang="fr-FR" sz="1100" b="0" i="0" dirty="0">
                <a:solidFill>
                  <a:srgbClr val="202020"/>
                </a:solidFill>
                <a:latin typeface="Arial"/>
                <a:cs typeface="Arial"/>
              </a:rPr>
              <a:t> : couche lines : osm_id, highway, other_tags (foot, access, service, area)</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Pourquoi</a:t>
            </a:r>
            <a:r>
              <a:rPr lang="fr-FR" sz="1100" b="0" i="0" dirty="0">
                <a:solidFill>
                  <a:srgbClr val="202020"/>
                </a:solidFill>
                <a:latin typeface="Arial"/>
                <a:cs typeface="Arial"/>
              </a:rPr>
              <a:t> : la marche réelle (V2) : 400 m par les rues, pas à vol d'oiseau</a:t>
            </a:r>
            <a:endParaRPr lang="fr-FR" sz="1100" dirty="0"/>
          </a:p>
          <a:p>
            <a:pPr algn="l">
              <a:lnSpc>
                <a:spcPct val="100000"/>
              </a:lnSpc>
              <a:spcBef>
                <a:spcPts val="500"/>
              </a:spcBef>
              <a:spcAft>
                <a:spcPts val="0"/>
              </a:spcAft>
              <a:buNone/>
            </a:pPr>
            <a:r>
              <a:rPr lang="fr-FR" sz="950" b="0" i="0" dirty="0">
                <a:solidFill>
                  <a:srgbClr val="616060"/>
                </a:solidFill>
                <a:latin typeface="Consolas"/>
                <a:cs typeface="Consolas"/>
              </a:rPr>
              <a:t>download_all.py › run_osm · network.py › load_walk_edges</a:t>
            </a:r>
            <a:endParaRPr lang="fr-FR" sz="950" dirty="0"/>
          </a:p>
        </p:txBody>
      </p:sp>
      <p:sp>
        <p:nvSpPr>
          <p:cNvPr id="19" name="Forme 19"/>
          <p:cNvSpPr/>
          <p:nvPr/>
        </p:nvSpPr>
        <p:spPr>
          <a:xfrm>
            <a:off x="6172200" y="3913632"/>
            <a:ext cx="5559552" cy="242316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0" name="Forme 20"/>
          <p:cNvSpPr/>
          <p:nvPr/>
        </p:nvSpPr>
        <p:spPr>
          <a:xfrm>
            <a:off x="6172200" y="3913632"/>
            <a:ext cx="64008" cy="2423160"/>
          </a:xfrm>
          <a:prstGeom prst="rect">
            <a:avLst/>
          </a:prstGeom>
          <a:solidFill>
            <a:srgbClr val="32B4B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1" name="Forme 21"/>
          <p:cNvSpPr/>
          <p:nvPr/>
        </p:nvSpPr>
        <p:spPr>
          <a:xfrm>
            <a:off x="6355080" y="4005072"/>
            <a:ext cx="5266944" cy="22860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32B4B5"/>
                </a:solidFill>
                <a:latin typeface="Arial"/>
                <a:cs typeface="Arial"/>
              </a:rPr>
              <a:t>12 · SSMSI : délinquance enregistrée par commune</a:t>
            </a:r>
            <a:endParaRPr lang="fr-FR" sz="1300" dirty="0"/>
          </a:p>
          <a:p>
            <a:pPr algn="l">
              <a:lnSpc>
                <a:spcPct val="100000"/>
              </a:lnSpc>
              <a:spcBef>
                <a:spcPts val="100"/>
              </a:spcBef>
              <a:spcAft>
                <a:spcPts val="0"/>
              </a:spcAft>
              <a:buNone/>
            </a:pPr>
            <a:r>
              <a:rPr lang="fr-FR" sz="1100" b="1" i="0" dirty="0">
                <a:solidFill>
                  <a:srgbClr val="202020"/>
                </a:solidFill>
                <a:latin typeface="Arial"/>
                <a:cs typeface="Arial"/>
              </a:rPr>
              <a:t>Producteur</a:t>
            </a:r>
            <a:r>
              <a:rPr lang="fr-FR" sz="1100" b="0" i="0" dirty="0">
                <a:solidFill>
                  <a:srgbClr val="202020"/>
                </a:solidFill>
                <a:latin typeface="Arial"/>
                <a:cs typeface="Arial"/>
              </a:rPr>
              <a:t> : SSMSI, ministère de l'Intérieur</a:t>
            </a:r>
            <a:endParaRPr lang="fr-FR" sz="1100" dirty="0"/>
          </a:p>
          <a:p>
            <a:pPr algn="l">
              <a:lnSpc>
                <a:spcPct val="100000"/>
              </a:lnSpc>
              <a:spcBef>
                <a:spcPts val="400"/>
              </a:spcBef>
              <a:spcAft>
                <a:spcPts val="0"/>
              </a:spcAft>
              <a:buNone/>
            </a:pPr>
            <a:r>
              <a:rPr lang="fr-FR" sz="850" b="0" i="0" dirty="0">
                <a:solidFill>
                  <a:srgbClr val="20A4B0"/>
                </a:solidFill>
                <a:latin typeface="Consolas"/>
                <a:cs typeface="Consolas"/>
              </a:rPr>
              <a:t>https://static.data.gouv.fr/resources/bases-statistiques-communale-departementale-et-regionale-de-la-delinquance-enregistree-par-la-police-et-la-gendarmerie-nationales/20260709-120017/donnee-comm-data.gouv-parquet-2025-geographie2026-produit-le2026-06-25.parquet</a:t>
            </a:r>
            <a:endParaRPr lang="fr-FR" sz="850" dirty="0"/>
          </a:p>
          <a:p>
            <a:pPr algn="l">
              <a:lnSpc>
                <a:spcPct val="100000"/>
              </a:lnSpc>
              <a:spcBef>
                <a:spcPts val="400"/>
              </a:spcBef>
              <a:spcAft>
                <a:spcPts val="0"/>
              </a:spcAft>
              <a:buNone/>
            </a:pPr>
            <a:r>
              <a:rPr lang="fr-FR" sz="1100" b="1" i="0" dirty="0">
                <a:solidFill>
                  <a:srgbClr val="202020"/>
                </a:solidFill>
                <a:latin typeface="Arial"/>
                <a:cs typeface="Arial"/>
              </a:rPr>
              <a:t>Parquet · LO 2.0 · base 2025, géographie 2026 · 16 Mo</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On utilise</a:t>
            </a:r>
            <a:r>
              <a:rPr lang="fr-FR" sz="1100" b="0" i="0" dirty="0">
                <a:solidFill>
                  <a:srgbClr val="202020"/>
                </a:solidFill>
                <a:latin typeface="Arial"/>
                <a:cs typeface="Arial"/>
              </a:rPr>
              <a:t> : CODGEO_2026, annee (2023 à 2025), indicateur (vols de / dans / sur les véhicules, dégradations), nombre, insee_pop</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Pourquoi</a:t>
            </a:r>
            <a:r>
              <a:rPr lang="fr-FR" sz="1100" b="0" i="0" dirty="0">
                <a:solidFill>
                  <a:srgbClr val="202020"/>
                </a:solidFill>
                <a:latin typeface="Arial"/>
                <a:cs typeface="Arial"/>
              </a:rPr>
              <a:t> : téléchargée, mais non utilisée : on ne pénalise pas un territoire sur ses statistiques de vols</a:t>
            </a:r>
            <a:endParaRPr lang="fr-FR" sz="1100" dirty="0"/>
          </a:p>
          <a:p>
            <a:pPr algn="l">
              <a:lnSpc>
                <a:spcPct val="100000"/>
              </a:lnSpc>
              <a:spcBef>
                <a:spcPts val="500"/>
              </a:spcBef>
              <a:spcAft>
                <a:spcPts val="0"/>
              </a:spcAft>
              <a:buNone/>
            </a:pPr>
            <a:r>
              <a:rPr lang="fr-FR" sz="950" b="0" i="0" dirty="0">
                <a:solidFill>
                  <a:srgbClr val="616060"/>
                </a:solidFill>
                <a:latin typeface="Consolas"/>
                <a:cs typeface="Consolas"/>
              </a:rPr>
              <a:t>national/ranking.py › security_by_commune · model/features.py</a:t>
            </a:r>
            <a:endParaRPr lang="fr-FR" sz="950" dirty="0"/>
          </a:p>
        </p:txBody>
      </p:sp>
      <p:pic>
        <p:nvPicPr>
          <p:cNvPr id="9008"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20A4B0"/>
                </a:solidFill>
                <a:latin typeface="Arial"/>
                <a:cs typeface="Arial"/>
              </a:rPr>
              <a:t>PARTIE 2 · LES SOURCES</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Fiche par source (4/4)</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Deux sources locales, un catalogue de contrôle, et ce qui n'existe pas en open data.</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9</a:t>
            </a:r>
            <a:endParaRPr lang="fr-FR" sz="900" dirty="0"/>
          </a:p>
        </p:txBody>
      </p:sp>
      <p:sp>
        <p:nvSpPr>
          <p:cNvPr id="10" name="Forme 10"/>
          <p:cNvSpPr/>
          <p:nvPr/>
        </p:nvSpPr>
        <p:spPr>
          <a:xfrm>
            <a:off x="457200" y="1371600"/>
            <a:ext cx="5559552" cy="242316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1" name="Forme 11"/>
          <p:cNvSpPr/>
          <p:nvPr/>
        </p:nvSpPr>
        <p:spPr>
          <a:xfrm>
            <a:off x="457200" y="1371600"/>
            <a:ext cx="64008" cy="2423160"/>
          </a:xfrm>
          <a:prstGeom prst="rect">
            <a:avLst/>
          </a:prstGeom>
          <a:solidFill>
            <a:srgbClr val="20A4B0"/>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2" name="Forme 12"/>
          <p:cNvSpPr/>
          <p:nvPr/>
        </p:nvSpPr>
        <p:spPr>
          <a:xfrm>
            <a:off x="640080" y="1463040"/>
            <a:ext cx="5266944" cy="22860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20A4B0"/>
                </a:solidFill>
                <a:latin typeface="Arial"/>
                <a:cs typeface="Arial"/>
              </a:rPr>
              <a:t>13 · Nantes Métropole : stations d'autopartage (Marguerite)</a:t>
            </a:r>
            <a:endParaRPr lang="fr-FR" sz="1300" dirty="0"/>
          </a:p>
          <a:p>
            <a:pPr algn="l">
              <a:lnSpc>
                <a:spcPct val="100000"/>
              </a:lnSpc>
              <a:spcBef>
                <a:spcPts val="100"/>
              </a:spcBef>
              <a:spcAft>
                <a:spcPts val="0"/>
              </a:spcAft>
              <a:buNone/>
            </a:pPr>
            <a:r>
              <a:rPr lang="fr-FR" sz="1100" b="1" i="0" dirty="0">
                <a:solidFill>
                  <a:srgbClr val="202020"/>
                </a:solidFill>
                <a:latin typeface="Arial"/>
                <a:cs typeface="Arial"/>
              </a:rPr>
              <a:t>Producteur</a:t>
            </a:r>
            <a:r>
              <a:rPr lang="fr-FR" sz="1100" b="0" i="0" dirty="0">
                <a:solidFill>
                  <a:srgbClr val="202020"/>
                </a:solidFill>
                <a:latin typeface="Arial"/>
                <a:cs typeface="Arial"/>
              </a:rPr>
              <a:t> : Nantes Métropole (open data)</a:t>
            </a:r>
            <a:endParaRPr lang="fr-FR" sz="1100" dirty="0"/>
          </a:p>
          <a:p>
            <a:pPr algn="l">
              <a:lnSpc>
                <a:spcPct val="100000"/>
              </a:lnSpc>
              <a:spcBef>
                <a:spcPts val="400"/>
              </a:spcBef>
              <a:spcAft>
                <a:spcPts val="0"/>
              </a:spcAft>
              <a:buNone/>
            </a:pPr>
            <a:r>
              <a:rPr lang="fr-FR" sz="850" b="0" i="0" dirty="0">
                <a:solidFill>
                  <a:srgbClr val="20A4B0"/>
                </a:solidFill>
                <a:latin typeface="Consolas"/>
                <a:cs typeface="Consolas"/>
              </a:rPr>
              <a:t>https://data.nantesmetropole.fr/api/explore/v2.1/catalog/datasets/244400404_stations-autopartage-naolib-nantes-metropole/exports/geojson</a:t>
            </a:r>
            <a:endParaRPr lang="fr-FR" sz="850" dirty="0"/>
          </a:p>
          <a:p>
            <a:pPr algn="l">
              <a:lnSpc>
                <a:spcPct val="100000"/>
              </a:lnSpc>
              <a:spcBef>
                <a:spcPts val="400"/>
              </a:spcBef>
              <a:spcAft>
                <a:spcPts val="0"/>
              </a:spcAft>
              <a:buNone/>
            </a:pPr>
            <a:r>
              <a:rPr lang="fr-FR" sz="1100" b="1" i="0" dirty="0">
                <a:solidFill>
                  <a:srgbClr val="202020"/>
                </a:solidFill>
                <a:latin typeface="Arial"/>
                <a:cs typeface="Arial"/>
              </a:rPr>
              <a:t>GeoJSON · Licence Ouverte · téléchargé le 20/10/2026 · 57 Ko</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On utilise</a:t>
            </a:r>
            <a:r>
              <a:rPr lang="fr-FR" sz="1100" b="0" i="0" dirty="0">
                <a:solidFill>
                  <a:srgbClr val="202020"/>
                </a:solidFill>
                <a:latin typeface="Arial"/>
                <a:cs typeface="Arial"/>
              </a:rPr>
              <a:t> : gid, nom, exploitant, capacite, géométrie ; exploitant Citiz exclu (déjà dans le GBFS)</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Pourquoi</a:t>
            </a:r>
            <a:r>
              <a:rPr lang="fr-FR" sz="1100" b="0" i="0" dirty="0">
                <a:solidFill>
                  <a:srgbClr val="202020"/>
                </a:solidFill>
                <a:latin typeface="Arial"/>
                <a:cs typeface="Arial"/>
              </a:rPr>
              <a:t> : Marguerite n'a pas de GBFS : sans ce fichier, 61 stations seraient invisibles</a:t>
            </a:r>
            <a:endParaRPr lang="fr-FR" sz="1100" dirty="0"/>
          </a:p>
          <a:p>
            <a:pPr algn="l">
              <a:lnSpc>
                <a:spcPct val="100000"/>
              </a:lnSpc>
              <a:spcBef>
                <a:spcPts val="500"/>
              </a:spcBef>
              <a:spcAft>
                <a:spcPts val="0"/>
              </a:spcAft>
              <a:buNone/>
            </a:pPr>
            <a:r>
              <a:rPr lang="fr-FR" sz="950" b="0" i="0" dirty="0">
                <a:solidFill>
                  <a:srgbClr val="616060"/>
                </a:solidFill>
                <a:latin typeface="Consolas"/>
                <a:cs typeface="Consolas"/>
              </a:rPr>
              <a:t>settings.yaml › autopartage_local · offer.py › local_carsharing_offer</a:t>
            </a:r>
            <a:endParaRPr lang="fr-FR" sz="950" dirty="0"/>
          </a:p>
        </p:txBody>
      </p:sp>
      <p:sp>
        <p:nvSpPr>
          <p:cNvPr id="13" name="Forme 13"/>
          <p:cNvSpPr/>
          <p:nvPr/>
        </p:nvSpPr>
        <p:spPr>
          <a:xfrm>
            <a:off x="6172200" y="1371600"/>
            <a:ext cx="5559552" cy="242316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4" name="Forme 14"/>
          <p:cNvSpPr/>
          <p:nvPr/>
        </p:nvSpPr>
        <p:spPr>
          <a:xfrm>
            <a:off x="6172200" y="1371600"/>
            <a:ext cx="64008" cy="2423160"/>
          </a:xfrm>
          <a:prstGeom prst="rect">
            <a:avLst/>
          </a:prstGeom>
          <a:solidFill>
            <a:srgbClr val="32B4B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5" name="Forme 15"/>
          <p:cNvSpPr/>
          <p:nvPr/>
        </p:nvSpPr>
        <p:spPr>
          <a:xfrm>
            <a:off x="6355080" y="1463040"/>
            <a:ext cx="5266944" cy="22860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32B4B5"/>
                </a:solidFill>
                <a:latin typeface="Arial"/>
                <a:cs typeface="Arial"/>
              </a:rPr>
              <a:t>14 · geo.api.gouv.fr : contours et communes</a:t>
            </a:r>
            <a:endParaRPr lang="fr-FR" sz="1300" dirty="0"/>
          </a:p>
          <a:p>
            <a:pPr algn="l">
              <a:lnSpc>
                <a:spcPct val="100000"/>
              </a:lnSpc>
              <a:spcBef>
                <a:spcPts val="100"/>
              </a:spcBef>
              <a:spcAft>
                <a:spcPts val="0"/>
              </a:spcAft>
              <a:buNone/>
            </a:pPr>
            <a:r>
              <a:rPr lang="fr-FR" sz="1100" b="1" i="0" dirty="0">
                <a:solidFill>
                  <a:srgbClr val="202020"/>
                </a:solidFill>
                <a:latin typeface="Arial"/>
                <a:cs typeface="Arial"/>
              </a:rPr>
              <a:t>Producteur</a:t>
            </a:r>
            <a:r>
              <a:rPr lang="fr-FR" sz="1100" b="0" i="0" dirty="0">
                <a:solidFill>
                  <a:srgbClr val="202020"/>
                </a:solidFill>
                <a:latin typeface="Arial"/>
                <a:cs typeface="Arial"/>
              </a:rPr>
              <a:t> : Etalab (API Découpage administratif)</a:t>
            </a:r>
            <a:endParaRPr lang="fr-FR" sz="1100" dirty="0"/>
          </a:p>
          <a:p>
            <a:pPr algn="l">
              <a:lnSpc>
                <a:spcPct val="100000"/>
              </a:lnSpc>
              <a:spcBef>
                <a:spcPts val="400"/>
              </a:spcBef>
              <a:spcAft>
                <a:spcPts val="0"/>
              </a:spcAft>
              <a:buNone/>
            </a:pPr>
            <a:r>
              <a:rPr lang="fr-FR" sz="850" b="0" i="0" dirty="0">
                <a:solidFill>
                  <a:srgbClr val="20A4B0"/>
                </a:solidFill>
                <a:latin typeface="Consolas"/>
                <a:cs typeface="Consolas"/>
              </a:rPr>
              <a:t>https://geo.api.gouv.fr/epcis/{siren}?format=geojson&amp;geometry=contour  ·  https://geo.api.gouv.fr/communes</a:t>
            </a:r>
            <a:endParaRPr lang="fr-FR" sz="850" dirty="0"/>
          </a:p>
          <a:p>
            <a:pPr algn="l">
              <a:lnSpc>
                <a:spcPct val="100000"/>
              </a:lnSpc>
              <a:spcBef>
                <a:spcPts val="400"/>
              </a:spcBef>
              <a:spcAft>
                <a:spcPts val="0"/>
              </a:spcAft>
              <a:buNone/>
            </a:pPr>
            <a:r>
              <a:rPr lang="fr-FR" sz="1100" b="1" i="0" dirty="0">
                <a:solidFill>
                  <a:srgbClr val="202020"/>
                </a:solidFill>
                <a:latin typeface="Arial"/>
                <a:cs typeface="Arial"/>
              </a:rPr>
              <a:t>GeoJSON / JSON · sans clé · à la demande, en cache dans data/raw/geo_cache · &lt; 1 Mo</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On utilise</a:t>
            </a:r>
            <a:r>
              <a:rPr lang="fr-FR" sz="1100" b="0" i="0" dirty="0">
                <a:solidFill>
                  <a:srgbClr val="202020"/>
                </a:solidFill>
                <a:latin typeface="Arial"/>
                <a:cs typeface="Arial"/>
              </a:rPr>
              <a:t> : contour de l'EPCI ; commune et EPCI de chaque station Citiz</a:t>
            </a:r>
            <a:endParaRPr lang="fr-FR" sz="1100" dirty="0"/>
          </a:p>
          <a:p>
            <a:pPr algn="l">
              <a:lnSpc>
                <a:spcPct val="100000"/>
              </a:lnSpc>
              <a:spcBef>
                <a:spcPts val="400"/>
              </a:spcBef>
              <a:spcAft>
                <a:spcPts val="0"/>
              </a:spcAft>
              <a:buNone/>
            </a:pPr>
            <a:r>
              <a:rPr lang="fr-FR" sz="1100" b="1" i="0" dirty="0">
                <a:solidFill>
                  <a:srgbClr val="202020"/>
                </a:solidFill>
                <a:latin typeface="Arial"/>
                <a:cs typeface="Arial"/>
              </a:rPr>
              <a:t>Pourquoi</a:t>
            </a:r>
            <a:r>
              <a:rPr lang="fr-FR" sz="1100" b="0" i="0" dirty="0">
                <a:solidFill>
                  <a:srgbClr val="202020"/>
                </a:solidFill>
                <a:latin typeface="Arial"/>
                <a:cs typeface="Arial"/>
              </a:rPr>
              <a:t> : secours si ADMIN EXPRESS manque, et le premier tableau « Citiz par EPCI » pour choisir la ville</a:t>
            </a:r>
            <a:endParaRPr lang="fr-FR" sz="1100" dirty="0"/>
          </a:p>
          <a:p>
            <a:pPr algn="l">
              <a:lnSpc>
                <a:spcPct val="100000"/>
              </a:lnSpc>
              <a:spcBef>
                <a:spcPts val="500"/>
              </a:spcBef>
              <a:spcAft>
                <a:spcPts val="0"/>
              </a:spcAft>
              <a:buNone/>
            </a:pPr>
            <a:r>
              <a:rPr lang="fr-FR" sz="950" b="0" i="0" dirty="0">
                <a:solidFill>
                  <a:srgbClr val="616060"/>
                </a:solidFill>
                <a:latin typeface="Consolas"/>
                <a:cs typeface="Consolas"/>
              </a:rPr>
              <a:t>zone.py › _epci_contour · citiz_overview.py</a:t>
            </a:r>
            <a:endParaRPr lang="fr-FR" sz="950" dirty="0"/>
          </a:p>
        </p:txBody>
      </p:sp>
      <p:sp>
        <p:nvSpPr>
          <p:cNvPr id="16" name="Forme 16"/>
          <p:cNvSpPr/>
          <p:nvPr/>
        </p:nvSpPr>
        <p:spPr>
          <a:xfrm>
            <a:off x="457200" y="3913632"/>
            <a:ext cx="5559552" cy="2377440"/>
          </a:xfrm>
          <a:prstGeom prst="roundRect">
            <a:avLst>
              <a:gd name="adj" fmla="val 4000"/>
            </a:avLst>
          </a:prstGeom>
          <a:solidFill>
            <a:srgbClr val="F5F5F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7" name="Forme 17"/>
          <p:cNvSpPr/>
          <p:nvPr/>
        </p:nvSpPr>
        <p:spPr>
          <a:xfrm>
            <a:off x="457200" y="3913632"/>
            <a:ext cx="64008" cy="2377440"/>
          </a:xfrm>
          <a:prstGeom prst="rect">
            <a:avLst/>
          </a:prstGeom>
          <a:solidFill>
            <a:srgbClr val="616060"/>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8" name="Forme 18"/>
          <p:cNvSpPr/>
          <p:nvPr/>
        </p:nvSpPr>
        <p:spPr>
          <a:xfrm>
            <a:off x="640080" y="4005072"/>
            <a:ext cx="5266944" cy="224028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616060"/>
                </a:solidFill>
                <a:latin typeface="Arial"/>
                <a:cs typeface="Arial"/>
              </a:rPr>
              <a:t>+ Catalogue mondial GBFS (MobilityData)</a:t>
            </a:r>
            <a:endParaRPr lang="fr-FR" sz="1300" dirty="0"/>
          </a:p>
          <a:p>
            <a:pPr algn="l">
              <a:lnSpc>
                <a:spcPct val="100000"/>
              </a:lnSpc>
              <a:spcBef>
                <a:spcPts val="200"/>
              </a:spcBef>
              <a:spcAft>
                <a:spcPts val="0"/>
              </a:spcAft>
              <a:buNone/>
            </a:pPr>
            <a:r>
              <a:rPr lang="fr-FR" sz="850" b="0" i="0" dirty="0">
                <a:solidFill>
                  <a:srgbClr val="20A4B0"/>
                </a:solidFill>
                <a:latin typeface="Consolas"/>
                <a:cs typeface="Consolas"/>
              </a:rPr>
              <a:t>https://raw.githubusercontent.com/MobilityData/gbfs/master/systems.csv</a:t>
            </a:r>
            <a:endParaRPr lang="fr-FR" sz="850" dirty="0"/>
          </a:p>
          <a:p>
            <a:pPr algn="l">
              <a:lnSpc>
                <a:spcPct val="100000"/>
              </a:lnSpc>
              <a:spcBef>
                <a:spcPts val="400"/>
              </a:spcBef>
              <a:spcAft>
                <a:spcPts val="0"/>
              </a:spcAft>
              <a:buNone/>
            </a:pPr>
            <a:r>
              <a:rPr lang="fr-FR" sz="1000" b="1" i="0" dirty="0">
                <a:solidFill>
                  <a:srgbClr val="202020"/>
                </a:solidFill>
                <a:latin typeface="Arial"/>
                <a:cs typeface="Arial"/>
              </a:rPr>
              <a:t>CSV · 0,2 Mo · 19/10/2026</a:t>
            </a:r>
            <a:endParaRPr lang="fr-FR" sz="1000" dirty="0"/>
          </a:p>
          <a:p>
            <a:pPr algn="l">
              <a:lnSpc>
                <a:spcPct val="100000"/>
              </a:lnSpc>
              <a:spcBef>
                <a:spcPts val="400"/>
              </a:spcBef>
              <a:spcAft>
                <a:spcPts val="0"/>
              </a:spcAft>
              <a:buNone/>
            </a:pPr>
            <a:r>
              <a:rPr lang="fr-FR" sz="1000" b="1" i="0" dirty="0">
                <a:solidFill>
                  <a:srgbClr val="202020"/>
                </a:solidFill>
                <a:latin typeface="Arial"/>
                <a:cs typeface="Arial"/>
              </a:rPr>
              <a:t>Usage</a:t>
            </a:r>
            <a:r>
              <a:rPr lang="fr-FR" sz="1000" b="0" i="0" dirty="0">
                <a:solidFill>
                  <a:srgbClr val="202020"/>
                </a:solidFill>
                <a:latin typeface="Arial"/>
                <a:cs typeface="Arial"/>
              </a:rPr>
              <a:t> : contrôle uniquement. </a:t>
            </a:r>
            <a:r>
              <a:rPr lang="fr-FR" sz="1000" b="0" i="0" dirty="0">
                <a:solidFill>
                  <a:srgbClr val="20A4B0"/>
                </a:solidFill>
                <a:latin typeface="Consolas"/>
                <a:cs typeface="Consolas"/>
              </a:rPr>
              <a:t>check_data.py</a:t>
            </a:r>
            <a:r>
              <a:rPr lang="fr-FR" sz="1000" b="0" i="0" dirty="0">
                <a:solidFill>
                  <a:srgbClr val="202020"/>
                </a:solidFill>
                <a:latin typeface="Arial"/>
                <a:cs typeface="Arial"/>
              </a:rPr>
              <a:t> vérifie son contenu ; il permet de savoir si un opérateur publie un GBFS ailleurs dans le monde.</a:t>
            </a:r>
            <a:endParaRPr lang="fr-FR" sz="1000" dirty="0"/>
          </a:p>
          <a:p>
            <a:pPr algn="l">
              <a:lnSpc>
                <a:spcPct val="100000"/>
              </a:lnSpc>
              <a:spcBef>
                <a:spcPts val="500"/>
              </a:spcBef>
              <a:spcAft>
                <a:spcPts val="0"/>
              </a:spcAft>
              <a:buNone/>
            </a:pPr>
            <a:r>
              <a:rPr lang="fr-FR" sz="900" b="0" i="0" dirty="0">
                <a:solidFill>
                  <a:srgbClr val="616060"/>
                </a:solidFill>
                <a:latin typeface="Consolas"/>
                <a:cs typeface="Consolas"/>
              </a:rPr>
              <a:t>download_all.py › STATIC["gbfs_catalog"]</a:t>
            </a:r>
            <a:endParaRPr lang="fr-FR" sz="900" dirty="0"/>
          </a:p>
        </p:txBody>
      </p:sp>
      <p:sp>
        <p:nvSpPr>
          <p:cNvPr id="19" name="Forme 19"/>
          <p:cNvSpPr/>
          <p:nvPr/>
        </p:nvSpPr>
        <p:spPr>
          <a:xfrm>
            <a:off x="6172200" y="3913632"/>
            <a:ext cx="5559552" cy="2377440"/>
          </a:xfrm>
          <a:prstGeom prst="roundRect">
            <a:avLst>
              <a:gd name="adj" fmla="val 4000"/>
            </a:avLst>
          </a:prstGeom>
          <a:solidFill>
            <a:srgbClr val="FDECEB"/>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0" name="Forme 20"/>
          <p:cNvSpPr/>
          <p:nvPr/>
        </p:nvSpPr>
        <p:spPr>
          <a:xfrm>
            <a:off x="6172200" y="3913632"/>
            <a:ext cx="64008" cy="2377440"/>
          </a:xfrm>
          <a:prstGeom prst="rect">
            <a:avLst/>
          </a:prstGeom>
          <a:solidFill>
            <a:srgbClr val="E63329"/>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1" name="Forme 21"/>
          <p:cNvSpPr/>
          <p:nvPr/>
        </p:nvSpPr>
        <p:spPr>
          <a:xfrm>
            <a:off x="6355080" y="4005072"/>
            <a:ext cx="5266944" cy="224028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E63329"/>
                </a:solidFill>
                <a:latin typeface="Arial"/>
                <a:cs typeface="Arial"/>
              </a:rPr>
              <a:t>Ce que nous n'avons PAS trouvé en open data</a:t>
            </a:r>
            <a:endParaRPr lang="fr-FR" sz="1300" dirty="0"/>
          </a:p>
          <a:p>
            <a:pPr algn="l" marL="201168" indent="-201168">
              <a:lnSpc>
                <a:spcPct val="100000"/>
              </a:lnSpc>
              <a:spcBef>
                <a:spcPts val="300"/>
              </a:spcBef>
              <a:spcAft>
                <a:spcPts val="0"/>
              </a:spcAft>
              <a:buClr>
                <a:srgbClr val="E63329"/>
              </a:buClr>
              <a:buFont typeface="Arial"/>
              <a:buChar char="•"/>
            </a:pPr>
            <a:r>
              <a:rPr lang="fr-FR" sz="1050" b="1" i="0" dirty="0">
                <a:solidFill>
                  <a:srgbClr val="202020"/>
                </a:solidFill>
                <a:latin typeface="Arial"/>
                <a:cs typeface="Arial"/>
              </a:rPr>
              <a:t>Getaround, Zity, Free2Move, Communauto, Ubeeqo, Marcel</a:t>
            </a:r>
            <a:r>
              <a:rPr lang="fr-FR" sz="1050" b="0" i="0" dirty="0">
                <a:solidFill>
                  <a:srgbClr val="202020"/>
                </a:solidFill>
                <a:latin typeface="Arial"/>
                <a:cs typeface="Arial"/>
              </a:rPr>
              <a:t> : aucun flux public → autopartage invisible.</a:t>
            </a:r>
            <a:endParaRPr lang="fr-FR" sz="1050" dirty="0"/>
          </a:p>
          <a:p>
            <a:pPr algn="l" marL="201168" indent="-201168">
              <a:lnSpc>
                <a:spcPct val="100000"/>
              </a:lnSpc>
              <a:spcBef>
                <a:spcPts val="300"/>
              </a:spcBef>
              <a:spcAft>
                <a:spcPts val="0"/>
              </a:spcAft>
              <a:buClr>
                <a:srgbClr val="E63329"/>
              </a:buClr>
              <a:buFont typeface="Arial"/>
              <a:buChar char="•"/>
            </a:pPr>
            <a:r>
              <a:rPr lang="fr-FR" sz="1050" b="1" i="0" dirty="0">
                <a:solidFill>
                  <a:srgbClr val="202020"/>
                </a:solidFill>
                <a:latin typeface="Arial"/>
                <a:cs typeface="Arial"/>
              </a:rPr>
              <a:t>La fréquentation réelle des stations Citiz</a:t>
            </a:r>
            <a:r>
              <a:rPr lang="fr-FR" sz="1050" b="0" i="0" dirty="0">
                <a:solidFill>
                  <a:srgbClr val="202020"/>
                </a:solidFill>
                <a:latin typeface="Arial"/>
                <a:cs typeface="Arial"/>
              </a:rPr>
              <a:t> (réservations) : non publiée ; notre collecte d'instantanés est trop courte.</a:t>
            </a:r>
            <a:endParaRPr lang="fr-FR" sz="1050" dirty="0"/>
          </a:p>
          <a:p>
            <a:pPr algn="l" marL="201168" indent="-201168">
              <a:lnSpc>
                <a:spcPct val="100000"/>
              </a:lnSpc>
              <a:spcBef>
                <a:spcPts val="300"/>
              </a:spcBef>
              <a:spcAft>
                <a:spcPts val="0"/>
              </a:spcAft>
              <a:buClr>
                <a:srgbClr val="E63329"/>
              </a:buClr>
              <a:buFont typeface="Arial"/>
              <a:buChar char="•"/>
            </a:pPr>
            <a:r>
              <a:rPr lang="fr-FR" sz="1050" b="1" i="0" dirty="0">
                <a:solidFill>
                  <a:srgbClr val="202020"/>
                </a:solidFill>
                <a:latin typeface="Arial"/>
                <a:cs typeface="Arial"/>
              </a:rPr>
              <a:t>Le coût réel d'une station</a:t>
            </a:r>
            <a:r>
              <a:rPr lang="fr-FR" sz="1050" b="0" i="0" dirty="0">
                <a:solidFill>
                  <a:srgbClr val="202020"/>
                </a:solidFill>
                <a:latin typeface="Arial"/>
                <a:cs typeface="Arial"/>
              </a:rPr>
              <a:t> : hypothèses sourcées dans </a:t>
            </a:r>
            <a:r>
              <a:rPr lang="fr-FR" sz="1050" b="0" i="0" dirty="0">
                <a:solidFill>
                  <a:srgbClr val="20A4B0"/>
                </a:solidFill>
                <a:latin typeface="Consolas"/>
                <a:cs typeface="Consolas"/>
              </a:rPr>
              <a:t>config/costs.yaml</a:t>
            </a:r>
            <a:r>
              <a:rPr lang="fr-FR" sz="1050" b="0" i="0" dirty="0">
                <a:solidFill>
                  <a:srgbClr val="202020"/>
                </a:solidFill>
                <a:latin typeface="Arial"/>
                <a:cs typeface="Arial"/>
              </a:rPr>
              <a:t>, à valider avec Citiz.</a:t>
            </a:r>
            <a:endParaRPr lang="fr-FR" sz="1050" dirty="0"/>
          </a:p>
        </p:txBody>
      </p:sp>
      <p:pic>
        <p:nvPicPr>
          <p:cNvPr id="9009"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514E98"/>
                </a:solidFill>
                <a:latin typeface="Arial"/>
                <a:cs typeface="Arial"/>
              </a:rPr>
              <a:t>PARTIE 3 · L'EXTRACTION</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Découvrir automatiquement tous les GTFS et GBFS</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Un seul appel à l'API nationale donne tout le catalogue ; le script trie ensuite par type.</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10</a:t>
            </a:r>
            <a:endParaRPr lang="fr-FR" sz="900" dirty="0"/>
          </a:p>
        </p:txBody>
      </p:sp>
      <p:sp>
        <p:nvSpPr>
          <p:cNvPr id="10" name="Forme 10"/>
          <p:cNvSpPr/>
          <p:nvPr/>
        </p:nvSpPr>
        <p:spPr>
          <a:xfrm>
            <a:off x="457200" y="1463040"/>
            <a:ext cx="3017520" cy="1737360"/>
          </a:xfrm>
          <a:prstGeom prst="roundRect">
            <a:avLst>
              <a:gd name="adj" fmla="val 6000"/>
            </a:avLst>
          </a:prstGeom>
          <a:solidFill>
            <a:srgbClr val="514E98"/>
          </a:solidFill>
          <a:ln>
            <a:noFill/>
          </a:ln>
        </p:spPr>
        <p:txBody>
          <a:bodyPr wrap="square" lIns="164592" tIns="109728" rIns="164592" bIns="91440" anchor="t" rtlCol="0">
            <a:noAutofit/>
          </a:bodyPr>
          <a:lstStyle/>
          <a:p>
            <a:pPr algn="l">
              <a:lnSpc>
                <a:spcPct val="100000"/>
              </a:lnSpc>
              <a:spcBef>
                <a:spcPts val="0"/>
              </a:spcBef>
              <a:spcAft>
                <a:spcPts val="0"/>
              </a:spcAft>
              <a:buNone/>
            </a:pPr>
            <a:r>
              <a:rPr lang="fr-FR" sz="1300" b="1" i="0" dirty="0">
                <a:solidFill>
                  <a:srgbClr val="FFFFFF"/>
                </a:solidFill>
                <a:latin typeface="Arial"/>
                <a:cs typeface="Arial"/>
              </a:rPr>
              <a:t>API transport.data.gouv.fr</a:t>
            </a:r>
            <a:endParaRPr lang="fr-FR" sz="1300" dirty="0"/>
          </a:p>
          <a:p>
            <a:pPr algn="l">
              <a:lnSpc>
                <a:spcPct val="100000"/>
              </a:lnSpc>
              <a:spcBef>
                <a:spcPts val="400"/>
              </a:spcBef>
              <a:spcAft>
                <a:spcPts val="0"/>
              </a:spcAft>
              <a:buNone/>
            </a:pPr>
            <a:r>
              <a:rPr lang="fr-FR" sz="900" b="0" i="0" dirty="0">
                <a:solidFill>
                  <a:srgbClr val="DBF4F4"/>
                </a:solidFill>
                <a:latin typeface="Consolas"/>
                <a:cs typeface="Consolas"/>
              </a:rPr>
              <a:t>https://transport.data.gouv.fr/api/datasets</a:t>
            </a:r>
            <a:endParaRPr lang="fr-FR" sz="900" dirty="0"/>
          </a:p>
          <a:p>
            <a:pPr algn="l">
              <a:lnSpc>
                <a:spcPct val="100000"/>
              </a:lnSpc>
              <a:spcBef>
                <a:spcPts val="600"/>
              </a:spcBef>
              <a:spcAft>
                <a:spcPts val="0"/>
              </a:spcAft>
              <a:buNone/>
            </a:pPr>
            <a:r>
              <a:rPr lang="fr-FR" sz="1050" b="0" i="0" dirty="0">
                <a:solidFill>
                  <a:srgbClr val="FFFFFF"/>
                </a:solidFill>
                <a:latin typeface="Arial"/>
                <a:cs typeface="Arial"/>
              </a:rPr>
              <a:t>1 appel = tout le catalogue → </a:t>
            </a:r>
            <a:r>
              <a:rPr lang="fr-FR" sz="1050" b="0" i="0" dirty="0">
                <a:solidFill>
                  <a:srgbClr val="DBF4F4"/>
                </a:solidFill>
                <a:latin typeface="Consolas"/>
                <a:cs typeface="Consolas"/>
              </a:rPr>
              <a:t>catalogue_datasets.json</a:t>
            </a:r>
            <a:endParaRPr lang="fr-FR" sz="1050" dirty="0"/>
          </a:p>
          <a:p>
            <a:pPr algn="l">
              <a:lnSpc>
                <a:spcPct val="100000"/>
              </a:lnSpc>
              <a:spcBef>
                <a:spcPts val="400"/>
              </a:spcBef>
              <a:spcAft>
                <a:spcPts val="0"/>
              </a:spcAft>
              <a:buNone/>
            </a:pPr>
            <a:r>
              <a:rPr lang="fr-FR" sz="1000" b="0" i="0" dirty="0">
                <a:solidFill>
                  <a:srgbClr val="DBF4F4"/>
                </a:solidFill>
                <a:latin typeface="Consolas"/>
                <a:cs typeface="Consolas"/>
              </a:rPr>
              <a:t>tdg_catalog()</a:t>
            </a:r>
            <a:endParaRPr lang="fr-FR" sz="1000" dirty="0"/>
          </a:p>
        </p:txBody>
      </p:sp>
      <p:cxnSp>
        <p:nvCxnSpPr>
          <p:cNvPr id="11" name="Flèche 11"/>
          <p:cNvCxnSpPr/>
          <p:nvPr/>
        </p:nvCxnSpPr>
        <p:spPr>
          <a:xfrm flipV="1">
            <a:off x="3520440" y="1783080"/>
            <a:ext cx="594360" cy="228600"/>
          </a:xfrm>
          <a:prstGeom prst="straightConnector1">
            <a:avLst/>
          </a:prstGeom>
          <a:ln w="25400">
            <a:solidFill>
              <a:srgbClr val="616060"/>
            </a:solidFill>
            <a:tailEnd type="triangle" w="med" len="med"/>
          </a:ln>
        </p:spPr>
      </p:cxnSp>
      <p:cxnSp>
        <p:nvCxnSpPr>
          <p:cNvPr id="12" name="Flèche 12"/>
          <p:cNvCxnSpPr/>
          <p:nvPr/>
        </p:nvCxnSpPr>
        <p:spPr>
          <a:xfrm>
            <a:off x="3520440" y="2651760"/>
            <a:ext cx="594360" cy="228600"/>
          </a:xfrm>
          <a:prstGeom prst="straightConnector1">
            <a:avLst/>
          </a:prstGeom>
          <a:ln w="25400">
            <a:solidFill>
              <a:srgbClr val="616060"/>
            </a:solidFill>
            <a:tailEnd type="triangle" w="med" len="med"/>
          </a:ln>
        </p:spPr>
      </p:cxnSp>
      <p:sp>
        <p:nvSpPr>
          <p:cNvPr id="13" name="Forme 13"/>
          <p:cNvSpPr/>
          <p:nvPr/>
        </p:nvSpPr>
        <p:spPr>
          <a:xfrm>
            <a:off x="4160520" y="1417320"/>
            <a:ext cx="3291840" cy="777240"/>
          </a:xfrm>
          <a:prstGeom prst="roundRect">
            <a:avLst>
              <a:gd name="adj" fmla="val 8000"/>
            </a:avLst>
          </a:prstGeom>
          <a:solidFill>
            <a:srgbClr val="DBF4F4"/>
          </a:solidFill>
          <a:ln>
            <a:noFill/>
          </a:ln>
        </p:spPr>
        <p:txBody>
          <a:bodyPr wrap="square" lIns="109728" tIns="54864" rIns="109728" bIns="54864" anchor="ctr" rtlCol="0">
            <a:noAutofit/>
          </a:bodyPr>
          <a:lstStyle/>
          <a:p>
            <a:pPr algn="l">
              <a:lnSpc>
                <a:spcPct val="100000"/>
              </a:lnSpc>
              <a:spcBef>
                <a:spcPts val="0"/>
              </a:spcBef>
              <a:spcAft>
                <a:spcPts val="0"/>
              </a:spcAft>
              <a:buNone/>
            </a:pPr>
            <a:r>
              <a:rPr lang="fr-FR" sz="1100" b="0" i="0" dirty="0">
                <a:solidFill>
                  <a:srgbClr val="202020"/>
                </a:solidFill>
                <a:latin typeface="Arial"/>
                <a:cs typeface="Arial"/>
              </a:rPr>
              <a:t>type = </a:t>
            </a:r>
            <a:r>
              <a:rPr lang="fr-FR" sz="1100" b="1" i="0" dirty="0">
                <a:solidFill>
                  <a:srgbClr val="202020"/>
                </a:solidFill>
                <a:latin typeface="Arial"/>
                <a:cs typeface="Arial"/>
              </a:rPr>
              <a:t>public-transit</a:t>
            </a:r>
            <a:r>
              <a:rPr lang="fr-FR" sz="1100" b="0" i="0" dirty="0">
                <a:solidFill>
                  <a:srgbClr val="202020"/>
                </a:solidFill>
                <a:latin typeface="Arial"/>
                <a:cs typeface="Arial"/>
              </a:rPr>
              <a:t> + ressource </a:t>
            </a:r>
            <a:r>
              <a:rPr lang="fr-FR" sz="1100" b="1" i="0" dirty="0">
                <a:solidFill>
                  <a:srgbClr val="202020"/>
                </a:solidFill>
                <a:latin typeface="Arial"/>
                <a:cs typeface="Arial"/>
              </a:rPr>
              <a:t>GTFS</a:t>
            </a:r>
            <a:endParaRPr lang="fr-FR" sz="1100" dirty="0"/>
          </a:p>
          <a:p>
            <a:pPr algn="l">
              <a:lnSpc>
                <a:spcPct val="100000"/>
              </a:lnSpc>
              <a:spcBef>
                <a:spcPts val="200"/>
              </a:spcBef>
              <a:spcAft>
                <a:spcPts val="0"/>
              </a:spcAft>
              <a:buNone/>
            </a:pPr>
            <a:r>
              <a:rPr lang="fr-FR" sz="1000" b="0" i="0" dirty="0">
                <a:solidFill>
                  <a:srgbClr val="20A4B0"/>
                </a:solidFill>
                <a:latin typeface="Consolas"/>
                <a:cs typeface="Consolas"/>
              </a:rPr>
              <a:t>run_gtfs()</a:t>
            </a:r>
            <a:r>
              <a:rPr lang="fr-FR" sz="1000" b="0" i="0" dirty="0">
                <a:solidFill>
                  <a:srgbClr val="202020"/>
                </a:solidFill>
                <a:latin typeface="Arial"/>
                <a:cs typeface="Arial"/>
              </a:rPr>
              <a:t> · option </a:t>
            </a:r>
            <a:r>
              <a:rPr lang="fr-FR" sz="1000" b="0" i="0" dirty="0">
                <a:solidFill>
                  <a:srgbClr val="20A4B0"/>
                </a:solidFill>
                <a:latin typeface="Consolas"/>
                <a:cs typeface="Consolas"/>
              </a:rPr>
              <a:t>--gtfs-filter</a:t>
            </a:r>
            <a:endParaRPr lang="fr-FR" sz="1000" dirty="0"/>
          </a:p>
        </p:txBody>
      </p:sp>
      <p:sp>
        <p:nvSpPr>
          <p:cNvPr id="14" name="Forme 14"/>
          <p:cNvSpPr/>
          <p:nvPr/>
        </p:nvSpPr>
        <p:spPr>
          <a:xfrm>
            <a:off x="4160520" y="2514600"/>
            <a:ext cx="3291840" cy="777240"/>
          </a:xfrm>
          <a:prstGeom prst="roundRect">
            <a:avLst>
              <a:gd name="adj" fmla="val 8000"/>
            </a:avLst>
          </a:prstGeom>
          <a:solidFill>
            <a:srgbClr val="DBF4F4"/>
          </a:solidFill>
          <a:ln>
            <a:noFill/>
          </a:ln>
        </p:spPr>
        <p:txBody>
          <a:bodyPr wrap="square" lIns="109728" tIns="54864" rIns="109728" bIns="54864" anchor="ctr" rtlCol="0">
            <a:noAutofit/>
          </a:bodyPr>
          <a:lstStyle/>
          <a:p>
            <a:pPr algn="l">
              <a:lnSpc>
                <a:spcPct val="100000"/>
              </a:lnSpc>
              <a:spcBef>
                <a:spcPts val="0"/>
              </a:spcBef>
              <a:spcAft>
                <a:spcPts val="0"/>
              </a:spcAft>
              <a:buNone/>
            </a:pPr>
            <a:r>
              <a:rPr lang="fr-FR" sz="1100" b="0" i="0" dirty="0">
                <a:solidFill>
                  <a:srgbClr val="202020"/>
                </a:solidFill>
                <a:latin typeface="Arial"/>
                <a:cs typeface="Arial"/>
              </a:rPr>
              <a:t>type = </a:t>
            </a:r>
            <a:r>
              <a:rPr lang="fr-FR" sz="1100" b="1" i="0" dirty="0">
                <a:solidFill>
                  <a:srgbClr val="202020"/>
                </a:solidFill>
                <a:latin typeface="Arial"/>
                <a:cs typeface="Arial"/>
              </a:rPr>
              <a:t>vehicles-sharing</a:t>
            </a:r>
            <a:r>
              <a:rPr lang="fr-FR" sz="1100" b="0" i="0" dirty="0">
                <a:solidFill>
                  <a:srgbClr val="202020"/>
                </a:solidFill>
                <a:latin typeface="Arial"/>
                <a:cs typeface="Arial"/>
              </a:rPr>
              <a:t> + ressource </a:t>
            </a:r>
            <a:r>
              <a:rPr lang="fr-FR" sz="1100" b="1" i="0" dirty="0">
                <a:solidFill>
                  <a:srgbClr val="202020"/>
                </a:solidFill>
                <a:latin typeface="Arial"/>
                <a:cs typeface="Arial"/>
              </a:rPr>
              <a:t>gbfs</a:t>
            </a:r>
            <a:endParaRPr lang="fr-FR" sz="1100" dirty="0"/>
          </a:p>
          <a:p>
            <a:pPr algn="l">
              <a:lnSpc>
                <a:spcPct val="100000"/>
              </a:lnSpc>
              <a:spcBef>
                <a:spcPts val="200"/>
              </a:spcBef>
              <a:spcAft>
                <a:spcPts val="0"/>
              </a:spcAft>
              <a:buNone/>
            </a:pPr>
            <a:r>
              <a:rPr lang="fr-FR" sz="1000" b="0" i="0" dirty="0">
                <a:solidFill>
                  <a:srgbClr val="20A4B0"/>
                </a:solidFill>
                <a:latin typeface="Consolas"/>
                <a:cs typeface="Consolas"/>
              </a:rPr>
              <a:t>run_gbfs()</a:t>
            </a:r>
            <a:r>
              <a:rPr lang="fr-FR" sz="1000" b="0" i="0" dirty="0">
                <a:solidFill>
                  <a:srgbClr val="202020"/>
                </a:solidFill>
                <a:latin typeface="Arial"/>
                <a:cs typeface="Arial"/>
              </a:rPr>
              <a:t> · Citiz si « citiz » dans le titre</a:t>
            </a:r>
            <a:endParaRPr lang="fr-FR" sz="1000" dirty="0"/>
          </a:p>
        </p:txBody>
      </p:sp>
      <p:cxnSp>
        <p:nvCxnSpPr>
          <p:cNvPr id="15" name="Flèche 15"/>
          <p:cNvCxnSpPr/>
          <p:nvPr/>
        </p:nvCxnSpPr>
        <p:spPr>
          <a:xfrm>
            <a:off x="7498080" y="1801368"/>
            <a:ext cx="502920" cy="0"/>
          </a:xfrm>
          <a:prstGeom prst="straightConnector1">
            <a:avLst/>
          </a:prstGeom>
          <a:ln w="25400">
            <a:solidFill>
              <a:srgbClr val="616060"/>
            </a:solidFill>
            <a:tailEnd type="triangle" w="med" len="med"/>
          </a:ln>
        </p:spPr>
      </p:cxnSp>
      <p:cxnSp>
        <p:nvCxnSpPr>
          <p:cNvPr id="16" name="Flèche 16"/>
          <p:cNvCxnSpPr/>
          <p:nvPr/>
        </p:nvCxnSpPr>
        <p:spPr>
          <a:xfrm>
            <a:off x="7498080" y="2898648"/>
            <a:ext cx="502920" cy="0"/>
          </a:xfrm>
          <a:prstGeom prst="straightConnector1">
            <a:avLst/>
          </a:prstGeom>
          <a:ln w="25400">
            <a:solidFill>
              <a:srgbClr val="616060"/>
            </a:solidFill>
            <a:tailEnd type="triangle" w="med" len="med"/>
          </a:ln>
        </p:spPr>
      </p:cxnSp>
      <p:sp>
        <p:nvSpPr>
          <p:cNvPr id="17" name="Forme 17"/>
          <p:cNvSpPr/>
          <p:nvPr/>
        </p:nvSpPr>
        <p:spPr>
          <a:xfrm>
            <a:off x="8046720" y="1417320"/>
            <a:ext cx="3685032" cy="777240"/>
          </a:xfrm>
          <a:prstGeom prst="roundRect">
            <a:avLst>
              <a:gd name="adj" fmla="val 8000"/>
            </a:avLst>
          </a:prstGeom>
          <a:solidFill>
            <a:srgbClr val="F5F5F5"/>
          </a:solidFill>
          <a:ln>
            <a:noFill/>
          </a:ln>
        </p:spPr>
        <p:txBody>
          <a:bodyPr wrap="square" lIns="109728" tIns="54864" rIns="109728" bIns="54864" anchor="ctr" rtlCol="0">
            <a:noAutofit/>
          </a:bodyPr>
          <a:lstStyle/>
          <a:p>
            <a:pPr algn="l">
              <a:lnSpc>
                <a:spcPct val="100000"/>
              </a:lnSpc>
              <a:spcBef>
                <a:spcPts val="0"/>
              </a:spcBef>
              <a:spcAft>
                <a:spcPts val="0"/>
              </a:spcAft>
              <a:buNone/>
            </a:pPr>
            <a:r>
              <a:rPr lang="fr-FR" sz="1100" b="1" i="0" dirty="0">
                <a:solidFill>
                  <a:srgbClr val="202020"/>
                </a:solidFill>
                <a:latin typeface="Arial"/>
                <a:cs typeface="Arial"/>
              </a:rPr>
              <a:t>548 zip</a:t>
            </a:r>
            <a:r>
              <a:rPr lang="fr-FR" sz="1100" b="0" i="0" dirty="0">
                <a:solidFill>
                  <a:srgbClr val="202020"/>
                </a:solidFill>
                <a:latin typeface="Arial"/>
                <a:cs typeface="Arial"/>
              </a:rPr>
              <a:t> dans </a:t>
            </a:r>
            <a:r>
              <a:rPr lang="fr-FR" sz="1100" b="0" i="0" dirty="0">
                <a:solidFill>
                  <a:srgbClr val="20A4B0"/>
                </a:solidFill>
                <a:latin typeface="Consolas"/>
                <a:cs typeface="Consolas"/>
              </a:rPr>
              <a:t>data/raw/gtfs/</a:t>
            </a:r>
            <a:endParaRPr lang="fr-FR" sz="1100" dirty="0"/>
          </a:p>
          <a:p>
            <a:pPr algn="l">
              <a:lnSpc>
                <a:spcPct val="100000"/>
              </a:lnSpc>
              <a:spcBef>
                <a:spcPts val="200"/>
              </a:spcBef>
              <a:spcAft>
                <a:spcPts val="0"/>
              </a:spcAft>
              <a:buNone/>
            </a:pPr>
            <a:r>
              <a:rPr lang="fr-FR" sz="1000" b="0" i="0" dirty="0">
                <a:solidFill>
                  <a:srgbClr val="616060"/>
                </a:solidFill>
                <a:latin typeface="Arial"/>
                <a:cs typeface="Arial"/>
              </a:rPr>
              <a:t>nommés </a:t>
            </a:r>
            <a:r>
              <a:rPr lang="fr-FR" sz="1000" b="0" i="0" dirty="0">
                <a:solidFill>
                  <a:srgbClr val="20A4B0"/>
                </a:solidFill>
                <a:latin typeface="Consolas"/>
                <a:cs typeface="Consolas"/>
              </a:rPr>
              <a:t>&lt;jeu&gt;__&lt;id&gt;.zip</a:t>
            </a:r>
            <a:endParaRPr lang="fr-FR" sz="1000" dirty="0"/>
          </a:p>
        </p:txBody>
      </p:sp>
      <p:sp>
        <p:nvSpPr>
          <p:cNvPr id="18" name="Forme 18"/>
          <p:cNvSpPr/>
          <p:nvPr/>
        </p:nvSpPr>
        <p:spPr>
          <a:xfrm>
            <a:off x="8046720" y="2514600"/>
            <a:ext cx="3685032" cy="777240"/>
          </a:xfrm>
          <a:prstGeom prst="roundRect">
            <a:avLst>
              <a:gd name="adj" fmla="val 8000"/>
            </a:avLst>
          </a:prstGeom>
          <a:solidFill>
            <a:srgbClr val="F5F5F5"/>
          </a:solidFill>
          <a:ln>
            <a:noFill/>
          </a:ln>
        </p:spPr>
        <p:txBody>
          <a:bodyPr wrap="square" lIns="109728" tIns="54864" rIns="109728" bIns="54864" anchor="ctr" rtlCol="0">
            <a:noAutofit/>
          </a:bodyPr>
          <a:lstStyle/>
          <a:p>
            <a:pPr algn="l">
              <a:lnSpc>
                <a:spcPct val="100000"/>
              </a:lnSpc>
              <a:spcBef>
                <a:spcPts val="0"/>
              </a:spcBef>
              <a:spcAft>
                <a:spcPts val="0"/>
              </a:spcAft>
              <a:buNone/>
            </a:pPr>
            <a:r>
              <a:rPr lang="fr-FR" sz="1100" b="0" i="0" dirty="0">
                <a:solidFill>
                  <a:srgbClr val="20A4B0"/>
                </a:solidFill>
                <a:latin typeface="Consolas"/>
                <a:cs typeface="Consolas"/>
              </a:rPr>
              <a:t>gbfs_citiz/</a:t>
            </a:r>
            <a:r>
              <a:rPr lang="fr-FR" sz="1100" b="0" i="0" dirty="0">
                <a:solidFill>
                  <a:srgbClr val="202020"/>
                </a:solidFill>
                <a:latin typeface="Arial"/>
                <a:cs typeface="Arial"/>
              </a:rPr>
              <a:t> (15 réseaux) et </a:t>
            </a:r>
            <a:r>
              <a:rPr lang="fr-FR" sz="1100" b="0" i="0" dirty="0">
                <a:solidFill>
                  <a:srgbClr val="20A4B0"/>
                </a:solidFill>
                <a:latin typeface="Consolas"/>
                <a:cs typeface="Consolas"/>
              </a:rPr>
              <a:t>gbfs_all/</a:t>
            </a:r>
            <a:r>
              <a:rPr lang="fr-FR" sz="1100" b="0" i="0" dirty="0">
                <a:solidFill>
                  <a:srgbClr val="202020"/>
                </a:solidFill>
                <a:latin typeface="Arial"/>
                <a:cs typeface="Arial"/>
              </a:rPr>
              <a:t> (151 flux)</a:t>
            </a:r>
            <a:endParaRPr lang="fr-FR" sz="1100" dirty="0"/>
          </a:p>
          <a:p>
            <a:pPr algn="l">
              <a:lnSpc>
                <a:spcPct val="100000"/>
              </a:lnSpc>
              <a:spcBef>
                <a:spcPts val="200"/>
              </a:spcBef>
              <a:spcAft>
                <a:spcPts val="0"/>
              </a:spcAft>
              <a:buNone/>
            </a:pPr>
            <a:r>
              <a:rPr lang="fr-FR" sz="1000" b="0" i="0" dirty="0">
                <a:solidFill>
                  <a:srgbClr val="616060"/>
                </a:solidFill>
                <a:latin typeface="Arial"/>
                <a:cs typeface="Arial"/>
              </a:rPr>
              <a:t>8 téléchargements en parallèle (</a:t>
            </a:r>
            <a:r>
              <a:rPr lang="fr-FR" sz="1000" b="0" i="0" dirty="0">
                <a:solidFill>
                  <a:srgbClr val="20A4B0"/>
                </a:solidFill>
                <a:latin typeface="Consolas"/>
                <a:cs typeface="Consolas"/>
              </a:rPr>
              <a:t>--workers 8</a:t>
            </a:r>
            <a:r>
              <a:rPr lang="fr-FR" sz="1000" b="0" i="0" dirty="0">
                <a:solidFill>
                  <a:srgbClr val="616060"/>
                </a:solidFill>
                <a:latin typeface="Arial"/>
                <a:cs typeface="Arial"/>
              </a:rPr>
              <a:t>)</a:t>
            </a:r>
            <a:endParaRPr lang="fr-FR" sz="1000" dirty="0"/>
          </a:p>
        </p:txBody>
      </p:sp>
      <p:sp>
        <p:nvSpPr>
          <p:cNvPr id="19" name="Forme 19"/>
          <p:cNvSpPr/>
          <p:nvPr/>
        </p:nvSpPr>
        <p:spPr>
          <a:xfrm>
            <a:off x="457200" y="3611880"/>
            <a:ext cx="1097280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400" b="1" i="0" dirty="0">
                <a:solidFill>
                  <a:srgbClr val="514E98"/>
                </a:solidFill>
                <a:latin typeface="Arial"/>
                <a:cs typeface="Arial"/>
              </a:rPr>
              <a:t>Lecture d'un flux GBFS, étape par étape</a:t>
            </a:r>
            <a:endParaRPr lang="fr-FR" sz="1400" dirty="0"/>
          </a:p>
        </p:txBody>
      </p:sp>
      <p:sp>
        <p:nvSpPr>
          <p:cNvPr id="20" name="Forme 20"/>
          <p:cNvSpPr/>
          <p:nvPr/>
        </p:nvSpPr>
        <p:spPr>
          <a:xfrm>
            <a:off x="457200" y="4023360"/>
            <a:ext cx="2606040" cy="1143000"/>
          </a:xfrm>
          <a:prstGeom prst="roundRect">
            <a:avLst>
              <a:gd name="adj" fmla="val 8000"/>
            </a:avLst>
          </a:prstGeom>
          <a:solidFill>
            <a:srgbClr val="DBF4F4"/>
          </a:solidFill>
          <a:ln>
            <a:noFill/>
          </a:ln>
        </p:spPr>
        <p:txBody>
          <a:bodyPr wrap="square" lIns="91440" tIns="45720" rIns="91440" bIns="45720" anchor="ctr" rtlCol="0">
            <a:noAutofit/>
          </a:bodyPr>
          <a:lstStyle/>
          <a:p>
            <a:pPr algn="ctr">
              <a:lnSpc>
                <a:spcPct val="100000"/>
              </a:lnSpc>
              <a:spcBef>
                <a:spcPts val="0"/>
              </a:spcBef>
              <a:spcAft>
                <a:spcPts val="0"/>
              </a:spcAft>
              <a:buNone/>
            </a:pPr>
            <a:r>
              <a:rPr lang="fr-FR" sz="1100" b="1" i="0" dirty="0">
                <a:solidFill>
                  <a:srgbClr val="202020"/>
                </a:solidFill>
                <a:latin typeface="Arial"/>
                <a:cs typeface="Arial"/>
              </a:rPr>
              <a:t>gbfs.json</a:t>
            </a:r>
            <a:endParaRPr lang="fr-FR" sz="1100" dirty="0"/>
          </a:p>
          <a:p>
            <a:pPr algn="ctr">
              <a:lnSpc>
                <a:spcPct val="100000"/>
              </a:lnSpc>
              <a:spcBef>
                <a:spcPts val="400"/>
              </a:spcBef>
              <a:spcAft>
                <a:spcPts val="0"/>
              </a:spcAft>
              <a:buNone/>
            </a:pPr>
            <a:r>
              <a:rPr lang="fr-FR" sz="950" b="0" i="0" dirty="0">
                <a:solidFill>
                  <a:srgbClr val="616060"/>
                </a:solidFill>
                <a:latin typeface="Arial"/>
                <a:cs typeface="Arial"/>
              </a:rPr>
              <a:t>fichier d'autodécouverte : la liste des sous-flux</a:t>
            </a:r>
            <a:endParaRPr lang="fr-FR" sz="950" dirty="0"/>
          </a:p>
        </p:txBody>
      </p:sp>
      <p:cxnSp>
        <p:nvCxnSpPr>
          <p:cNvPr id="21" name="Flèche 21"/>
          <p:cNvCxnSpPr/>
          <p:nvPr/>
        </p:nvCxnSpPr>
        <p:spPr>
          <a:xfrm>
            <a:off x="3081528" y="4590288"/>
            <a:ext cx="210312" cy="0"/>
          </a:xfrm>
          <a:prstGeom prst="straightConnector1">
            <a:avLst/>
          </a:prstGeom>
          <a:ln w="25400">
            <a:solidFill>
              <a:srgbClr val="616060"/>
            </a:solidFill>
            <a:tailEnd type="triangle" w="med" len="med"/>
          </a:ln>
        </p:spPr>
      </p:cxnSp>
      <p:sp>
        <p:nvSpPr>
          <p:cNvPr id="22" name="Forme 22"/>
          <p:cNvSpPr/>
          <p:nvPr/>
        </p:nvSpPr>
        <p:spPr>
          <a:xfrm>
            <a:off x="3310128" y="4023360"/>
            <a:ext cx="2606040" cy="1143000"/>
          </a:xfrm>
          <a:prstGeom prst="roundRect">
            <a:avLst>
              <a:gd name="adj" fmla="val 8000"/>
            </a:avLst>
          </a:prstGeom>
          <a:solidFill>
            <a:srgbClr val="DBF4F4"/>
          </a:solidFill>
          <a:ln>
            <a:noFill/>
          </a:ln>
        </p:spPr>
        <p:txBody>
          <a:bodyPr wrap="square" lIns="91440" tIns="45720" rIns="91440" bIns="45720" anchor="ctr" rtlCol="0">
            <a:noAutofit/>
          </a:bodyPr>
          <a:lstStyle/>
          <a:p>
            <a:pPr algn="ctr">
              <a:lnSpc>
                <a:spcPct val="100000"/>
              </a:lnSpc>
              <a:spcBef>
                <a:spcPts val="0"/>
              </a:spcBef>
              <a:spcAft>
                <a:spcPts val="0"/>
              </a:spcAft>
              <a:buNone/>
            </a:pPr>
            <a:r>
              <a:rPr lang="fr-FR" sz="1100" b="1" i="0" dirty="0">
                <a:solidFill>
                  <a:srgbClr val="514E98"/>
                </a:solidFill>
                <a:latin typeface="Consolas"/>
                <a:cs typeface="Consolas"/>
              </a:rPr>
              <a:t>gbfs_feed_urls()</a:t>
            </a:r>
            <a:endParaRPr lang="fr-FR" sz="1100" dirty="0"/>
          </a:p>
          <a:p>
            <a:pPr algn="ctr">
              <a:lnSpc>
                <a:spcPct val="100000"/>
              </a:lnSpc>
              <a:spcBef>
                <a:spcPts val="400"/>
              </a:spcBef>
              <a:spcAft>
                <a:spcPts val="0"/>
              </a:spcAft>
              <a:buNone/>
            </a:pPr>
            <a:r>
              <a:rPr lang="fr-FR" sz="950" b="0" i="0" dirty="0">
                <a:solidFill>
                  <a:srgbClr val="616060"/>
                </a:solidFill>
                <a:latin typeface="Arial"/>
                <a:cs typeface="Arial"/>
              </a:rPr>
              <a:t>GBFS v1/v2 : liste par langue (fr, sinon en) ; v3 : liste directe</a:t>
            </a:r>
            <a:endParaRPr lang="fr-FR" sz="950" dirty="0"/>
          </a:p>
        </p:txBody>
      </p:sp>
      <p:cxnSp>
        <p:nvCxnSpPr>
          <p:cNvPr id="23" name="Flèche 23"/>
          <p:cNvCxnSpPr/>
          <p:nvPr/>
        </p:nvCxnSpPr>
        <p:spPr>
          <a:xfrm>
            <a:off x="5934456" y="4590288"/>
            <a:ext cx="210312" cy="0"/>
          </a:xfrm>
          <a:prstGeom prst="straightConnector1">
            <a:avLst/>
          </a:prstGeom>
          <a:ln w="25400">
            <a:solidFill>
              <a:srgbClr val="616060"/>
            </a:solidFill>
            <a:tailEnd type="triangle" w="med" len="med"/>
          </a:ln>
        </p:spPr>
      </p:cxnSp>
      <p:sp>
        <p:nvSpPr>
          <p:cNvPr id="24" name="Forme 24"/>
          <p:cNvSpPr/>
          <p:nvPr/>
        </p:nvSpPr>
        <p:spPr>
          <a:xfrm>
            <a:off x="6163056" y="4023360"/>
            <a:ext cx="2606040" cy="1143000"/>
          </a:xfrm>
          <a:prstGeom prst="roundRect">
            <a:avLst>
              <a:gd name="adj" fmla="val 8000"/>
            </a:avLst>
          </a:prstGeom>
          <a:solidFill>
            <a:srgbClr val="DBF4F4"/>
          </a:solidFill>
          <a:ln>
            <a:noFill/>
          </a:ln>
        </p:spPr>
        <p:txBody>
          <a:bodyPr wrap="square" lIns="91440" tIns="45720" rIns="91440" bIns="45720" anchor="ctr" rtlCol="0">
            <a:noAutofit/>
          </a:bodyPr>
          <a:lstStyle/>
          <a:p>
            <a:pPr algn="ctr">
              <a:lnSpc>
                <a:spcPct val="100000"/>
              </a:lnSpc>
              <a:spcBef>
                <a:spcPts val="0"/>
              </a:spcBef>
              <a:spcAft>
                <a:spcPts val="0"/>
              </a:spcAft>
              <a:buNone/>
            </a:pPr>
            <a:r>
              <a:rPr lang="fr-FR" sz="1100" b="1" i="0" dirty="0">
                <a:solidFill>
                  <a:srgbClr val="202020"/>
                </a:solidFill>
                <a:latin typeface="Arial"/>
                <a:cs typeface="Arial"/>
              </a:rPr>
              <a:t>station_information · station_status · vehicle_types…</a:t>
            </a:r>
            <a:endParaRPr lang="fr-FR" sz="1100" dirty="0"/>
          </a:p>
          <a:p>
            <a:pPr algn="ctr">
              <a:lnSpc>
                <a:spcPct val="100000"/>
              </a:lnSpc>
              <a:spcBef>
                <a:spcPts val="400"/>
              </a:spcBef>
              <a:spcAft>
                <a:spcPts val="0"/>
              </a:spcAft>
              <a:buNone/>
            </a:pPr>
            <a:r>
              <a:rPr lang="fr-FR" sz="950" b="0" i="0" dirty="0">
                <a:solidFill>
                  <a:srgbClr val="616060"/>
                </a:solidFill>
                <a:latin typeface="Arial"/>
                <a:cs typeface="Arial"/>
              </a:rPr>
              <a:t>chaque sous-flux téléchargé par </a:t>
            </a:r>
            <a:r>
              <a:rPr lang="fr-FR" sz="950" b="0" i="0" dirty="0">
                <a:solidFill>
                  <a:srgbClr val="514E98"/>
                </a:solidFill>
                <a:latin typeface="Consolas"/>
                <a:cs typeface="Consolas"/>
              </a:rPr>
              <a:t>fetch_gbfs_system()</a:t>
            </a:r>
            <a:endParaRPr lang="fr-FR" sz="950" dirty="0"/>
          </a:p>
        </p:txBody>
      </p:sp>
      <p:cxnSp>
        <p:nvCxnSpPr>
          <p:cNvPr id="25" name="Flèche 25"/>
          <p:cNvCxnSpPr/>
          <p:nvPr/>
        </p:nvCxnSpPr>
        <p:spPr>
          <a:xfrm>
            <a:off x="8787384" y="4590288"/>
            <a:ext cx="210312" cy="0"/>
          </a:xfrm>
          <a:prstGeom prst="straightConnector1">
            <a:avLst/>
          </a:prstGeom>
          <a:ln w="25400">
            <a:solidFill>
              <a:srgbClr val="616060"/>
            </a:solidFill>
            <a:tailEnd type="triangle" w="med" len="med"/>
          </a:ln>
        </p:spPr>
      </p:cxnSp>
      <p:sp>
        <p:nvSpPr>
          <p:cNvPr id="26" name="Forme 26"/>
          <p:cNvSpPr/>
          <p:nvPr/>
        </p:nvSpPr>
        <p:spPr>
          <a:xfrm>
            <a:off x="9015984" y="4023360"/>
            <a:ext cx="2606040" cy="1143000"/>
          </a:xfrm>
          <a:prstGeom prst="roundRect">
            <a:avLst>
              <a:gd name="adj" fmla="val 8000"/>
            </a:avLst>
          </a:prstGeom>
          <a:solidFill>
            <a:srgbClr val="DBF4F4"/>
          </a:solidFill>
          <a:ln>
            <a:noFill/>
          </a:ln>
        </p:spPr>
        <p:txBody>
          <a:bodyPr wrap="square" lIns="91440" tIns="45720" rIns="91440" bIns="45720" anchor="ctr" rtlCol="0">
            <a:noAutofit/>
          </a:bodyPr>
          <a:lstStyle/>
          <a:p>
            <a:pPr algn="ctr">
              <a:lnSpc>
                <a:spcPct val="100000"/>
              </a:lnSpc>
              <a:spcBef>
                <a:spcPts val="0"/>
              </a:spcBef>
              <a:spcAft>
                <a:spcPts val="0"/>
              </a:spcAft>
              <a:buNone/>
            </a:pPr>
            <a:r>
              <a:rPr lang="fr-FR" sz="1100" b="1" i="0" dirty="0">
                <a:solidFill>
                  <a:srgbClr val="202020"/>
                </a:solidFill>
                <a:latin typeface="Arial"/>
                <a:cs typeface="Arial"/>
              </a:rPr>
              <a:t>index.json</a:t>
            </a:r>
            <a:endParaRPr lang="fr-FR" sz="1100" dirty="0"/>
          </a:p>
          <a:p>
            <a:pPr algn="ctr">
              <a:lnSpc>
                <a:spcPct val="100000"/>
              </a:lnSpc>
              <a:spcBef>
                <a:spcPts val="400"/>
              </a:spcBef>
              <a:spcAft>
                <a:spcPts val="0"/>
              </a:spcAft>
              <a:buNone/>
            </a:pPr>
            <a:r>
              <a:rPr lang="fr-FR" sz="950" b="0" i="0" dirty="0">
                <a:solidFill>
                  <a:srgbClr val="616060"/>
                </a:solidFill>
                <a:latin typeface="Arial"/>
                <a:cs typeface="Arial"/>
              </a:rPr>
              <a:t>un système par ligne, avec l'URL de chaque sous-flux</a:t>
            </a:r>
            <a:endParaRPr lang="fr-FR" sz="950" dirty="0"/>
          </a:p>
        </p:txBody>
      </p:sp>
      <p:sp>
        <p:nvSpPr>
          <p:cNvPr id="27" name="Forme 27"/>
          <p:cNvSpPr/>
          <p:nvPr/>
        </p:nvSpPr>
        <p:spPr>
          <a:xfrm>
            <a:off x="457200" y="5349240"/>
            <a:ext cx="11274552" cy="914400"/>
          </a:xfrm>
          <a:prstGeom prst="roundRect">
            <a:avLst>
              <a:gd name="adj" fmla="val 6000"/>
            </a:avLst>
          </a:prstGeom>
          <a:solidFill>
            <a:srgbClr val="F5F5F5"/>
          </a:solidFill>
          <a:ln>
            <a:noFill/>
          </a:ln>
        </p:spPr>
        <p:txBody>
          <a:bodyPr wrap="square" lIns="228600" tIns="73152" rIns="228600" bIns="73152" anchor="ctr" rtlCol="0">
            <a:noAutofit/>
          </a:bodyPr>
          <a:lstStyle/>
          <a:p>
            <a:pPr algn="l">
              <a:lnSpc>
                <a:spcPct val="100000"/>
              </a:lnSpc>
              <a:spcBef>
                <a:spcPts val="0"/>
              </a:spcBef>
              <a:spcAft>
                <a:spcPts val="0"/>
              </a:spcAft>
              <a:buNone/>
            </a:pPr>
            <a:r>
              <a:rPr lang="fr-FR" sz="1100" b="1" i="0" dirty="0">
                <a:solidFill>
                  <a:srgbClr val="202020"/>
                </a:solidFill>
                <a:latin typeface="Arial"/>
                <a:cs typeface="Arial"/>
              </a:rPr>
              <a:t>Historique</a:t>
            </a:r>
            <a:r>
              <a:rPr lang="fr-FR" sz="1100" b="0" i="0" dirty="0">
                <a:solidFill>
                  <a:srgbClr val="202020"/>
                </a:solidFill>
                <a:latin typeface="Arial"/>
                <a:cs typeface="Arial"/>
              </a:rPr>
              <a:t> : </a:t>
            </a:r>
            <a:r>
              <a:rPr lang="fr-FR" sz="1100" b="0" i="0" dirty="0">
                <a:solidFill>
                  <a:srgbClr val="20A4B0"/>
                </a:solidFill>
                <a:latin typeface="Consolas"/>
                <a:cs typeface="Consolas"/>
              </a:rPr>
              <a:t>collect_gbfs_status.py</a:t>
            </a:r>
            <a:r>
              <a:rPr lang="fr-FR" sz="1100" b="0" i="0" dirty="0">
                <a:solidFill>
                  <a:srgbClr val="202020"/>
                </a:solidFill>
                <a:latin typeface="Arial"/>
                <a:cs typeface="Arial"/>
              </a:rPr>
              <a:t> relit </a:t>
            </a:r>
            <a:r>
              <a:rPr lang="fr-FR" sz="1100" b="0" i="0" dirty="0">
                <a:solidFill>
                  <a:srgbClr val="20A4B0"/>
                </a:solidFill>
                <a:latin typeface="Consolas"/>
                <a:cs typeface="Consolas"/>
              </a:rPr>
              <a:t>index.json</a:t>
            </a:r>
            <a:r>
              <a:rPr lang="fr-FR" sz="1100" b="0" i="0" dirty="0">
                <a:solidFill>
                  <a:srgbClr val="202020"/>
                </a:solidFill>
                <a:latin typeface="Arial"/>
                <a:cs typeface="Arial"/>
              </a:rPr>
              <a:t> et photographie </a:t>
            </a:r>
            <a:r>
              <a:rPr lang="fr-FR" sz="1100" b="0" i="0" dirty="0">
                <a:solidFill>
                  <a:srgbClr val="20A4B0"/>
                </a:solidFill>
                <a:latin typeface="Consolas"/>
                <a:cs typeface="Consolas"/>
              </a:rPr>
              <a:t>station_status</a:t>
            </a:r>
            <a:r>
              <a:rPr lang="fr-FR" sz="1100" b="0" i="0" dirty="0">
                <a:solidFill>
                  <a:srgbClr val="202020"/>
                </a:solidFill>
                <a:latin typeface="Arial"/>
                <a:cs typeface="Arial"/>
              </a:rPr>
              <a:t> toutes les 5 minutes (</a:t>
            </a:r>
            <a:r>
              <a:rPr lang="fr-FR" sz="1100" b="0" i="0" dirty="0">
                <a:solidFill>
                  <a:srgbClr val="20A4B0"/>
                </a:solidFill>
                <a:latin typeface="Consolas"/>
                <a:cs typeface="Consolas"/>
              </a:rPr>
              <a:t>--interval 5</a:t>
            </a:r>
            <a:r>
              <a:rPr lang="fr-FR" sz="1100" b="0" i="0" dirty="0">
                <a:solidFill>
                  <a:srgbClr val="202020"/>
                </a:solidFill>
                <a:latin typeface="Arial"/>
                <a:cs typeface="Arial"/>
              </a:rPr>
              <a:t>) → </a:t>
            </a:r>
            <a:r>
              <a:rPr lang="fr-FR" sz="1100" b="0" i="0" dirty="0">
                <a:solidFill>
                  <a:srgbClr val="20A4B0"/>
                </a:solidFill>
                <a:latin typeface="Consolas"/>
                <a:cs typeface="Consolas"/>
              </a:rPr>
              <a:t>data/raw/gbfs_history/station_status_AAAAMMJJ.csv</a:t>
            </a:r>
            <a:r>
              <a:rPr lang="fr-FR" sz="1100" b="0" i="0" dirty="0">
                <a:solidFill>
                  <a:srgbClr val="202020"/>
                </a:solidFill>
                <a:latin typeface="Arial"/>
                <a:cs typeface="Arial"/>
              </a:rPr>
              <a:t> : snapshot_utc, station_id, num_vehicles_available, is_renting… Les flux GBFS ne donnent que l'état instantané : c'est le seul moyen d'en garder une trace.</a:t>
            </a:r>
            <a:endParaRPr lang="fr-FR" sz="1100" dirty="0"/>
          </a:p>
        </p:txBody>
      </p:sp>
      <p:pic>
        <p:nvPicPr>
          <p:cNvPr id="9010"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514E98"/>
                </a:solidFill>
                <a:latin typeface="Arial"/>
                <a:cs typeface="Arial"/>
              </a:rPr>
              <a:t>PARTIE 3 · L'EXTRACTION</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IGN, liens directs, Geofabrik, Nantes Métropole</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Quatre façons de récupérer les autres sources, toutes dans download_all.py (sauf Marguerite).</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11</a:t>
            </a:r>
            <a:endParaRPr lang="fr-FR" sz="900" dirty="0"/>
          </a:p>
        </p:txBody>
      </p:sp>
      <p:sp>
        <p:nvSpPr>
          <p:cNvPr id="10" name="Forme 10"/>
          <p:cNvSpPr/>
          <p:nvPr/>
        </p:nvSpPr>
        <p:spPr>
          <a:xfrm>
            <a:off x="457200" y="1371600"/>
            <a:ext cx="5559552" cy="242316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1" name="Forme 11"/>
          <p:cNvSpPr/>
          <p:nvPr/>
        </p:nvSpPr>
        <p:spPr>
          <a:xfrm>
            <a:off x="457200" y="1371600"/>
            <a:ext cx="64008" cy="2423160"/>
          </a:xfrm>
          <a:prstGeom prst="rect">
            <a:avLst/>
          </a:prstGeom>
          <a:solidFill>
            <a:srgbClr val="514E98"/>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2" name="Forme 12"/>
          <p:cNvSpPr/>
          <p:nvPr/>
        </p:nvSpPr>
        <p:spPr>
          <a:xfrm>
            <a:off x="640080" y="1463040"/>
            <a:ext cx="5266944" cy="22860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514E98"/>
                </a:solidFill>
                <a:latin typeface="Arial"/>
                <a:cs typeface="Arial"/>
              </a:rPr>
              <a:t>Flux Atom de l'IGN : toujours la dernière édition</a:t>
            </a:r>
            <a:endParaRPr lang="fr-FR" sz="1300" dirty="0"/>
          </a:p>
          <a:p>
            <a:pPr algn="l">
              <a:lnSpc>
                <a:spcPct val="100000"/>
              </a:lnSpc>
              <a:spcBef>
                <a:spcPts val="300"/>
              </a:spcBef>
              <a:spcAft>
                <a:spcPts val="0"/>
              </a:spcAft>
              <a:buNone/>
            </a:pPr>
            <a:r>
              <a:rPr lang="fr-FR" sz="1050" b="0" i="0" dirty="0">
                <a:solidFill>
                  <a:srgbClr val="202020"/>
                </a:solidFill>
                <a:latin typeface="Arial"/>
                <a:cs typeface="Arial"/>
              </a:rPr>
              <a:t>1. </a:t>
            </a:r>
            <a:r>
              <a:rPr lang="fr-FR" sz="1050" b="0" i="0" dirty="0">
                <a:solidFill>
                  <a:srgbClr val="20A4B0"/>
                </a:solidFill>
                <a:latin typeface="Consolas"/>
                <a:cs typeface="Consolas"/>
              </a:rPr>
              <a:t>ign_entries()</a:t>
            </a:r>
            <a:r>
              <a:rPr lang="fr-FR" sz="1050" b="0" i="0" dirty="0">
                <a:solidFill>
                  <a:srgbClr val="202020"/>
                </a:solidFill>
                <a:latin typeface="Arial"/>
                <a:cs typeface="Arial"/>
              </a:rPr>
              <a:t> lit </a:t>
            </a:r>
            <a:r>
              <a:rPr lang="fr-FR" sz="1050" b="0" i="0" dirty="0">
                <a:solidFill>
                  <a:srgbClr val="20A4B0"/>
                </a:solidFill>
                <a:latin typeface="Consolas"/>
                <a:cs typeface="Consolas"/>
              </a:rPr>
              <a:t>https://data.geopf.fr/telechargement/resource/{collection}?page=N</a:t>
            </a:r>
            <a:r>
              <a:rPr lang="fr-FR" sz="1050" b="0" i="0" dirty="0">
                <a:solidFill>
                  <a:srgbClr val="202020"/>
                </a:solidFill>
                <a:latin typeface="Arial"/>
                <a:cs typeface="Arial"/>
              </a:rPr>
              <a:t> (jusqu'à 30 pages).</a:t>
            </a:r>
            <a:endParaRPr lang="fr-FR" sz="1050" dirty="0"/>
          </a:p>
          <a:p>
            <a:pPr algn="l">
              <a:lnSpc>
                <a:spcPct val="100000"/>
              </a:lnSpc>
              <a:spcBef>
                <a:spcPts val="300"/>
              </a:spcBef>
              <a:spcAft>
                <a:spcPts val="0"/>
              </a:spcAft>
              <a:buNone/>
            </a:pPr>
            <a:r>
              <a:rPr lang="fr-FR" sz="1050" b="0" i="0" dirty="0">
                <a:solidFill>
                  <a:srgbClr val="202020"/>
                </a:solidFill>
                <a:latin typeface="Arial"/>
                <a:cs typeface="Arial"/>
              </a:rPr>
              <a:t>2. </a:t>
            </a:r>
            <a:r>
              <a:rPr lang="fr-FR" sz="1050" b="0" i="0" dirty="0">
                <a:solidFill>
                  <a:srgbClr val="20A4B0"/>
                </a:solidFill>
                <a:latin typeface="Consolas"/>
                <a:cs typeface="Consolas"/>
              </a:rPr>
              <a:t>ign_pick_latest()</a:t>
            </a:r>
            <a:r>
              <a:rPr lang="fr-FR" sz="1050" b="0" i="0" dirty="0">
                <a:solidFill>
                  <a:srgbClr val="202020"/>
                </a:solidFill>
                <a:latin typeface="Arial"/>
                <a:cs typeface="Arial"/>
              </a:rPr>
              <a:t> garde les éditions France entière (</a:t>
            </a:r>
            <a:r>
              <a:rPr lang="fr-FR" sz="1050" b="0" i="0" dirty="0">
                <a:solidFill>
                  <a:srgbClr val="20A4B0"/>
                </a:solidFill>
                <a:latin typeface="Consolas"/>
                <a:cs typeface="Consolas"/>
              </a:rPr>
              <a:t>_FRA_</a:t>
            </a:r>
            <a:r>
              <a:rPr lang="fr-FR" sz="1050" b="0" i="0" dirty="0">
                <a:solidFill>
                  <a:srgbClr val="202020"/>
                </a:solidFill>
                <a:latin typeface="Arial"/>
                <a:cs typeface="Arial"/>
              </a:rPr>
              <a:t> ou </a:t>
            </a:r>
            <a:r>
              <a:rPr lang="fr-FR" sz="1050" b="0" i="0" dirty="0">
                <a:solidFill>
                  <a:srgbClr val="20A4B0"/>
                </a:solidFill>
                <a:latin typeface="Consolas"/>
                <a:cs typeface="Consolas"/>
              </a:rPr>
              <a:t>_FXX_</a:t>
            </a:r>
            <a:r>
              <a:rPr lang="fr-FR" sz="1050" b="0" i="0" dirty="0">
                <a:solidFill>
                  <a:srgbClr val="202020"/>
                </a:solidFill>
                <a:latin typeface="Arial"/>
                <a:cs typeface="Arial"/>
              </a:rPr>
              <a:t>), la </a:t>
            </a:r>
            <a:r>
              <a:rPr lang="fr-FR" sz="1050" b="1" i="0" dirty="0">
                <a:solidFill>
                  <a:srgbClr val="202020"/>
                </a:solidFill>
                <a:latin typeface="Arial"/>
                <a:cs typeface="Arial"/>
              </a:rPr>
              <a:t>date la plus récente</a:t>
            </a:r>
            <a:r>
              <a:rPr lang="fr-FR" sz="1050" b="0" i="0" dirty="0">
                <a:solidFill>
                  <a:srgbClr val="202020"/>
                </a:solidFill>
                <a:latin typeface="Arial"/>
                <a:cs typeface="Arial"/>
              </a:rPr>
              <a:t>, le GPKG de préférence.</a:t>
            </a:r>
            <a:endParaRPr lang="fr-FR" sz="1050" dirty="0"/>
          </a:p>
          <a:p>
            <a:pPr algn="l">
              <a:lnSpc>
                <a:spcPct val="100000"/>
              </a:lnSpc>
              <a:spcBef>
                <a:spcPts val="300"/>
              </a:spcBef>
              <a:spcAft>
                <a:spcPts val="0"/>
              </a:spcAft>
              <a:buNone/>
            </a:pPr>
            <a:r>
              <a:rPr lang="fr-FR" sz="1050" b="0" i="0" dirty="0">
                <a:solidFill>
                  <a:srgbClr val="202020"/>
                </a:solidFill>
                <a:latin typeface="Arial"/>
                <a:cs typeface="Arial"/>
              </a:rPr>
              <a:t>3. Il lit les liens </a:t>
            </a:r>
            <a:r>
              <a:rPr lang="fr-FR" sz="1050" b="0" i="0" dirty="0">
                <a:solidFill>
                  <a:srgbClr val="20A4B0"/>
                </a:solidFill>
                <a:latin typeface="Consolas"/>
                <a:cs typeface="Consolas"/>
              </a:rPr>
              <a:t>.7z</a:t>
            </a:r>
            <a:r>
              <a:rPr lang="fr-FR" sz="1050" b="0" i="0" dirty="0">
                <a:solidFill>
                  <a:srgbClr val="202020"/>
                </a:solidFill>
                <a:latin typeface="Arial"/>
                <a:cs typeface="Arial"/>
              </a:rPr>
              <a:t> de l'édition choisie ; à défaut, schéma d'URL standard.</a:t>
            </a:r>
            <a:endParaRPr lang="fr-FR" sz="1050" dirty="0"/>
          </a:p>
          <a:p>
            <a:pPr algn="l">
              <a:lnSpc>
                <a:spcPct val="100000"/>
              </a:lnSpc>
              <a:spcBef>
                <a:spcPts val="400"/>
              </a:spcBef>
              <a:spcAft>
                <a:spcPts val="0"/>
              </a:spcAft>
              <a:buNone/>
            </a:pPr>
            <a:r>
              <a:rPr lang="fr-FR" sz="1050" b="0" i="0" dirty="0">
                <a:solidFill>
                  <a:srgbClr val="514E98"/>
                </a:solidFill>
                <a:latin typeface="Arial"/>
                <a:cs typeface="Arial"/>
              </a:rPr>
              <a:t>Résultat : </a:t>
            </a:r>
            <a:r>
              <a:rPr lang="fr-FR" sz="1050" b="0" i="0" dirty="0">
                <a:solidFill>
                  <a:srgbClr val="20A4B0"/>
                </a:solidFill>
                <a:latin typeface="Consolas"/>
                <a:cs typeface="Consolas"/>
              </a:rPr>
              <a:t>ADMIN-EXPRESS-COG_4-0__GPKG_WGS84G_FRA_2026-01-01</a:t>
            </a:r>
            <a:r>
              <a:rPr lang="fr-FR" sz="1050" b="0" i="0" dirty="0">
                <a:solidFill>
                  <a:srgbClr val="514E98"/>
                </a:solidFill>
                <a:latin typeface="Arial"/>
                <a:cs typeface="Arial"/>
              </a:rPr>
              <a:t>, sans changer le code chaque année.</a:t>
            </a:r>
            <a:endParaRPr lang="fr-FR" sz="1050" dirty="0"/>
          </a:p>
        </p:txBody>
      </p:sp>
      <p:sp>
        <p:nvSpPr>
          <p:cNvPr id="13" name="Forme 13"/>
          <p:cNvSpPr/>
          <p:nvPr/>
        </p:nvSpPr>
        <p:spPr>
          <a:xfrm>
            <a:off x="6172200" y="1371600"/>
            <a:ext cx="5559552" cy="242316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4" name="Forme 14"/>
          <p:cNvSpPr/>
          <p:nvPr/>
        </p:nvSpPr>
        <p:spPr>
          <a:xfrm>
            <a:off x="6172200" y="1371600"/>
            <a:ext cx="64008" cy="2423160"/>
          </a:xfrm>
          <a:prstGeom prst="rect">
            <a:avLst/>
          </a:prstGeom>
          <a:solidFill>
            <a:srgbClr val="20A4B0"/>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5" name="Forme 15"/>
          <p:cNvSpPr/>
          <p:nvPr/>
        </p:nvSpPr>
        <p:spPr>
          <a:xfrm>
            <a:off x="6355080" y="1463040"/>
            <a:ext cx="5266944" cy="22860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20A4B0"/>
                </a:solidFill>
                <a:latin typeface="Arial"/>
                <a:cs typeface="Arial"/>
              </a:rPr>
              <a:t>Liens directs : INSEE, data.gouv.fr, MobilityData</a:t>
            </a:r>
            <a:endParaRPr lang="fr-FR" sz="1300" dirty="0"/>
          </a:p>
          <a:p>
            <a:pPr algn="l">
              <a:lnSpc>
                <a:spcPct val="100000"/>
              </a:lnSpc>
              <a:spcBef>
                <a:spcPts val="300"/>
              </a:spcBef>
              <a:spcAft>
                <a:spcPts val="0"/>
              </a:spcAft>
              <a:buNone/>
            </a:pPr>
            <a:r>
              <a:rPr lang="fr-FR" sz="1050" b="0" i="0" dirty="0">
                <a:solidFill>
                  <a:srgbClr val="202020"/>
                </a:solidFill>
                <a:latin typeface="Arial"/>
                <a:cs typeface="Arial"/>
              </a:rPr>
              <a:t>Dictionnaire </a:t>
            </a:r>
            <a:r>
              <a:rPr lang="fr-FR" sz="1050" b="0" i="0" dirty="0">
                <a:solidFill>
                  <a:srgbClr val="20A4B0"/>
                </a:solidFill>
                <a:latin typeface="Consolas"/>
                <a:cs typeface="Consolas"/>
              </a:rPr>
              <a:t>STATIC</a:t>
            </a:r>
            <a:r>
              <a:rPr lang="fr-FR" sz="1050" b="0" i="0" dirty="0">
                <a:solidFill>
                  <a:srgbClr val="202020"/>
                </a:solidFill>
                <a:latin typeface="Arial"/>
                <a:cs typeface="Arial"/>
              </a:rPr>
              <a:t> en tête de </a:t>
            </a:r>
            <a:r>
              <a:rPr lang="fr-FR" sz="1050" b="0" i="0" dirty="0">
                <a:solidFill>
                  <a:srgbClr val="20A4B0"/>
                </a:solidFill>
                <a:latin typeface="Consolas"/>
                <a:cs typeface="Consolas"/>
              </a:rPr>
              <a:t>download_all.py</a:t>
            </a:r>
            <a:r>
              <a:rPr lang="fr-FR" sz="1050" b="0" i="0" dirty="0">
                <a:solidFill>
                  <a:srgbClr val="202020"/>
                </a:solidFill>
                <a:latin typeface="Arial"/>
                <a:cs typeface="Arial"/>
              </a:rPr>
              <a:t> : 8 liens « vérifiés le 19/10/2026 », rangés par catégorie (</a:t>
            </a:r>
            <a:r>
              <a:rPr lang="fr-FR" sz="1050" b="0" i="0" dirty="0">
                <a:solidFill>
                  <a:srgbClr val="20A4B0"/>
                </a:solidFill>
                <a:latin typeface="Consolas"/>
                <a:cs typeface="Consolas"/>
              </a:rPr>
              <a:t>stops_national</a:t>
            </a:r>
            <a:r>
              <a:rPr lang="fr-FR" sz="1050" b="0" i="0" dirty="0">
                <a:solidFill>
                  <a:srgbClr val="202020"/>
                </a:solidFill>
                <a:latin typeface="Arial"/>
                <a:cs typeface="Arial"/>
              </a:rPr>
              <a:t>, </a:t>
            </a:r>
            <a:r>
              <a:rPr lang="fr-FR" sz="1050" b="0" i="0" dirty="0">
                <a:solidFill>
                  <a:srgbClr val="20A4B0"/>
                </a:solidFill>
                <a:latin typeface="Consolas"/>
                <a:cs typeface="Consolas"/>
              </a:rPr>
              <a:t>gbfs_catalog</a:t>
            </a:r>
            <a:r>
              <a:rPr lang="fr-FR" sz="1050" b="0" i="0" dirty="0">
                <a:solidFill>
                  <a:srgbClr val="202020"/>
                </a:solidFill>
                <a:latin typeface="Arial"/>
                <a:cs typeface="Arial"/>
              </a:rPr>
              <a:t>, </a:t>
            </a:r>
            <a:r>
              <a:rPr lang="fr-FR" sz="1050" b="0" i="0" dirty="0">
                <a:solidFill>
                  <a:srgbClr val="20A4B0"/>
                </a:solidFill>
                <a:latin typeface="Consolas"/>
                <a:cs typeface="Consolas"/>
              </a:rPr>
              <a:t>insee</a:t>
            </a:r>
            <a:r>
              <a:rPr lang="fr-FR" sz="1050" b="0" i="0" dirty="0">
                <a:solidFill>
                  <a:srgbClr val="202020"/>
                </a:solidFill>
                <a:latin typeface="Arial"/>
                <a:cs typeface="Arial"/>
              </a:rPr>
              <a:t>, </a:t>
            </a:r>
            <a:r>
              <a:rPr lang="fr-FR" sz="1050" b="0" i="0" dirty="0">
                <a:solidFill>
                  <a:srgbClr val="20A4B0"/>
                </a:solidFill>
                <a:latin typeface="Consolas"/>
                <a:cs typeface="Consolas"/>
              </a:rPr>
              <a:t>securite</a:t>
            </a:r>
            <a:r>
              <a:rPr lang="fr-FR" sz="1050" b="0" i="0" dirty="0">
                <a:solidFill>
                  <a:srgbClr val="202020"/>
                </a:solidFill>
                <a:latin typeface="Arial"/>
                <a:cs typeface="Arial"/>
              </a:rPr>
              <a:t>).</a:t>
            </a:r>
            <a:endParaRPr lang="fr-FR" sz="1050" dirty="0"/>
          </a:p>
          <a:p>
            <a:pPr algn="l">
              <a:lnSpc>
                <a:spcPct val="100000"/>
              </a:lnSpc>
              <a:spcBef>
                <a:spcPts val="300"/>
              </a:spcBef>
              <a:spcAft>
                <a:spcPts val="0"/>
              </a:spcAft>
              <a:buNone/>
            </a:pPr>
            <a:r>
              <a:rPr lang="fr-FR" sz="1050" b="0" i="0" dirty="0">
                <a:solidFill>
                  <a:srgbClr val="202020"/>
                </a:solidFill>
                <a:latin typeface="Arial"/>
                <a:cs typeface="Arial"/>
              </a:rPr>
              <a:t>Téléchargés en parallèle, délai de 15 min par fichier (</a:t>
            </a:r>
            <a:r>
              <a:rPr lang="fr-FR" sz="1050" b="0" i="0" dirty="0">
                <a:solidFill>
                  <a:srgbClr val="20A4B0"/>
                </a:solidFill>
                <a:latin typeface="Consolas"/>
                <a:cs typeface="Consolas"/>
              </a:rPr>
              <a:t>timeout=900</a:t>
            </a:r>
            <a:r>
              <a:rPr lang="fr-FR" sz="1050" b="0" i="0" dirty="0">
                <a:solidFill>
                  <a:srgbClr val="202020"/>
                </a:solidFill>
                <a:latin typeface="Arial"/>
                <a:cs typeface="Arial"/>
              </a:rPr>
              <a:t>).</a:t>
            </a:r>
            <a:endParaRPr lang="fr-FR" sz="1050" dirty="0"/>
          </a:p>
          <a:p>
            <a:pPr algn="l">
              <a:lnSpc>
                <a:spcPct val="100000"/>
              </a:lnSpc>
              <a:spcBef>
                <a:spcPts val="300"/>
              </a:spcBef>
              <a:spcAft>
                <a:spcPts val="0"/>
              </a:spcAft>
              <a:buNone/>
            </a:pPr>
            <a:r>
              <a:rPr lang="fr-FR" sz="1050" b="0" i="0" dirty="0">
                <a:solidFill>
                  <a:srgbClr val="202020"/>
                </a:solidFill>
                <a:latin typeface="Arial"/>
                <a:cs typeface="Arial"/>
              </a:rPr>
              <a:t>Si un lien casse, le serveur renvoie souvent une page HTML : </a:t>
            </a:r>
            <a:r>
              <a:rPr lang="fr-FR" sz="1050" b="0" i="0" dirty="0">
                <a:solidFill>
                  <a:srgbClr val="20A4B0"/>
                </a:solidFill>
                <a:latin typeface="Consolas"/>
                <a:cs typeface="Consolas"/>
              </a:rPr>
              <a:t>check_data.py › looks_like_html</a:t>
            </a:r>
            <a:r>
              <a:rPr lang="fr-FR" sz="1050" b="0" i="0" dirty="0">
                <a:solidFill>
                  <a:srgbClr val="202020"/>
                </a:solidFill>
                <a:latin typeface="Arial"/>
                <a:cs typeface="Arial"/>
              </a:rPr>
              <a:t> la repère (❌ « lien probablement changé »).</a:t>
            </a:r>
            <a:endParaRPr lang="fr-FR" sz="1050" dirty="0"/>
          </a:p>
        </p:txBody>
      </p:sp>
      <p:sp>
        <p:nvSpPr>
          <p:cNvPr id="16" name="Forme 16"/>
          <p:cNvSpPr/>
          <p:nvPr/>
        </p:nvSpPr>
        <p:spPr>
          <a:xfrm>
            <a:off x="457200" y="3931920"/>
            <a:ext cx="5559552" cy="237744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7" name="Forme 17"/>
          <p:cNvSpPr/>
          <p:nvPr/>
        </p:nvSpPr>
        <p:spPr>
          <a:xfrm>
            <a:off x="457200" y="3931920"/>
            <a:ext cx="64008" cy="2377440"/>
          </a:xfrm>
          <a:prstGeom prst="rect">
            <a:avLst/>
          </a:prstGeom>
          <a:solidFill>
            <a:srgbClr val="32B4B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8" name="Forme 18"/>
          <p:cNvSpPr/>
          <p:nvPr/>
        </p:nvSpPr>
        <p:spPr>
          <a:xfrm>
            <a:off x="640080" y="4023360"/>
            <a:ext cx="5266944" cy="224028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32B4B5"/>
                </a:solidFill>
                <a:latin typeface="Arial"/>
                <a:cs typeface="Arial"/>
              </a:rPr>
              <a:t>Geofabrik : OpenStreetMap par région</a:t>
            </a:r>
            <a:endParaRPr lang="fr-FR" sz="1300" dirty="0"/>
          </a:p>
          <a:p>
            <a:pPr algn="l">
              <a:lnSpc>
                <a:spcPct val="100000"/>
              </a:lnSpc>
              <a:spcBef>
                <a:spcPts val="300"/>
              </a:spcBef>
              <a:spcAft>
                <a:spcPts val="0"/>
              </a:spcAft>
              <a:buNone/>
            </a:pPr>
            <a:r>
              <a:rPr lang="fr-FR" sz="1050" b="0" i="0" dirty="0">
                <a:solidFill>
                  <a:srgbClr val="20A4B0"/>
                </a:solidFill>
                <a:latin typeface="Consolas"/>
                <a:cs typeface="Consolas"/>
              </a:rPr>
              <a:t>run_osm()</a:t>
            </a:r>
            <a:r>
              <a:rPr lang="fr-FR" sz="1050" b="0" i="0" dirty="0">
                <a:solidFill>
                  <a:srgbClr val="202020"/>
                </a:solidFill>
                <a:latin typeface="Arial"/>
                <a:cs typeface="Arial"/>
              </a:rPr>
              <a:t> : </a:t>
            </a:r>
            <a:r>
              <a:rPr lang="fr-FR" sz="1050" b="0" i="0" dirty="0">
                <a:solidFill>
                  <a:srgbClr val="20A4B0"/>
                </a:solidFill>
                <a:latin typeface="Consolas"/>
                <a:cs typeface="Consolas"/>
              </a:rPr>
              <a:t>--osm france</a:t>
            </a:r>
            <a:r>
              <a:rPr lang="fr-FR" sz="1050" b="0" i="0" dirty="0">
                <a:solidFill>
                  <a:srgbClr val="202020"/>
                </a:solidFill>
                <a:latin typeface="Arial"/>
                <a:cs typeface="Arial"/>
              </a:rPr>
              <a:t> (≈ 4,5 Go), </a:t>
            </a:r>
            <a:r>
              <a:rPr lang="fr-FR" sz="1050" b="0" i="0" dirty="0">
                <a:solidFill>
                  <a:srgbClr val="20A4B0"/>
                </a:solidFill>
                <a:latin typeface="Consolas"/>
                <a:cs typeface="Consolas"/>
              </a:rPr>
              <a:t>--osm region</a:t>
            </a:r>
            <a:r>
              <a:rPr lang="fr-FR" sz="1050" b="0" i="0" dirty="0">
                <a:solidFill>
                  <a:srgbClr val="202020"/>
                </a:solidFill>
                <a:latin typeface="Arial"/>
                <a:cs typeface="Arial"/>
              </a:rPr>
              <a:t> ou </a:t>
            </a:r>
            <a:r>
              <a:rPr lang="fr-FR" sz="1050" b="0" i="0" dirty="0">
                <a:solidFill>
                  <a:srgbClr val="20A4B0"/>
                </a:solidFill>
                <a:latin typeface="Consolas"/>
                <a:cs typeface="Consolas"/>
              </a:rPr>
              <a:t>--osm none</a:t>
            </a:r>
            <a:r>
              <a:rPr lang="fr-FR" sz="1050" b="0" i="0" dirty="0">
                <a:solidFill>
                  <a:srgbClr val="202020"/>
                </a:solidFill>
                <a:latin typeface="Arial"/>
                <a:cs typeface="Arial"/>
              </a:rPr>
              <a:t>.</a:t>
            </a:r>
            <a:endParaRPr lang="fr-FR" sz="1050" dirty="0"/>
          </a:p>
          <a:p>
            <a:pPr algn="l">
              <a:lnSpc>
                <a:spcPct val="100000"/>
              </a:lnSpc>
              <a:spcBef>
                <a:spcPts val="300"/>
              </a:spcBef>
              <a:spcAft>
                <a:spcPts val="0"/>
              </a:spcAft>
              <a:buNone/>
            </a:pPr>
            <a:r>
              <a:rPr lang="fr-FR" sz="1050" b="0" i="0" dirty="0">
                <a:solidFill>
                  <a:srgbClr val="202020"/>
                </a:solidFill>
                <a:latin typeface="Arial"/>
                <a:cs typeface="Arial"/>
              </a:rPr>
              <a:t>Geofabrik découpe encore selon les </a:t>
            </a:r>
            <a:r>
              <a:rPr lang="fr-FR" sz="1050" b="1" i="0" dirty="0">
                <a:solidFill>
                  <a:srgbClr val="202020"/>
                </a:solidFill>
                <a:latin typeface="Arial"/>
                <a:cs typeface="Arial"/>
              </a:rPr>
              <a:t>régions d'avant 2016</a:t>
            </a:r>
            <a:r>
              <a:rPr lang="fr-FR" sz="1050" b="0" i="0" dirty="0">
                <a:solidFill>
                  <a:srgbClr val="202020"/>
                </a:solidFill>
                <a:latin typeface="Arial"/>
                <a:cs typeface="Arial"/>
              </a:rPr>
              <a:t> : </a:t>
            </a:r>
            <a:r>
              <a:rPr lang="fr-FR" sz="1050" b="0" i="0" dirty="0">
                <a:solidFill>
                  <a:srgbClr val="20A4B0"/>
                </a:solidFill>
                <a:latin typeface="Consolas"/>
                <a:cs typeface="Consolas"/>
              </a:rPr>
              <a:t>GEOFABRIK_ALIASES</a:t>
            </a:r>
            <a:r>
              <a:rPr lang="fr-FR" sz="1050" b="0" i="0" dirty="0">
                <a:solidFill>
                  <a:srgbClr val="202020"/>
                </a:solidFill>
                <a:latin typeface="Arial"/>
                <a:cs typeface="Arial"/>
              </a:rPr>
              <a:t> traduit « auvergne-rhone-alpes » en </a:t>
            </a:r>
            <a:r>
              <a:rPr lang="fr-FR" sz="1050" b="0" i="0" dirty="0">
                <a:solidFill>
                  <a:srgbClr val="20A4B0"/>
                </a:solidFill>
                <a:latin typeface="Consolas"/>
                <a:cs typeface="Consolas"/>
              </a:rPr>
              <a:t>rhone-alpes</a:t>
            </a:r>
            <a:r>
              <a:rPr lang="fr-FR" sz="1050" b="0" i="0" dirty="0">
                <a:solidFill>
                  <a:srgbClr val="202020"/>
                </a:solidFill>
                <a:latin typeface="Arial"/>
                <a:cs typeface="Arial"/>
              </a:rPr>
              <a:t> + </a:t>
            </a:r>
            <a:r>
              <a:rPr lang="fr-FR" sz="1050" b="0" i="0" dirty="0">
                <a:solidFill>
                  <a:srgbClr val="20A4B0"/>
                </a:solidFill>
                <a:latin typeface="Consolas"/>
                <a:cs typeface="Consolas"/>
              </a:rPr>
              <a:t>auvergne</a:t>
            </a:r>
            <a:r>
              <a:rPr lang="fr-FR" sz="1050" b="0" i="0" dirty="0">
                <a:solidFill>
                  <a:srgbClr val="202020"/>
                </a:solidFill>
                <a:latin typeface="Arial"/>
                <a:cs typeface="Arial"/>
              </a:rPr>
              <a:t>.</a:t>
            </a:r>
            <a:endParaRPr lang="fr-FR" sz="1050" dirty="0"/>
          </a:p>
          <a:p>
            <a:pPr algn="l">
              <a:lnSpc>
                <a:spcPct val="100000"/>
              </a:lnSpc>
              <a:spcBef>
                <a:spcPts val="300"/>
              </a:spcBef>
              <a:spcAft>
                <a:spcPts val="0"/>
              </a:spcAft>
              <a:buNone/>
            </a:pPr>
            <a:r>
              <a:rPr lang="fr-FR" sz="1050" b="0" i="0" dirty="0">
                <a:solidFill>
                  <a:srgbClr val="202020"/>
                </a:solidFill>
                <a:latin typeface="Arial"/>
                <a:cs typeface="Arial"/>
              </a:rPr>
              <a:t>Nous : </a:t>
            </a:r>
            <a:r>
              <a:rPr lang="fr-FR" sz="1050" b="0" i="0" dirty="0">
                <a:solidFill>
                  <a:srgbClr val="20A4B0"/>
                </a:solidFill>
                <a:latin typeface="Consolas"/>
                <a:cs typeface="Consolas"/>
              </a:rPr>
              <a:t>rhone-alpes</a:t>
            </a:r>
            <a:r>
              <a:rPr lang="fr-FR" sz="1050" b="0" i="0" dirty="0">
                <a:solidFill>
                  <a:srgbClr val="202020"/>
                </a:solidFill>
                <a:latin typeface="Arial"/>
                <a:cs typeface="Arial"/>
              </a:rPr>
              <a:t> (531 Mo, 7 min) et </a:t>
            </a:r>
            <a:r>
              <a:rPr lang="fr-FR" sz="1050" b="0" i="0" dirty="0">
                <a:solidFill>
                  <a:srgbClr val="20A4B0"/>
                </a:solidFill>
                <a:latin typeface="Consolas"/>
                <a:cs typeface="Consolas"/>
              </a:rPr>
              <a:t>pays-de-la-loire</a:t>
            </a:r>
            <a:r>
              <a:rPr lang="fr-FR" sz="1050" b="0" i="0" dirty="0">
                <a:solidFill>
                  <a:srgbClr val="202020"/>
                </a:solidFill>
                <a:latin typeface="Arial"/>
                <a:cs typeface="Arial"/>
              </a:rPr>
              <a:t> (373 Mo, 24 s).</a:t>
            </a:r>
            <a:endParaRPr lang="fr-FR" sz="1050" dirty="0"/>
          </a:p>
        </p:txBody>
      </p:sp>
      <p:sp>
        <p:nvSpPr>
          <p:cNvPr id="19" name="Forme 19"/>
          <p:cNvSpPr/>
          <p:nvPr/>
        </p:nvSpPr>
        <p:spPr>
          <a:xfrm>
            <a:off x="6172200" y="3931920"/>
            <a:ext cx="5559552" cy="237744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0" name="Forme 20"/>
          <p:cNvSpPr/>
          <p:nvPr/>
        </p:nvSpPr>
        <p:spPr>
          <a:xfrm>
            <a:off x="6172200" y="3931920"/>
            <a:ext cx="64008" cy="2377440"/>
          </a:xfrm>
          <a:prstGeom prst="rect">
            <a:avLst/>
          </a:prstGeom>
          <a:solidFill>
            <a:srgbClr val="32B4B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1" name="Forme 21"/>
          <p:cNvSpPr/>
          <p:nvPr/>
        </p:nvSpPr>
        <p:spPr>
          <a:xfrm>
            <a:off x="6355080" y="4023360"/>
            <a:ext cx="5266944" cy="224028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20A4B0"/>
                </a:solidFill>
                <a:latin typeface="Arial"/>
                <a:cs typeface="Arial"/>
              </a:rPr>
              <a:t>Marguerite et archives</a:t>
            </a:r>
            <a:endParaRPr lang="fr-FR" sz="1300" dirty="0"/>
          </a:p>
          <a:p>
            <a:pPr algn="l">
              <a:lnSpc>
                <a:spcPct val="100000"/>
              </a:lnSpc>
              <a:spcBef>
                <a:spcPts val="300"/>
              </a:spcBef>
              <a:spcAft>
                <a:spcPts val="0"/>
              </a:spcAft>
              <a:buNone/>
            </a:pPr>
            <a:r>
              <a:rPr lang="fr-FR" sz="1050" b="1" i="0" dirty="0">
                <a:solidFill>
                  <a:srgbClr val="202020"/>
                </a:solidFill>
                <a:latin typeface="Arial"/>
                <a:cs typeface="Arial"/>
              </a:rPr>
              <a:t>Stations Marguerite</a:t>
            </a:r>
            <a:r>
              <a:rPr lang="fr-FR" sz="1050" b="0" i="0" dirty="0">
                <a:solidFill>
                  <a:srgbClr val="202020"/>
                </a:solidFill>
                <a:latin typeface="Arial"/>
                <a:cs typeface="Arial"/>
              </a:rPr>
              <a:t> : URL dans </a:t>
            </a:r>
            <a:r>
              <a:rPr lang="fr-FR" sz="1050" b="0" i="0" dirty="0">
                <a:solidFill>
                  <a:srgbClr val="20A4B0"/>
                </a:solidFill>
                <a:latin typeface="Consolas"/>
                <a:cs typeface="Consolas"/>
              </a:rPr>
              <a:t>settings.yaml</a:t>
            </a:r>
            <a:r>
              <a:rPr lang="fr-FR" sz="1050" b="0" i="0" dirty="0">
                <a:solidFill>
                  <a:srgbClr val="202020"/>
                </a:solidFill>
                <a:latin typeface="Arial"/>
                <a:cs typeface="Arial"/>
              </a:rPr>
              <a:t> (</a:t>
            </a:r>
            <a:r>
              <a:rPr lang="fr-FR" sz="1050" b="0" i="0" dirty="0">
                <a:solidFill>
                  <a:srgbClr val="20A4B0"/>
                </a:solidFill>
                <a:latin typeface="Consolas"/>
                <a:cs typeface="Consolas"/>
              </a:rPr>
              <a:t>cities.nantes.autopartage_local</a:t>
            </a:r>
            <a:r>
              <a:rPr lang="fr-FR" sz="1050" b="0" i="0" dirty="0">
                <a:solidFill>
                  <a:srgbClr val="202020"/>
                </a:solidFill>
                <a:latin typeface="Arial"/>
                <a:cs typeface="Arial"/>
              </a:rPr>
              <a:t>). </a:t>
            </a:r>
            <a:r>
              <a:rPr lang="fr-FR" sz="1050" b="0" i="0" dirty="0">
                <a:solidFill>
                  <a:srgbClr val="20A4B0"/>
                </a:solidFill>
                <a:latin typeface="Consolas"/>
                <a:cs typeface="Consolas"/>
              </a:rPr>
              <a:t>offer.py › local_carsharing_offer</a:t>
            </a:r>
            <a:r>
              <a:rPr lang="fr-FR" sz="1050" b="0" i="0" dirty="0">
                <a:solidFill>
                  <a:srgbClr val="202020"/>
                </a:solidFill>
                <a:latin typeface="Arial"/>
                <a:cs typeface="Arial"/>
              </a:rPr>
              <a:t> télécharge le GeoJSON s'il manque, retire l'exploitant Citiz (déjà dans le GBFS) et garde la zone.</a:t>
            </a:r>
            <a:endParaRPr lang="fr-FR" sz="1050" dirty="0"/>
          </a:p>
          <a:p>
            <a:pPr algn="l">
              <a:lnSpc>
                <a:spcPct val="100000"/>
              </a:lnSpc>
              <a:spcBef>
                <a:spcPts val="300"/>
              </a:spcBef>
              <a:spcAft>
                <a:spcPts val="0"/>
              </a:spcAft>
              <a:buNone/>
            </a:pPr>
            <a:r>
              <a:rPr lang="fr-FR" sz="1050" b="1" i="0" dirty="0">
                <a:solidFill>
                  <a:srgbClr val="202020"/>
                </a:solidFill>
                <a:latin typeface="Arial"/>
                <a:cs typeface="Arial"/>
              </a:rPr>
              <a:t>Archives</a:t>
            </a:r>
            <a:r>
              <a:rPr lang="fr-FR" sz="1050" b="0" i="0" dirty="0">
                <a:solidFill>
                  <a:srgbClr val="202020"/>
                </a:solidFill>
                <a:latin typeface="Arial"/>
                <a:cs typeface="Arial"/>
              </a:rPr>
              <a:t> : </a:t>
            </a:r>
            <a:r>
              <a:rPr lang="fr-FR" sz="1050" b="0" i="0" dirty="0">
                <a:solidFill>
                  <a:srgbClr val="20A4B0"/>
                </a:solidFill>
                <a:latin typeface="Consolas"/>
                <a:cs typeface="Consolas"/>
              </a:rPr>
              <a:t>archives.py › ign_gpkg</a:t>
            </a:r>
            <a:r>
              <a:rPr lang="fr-FR" sz="1050" b="0" i="0" dirty="0">
                <a:solidFill>
                  <a:srgbClr val="202020"/>
                </a:solidFill>
                <a:latin typeface="Arial"/>
                <a:cs typeface="Arial"/>
              </a:rPr>
              <a:t> (7z, avec py7zr) et </a:t>
            </a:r>
            <a:r>
              <a:rPr lang="fr-FR" sz="1050" b="0" i="0" dirty="0">
                <a:solidFill>
                  <a:srgbClr val="20A4B0"/>
                </a:solidFill>
                <a:latin typeface="Consolas"/>
                <a:cs typeface="Consolas"/>
              </a:rPr>
              <a:t>filosofi_gpkg</a:t>
            </a:r>
            <a:r>
              <a:rPr lang="fr-FR" sz="1050" b="0" i="0" dirty="0">
                <a:solidFill>
                  <a:srgbClr val="202020"/>
                </a:solidFill>
                <a:latin typeface="Arial"/>
                <a:cs typeface="Arial"/>
              </a:rPr>
              <a:t> (zip) extraient le GeoPackage à la première utilisation (+ ≈ 2,4 Go).</a:t>
            </a:r>
            <a:endParaRPr lang="fr-FR" sz="1050" dirty="0"/>
          </a:p>
        </p:txBody>
      </p:sp>
      <p:pic>
        <p:nvPicPr>
          <p:cNvPr id="9011"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514E98"/>
                </a:solidFill>
                <a:latin typeface="Arial"/>
                <a:cs typeface="Arial"/>
              </a:rPr>
              <a:t>PARTIE 3 · L'EXTRACTION</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Découper sur la zone, tampon de 800 m, réseau piéton</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On ne calcule que là où c'est utile, sans couper les habitants de la bordure.</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12</a:t>
            </a:r>
            <a:endParaRPr lang="fr-FR" sz="900" dirty="0"/>
          </a:p>
        </p:txBody>
      </p:sp>
      <p:sp>
        <p:nvSpPr>
          <p:cNvPr id="10" name="Forme 10"/>
          <p:cNvSpPr/>
          <p:nvPr/>
        </p:nvSpPr>
        <p:spPr>
          <a:xfrm>
            <a:off x="457200" y="1417320"/>
            <a:ext cx="4572000" cy="3657600"/>
          </a:xfrm>
          <a:prstGeom prst="roundRect">
            <a:avLst>
              <a:gd name="adj" fmla="val 5000"/>
            </a:avLst>
          </a:prstGeom>
          <a:solidFill>
            <a:srgbClr val="DBF4F4"/>
          </a:solidFill>
          <a:ln w="15875">
            <a:solidFill>
              <a:srgbClr val="514E98"/>
            </a:solid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1" name="Forme 11"/>
          <p:cNvSpPr/>
          <p:nvPr/>
        </p:nvSpPr>
        <p:spPr>
          <a:xfrm>
            <a:off x="640080" y="1481328"/>
            <a:ext cx="420624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100" b="1" i="0" dirty="0">
                <a:solidFill>
                  <a:srgbClr val="514E98"/>
                </a:solidFill>
                <a:latin typeface="Arial"/>
                <a:cs typeface="Arial"/>
              </a:rPr>
              <a:t>Zone + 800 m : l'offre (arrêts, stations) est chargée ici</a:t>
            </a:r>
            <a:endParaRPr lang="fr-FR" sz="1100" dirty="0"/>
          </a:p>
        </p:txBody>
      </p:sp>
      <p:sp>
        <p:nvSpPr>
          <p:cNvPr id="12" name="Forme 12"/>
          <p:cNvSpPr/>
          <p:nvPr/>
        </p:nvSpPr>
        <p:spPr>
          <a:xfrm>
            <a:off x="1051560" y="2103120"/>
            <a:ext cx="3383280" cy="2377440"/>
          </a:xfrm>
          <a:prstGeom prst="roundRect">
            <a:avLst>
              <a:gd name="adj" fmla="val 5000"/>
            </a:avLst>
          </a:prstGeom>
          <a:solidFill>
            <a:srgbClr val="DBF4F4"/>
          </a:solidFill>
          <a:ln w="15875">
            <a:solidFill>
              <a:srgbClr val="20A4B0"/>
            </a:solid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3" name="Forme 13"/>
          <p:cNvSpPr/>
          <p:nvPr/>
        </p:nvSpPr>
        <p:spPr>
          <a:xfrm>
            <a:off x="1188720" y="2167128"/>
            <a:ext cx="3108960" cy="4572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20A4B0"/>
                </a:solidFill>
                <a:latin typeface="Arial"/>
                <a:cs typeface="Arial"/>
              </a:rPr>
              <a:t>Nantes Métropole : 24 communes (EPCI 244400404)</a:t>
            </a:r>
            <a:endParaRPr lang="fr-FR" sz="1050" dirty="0"/>
          </a:p>
        </p:txBody>
      </p:sp>
      <p:sp>
        <p:nvSpPr>
          <p:cNvPr id="14" name="Forme 14"/>
          <p:cNvSpPr/>
          <p:nvPr/>
        </p:nvSpPr>
        <p:spPr>
          <a:xfrm>
            <a:off x="1371600" y="2743200"/>
            <a:ext cx="457200" cy="457200"/>
          </a:xfrm>
          <a:prstGeom prst="rect">
            <a:avLst/>
          </a:prstGeom>
          <a:solidFill>
            <a:srgbClr val="32B4B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5" name="Forme 15"/>
          <p:cNvSpPr/>
          <p:nvPr/>
        </p:nvSpPr>
        <p:spPr>
          <a:xfrm>
            <a:off x="1938528" y="2743200"/>
            <a:ext cx="457200" cy="457200"/>
          </a:xfrm>
          <a:prstGeom prst="rect">
            <a:avLst/>
          </a:prstGeom>
          <a:solidFill>
            <a:srgbClr val="7FD0D1"/>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6" name="Forme 16"/>
          <p:cNvSpPr/>
          <p:nvPr/>
        </p:nvSpPr>
        <p:spPr>
          <a:xfrm>
            <a:off x="2505456" y="2743200"/>
            <a:ext cx="457200" cy="457200"/>
          </a:xfrm>
          <a:prstGeom prst="rect">
            <a:avLst/>
          </a:prstGeom>
          <a:solidFill>
            <a:srgbClr val="7FD0D1"/>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7" name="Forme 17"/>
          <p:cNvSpPr/>
          <p:nvPr/>
        </p:nvSpPr>
        <p:spPr>
          <a:xfrm>
            <a:off x="3072384" y="2743200"/>
            <a:ext cx="457200" cy="457200"/>
          </a:xfrm>
          <a:prstGeom prst="rect">
            <a:avLst/>
          </a:prstGeom>
          <a:solidFill>
            <a:srgbClr val="32B4B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8" name="Forme 18"/>
          <p:cNvSpPr/>
          <p:nvPr/>
        </p:nvSpPr>
        <p:spPr>
          <a:xfrm>
            <a:off x="3639312" y="2743200"/>
            <a:ext cx="457200" cy="457200"/>
          </a:xfrm>
          <a:prstGeom prst="rect">
            <a:avLst/>
          </a:prstGeom>
          <a:solidFill>
            <a:srgbClr val="7FD0D1"/>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9" name="Forme 19"/>
          <p:cNvSpPr/>
          <p:nvPr/>
        </p:nvSpPr>
        <p:spPr>
          <a:xfrm>
            <a:off x="1371600" y="3291840"/>
            <a:ext cx="457200" cy="457200"/>
          </a:xfrm>
          <a:prstGeom prst="rect">
            <a:avLst/>
          </a:prstGeom>
          <a:solidFill>
            <a:srgbClr val="7FD0D1"/>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0" name="Forme 20"/>
          <p:cNvSpPr/>
          <p:nvPr/>
        </p:nvSpPr>
        <p:spPr>
          <a:xfrm>
            <a:off x="1938528" y="3291840"/>
            <a:ext cx="457200" cy="457200"/>
          </a:xfrm>
          <a:prstGeom prst="rect">
            <a:avLst/>
          </a:prstGeom>
          <a:solidFill>
            <a:srgbClr val="7FD0D1"/>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1" name="Forme 21"/>
          <p:cNvSpPr/>
          <p:nvPr/>
        </p:nvSpPr>
        <p:spPr>
          <a:xfrm>
            <a:off x="2505456" y="3291840"/>
            <a:ext cx="457200" cy="457200"/>
          </a:xfrm>
          <a:prstGeom prst="rect">
            <a:avLst/>
          </a:prstGeom>
          <a:solidFill>
            <a:srgbClr val="32B4B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2" name="Forme 22"/>
          <p:cNvSpPr/>
          <p:nvPr/>
        </p:nvSpPr>
        <p:spPr>
          <a:xfrm>
            <a:off x="3072384" y="3291840"/>
            <a:ext cx="457200" cy="457200"/>
          </a:xfrm>
          <a:prstGeom prst="rect">
            <a:avLst/>
          </a:prstGeom>
          <a:solidFill>
            <a:srgbClr val="7FD0D1"/>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3" name="Forme 23"/>
          <p:cNvSpPr/>
          <p:nvPr/>
        </p:nvSpPr>
        <p:spPr>
          <a:xfrm>
            <a:off x="3639312" y="3291840"/>
            <a:ext cx="457200" cy="457200"/>
          </a:xfrm>
          <a:prstGeom prst="rect">
            <a:avLst/>
          </a:prstGeom>
          <a:solidFill>
            <a:srgbClr val="7FD0D1"/>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4" name="Forme 24"/>
          <p:cNvSpPr/>
          <p:nvPr/>
        </p:nvSpPr>
        <p:spPr>
          <a:xfrm>
            <a:off x="1371600" y="3840480"/>
            <a:ext cx="457200" cy="457200"/>
          </a:xfrm>
          <a:prstGeom prst="rect">
            <a:avLst/>
          </a:prstGeom>
          <a:solidFill>
            <a:srgbClr val="7FD0D1"/>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5" name="Forme 25"/>
          <p:cNvSpPr/>
          <p:nvPr/>
        </p:nvSpPr>
        <p:spPr>
          <a:xfrm>
            <a:off x="1938528" y="3840480"/>
            <a:ext cx="457200" cy="457200"/>
          </a:xfrm>
          <a:prstGeom prst="rect">
            <a:avLst/>
          </a:prstGeom>
          <a:solidFill>
            <a:srgbClr val="32B4B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6" name="Forme 26"/>
          <p:cNvSpPr/>
          <p:nvPr/>
        </p:nvSpPr>
        <p:spPr>
          <a:xfrm>
            <a:off x="2505456" y="3840480"/>
            <a:ext cx="457200" cy="457200"/>
          </a:xfrm>
          <a:prstGeom prst="rect">
            <a:avLst/>
          </a:prstGeom>
          <a:solidFill>
            <a:srgbClr val="7FD0D1"/>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7" name="Forme 27"/>
          <p:cNvSpPr/>
          <p:nvPr/>
        </p:nvSpPr>
        <p:spPr>
          <a:xfrm>
            <a:off x="3072384" y="3840480"/>
            <a:ext cx="457200" cy="457200"/>
          </a:xfrm>
          <a:prstGeom prst="rect">
            <a:avLst/>
          </a:prstGeom>
          <a:solidFill>
            <a:srgbClr val="7FD0D1"/>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8" name="Forme 28"/>
          <p:cNvSpPr/>
          <p:nvPr/>
        </p:nvSpPr>
        <p:spPr>
          <a:xfrm>
            <a:off x="3639312" y="3840480"/>
            <a:ext cx="457200" cy="457200"/>
          </a:xfrm>
          <a:prstGeom prst="rect">
            <a:avLst/>
          </a:prstGeom>
          <a:solidFill>
            <a:srgbClr val="32B4B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9" name="Forme 29"/>
          <p:cNvSpPr/>
          <p:nvPr/>
        </p:nvSpPr>
        <p:spPr>
          <a:xfrm>
            <a:off x="1188720" y="4407408"/>
            <a:ext cx="329184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endParaRPr lang="fr-FR" sz="1400" dirty="0"/>
          </a:p>
        </p:txBody>
      </p:sp>
      <p:sp>
        <p:nvSpPr>
          <p:cNvPr id="30" name="Forme 30"/>
          <p:cNvSpPr/>
          <p:nvPr/>
        </p:nvSpPr>
        <p:spPr>
          <a:xfrm>
            <a:off x="548640" y="5138928"/>
            <a:ext cx="4572000" cy="4572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00" b="0" i="1" dirty="0">
                <a:solidFill>
                  <a:srgbClr val="616060"/>
                </a:solidFill>
                <a:latin typeface="Arial"/>
                <a:cs typeface="Arial"/>
              </a:rPr>
              <a:t>Carreaux de 200 m : rattachés à la commune qui contient leur centre</a:t>
            </a:r>
            <a:endParaRPr lang="fr-FR" sz="1000" dirty="0"/>
          </a:p>
        </p:txBody>
      </p:sp>
      <p:sp>
        <p:nvSpPr>
          <p:cNvPr id="31" name="Forme 31"/>
          <p:cNvSpPr/>
          <p:nvPr/>
        </p:nvSpPr>
        <p:spPr>
          <a:xfrm>
            <a:off x="5349240" y="1371600"/>
            <a:ext cx="6400800" cy="86868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00" b="1" i="0" dirty="0">
                <a:solidFill>
                  <a:srgbClr val="514E98"/>
                </a:solidFill>
                <a:latin typeface="Arial"/>
                <a:cs typeface="Arial"/>
              </a:rPr>
              <a:t>Zone</a:t>
            </a:r>
            <a:endParaRPr lang="fr-FR" sz="1200" dirty="0"/>
          </a:p>
          <a:p>
            <a:pPr algn="l">
              <a:lnSpc>
                <a:spcPct val="100000"/>
              </a:lnSpc>
              <a:spcBef>
                <a:spcPts val="100"/>
              </a:spcBef>
              <a:spcAft>
                <a:spcPts val="0"/>
              </a:spcAft>
              <a:buNone/>
            </a:pPr>
            <a:r>
              <a:rPr lang="fr-FR" sz="1050" b="0" i="0" dirty="0">
                <a:solidFill>
                  <a:srgbClr val="20A4B0"/>
                </a:solidFill>
                <a:latin typeface="Consolas"/>
                <a:cs typeface="Consolas"/>
              </a:rPr>
              <a:t>zone.py › build_zone</a:t>
            </a:r>
            <a:r>
              <a:rPr lang="fr-FR" sz="1050" b="0" i="0" dirty="0">
                <a:solidFill>
                  <a:srgbClr val="202020"/>
                </a:solidFill>
                <a:latin typeface="Arial"/>
                <a:cs typeface="Arial"/>
              </a:rPr>
              <a:t> : communes d'ADMIN EXPRESS dont l'EPCI est celui de la ville. Nantes : 24 communes, 689 456 hab. ; Grenoble : 49 communes, 450 608 hab.</a:t>
            </a:r>
            <a:endParaRPr lang="fr-FR" sz="1050" dirty="0"/>
          </a:p>
        </p:txBody>
      </p:sp>
      <p:sp>
        <p:nvSpPr>
          <p:cNvPr id="32" name="Forme 32"/>
          <p:cNvSpPr/>
          <p:nvPr/>
        </p:nvSpPr>
        <p:spPr>
          <a:xfrm>
            <a:off x="5349240" y="2267712"/>
            <a:ext cx="6400800" cy="86868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00" b="1" i="0" dirty="0">
                <a:solidFill>
                  <a:srgbClr val="514E98"/>
                </a:solidFill>
                <a:latin typeface="Arial"/>
                <a:cs typeface="Arial"/>
              </a:rPr>
              <a:t>Tampon de 800 m</a:t>
            </a:r>
            <a:endParaRPr lang="fr-FR" sz="1200" dirty="0"/>
          </a:p>
          <a:p>
            <a:pPr algn="l">
              <a:lnSpc>
                <a:spcPct val="100000"/>
              </a:lnSpc>
              <a:spcBef>
                <a:spcPts val="100"/>
              </a:spcBef>
              <a:spcAft>
                <a:spcPts val="0"/>
              </a:spcAft>
              <a:buNone/>
            </a:pPr>
            <a:r>
              <a:rPr lang="fr-FR" sz="1050" b="0" i="0" dirty="0">
                <a:solidFill>
                  <a:srgbClr val="20A4B0"/>
                </a:solidFill>
                <a:latin typeface="Consolas"/>
                <a:cs typeface="Consolas"/>
              </a:rPr>
              <a:t>zone.py › buffer_area</a:t>
            </a:r>
            <a:r>
              <a:rPr lang="fr-FR" sz="1050" b="0" i="0" dirty="0">
                <a:solidFill>
                  <a:srgbClr val="202020"/>
                </a:solidFill>
                <a:latin typeface="Arial"/>
                <a:cs typeface="Arial"/>
              </a:rPr>
              <a:t> (</a:t>
            </a:r>
            <a:r>
              <a:rPr lang="fr-FR" sz="1050" b="0" i="0" dirty="0">
                <a:solidFill>
                  <a:srgbClr val="20A4B0"/>
                </a:solidFill>
                <a:latin typeface="Consolas"/>
                <a:cs typeface="Consolas"/>
              </a:rPr>
              <a:t>offer.buffer_m = 800</a:t>
            </a:r>
            <a:r>
              <a:rPr lang="fr-FR" sz="1050" b="0" i="0" dirty="0">
                <a:solidFill>
                  <a:srgbClr val="202020"/>
                </a:solidFill>
                <a:latin typeface="Arial"/>
                <a:cs typeface="Arial"/>
              </a:rPr>
              <a:t>) : un arrêt juste de l'autre côté de la limite dessert les habitants de la bordure. Colonne </a:t>
            </a:r>
            <a:r>
              <a:rPr lang="fr-FR" sz="1050" b="0" i="0" dirty="0">
                <a:solidFill>
                  <a:srgbClr val="20A4B0"/>
                </a:solidFill>
                <a:latin typeface="Consolas"/>
                <a:cs typeface="Consolas"/>
              </a:rPr>
              <a:t>dans_zone</a:t>
            </a:r>
            <a:r>
              <a:rPr lang="fr-FR" sz="1050" b="0" i="0" dirty="0">
                <a:solidFill>
                  <a:srgbClr val="202020"/>
                </a:solidFill>
                <a:latin typeface="Arial"/>
                <a:cs typeface="Arial"/>
              </a:rPr>
              <a:t> pour les distinguer.</a:t>
            </a:r>
            <a:endParaRPr lang="fr-FR" sz="1050" dirty="0"/>
          </a:p>
        </p:txBody>
      </p:sp>
      <p:sp>
        <p:nvSpPr>
          <p:cNvPr id="33" name="Forme 33"/>
          <p:cNvSpPr/>
          <p:nvPr/>
        </p:nvSpPr>
        <p:spPr>
          <a:xfrm>
            <a:off x="5349240" y="3163824"/>
            <a:ext cx="6400800" cy="86868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00" b="1" i="0" dirty="0">
                <a:solidFill>
                  <a:srgbClr val="514E98"/>
                </a:solidFill>
                <a:latin typeface="Arial"/>
                <a:cs typeface="Arial"/>
              </a:rPr>
              <a:t>Carreaux</a:t>
            </a:r>
            <a:endParaRPr lang="fr-FR" sz="1200" dirty="0"/>
          </a:p>
          <a:p>
            <a:pPr algn="l">
              <a:lnSpc>
                <a:spcPct val="100000"/>
              </a:lnSpc>
              <a:spcBef>
                <a:spcPts val="100"/>
              </a:spcBef>
              <a:spcAft>
                <a:spcPts val="0"/>
              </a:spcAft>
              <a:buNone/>
            </a:pPr>
            <a:r>
              <a:rPr lang="fr-FR" sz="1050" b="0" i="0" dirty="0">
                <a:solidFill>
                  <a:srgbClr val="20A4B0"/>
                </a:solidFill>
                <a:latin typeface="Consolas"/>
                <a:cs typeface="Consolas"/>
              </a:rPr>
              <a:t>population.py › load_filosofi</a:t>
            </a:r>
            <a:r>
              <a:rPr lang="fr-FR" sz="1050" b="0" i="0" dirty="0">
                <a:solidFill>
                  <a:srgbClr val="202020"/>
                </a:solidFill>
                <a:latin typeface="Arial"/>
                <a:cs typeface="Arial"/>
              </a:rPr>
              <a:t> : un carreau compte pour la commune qui contient son centre, donc jamais deux fois.</a:t>
            </a:r>
            <a:endParaRPr lang="fr-FR" sz="1050" dirty="0"/>
          </a:p>
        </p:txBody>
      </p:sp>
      <p:sp>
        <p:nvSpPr>
          <p:cNvPr id="34" name="Forme 34"/>
          <p:cNvSpPr/>
          <p:nvPr/>
        </p:nvSpPr>
        <p:spPr>
          <a:xfrm>
            <a:off x="5349240" y="4059936"/>
            <a:ext cx="6400800" cy="86868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00" b="1" i="0" dirty="0">
                <a:solidFill>
                  <a:srgbClr val="514E98"/>
                </a:solidFill>
                <a:latin typeface="Arial"/>
                <a:cs typeface="Arial"/>
              </a:rPr>
              <a:t>Réseau piéton</a:t>
            </a:r>
            <a:endParaRPr lang="fr-FR" sz="1200" dirty="0"/>
          </a:p>
          <a:p>
            <a:pPr algn="l">
              <a:lnSpc>
                <a:spcPct val="100000"/>
              </a:lnSpc>
              <a:spcBef>
                <a:spcPts val="100"/>
              </a:spcBef>
              <a:spcAft>
                <a:spcPts val="0"/>
              </a:spcAft>
              <a:buNone/>
            </a:pPr>
            <a:r>
              <a:rPr lang="fr-FR" sz="1050" b="0" i="0" dirty="0">
                <a:solidFill>
                  <a:srgbClr val="20A4B0"/>
                </a:solidFill>
                <a:latin typeface="Consolas"/>
                <a:cs typeface="Consolas"/>
              </a:rPr>
              <a:t>network.py › load_walk_edges</a:t>
            </a:r>
            <a:r>
              <a:rPr lang="fr-FR" sz="1050" b="0" i="0" dirty="0">
                <a:solidFill>
                  <a:srgbClr val="202020"/>
                </a:solidFill>
                <a:latin typeface="Arial"/>
                <a:cs typeface="Arial"/>
              </a:rPr>
              <a:t> : lit le fichier OSM local (couche lines, emprise zone + 800 m) → filtre piéton repris d'osmnx (</a:t>
            </a:r>
            <a:r>
              <a:rPr lang="fr-FR" sz="1050" b="0" i="0" dirty="0">
                <a:solidFill>
                  <a:srgbClr val="20A4B0"/>
                </a:solidFill>
                <a:latin typeface="Consolas"/>
                <a:cs typeface="Consolas"/>
              </a:rPr>
              <a:t>walkable</a:t>
            </a:r>
            <a:r>
              <a:rPr lang="fr-FR" sz="1050" b="0" i="0" dirty="0">
                <a:solidFill>
                  <a:srgbClr val="202020"/>
                </a:solidFill>
                <a:latin typeface="Arial"/>
                <a:cs typeface="Arial"/>
              </a:rPr>
              <a:t>) → découpe aux intersections (</a:t>
            </a:r>
            <a:r>
              <a:rPr lang="fr-FR" sz="1050" b="0" i="0" dirty="0">
                <a:solidFill>
                  <a:srgbClr val="20A4B0"/>
                </a:solidFill>
                <a:latin typeface="Consolas"/>
                <a:cs typeface="Consolas"/>
              </a:rPr>
              <a:t>split_at_nodes</a:t>
            </a:r>
            <a:r>
              <a:rPr lang="fr-FR" sz="1050" b="0" i="0" dirty="0">
                <a:solidFill>
                  <a:srgbClr val="202020"/>
                </a:solidFill>
                <a:latin typeface="Arial"/>
                <a:cs typeface="Arial"/>
              </a:rPr>
              <a:t>) → garde le plus grand réseau connecté (</a:t>
            </a:r>
            <a:r>
              <a:rPr lang="fr-FR" sz="1050" b="0" i="0" dirty="0">
                <a:solidFill>
                  <a:srgbClr val="20A4B0"/>
                </a:solidFill>
                <a:latin typeface="Consolas"/>
                <a:cs typeface="Consolas"/>
              </a:rPr>
              <a:t>largest_component</a:t>
            </a:r>
            <a:r>
              <a:rPr lang="fr-FR" sz="1050" b="0" i="0" dirty="0">
                <a:solidFill>
                  <a:srgbClr val="202020"/>
                </a:solidFill>
                <a:latin typeface="Arial"/>
                <a:cs typeface="Arial"/>
              </a:rPr>
              <a:t>).</a:t>
            </a:r>
            <a:endParaRPr lang="fr-FR" sz="1050" dirty="0"/>
          </a:p>
        </p:txBody>
      </p:sp>
      <p:graphicFrame>
        <p:nvGraphicFramePr>
          <p:cNvPr id="35" name="Tableau 35"/>
          <p:cNvGraphicFramePr>
            <a:graphicFrameLocks noGrp="1"/>
          </p:cNvGraphicFramePr>
          <p:nvPr/>
        </p:nvGraphicFramePr>
        <p:xfrm>
          <a:off x="5349240" y="5166360"/>
          <a:ext cx="4754880" cy="1207008"/>
        </p:xfrm>
        <a:graphic>
          <a:graphicData uri="http://schemas.openxmlformats.org/drawingml/2006/table">
            <a:tbl>
              <a:tblPr firstRow="1" bandRow="1"/>
              <a:tblGrid>
                <a:gridCol w="2377440"/>
                <a:gridCol w="1188720"/>
                <a:gridCol w="1188720"/>
              </a:tblGrid>
              <a:tr h="201168">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FFFFFF"/>
                          </a:solidFill>
                          <a:latin typeface="Arial"/>
                          <a:cs typeface="Arial"/>
                        </a:rPr>
                        <a:t>Réseau piéton</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514E98"/>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FFFFFF"/>
                          </a:solidFill>
                          <a:latin typeface="Arial"/>
                          <a:cs typeface="Arial"/>
                        </a:rPr>
                        <a:t>Nantes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514E98"/>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FFFFFF"/>
                          </a:solidFill>
                          <a:latin typeface="Arial"/>
                          <a:cs typeface="Arial"/>
                        </a:rPr>
                        <a:t>Grenoble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514E98"/>
                    </a:solidFill>
                  </a:tcPr>
                </a:tc>
              </a:tr>
              <a:tr h="201168">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Voies lues dans OSM</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160 543</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159 783</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201168">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Voies piétonnes gardées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89 623</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75 221</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201168">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Tronçons (arêtes)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172 891</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141 360</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201168">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Longueur totale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8 202 km</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7 472 km</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201168">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Tronçons isolés écartés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1 835</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2 225</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bl>
          </a:graphicData>
        </a:graphic>
      </p:graphicFrame>
      <p:sp>
        <p:nvSpPr>
          <p:cNvPr id="36" name="Forme 36"/>
          <p:cNvSpPr/>
          <p:nvPr/>
        </p:nvSpPr>
        <p:spPr>
          <a:xfrm>
            <a:off x="10241280" y="5166360"/>
            <a:ext cx="1508760" cy="12344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50" b="0" i="0" dirty="0">
                <a:solidFill>
                  <a:srgbClr val="616060"/>
                </a:solidFill>
                <a:latin typeface="Arial"/>
                <a:cs typeface="Arial"/>
              </a:rPr>
              <a:t>Fichier local, pas l'API Overpass : </a:t>
            </a:r>
            <a:r>
              <a:rPr lang="fr-FR" sz="950" b="1" i="0" dirty="0">
                <a:solidFill>
                  <a:srgbClr val="616060"/>
                </a:solidFill>
                <a:latin typeface="Arial"/>
                <a:cs typeface="Arial"/>
              </a:rPr>
              <a:t>hors ligne et reproductible</a:t>
            </a:r>
            <a:r>
              <a:rPr lang="fr-FR" sz="950" b="0" i="0" dirty="0">
                <a:solidFill>
                  <a:srgbClr val="616060"/>
                </a:solidFill>
                <a:latin typeface="Arial"/>
                <a:cs typeface="Arial"/>
              </a:rPr>
              <a:t> (date de l'extrait dans </a:t>
            </a:r>
            <a:r>
              <a:rPr lang="fr-FR" sz="950" b="0" i="0" dirty="0">
                <a:solidFill>
                  <a:srgbClr val="20A4B0"/>
                </a:solidFill>
                <a:latin typeface="Consolas"/>
                <a:cs typeface="Consolas"/>
              </a:rPr>
              <a:t>walk_edges_meta.json</a:t>
            </a:r>
            <a:r>
              <a:rPr lang="fr-FR" sz="950" b="0" i="0" dirty="0">
                <a:solidFill>
                  <a:srgbClr val="616060"/>
                </a:solidFill>
                <a:latin typeface="Arial"/>
                <a:cs typeface="Arial"/>
              </a:rPr>
              <a:t>).</a:t>
            </a:r>
            <a:endParaRPr lang="fr-FR" sz="950" dirty="0"/>
          </a:p>
        </p:txBody>
      </p:sp>
      <p:pic>
        <p:nvPicPr>
          <p:cNvPr id="9012"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514E98"/>
                </a:solidFill>
                <a:latin typeface="Arial"/>
                <a:cs typeface="Arial"/>
              </a:rPr>
              <a:t>PARTIE 3 · L'EXTRACTION</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Pourquoi le réseau piéton change tout : V1 contre V2</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Même échelle de couleurs ; source : data/processed/nantes/access_comparaison.json.</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13</a:t>
            </a:r>
            <a:endParaRPr lang="fr-FR" sz="900" dirty="0"/>
          </a:p>
        </p:txBody>
      </p:sp>
      <p:sp>
        <p:nvSpPr>
          <p:cNvPr id="10" name="Forme 10"/>
          <p:cNvSpPr/>
          <p:nvPr/>
        </p:nvSpPr>
        <p:spPr>
          <a:xfrm>
            <a:off x="457200" y="1371600"/>
            <a:ext cx="3657600" cy="320040"/>
          </a:xfrm>
          <a:prstGeom prst="rect">
            <a:avLst/>
          </a:prstGeom>
          <a:noFill/>
          <a:ln>
            <a:noFill/>
          </a:ln>
        </p:spPr>
        <p:txBody>
          <a:bodyPr wrap="square" lIns="18288" tIns="18288" rIns="18288" bIns="18288" anchor="t" rtlCol="0">
            <a:noAutofit/>
          </a:bodyPr>
          <a:lstStyle/>
          <a:p>
            <a:pPr algn="ctr">
              <a:lnSpc>
                <a:spcPct val="100000"/>
              </a:lnSpc>
              <a:spcBef>
                <a:spcPts val="0"/>
              </a:spcBef>
              <a:spcAft>
                <a:spcPts val="0"/>
              </a:spcAft>
              <a:buNone/>
            </a:pPr>
            <a:r>
              <a:rPr lang="fr-FR" sz="1300" b="1" i="0" dirty="0">
                <a:solidFill>
                  <a:srgbClr val="202020"/>
                </a:solidFill>
                <a:latin typeface="Arial"/>
                <a:cs typeface="Arial"/>
              </a:rPr>
              <a:t>V1 : 400 m à vol d'oiseau</a:t>
            </a:r>
            <a:endParaRPr lang="fr-FR" sz="1300" dirty="0"/>
          </a:p>
        </p:txBody>
      </p:sp>
      <p:pic>
        <p:nvPicPr>
          <p:cNvPr id="11" name="Image 11"/>
          <p:cNvPicPr>
            <a:picLocks noChangeAspect="1"/>
          </p:cNvPicPr>
          <p:nvPr/>
        </p:nvPicPr>
        <p:blipFill>
          <a:blip r:embed="rId2"/>
          <a:stretch>
            <a:fillRect/>
          </a:stretch>
        </p:blipFill>
        <p:spPr>
          <a:xfrm>
            <a:off x="457200" y="1737360"/>
            <a:ext cx="3657600" cy="3657600"/>
          </a:xfrm>
          <a:prstGeom prst="rect">
            <a:avLst/>
          </a:prstGeom>
          <a:ln w="9525">
            <a:solidFill>
              <a:srgbClr val="EAEAEA"/>
            </a:solidFill>
          </a:ln>
        </p:spPr>
      </p:pic>
      <p:sp>
        <p:nvSpPr>
          <p:cNvPr id="12" name="Forme 12"/>
          <p:cNvSpPr/>
          <p:nvPr/>
        </p:nvSpPr>
        <p:spPr>
          <a:xfrm>
            <a:off x="4297680" y="1371600"/>
            <a:ext cx="3657600" cy="320040"/>
          </a:xfrm>
          <a:prstGeom prst="rect">
            <a:avLst/>
          </a:prstGeom>
          <a:noFill/>
          <a:ln>
            <a:noFill/>
          </a:ln>
        </p:spPr>
        <p:txBody>
          <a:bodyPr wrap="square" lIns="18288" tIns="18288" rIns="18288" bIns="18288" anchor="t" rtlCol="0">
            <a:noAutofit/>
          </a:bodyPr>
          <a:lstStyle/>
          <a:p>
            <a:pPr algn="ctr">
              <a:lnSpc>
                <a:spcPct val="100000"/>
              </a:lnSpc>
              <a:spcBef>
                <a:spcPts val="0"/>
              </a:spcBef>
              <a:spcAft>
                <a:spcPts val="0"/>
              </a:spcAft>
              <a:buNone/>
            </a:pPr>
            <a:r>
              <a:rPr lang="fr-FR" sz="1300" b="1" i="0" dirty="0">
                <a:solidFill>
                  <a:srgbClr val="202020"/>
                </a:solidFill>
                <a:latin typeface="Arial"/>
                <a:cs typeface="Arial"/>
              </a:rPr>
              <a:t>V2 : 400 m de marche réelle</a:t>
            </a:r>
            <a:endParaRPr lang="fr-FR" sz="1300" dirty="0"/>
          </a:p>
        </p:txBody>
      </p:sp>
      <p:pic>
        <p:nvPicPr>
          <p:cNvPr id="13" name="Image 13"/>
          <p:cNvPicPr>
            <a:picLocks noChangeAspect="1"/>
          </p:cNvPicPr>
          <p:nvPr/>
        </p:nvPicPr>
        <p:blipFill>
          <a:blip r:embed="rId3"/>
          <a:stretch>
            <a:fillRect/>
          </a:stretch>
        </p:blipFill>
        <p:spPr>
          <a:xfrm>
            <a:off x="4297680" y="1737360"/>
            <a:ext cx="3657600" cy="3657600"/>
          </a:xfrm>
          <a:prstGeom prst="rect">
            <a:avLst/>
          </a:prstGeom>
          <a:ln w="9525">
            <a:solidFill>
              <a:srgbClr val="EAEAEA"/>
            </a:solidFill>
          </a:ln>
        </p:spPr>
      </p:pic>
      <p:sp>
        <p:nvSpPr>
          <p:cNvPr id="14" name="Forme 14"/>
          <p:cNvSpPr/>
          <p:nvPr/>
        </p:nvSpPr>
        <p:spPr>
          <a:xfrm>
            <a:off x="8229600" y="1417320"/>
            <a:ext cx="3502152" cy="1097280"/>
          </a:xfrm>
          <a:prstGeom prst="roundRect">
            <a:avLst>
              <a:gd name="adj" fmla="val 8000"/>
            </a:avLst>
          </a:prstGeom>
          <a:solidFill>
            <a:srgbClr val="DBF4F4"/>
          </a:solidFill>
          <a:ln>
            <a:noFill/>
          </a:ln>
        </p:spPr>
        <p:txBody>
          <a:bodyPr wrap="square" lIns="182880" tIns="45720" rIns="137160" bIns="45720" anchor="ctr" rtlCol="0">
            <a:noAutofit/>
          </a:bodyPr>
          <a:lstStyle/>
          <a:p>
            <a:pPr algn="l">
              <a:lnSpc>
                <a:spcPct val="100000"/>
              </a:lnSpc>
              <a:spcBef>
                <a:spcPts val="0"/>
              </a:spcBef>
              <a:spcAft>
                <a:spcPts val="0"/>
              </a:spcAft>
              <a:buNone/>
            </a:pPr>
            <a:r>
              <a:rPr lang="fr-FR" sz="2000" b="1" i="0" dirty="0">
                <a:solidFill>
                  <a:srgbClr val="514E98"/>
                </a:solidFill>
                <a:latin typeface="Arial"/>
                <a:cs typeface="Arial"/>
              </a:rPr>
              <a:t>93,3 % → 80,6 %</a:t>
            </a:r>
            <a:endParaRPr lang="fr-FR" sz="2000" dirty="0"/>
          </a:p>
          <a:p>
            <a:pPr algn="l">
              <a:lnSpc>
                <a:spcPct val="100000"/>
              </a:lnSpc>
              <a:spcBef>
                <a:spcPts val="200"/>
              </a:spcBef>
              <a:spcAft>
                <a:spcPts val="0"/>
              </a:spcAft>
              <a:buNone/>
            </a:pPr>
            <a:r>
              <a:rPr lang="fr-FR" sz="1050" b="0" i="0" dirty="0">
                <a:solidFill>
                  <a:srgbClr val="202020"/>
                </a:solidFill>
                <a:latin typeface="Arial"/>
                <a:cs typeface="Arial"/>
              </a:rPr>
              <a:t>des Nantais ont au moins une option à 5 min</a:t>
            </a:r>
            <a:endParaRPr lang="fr-FR" sz="1050" dirty="0"/>
          </a:p>
        </p:txBody>
      </p:sp>
      <p:sp>
        <p:nvSpPr>
          <p:cNvPr id="15" name="Forme 15"/>
          <p:cNvSpPr/>
          <p:nvPr/>
        </p:nvSpPr>
        <p:spPr>
          <a:xfrm>
            <a:off x="8229600" y="2633472"/>
            <a:ext cx="3502152" cy="1097280"/>
          </a:xfrm>
          <a:prstGeom prst="roundRect">
            <a:avLst>
              <a:gd name="adj" fmla="val 8000"/>
            </a:avLst>
          </a:prstGeom>
          <a:solidFill>
            <a:srgbClr val="DBF4F4"/>
          </a:solidFill>
          <a:ln>
            <a:noFill/>
          </a:ln>
        </p:spPr>
        <p:txBody>
          <a:bodyPr wrap="square" lIns="182880" tIns="45720" rIns="137160" bIns="45720" anchor="ctr" rtlCol="0">
            <a:noAutofit/>
          </a:bodyPr>
          <a:lstStyle/>
          <a:p>
            <a:pPr algn="l">
              <a:lnSpc>
                <a:spcPct val="100000"/>
              </a:lnSpc>
              <a:spcBef>
                <a:spcPts val="0"/>
              </a:spcBef>
              <a:spcAft>
                <a:spcPts val="0"/>
              </a:spcAft>
              <a:buNone/>
            </a:pPr>
            <a:r>
              <a:rPr lang="fr-FR" sz="2000" b="1" i="0" dirty="0">
                <a:solidFill>
                  <a:srgbClr val="514E98"/>
                </a:solidFill>
                <a:latin typeface="Arial"/>
                <a:cs typeface="Arial"/>
              </a:rPr>
              <a:t>9,05 → 4,68</a:t>
            </a:r>
            <a:endParaRPr lang="fr-FR" sz="2000" dirty="0"/>
          </a:p>
          <a:p>
            <a:pPr algn="l">
              <a:lnSpc>
                <a:spcPct val="100000"/>
              </a:lnSpc>
              <a:spcBef>
                <a:spcPts val="200"/>
              </a:spcBef>
              <a:spcAft>
                <a:spcPts val="0"/>
              </a:spcAft>
              <a:buNone/>
            </a:pPr>
            <a:r>
              <a:rPr lang="fr-FR" sz="1050" b="0" i="0" dirty="0">
                <a:solidFill>
                  <a:srgbClr val="202020"/>
                </a:solidFill>
                <a:latin typeface="Arial"/>
                <a:cs typeface="Arial"/>
              </a:rPr>
              <a:t>options par habitant : la V1 surestime de 93 % (Grenoble : 80 %)</a:t>
            </a:r>
            <a:endParaRPr lang="fr-FR" sz="1050" dirty="0"/>
          </a:p>
        </p:txBody>
      </p:sp>
      <p:sp>
        <p:nvSpPr>
          <p:cNvPr id="16" name="Forme 16"/>
          <p:cNvSpPr/>
          <p:nvPr/>
        </p:nvSpPr>
        <p:spPr>
          <a:xfrm>
            <a:off x="8229600" y="3849624"/>
            <a:ext cx="3502152" cy="1097280"/>
          </a:xfrm>
          <a:prstGeom prst="roundRect">
            <a:avLst>
              <a:gd name="adj" fmla="val 8000"/>
            </a:avLst>
          </a:prstGeom>
          <a:solidFill>
            <a:srgbClr val="DBF4F4"/>
          </a:solidFill>
          <a:ln>
            <a:noFill/>
          </a:ln>
        </p:spPr>
        <p:txBody>
          <a:bodyPr wrap="square" lIns="182880" tIns="45720" rIns="137160" bIns="45720" anchor="ctr" rtlCol="0">
            <a:noAutofit/>
          </a:bodyPr>
          <a:lstStyle/>
          <a:p>
            <a:pPr algn="l">
              <a:lnSpc>
                <a:spcPct val="100000"/>
              </a:lnSpc>
              <a:spcBef>
                <a:spcPts val="0"/>
              </a:spcBef>
              <a:spcAft>
                <a:spcPts val="0"/>
              </a:spcAft>
              <a:buNone/>
            </a:pPr>
            <a:r>
              <a:rPr lang="fr-FR" sz="2000" b="1" i="0" dirty="0">
                <a:solidFill>
                  <a:srgbClr val="514E98"/>
                </a:solidFill>
                <a:latin typeface="Arial"/>
                <a:cs typeface="Arial"/>
              </a:rPr>
              <a:t>87 591</a:t>
            </a:r>
            <a:endParaRPr lang="fr-FR" sz="2000" dirty="0"/>
          </a:p>
          <a:p>
            <a:pPr algn="l">
              <a:lnSpc>
                <a:spcPct val="100000"/>
              </a:lnSpc>
              <a:spcBef>
                <a:spcPts val="200"/>
              </a:spcBef>
              <a:spcAft>
                <a:spcPts val="0"/>
              </a:spcAft>
              <a:buNone/>
            </a:pPr>
            <a:r>
              <a:rPr lang="fr-FR" sz="1050" b="0" i="0" dirty="0">
                <a:solidFill>
                  <a:srgbClr val="202020"/>
                </a:solidFill>
                <a:latin typeface="Arial"/>
                <a:cs typeface="Arial"/>
              </a:rPr>
              <a:t>habitants « couverts » à vol d'oiseau mais pas à pied</a:t>
            </a:r>
            <a:endParaRPr lang="fr-FR" sz="1050" dirty="0"/>
          </a:p>
        </p:txBody>
      </p:sp>
      <p:sp>
        <p:nvSpPr>
          <p:cNvPr id="17" name="Forme 17"/>
          <p:cNvSpPr/>
          <p:nvPr/>
        </p:nvSpPr>
        <p:spPr>
          <a:xfrm>
            <a:off x="8229600" y="5065776"/>
            <a:ext cx="3502152" cy="1097280"/>
          </a:xfrm>
          <a:prstGeom prst="roundRect">
            <a:avLst>
              <a:gd name="adj" fmla="val 8000"/>
            </a:avLst>
          </a:prstGeom>
          <a:solidFill>
            <a:srgbClr val="DBF4F4"/>
          </a:solidFill>
          <a:ln>
            <a:noFill/>
          </a:ln>
        </p:spPr>
        <p:txBody>
          <a:bodyPr wrap="square" lIns="182880" tIns="45720" rIns="137160" bIns="45720" anchor="ctr" rtlCol="0">
            <a:noAutofit/>
          </a:bodyPr>
          <a:lstStyle/>
          <a:p>
            <a:pPr algn="l">
              <a:lnSpc>
                <a:spcPct val="100000"/>
              </a:lnSpc>
              <a:spcBef>
                <a:spcPts val="0"/>
              </a:spcBef>
              <a:spcAft>
                <a:spcPts val="0"/>
              </a:spcAft>
              <a:buNone/>
            </a:pPr>
            <a:r>
              <a:rPr lang="fr-FR" sz="2000" b="1" i="0" dirty="0">
                <a:solidFill>
                  <a:srgbClr val="514E98"/>
                </a:solidFill>
                <a:latin typeface="Arial"/>
                <a:cs typeface="Arial"/>
              </a:rPr>
              <a:t>11,8 % → 7,5 %</a:t>
            </a:r>
            <a:endParaRPr lang="fr-FR" sz="2000" dirty="0"/>
          </a:p>
          <a:p>
            <a:pPr algn="l">
              <a:lnSpc>
                <a:spcPct val="100000"/>
              </a:lnSpc>
              <a:spcBef>
                <a:spcPts val="200"/>
              </a:spcBef>
              <a:spcAft>
                <a:spcPts val="0"/>
              </a:spcAft>
              <a:buNone/>
            </a:pPr>
            <a:r>
              <a:rPr lang="fr-FR" sz="1050" b="0" i="0" dirty="0">
                <a:solidFill>
                  <a:srgbClr val="202020"/>
                </a:solidFill>
                <a:latin typeface="Arial"/>
                <a:cs typeface="Arial"/>
              </a:rPr>
              <a:t>des Nantais à 5 min d'une station Citiz</a:t>
            </a:r>
            <a:endParaRPr lang="fr-FR" sz="1050" dirty="0"/>
          </a:p>
        </p:txBody>
      </p:sp>
      <p:pic>
        <p:nvPicPr>
          <p:cNvPr id="9013"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514E98"/>
                </a:solidFill>
                <a:latin typeface="Arial"/>
                <a:cs typeface="Arial"/>
              </a:rPr>
              <a:t>PARTIE 3 · L'EXTRACTION</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Reprise automatique, fichiers .part et manifeste</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Un téléchargement coupé ne laisse jamais un fichier à moitié écrit, et chaque fichier garde sa trace.</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14</a:t>
            </a:r>
            <a:endParaRPr lang="fr-FR" sz="900" dirty="0"/>
          </a:p>
        </p:txBody>
      </p:sp>
      <p:sp>
        <p:nvSpPr>
          <p:cNvPr id="10" name="Forme 10"/>
          <p:cNvSpPr/>
          <p:nvPr/>
        </p:nvSpPr>
        <p:spPr>
          <a:xfrm>
            <a:off x="457200" y="1371600"/>
            <a:ext cx="3611880" cy="342900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1" name="Forme 11"/>
          <p:cNvSpPr/>
          <p:nvPr/>
        </p:nvSpPr>
        <p:spPr>
          <a:xfrm>
            <a:off x="457200" y="1371600"/>
            <a:ext cx="64008" cy="3429000"/>
          </a:xfrm>
          <a:prstGeom prst="rect">
            <a:avLst/>
          </a:prstGeom>
          <a:solidFill>
            <a:srgbClr val="514E98"/>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2" name="Forme 12"/>
          <p:cNvSpPr/>
          <p:nvPr/>
        </p:nvSpPr>
        <p:spPr>
          <a:xfrm>
            <a:off x="640080" y="1463040"/>
            <a:ext cx="3319272" cy="32918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514E98"/>
                </a:solidFill>
                <a:latin typeface="Arial"/>
                <a:cs typeface="Arial"/>
              </a:rPr>
              <a:t>Reprise automatique</a:t>
            </a:r>
            <a:endParaRPr lang="fr-FR" sz="1300" dirty="0"/>
          </a:p>
          <a:p>
            <a:pPr algn="l">
              <a:lnSpc>
                <a:spcPct val="100000"/>
              </a:lnSpc>
              <a:spcBef>
                <a:spcPts val="600"/>
              </a:spcBef>
              <a:spcAft>
                <a:spcPts val="0"/>
              </a:spcAft>
              <a:buNone/>
            </a:pPr>
            <a:r>
              <a:rPr lang="fr-FR" sz="1200" b="0" i="0" dirty="0">
                <a:solidFill>
                  <a:srgbClr val="20A4B0"/>
                </a:solidFill>
                <a:latin typeface="Consolas"/>
                <a:cs typeface="Consolas"/>
              </a:rPr>
              <a:t>download()</a:t>
            </a:r>
            <a:r>
              <a:rPr lang="fr-FR" sz="1200" b="0" i="0" dirty="0">
                <a:solidFill>
                  <a:srgbClr val="202020"/>
                </a:solidFill>
                <a:latin typeface="Arial"/>
                <a:cs typeface="Arial"/>
              </a:rPr>
              <a:t> saute tout fichier </a:t>
            </a:r>
            <a:r>
              <a:rPr lang="fr-FR" sz="1200" b="1" i="0" dirty="0">
                <a:solidFill>
                  <a:srgbClr val="202020"/>
                </a:solidFill>
                <a:latin typeface="Arial"/>
                <a:cs typeface="Arial"/>
              </a:rPr>
              <a:t>déjà présent et non vide</a:t>
            </a:r>
            <a:r>
              <a:rPr lang="fr-FR" sz="1200" b="0" i="0" dirty="0">
                <a:solidFill>
                  <a:srgbClr val="202020"/>
                </a:solidFill>
                <a:latin typeface="Arial"/>
                <a:cs typeface="Arial"/>
              </a:rPr>
              <a:t> (statut </a:t>
            </a:r>
            <a:r>
              <a:rPr lang="fr-FR" sz="1200" b="0" i="0" dirty="0">
                <a:solidFill>
                  <a:srgbClr val="20A4B0"/>
                </a:solidFill>
                <a:latin typeface="Consolas"/>
                <a:cs typeface="Consolas"/>
              </a:rPr>
              <a:t>deja_present</a:t>
            </a:r>
            <a:r>
              <a:rPr lang="fr-FR" sz="1200" b="0" i="0" dirty="0">
                <a:solidFill>
                  <a:srgbClr val="202020"/>
                </a:solidFill>
                <a:latin typeface="Arial"/>
                <a:cs typeface="Arial"/>
              </a:rPr>
              <a:t>).</a:t>
            </a:r>
            <a:endParaRPr lang="fr-FR" sz="1200" dirty="0"/>
          </a:p>
          <a:p>
            <a:pPr algn="l">
              <a:lnSpc>
                <a:spcPct val="100000"/>
              </a:lnSpc>
              <a:spcBef>
                <a:spcPts val="600"/>
              </a:spcBef>
              <a:spcAft>
                <a:spcPts val="0"/>
              </a:spcAft>
              <a:buNone/>
            </a:pPr>
            <a:r>
              <a:rPr lang="fr-FR" sz="1200" b="0" i="0" dirty="0">
                <a:solidFill>
                  <a:srgbClr val="202020"/>
                </a:solidFill>
                <a:latin typeface="Arial"/>
                <a:cs typeface="Arial"/>
              </a:rPr>
              <a:t>Coupure ou Ctrl+C : le script affiche « relance la même commande pour reprendre ».</a:t>
            </a:r>
            <a:endParaRPr lang="fr-FR" sz="1200" dirty="0"/>
          </a:p>
          <a:p>
            <a:pPr algn="l">
              <a:lnSpc>
                <a:spcPct val="100000"/>
              </a:lnSpc>
              <a:spcBef>
                <a:spcPts val="600"/>
              </a:spcBef>
              <a:spcAft>
                <a:spcPts val="0"/>
              </a:spcAft>
              <a:buNone/>
            </a:pPr>
            <a:r>
              <a:rPr lang="fr-FR" sz="1200" b="0" i="0" dirty="0">
                <a:solidFill>
                  <a:srgbClr val="202020"/>
                </a:solidFill>
                <a:latin typeface="Arial"/>
                <a:cs typeface="Arial"/>
              </a:rPr>
              <a:t>Les fichiers déjà là ne sont pas retéléchargés : on reprend où on s'était arrêté.</a:t>
            </a:r>
            <a:endParaRPr lang="fr-FR" sz="1200" dirty="0"/>
          </a:p>
        </p:txBody>
      </p:sp>
      <p:sp>
        <p:nvSpPr>
          <p:cNvPr id="13" name="Forme 13"/>
          <p:cNvSpPr/>
          <p:nvPr/>
        </p:nvSpPr>
        <p:spPr>
          <a:xfrm>
            <a:off x="4288536" y="1371600"/>
            <a:ext cx="3611880" cy="342900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4" name="Forme 14"/>
          <p:cNvSpPr/>
          <p:nvPr/>
        </p:nvSpPr>
        <p:spPr>
          <a:xfrm>
            <a:off x="4288536" y="1371600"/>
            <a:ext cx="64008" cy="3429000"/>
          </a:xfrm>
          <a:prstGeom prst="rect">
            <a:avLst/>
          </a:prstGeom>
          <a:solidFill>
            <a:srgbClr val="20A4B0"/>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5" name="Forme 15"/>
          <p:cNvSpPr/>
          <p:nvPr/>
        </p:nvSpPr>
        <p:spPr>
          <a:xfrm>
            <a:off x="4471416" y="1463040"/>
            <a:ext cx="3319272" cy="32918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20A4B0"/>
                </a:solidFill>
                <a:latin typeface="Arial"/>
                <a:cs typeface="Arial"/>
              </a:rPr>
              <a:t>Fichiers .part</a:t>
            </a:r>
            <a:endParaRPr lang="fr-FR" sz="1300" dirty="0"/>
          </a:p>
          <a:p>
            <a:pPr algn="l">
              <a:lnSpc>
                <a:spcPct val="100000"/>
              </a:lnSpc>
              <a:spcBef>
                <a:spcPts val="600"/>
              </a:spcBef>
              <a:spcAft>
                <a:spcPts val="0"/>
              </a:spcAft>
              <a:buNone/>
            </a:pPr>
            <a:r>
              <a:rPr lang="fr-FR" sz="1200" b="0" i="0" dirty="0">
                <a:solidFill>
                  <a:srgbClr val="202020"/>
                </a:solidFill>
                <a:latin typeface="Arial"/>
                <a:cs typeface="Arial"/>
              </a:rPr>
              <a:t>Le téléchargement s'écrit dans </a:t>
            </a:r>
            <a:r>
              <a:rPr lang="fr-FR" sz="1200" b="0" i="0" dirty="0">
                <a:solidFill>
                  <a:srgbClr val="20A4B0"/>
                </a:solidFill>
                <a:latin typeface="Consolas"/>
                <a:cs typeface="Consolas"/>
              </a:rPr>
              <a:t>fichier.zip.part</a:t>
            </a:r>
            <a:r>
              <a:rPr lang="fr-FR" sz="1200" b="0" i="0" dirty="0">
                <a:solidFill>
                  <a:srgbClr val="202020"/>
                </a:solidFill>
                <a:latin typeface="Arial"/>
                <a:cs typeface="Arial"/>
              </a:rPr>
              <a:t>.</a:t>
            </a:r>
            <a:endParaRPr lang="fr-FR" sz="1200" dirty="0"/>
          </a:p>
          <a:p>
            <a:pPr algn="l">
              <a:lnSpc>
                <a:spcPct val="100000"/>
              </a:lnSpc>
              <a:spcBef>
                <a:spcPts val="600"/>
              </a:spcBef>
              <a:spcAft>
                <a:spcPts val="0"/>
              </a:spcAft>
              <a:buNone/>
            </a:pPr>
            <a:r>
              <a:rPr lang="fr-FR" sz="1200" b="0" i="0" dirty="0">
                <a:solidFill>
                  <a:srgbClr val="202020"/>
                </a:solidFill>
                <a:latin typeface="Arial"/>
                <a:cs typeface="Arial"/>
              </a:rPr>
              <a:t>Il est renommé en </a:t>
            </a:r>
            <a:r>
              <a:rPr lang="fr-FR" sz="1200" b="0" i="0" dirty="0">
                <a:solidFill>
                  <a:srgbClr val="20A4B0"/>
                </a:solidFill>
                <a:latin typeface="Consolas"/>
                <a:cs typeface="Consolas"/>
              </a:rPr>
              <a:t>fichier.zip</a:t>
            </a:r>
            <a:r>
              <a:rPr lang="fr-FR" sz="1200" b="0" i="0" dirty="0">
                <a:solidFill>
                  <a:srgbClr val="202020"/>
                </a:solidFill>
                <a:latin typeface="Arial"/>
                <a:cs typeface="Arial"/>
              </a:rPr>
              <a:t> </a:t>
            </a:r>
            <a:r>
              <a:rPr lang="fr-FR" sz="1200" b="1" i="0" dirty="0">
                <a:solidFill>
                  <a:srgbClr val="202020"/>
                </a:solidFill>
                <a:latin typeface="Arial"/>
                <a:cs typeface="Arial"/>
              </a:rPr>
              <a:t>seulement s'il est complet</a:t>
            </a:r>
            <a:r>
              <a:rPr lang="fr-FR" sz="1200" b="0" i="0" dirty="0">
                <a:solidFill>
                  <a:srgbClr val="202020"/>
                </a:solidFill>
                <a:latin typeface="Arial"/>
                <a:cs typeface="Arial"/>
              </a:rPr>
              <a:t> (</a:t>
            </a:r>
            <a:r>
              <a:rPr lang="fr-FR" sz="1200" b="0" i="0" dirty="0">
                <a:solidFill>
                  <a:srgbClr val="20A4B0"/>
                </a:solidFill>
                <a:latin typeface="Consolas"/>
                <a:cs typeface="Consolas"/>
              </a:rPr>
              <a:t>tmp.replace(dest)</a:t>
            </a:r>
            <a:r>
              <a:rPr lang="fr-FR" sz="1200" b="0" i="0" dirty="0">
                <a:solidFill>
                  <a:srgbClr val="202020"/>
                </a:solidFill>
                <a:latin typeface="Arial"/>
                <a:cs typeface="Arial"/>
              </a:rPr>
              <a:t>, opération atomique).</a:t>
            </a:r>
            <a:endParaRPr lang="fr-FR" sz="1200" dirty="0"/>
          </a:p>
          <a:p>
            <a:pPr algn="l">
              <a:lnSpc>
                <a:spcPct val="100000"/>
              </a:lnSpc>
              <a:spcBef>
                <a:spcPts val="600"/>
              </a:spcBef>
              <a:spcAft>
                <a:spcPts val="0"/>
              </a:spcAft>
              <a:buNone/>
            </a:pPr>
            <a:r>
              <a:rPr lang="fr-FR" sz="1200" b="0" i="0" dirty="0">
                <a:solidFill>
                  <a:srgbClr val="202020"/>
                </a:solidFill>
                <a:latin typeface="Arial"/>
                <a:cs typeface="Arial"/>
              </a:rPr>
              <a:t>3 essais (pause de 2 s puis 4 s) ; en cas d'échec, le </a:t>
            </a:r>
            <a:r>
              <a:rPr lang="fr-FR" sz="1200" b="0" i="0" dirty="0">
                <a:solidFill>
                  <a:srgbClr val="20A4B0"/>
                </a:solidFill>
                <a:latin typeface="Consolas"/>
                <a:cs typeface="Consolas"/>
              </a:rPr>
              <a:t>.part</a:t>
            </a:r>
            <a:r>
              <a:rPr lang="fr-FR" sz="1200" b="0" i="0" dirty="0">
                <a:solidFill>
                  <a:srgbClr val="202020"/>
                </a:solidFill>
                <a:latin typeface="Arial"/>
                <a:cs typeface="Arial"/>
              </a:rPr>
              <a:t> est supprimé et l'erreur notée.</a:t>
            </a:r>
            <a:endParaRPr lang="fr-FR" sz="1200" dirty="0"/>
          </a:p>
          <a:p>
            <a:pPr algn="l">
              <a:lnSpc>
                <a:spcPct val="100000"/>
              </a:lnSpc>
              <a:spcBef>
                <a:spcPts val="600"/>
              </a:spcBef>
              <a:spcAft>
                <a:spcPts val="0"/>
              </a:spcAft>
              <a:buNone/>
            </a:pPr>
            <a:r>
              <a:rPr lang="fr-FR" sz="1200" b="0" i="0" dirty="0">
                <a:solidFill>
                  <a:srgbClr val="20A4B0"/>
                </a:solidFill>
                <a:latin typeface="Consolas"/>
                <a:cs typeface="Consolas"/>
              </a:rPr>
              <a:t>*.part</a:t>
            </a:r>
            <a:r>
              <a:rPr lang="fr-FR" sz="1200" b="0" i="0" dirty="0">
                <a:solidFill>
                  <a:srgbClr val="616060"/>
                </a:solidFill>
                <a:latin typeface="Arial"/>
                <a:cs typeface="Arial"/>
              </a:rPr>
              <a:t> est ignoré par Git.</a:t>
            </a:r>
            <a:endParaRPr lang="fr-FR" sz="1200" dirty="0"/>
          </a:p>
        </p:txBody>
      </p:sp>
      <p:sp>
        <p:nvSpPr>
          <p:cNvPr id="16" name="Forme 16"/>
          <p:cNvSpPr/>
          <p:nvPr/>
        </p:nvSpPr>
        <p:spPr>
          <a:xfrm>
            <a:off x="8119872" y="1371600"/>
            <a:ext cx="3611880" cy="3429000"/>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7" name="Forme 17"/>
          <p:cNvSpPr/>
          <p:nvPr/>
        </p:nvSpPr>
        <p:spPr>
          <a:xfrm>
            <a:off x="8119872" y="1371600"/>
            <a:ext cx="64008" cy="3429000"/>
          </a:xfrm>
          <a:prstGeom prst="rect">
            <a:avLst/>
          </a:prstGeom>
          <a:solidFill>
            <a:srgbClr val="32B4B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8" name="Forme 18"/>
          <p:cNvSpPr/>
          <p:nvPr/>
        </p:nvSpPr>
        <p:spPr>
          <a:xfrm>
            <a:off x="8302752" y="1463040"/>
            <a:ext cx="3319272" cy="32918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32B4B5"/>
                </a:solidFill>
                <a:latin typeface="Arial"/>
                <a:cs typeface="Arial"/>
              </a:rPr>
              <a:t>Manifeste</a:t>
            </a:r>
            <a:endParaRPr lang="fr-FR" sz="1300" dirty="0"/>
          </a:p>
          <a:p>
            <a:pPr algn="l">
              <a:lnSpc>
                <a:spcPct val="100000"/>
              </a:lnSpc>
              <a:spcBef>
                <a:spcPts val="600"/>
              </a:spcBef>
              <a:spcAft>
                <a:spcPts val="0"/>
              </a:spcAft>
              <a:buNone/>
            </a:pPr>
            <a:r>
              <a:rPr lang="fr-FR" sz="1200" b="0" i="0" dirty="0">
                <a:solidFill>
                  <a:srgbClr val="20A4B0"/>
                </a:solidFill>
                <a:latin typeface="Consolas"/>
                <a:cs typeface="Consolas"/>
              </a:rPr>
              <a:t>write_outputs()</a:t>
            </a:r>
            <a:r>
              <a:rPr lang="fr-FR" sz="1200" b="0" i="0" dirty="0">
                <a:solidFill>
                  <a:srgbClr val="202020"/>
                </a:solidFill>
                <a:latin typeface="Arial"/>
                <a:cs typeface="Arial"/>
              </a:rPr>
              <a:t> écrit </a:t>
            </a:r>
            <a:r>
              <a:rPr lang="fr-FR" sz="1200" b="0" i="0" dirty="0">
                <a:solidFill>
                  <a:srgbClr val="20A4B0"/>
                </a:solidFill>
                <a:latin typeface="Consolas"/>
                <a:cs typeface="Consolas"/>
              </a:rPr>
              <a:t>data/raw/manifest.csv</a:t>
            </a:r>
            <a:r>
              <a:rPr lang="fr-FR" sz="1200" b="0" i="0" dirty="0">
                <a:solidFill>
                  <a:srgbClr val="202020"/>
                </a:solidFill>
                <a:latin typeface="Arial"/>
                <a:cs typeface="Arial"/>
              </a:rPr>
              <a:t> : catégorie, source, url, fichier, taille, statut, date.</a:t>
            </a:r>
            <a:endParaRPr lang="fr-FR" sz="1200" dirty="0"/>
          </a:p>
          <a:p>
            <a:pPr algn="l">
              <a:lnSpc>
                <a:spcPct val="100000"/>
              </a:lnSpc>
              <a:spcBef>
                <a:spcPts val="600"/>
              </a:spcBef>
              <a:spcAft>
                <a:spcPts val="0"/>
              </a:spcAft>
              <a:buNone/>
            </a:pPr>
            <a:r>
              <a:rPr lang="fr-FR" sz="1200" b="0" i="0" dirty="0">
                <a:solidFill>
                  <a:srgbClr val="202020"/>
                </a:solidFill>
                <a:latin typeface="Arial"/>
                <a:cs typeface="Arial"/>
              </a:rPr>
              <a:t>Fusion avec l'ancien manifeste ; une catégorie relancée efface ses anciennes erreurs.</a:t>
            </a:r>
            <a:endParaRPr lang="fr-FR" sz="1200" dirty="0"/>
          </a:p>
          <a:p>
            <a:pPr algn="l">
              <a:lnSpc>
                <a:spcPct val="100000"/>
              </a:lnSpc>
              <a:spcBef>
                <a:spcPts val="600"/>
              </a:spcBef>
              <a:spcAft>
                <a:spcPts val="0"/>
              </a:spcAft>
              <a:buNone/>
            </a:pPr>
            <a:r>
              <a:rPr lang="fr-FR" sz="1200" b="0" i="0" dirty="0">
                <a:solidFill>
                  <a:srgbClr val="202020"/>
                </a:solidFill>
                <a:latin typeface="Arial"/>
                <a:cs typeface="Arial"/>
              </a:rPr>
              <a:t>Il génère aussi </a:t>
            </a:r>
            <a:r>
              <a:rPr lang="fr-FR" sz="1200" b="0" i="0" dirty="0">
                <a:solidFill>
                  <a:srgbClr val="20A4B0"/>
                </a:solidFill>
                <a:latin typeface="Consolas"/>
                <a:cs typeface="Consolas"/>
              </a:rPr>
              <a:t>docs/sources.md</a:t>
            </a:r>
            <a:r>
              <a:rPr lang="fr-FR" sz="1200" b="0" i="0" dirty="0">
                <a:solidFill>
                  <a:srgbClr val="202020"/>
                </a:solidFill>
                <a:latin typeface="Arial"/>
                <a:cs typeface="Arial"/>
              </a:rPr>
              <a:t>, avec les clés d'API masquées.</a:t>
            </a:r>
            <a:endParaRPr lang="fr-FR" sz="1200" dirty="0"/>
          </a:p>
        </p:txBody>
      </p:sp>
      <p:sp>
        <p:nvSpPr>
          <p:cNvPr id="19" name="Forme 19"/>
          <p:cNvSpPr/>
          <p:nvPr/>
        </p:nvSpPr>
        <p:spPr>
          <a:xfrm>
            <a:off x="457200" y="4983480"/>
            <a:ext cx="11274552" cy="1325880"/>
          </a:xfrm>
          <a:prstGeom prst="roundRect">
            <a:avLst>
              <a:gd name="adj" fmla="val 6000"/>
            </a:avLst>
          </a:prstGeom>
          <a:solidFill>
            <a:srgbClr val="20A4B0"/>
          </a:solidFill>
          <a:ln>
            <a:noFill/>
          </a:ln>
        </p:spPr>
        <p:txBody>
          <a:bodyPr wrap="square" lIns="274320" tIns="91440" rIns="274320" bIns="91440" anchor="ctr" rtlCol="0">
            <a:noAutofit/>
          </a:bodyPr>
          <a:lstStyle/>
          <a:p>
            <a:pPr algn="l">
              <a:lnSpc>
                <a:spcPct val="100000"/>
              </a:lnSpc>
              <a:spcBef>
                <a:spcPts val="0"/>
              </a:spcBef>
              <a:spcAft>
                <a:spcPts val="0"/>
              </a:spcAft>
              <a:buNone/>
            </a:pPr>
            <a:r>
              <a:rPr lang="fr-FR" sz="1300" b="1" i="0" dirty="0">
                <a:solidFill>
                  <a:srgbClr val="FFFFFF"/>
                </a:solidFill>
                <a:latin typeface="Arial"/>
                <a:cs typeface="Arial"/>
              </a:rPr>
              <a:t>Puis </a:t>
            </a:r>
            <a:r>
              <a:rPr lang="fr-FR" sz="1300" b="1" i="0" dirty="0">
                <a:solidFill>
                  <a:srgbClr val="DBF4F4"/>
                </a:solidFill>
                <a:latin typeface="Consolas"/>
                <a:cs typeface="Consolas"/>
              </a:rPr>
              <a:t>check_data.py</a:t>
            </a:r>
            <a:r>
              <a:rPr lang="fr-FR" sz="1300" b="1" i="0" dirty="0">
                <a:solidFill>
                  <a:srgbClr val="FFFFFF"/>
                </a:solidFill>
                <a:latin typeface="Arial"/>
                <a:cs typeface="Arial"/>
              </a:rPr>
              <a:t> contrôle tout</a:t>
            </a:r>
            <a:endParaRPr lang="fr-FR" sz="1300" dirty="0"/>
          </a:p>
          <a:p>
            <a:pPr algn="l">
              <a:lnSpc>
                <a:spcPct val="100000"/>
              </a:lnSpc>
              <a:spcBef>
                <a:spcPts val="400"/>
              </a:spcBef>
              <a:spcAft>
                <a:spcPts val="0"/>
              </a:spcAft>
              <a:buNone/>
            </a:pPr>
            <a:r>
              <a:rPr lang="fr-FR" sz="1050" b="0" i="0" dirty="0">
                <a:solidFill>
                  <a:srgbClr val="FFFFFF"/>
                </a:solidFill>
                <a:latin typeface="Arial"/>
                <a:cs typeface="Arial"/>
              </a:rPr>
              <a:t>Manifeste, Citiz (JSON, coordonnées), autres GBFS, historique (dernière photo de moins de 15 min), fichiers attendus. Avec </a:t>
            </a:r>
            <a:r>
              <a:rPr lang="fr-FR" sz="1050" b="0" i="0" dirty="0">
                <a:solidFill>
                  <a:srgbClr val="DBF4F4"/>
                </a:solidFill>
                <a:latin typeface="Consolas"/>
                <a:cs typeface="Consolas"/>
              </a:rPr>
              <a:t>--deep</a:t>
            </a:r>
            <a:r>
              <a:rPr lang="fr-FR" sz="1050" b="0" i="0" dirty="0">
                <a:solidFill>
                  <a:srgbClr val="FFFFFF"/>
                </a:solidFill>
                <a:latin typeface="Arial"/>
                <a:cs typeface="Arial"/>
              </a:rPr>
              <a:t> : intégrité des zip, signature 7z, en-tête PBF, signature PAR1 des parquet, page HTML servie à la place des données. </a:t>
            </a:r>
            <a:r>
              <a:rPr lang="fr-FR" sz="1050" b="1" i="0" dirty="0">
                <a:solidFill>
                  <a:srgbClr val="FFFFFF"/>
                </a:solidFill>
                <a:latin typeface="Arial"/>
                <a:cs typeface="Arial"/>
              </a:rPr>
              <a:t>Résultat du 19/10/2026 : 26 ✅ · 1 ⚠️ · 0 ❌</a:t>
            </a:r>
            <a:r>
              <a:rPr lang="fr-FR" sz="1050" b="0" i="0" dirty="0">
                <a:solidFill>
                  <a:srgbClr val="FFFFFF"/>
                </a:solidFill>
                <a:latin typeface="Arial"/>
                <a:cs typeface="Arial"/>
              </a:rPr>
              <a:t> (l'avertissement : 2 flux vélos hors zone indisponibles).</a:t>
            </a:r>
            <a:endParaRPr lang="fr-FR" sz="1050" dirty="0"/>
          </a:p>
        </p:txBody>
      </p:sp>
      <p:pic>
        <p:nvPicPr>
          <p:cNvPr id="9014"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20A4B0"/>
                </a:solidFill>
                <a:latin typeface="Arial"/>
                <a:cs typeface="Arial"/>
              </a:rPr>
              <a:t>PARTIE 4 · LE NETTOYAGE</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Le nettoyage, étape par étape (1/3)</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Pour chaque traitement : le problème, ce qu'on fait, le résultat chiffré, le code.</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15</a:t>
            </a:r>
            <a:endParaRPr lang="fr-FR" sz="900" dirty="0"/>
          </a:p>
        </p:txBody>
      </p:sp>
      <p:sp>
        <p:nvSpPr>
          <p:cNvPr id="10" name="Forme 10"/>
          <p:cNvSpPr/>
          <p:nvPr/>
        </p:nvSpPr>
        <p:spPr>
          <a:xfrm>
            <a:off x="457200" y="1371600"/>
            <a:ext cx="3657600" cy="4937760"/>
          </a:xfrm>
          <a:prstGeom prst="roundRect">
            <a:avLst>
              <a:gd name="adj" fmla="val 3000"/>
            </a:avLst>
          </a:prstGeom>
          <a:solidFill>
            <a:srgbClr val="F5F5F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1" name="Forme 11"/>
          <p:cNvSpPr/>
          <p:nvPr/>
        </p:nvSpPr>
        <p:spPr>
          <a:xfrm>
            <a:off x="457200" y="1371600"/>
            <a:ext cx="3657600" cy="685800"/>
          </a:xfrm>
          <a:prstGeom prst="roundRect">
            <a:avLst>
              <a:gd name="adj" fmla="val 12000"/>
            </a:avLst>
          </a:prstGeom>
          <a:solidFill>
            <a:srgbClr val="32B4B5"/>
          </a:solidFill>
          <a:ln>
            <a:noFill/>
          </a:ln>
        </p:spPr>
        <p:txBody>
          <a:bodyPr wrap="square" lIns="164592" tIns="36576" rIns="109728" bIns="36576" anchor="ctr" rtlCol="0">
            <a:noAutofit/>
          </a:bodyPr>
          <a:lstStyle/>
          <a:p>
            <a:pPr algn="l">
              <a:lnSpc>
                <a:spcPct val="100000"/>
              </a:lnSpc>
              <a:spcBef>
                <a:spcPts val="0"/>
              </a:spcBef>
              <a:spcAft>
                <a:spcPts val="0"/>
              </a:spcAft>
              <a:buNone/>
            </a:pPr>
            <a:r>
              <a:rPr lang="fr-FR" sz="1250" b="1" i="0" dirty="0">
                <a:solidFill>
                  <a:srgbClr val="FFFFFF"/>
                </a:solidFill>
                <a:latin typeface="Arial"/>
                <a:cs typeface="Arial"/>
              </a:rPr>
              <a:t>1. Dédoublonnage des arrêts</a:t>
            </a:r>
            <a:endParaRPr lang="fr-FR" sz="1250" dirty="0"/>
          </a:p>
        </p:txBody>
      </p:sp>
      <p:sp>
        <p:nvSpPr>
          <p:cNvPr id="12" name="Forme 12"/>
          <p:cNvSpPr/>
          <p:nvPr/>
        </p:nvSpPr>
        <p:spPr>
          <a:xfrm>
            <a:off x="621792" y="2148840"/>
            <a:ext cx="3364992" cy="219456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50" b="1" i="0" dirty="0">
                <a:solidFill>
                  <a:srgbClr val="20A4B0"/>
                </a:solidFill>
                <a:latin typeface="Arial"/>
                <a:cs typeface="Arial"/>
              </a:rPr>
              <a:t>PROBLÈME</a:t>
            </a:r>
            <a:endParaRPr lang="fr-FR" sz="950" dirty="0"/>
          </a:p>
          <a:p>
            <a:pPr algn="l">
              <a:lnSpc>
                <a:spcPct val="100000"/>
              </a:lnSpc>
              <a:spcBef>
                <a:spcPts val="100"/>
              </a:spcBef>
              <a:spcAft>
                <a:spcPts val="0"/>
              </a:spcAft>
              <a:buNone/>
            </a:pPr>
            <a:r>
              <a:rPr lang="fr-FR" sz="1150" b="0" i="0" dirty="0">
                <a:solidFill>
                  <a:srgbClr val="202020"/>
                </a:solidFill>
                <a:latin typeface="Arial"/>
                <a:cs typeface="Arial"/>
              </a:rPr>
              <a:t>Un même arrêt apparaît plusieurs fois : un point par quai, par sens, par réseau.</a:t>
            </a:r>
            <a:endParaRPr lang="fr-FR" sz="1150" dirty="0"/>
          </a:p>
          <a:p>
            <a:pPr algn="l">
              <a:lnSpc>
                <a:spcPct val="100000"/>
              </a:lnSpc>
              <a:spcBef>
                <a:spcPts val="800"/>
              </a:spcBef>
              <a:spcAft>
                <a:spcPts val="0"/>
              </a:spcAft>
              <a:buNone/>
            </a:pPr>
            <a:r>
              <a:rPr lang="fr-FR" sz="950" b="1" i="0" dirty="0">
                <a:solidFill>
                  <a:srgbClr val="20A4B0"/>
                </a:solidFill>
                <a:latin typeface="Arial"/>
                <a:cs typeface="Arial"/>
              </a:rPr>
              <a:t>CE QU'ON FAIT</a:t>
            </a:r>
            <a:endParaRPr lang="fr-FR" sz="950" dirty="0"/>
          </a:p>
          <a:p>
            <a:pPr algn="l">
              <a:lnSpc>
                <a:spcPct val="100000"/>
              </a:lnSpc>
              <a:spcBef>
                <a:spcPts val="100"/>
              </a:spcBef>
              <a:spcAft>
                <a:spcPts val="0"/>
              </a:spcAft>
              <a:buNone/>
            </a:pPr>
            <a:r>
              <a:rPr lang="fr-FR" sz="1150" b="0" i="0" dirty="0">
                <a:solidFill>
                  <a:srgbClr val="202020"/>
                </a:solidFill>
                <a:latin typeface="Arial"/>
                <a:cs typeface="Arial"/>
              </a:rPr>
              <a:t>Fusion des points d'un </a:t>
            </a:r>
            <a:r>
              <a:rPr lang="fr-FR" sz="1150" b="1" i="0" dirty="0">
                <a:solidFill>
                  <a:srgbClr val="202020"/>
                </a:solidFill>
                <a:latin typeface="Arial"/>
                <a:cs typeface="Arial"/>
              </a:rPr>
              <a:t>même mode</a:t>
            </a:r>
            <a:r>
              <a:rPr lang="fr-FR" sz="1150" b="0" i="0" dirty="0">
                <a:solidFill>
                  <a:srgbClr val="202020"/>
                </a:solidFill>
                <a:latin typeface="Arial"/>
                <a:cs typeface="Arial"/>
              </a:rPr>
              <a:t> à moins de </a:t>
            </a:r>
            <a:r>
              <a:rPr lang="fr-FR" sz="1150" b="1" i="0" dirty="0">
                <a:solidFill>
                  <a:srgbClr val="202020"/>
                </a:solidFill>
                <a:latin typeface="Arial"/>
                <a:cs typeface="Arial"/>
              </a:rPr>
              <a:t>40 m</a:t>
            </a:r>
            <a:r>
              <a:rPr lang="fr-FR" sz="1150" b="0" i="0" dirty="0">
                <a:solidFill>
                  <a:srgbClr val="202020"/>
                </a:solidFill>
                <a:latin typeface="Arial"/>
                <a:cs typeface="Arial"/>
              </a:rPr>
              <a:t> (150 m pour les gares) ; point au barycentre, passages additionnés. Au national : somme dans une source, </a:t>
            </a:r>
            <a:r>
              <a:rPr lang="fr-FR" sz="1150" b="1" i="0" dirty="0">
                <a:solidFill>
                  <a:srgbClr val="202020"/>
                </a:solidFill>
                <a:latin typeface="Arial"/>
                <a:cs typeface="Arial"/>
              </a:rPr>
              <a:t>maximum</a:t>
            </a:r>
            <a:r>
              <a:rPr lang="fr-FR" sz="1150" b="0" i="0" dirty="0">
                <a:solidFill>
                  <a:srgbClr val="202020"/>
                </a:solidFill>
                <a:latin typeface="Arial"/>
                <a:cs typeface="Arial"/>
              </a:rPr>
              <a:t> entre sources.</a:t>
            </a:r>
            <a:endParaRPr lang="fr-FR" sz="1150" dirty="0"/>
          </a:p>
        </p:txBody>
      </p:sp>
      <p:sp>
        <p:nvSpPr>
          <p:cNvPr id="13" name="Forme 13"/>
          <p:cNvSpPr/>
          <p:nvPr/>
        </p:nvSpPr>
        <p:spPr>
          <a:xfrm>
            <a:off x="594360" y="4434840"/>
            <a:ext cx="3383280" cy="1298448"/>
          </a:xfrm>
          <a:prstGeom prst="roundRect">
            <a:avLst>
              <a:gd name="adj" fmla="val 8000"/>
            </a:avLst>
          </a:prstGeom>
          <a:solidFill>
            <a:srgbClr val="DBF4F4"/>
          </a:solidFill>
          <a:ln>
            <a:noFill/>
          </a:ln>
        </p:spPr>
        <p:txBody>
          <a:bodyPr wrap="square" lIns="137160" tIns="45720" rIns="109728" bIns="45720" anchor="ctr" rtlCol="0">
            <a:noAutofit/>
          </a:bodyPr>
          <a:lstStyle/>
          <a:p>
            <a:pPr algn="l">
              <a:lnSpc>
                <a:spcPct val="100000"/>
              </a:lnSpc>
              <a:spcBef>
                <a:spcPts val="0"/>
              </a:spcBef>
              <a:spcAft>
                <a:spcPts val="0"/>
              </a:spcAft>
              <a:buNone/>
            </a:pPr>
            <a:r>
              <a:rPr lang="fr-FR" sz="1800" b="1" i="0" dirty="0">
                <a:solidFill>
                  <a:srgbClr val="20A4B0"/>
                </a:solidFill>
                <a:latin typeface="Arial"/>
                <a:cs typeface="Arial"/>
              </a:rPr>
              <a:t>2 536 → 1 682</a:t>
            </a:r>
            <a:endParaRPr lang="fr-FR" sz="1800" dirty="0"/>
          </a:p>
          <a:p>
            <a:pPr algn="l">
              <a:lnSpc>
                <a:spcPct val="100000"/>
              </a:lnSpc>
              <a:spcBef>
                <a:spcPts val="200"/>
              </a:spcBef>
              <a:spcAft>
                <a:spcPts val="0"/>
              </a:spcAft>
              <a:buNone/>
            </a:pPr>
            <a:r>
              <a:rPr lang="fr-FR" sz="950" b="0" i="0" dirty="0">
                <a:solidFill>
                  <a:srgbClr val="202020"/>
                </a:solidFill>
                <a:latin typeface="Arial"/>
                <a:cs typeface="Arial"/>
              </a:rPr>
              <a:t>arrêts de bus à Nantes (tram 175 → 131, vélos 236 → 118). France : 533 613 → 231 092 points.</a:t>
            </a:r>
            <a:endParaRPr lang="fr-FR" sz="950" dirty="0"/>
          </a:p>
        </p:txBody>
      </p:sp>
      <p:sp>
        <p:nvSpPr>
          <p:cNvPr id="14" name="Forme 14"/>
          <p:cNvSpPr/>
          <p:nvPr/>
        </p:nvSpPr>
        <p:spPr>
          <a:xfrm>
            <a:off x="621792" y="5806440"/>
            <a:ext cx="3364992" cy="45720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900" b="0" i="0" dirty="0">
                <a:solidFill>
                  <a:srgbClr val="616060"/>
                </a:solidFill>
                <a:latin typeface="Consolas"/>
                <a:cs typeface="Consolas"/>
              </a:rPr>
              <a:t>geo.py › dedup_points, cluster_labels</a:t>
            </a:r>
            <a:endParaRPr lang="fr-FR" sz="900" dirty="0"/>
          </a:p>
        </p:txBody>
      </p:sp>
      <p:sp>
        <p:nvSpPr>
          <p:cNvPr id="15" name="Forme 15"/>
          <p:cNvSpPr/>
          <p:nvPr/>
        </p:nvSpPr>
        <p:spPr>
          <a:xfrm>
            <a:off x="4270248" y="1371600"/>
            <a:ext cx="3657600" cy="4937760"/>
          </a:xfrm>
          <a:prstGeom prst="roundRect">
            <a:avLst>
              <a:gd name="adj" fmla="val 3000"/>
            </a:avLst>
          </a:prstGeom>
          <a:solidFill>
            <a:srgbClr val="F5F5F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6" name="Forme 16"/>
          <p:cNvSpPr/>
          <p:nvPr/>
        </p:nvSpPr>
        <p:spPr>
          <a:xfrm>
            <a:off x="4270248" y="1371600"/>
            <a:ext cx="3657600" cy="685800"/>
          </a:xfrm>
          <a:prstGeom prst="roundRect">
            <a:avLst>
              <a:gd name="adj" fmla="val 12000"/>
            </a:avLst>
          </a:prstGeom>
          <a:solidFill>
            <a:srgbClr val="32B4B5"/>
          </a:solidFill>
          <a:ln>
            <a:noFill/>
          </a:ln>
        </p:spPr>
        <p:txBody>
          <a:bodyPr wrap="square" lIns="164592" tIns="36576" rIns="109728" bIns="36576" anchor="ctr" rtlCol="0">
            <a:noAutofit/>
          </a:bodyPr>
          <a:lstStyle/>
          <a:p>
            <a:pPr algn="l">
              <a:lnSpc>
                <a:spcPct val="100000"/>
              </a:lnSpc>
              <a:spcBef>
                <a:spcPts val="0"/>
              </a:spcBef>
              <a:spcAft>
                <a:spcPts val="0"/>
              </a:spcAft>
              <a:buNone/>
            </a:pPr>
            <a:r>
              <a:rPr lang="fr-FR" sz="1250" b="1" i="0" dirty="0">
                <a:solidFill>
                  <a:srgbClr val="FFFFFF"/>
                </a:solidFill>
                <a:latin typeface="Arial"/>
                <a:cs typeface="Arial"/>
              </a:rPr>
              <a:t>2. Jour type figé</a:t>
            </a:r>
            <a:endParaRPr lang="fr-FR" sz="1250" dirty="0"/>
          </a:p>
        </p:txBody>
      </p:sp>
      <p:sp>
        <p:nvSpPr>
          <p:cNvPr id="17" name="Forme 17"/>
          <p:cNvSpPr/>
          <p:nvPr/>
        </p:nvSpPr>
        <p:spPr>
          <a:xfrm>
            <a:off x="4434840" y="2148840"/>
            <a:ext cx="3364992" cy="219456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50" b="1" i="0" dirty="0">
                <a:solidFill>
                  <a:srgbClr val="20A4B0"/>
                </a:solidFill>
                <a:latin typeface="Arial"/>
                <a:cs typeface="Arial"/>
              </a:rPr>
              <a:t>PROBLÈME</a:t>
            </a:r>
            <a:endParaRPr lang="fr-FR" sz="950" dirty="0"/>
          </a:p>
          <a:p>
            <a:pPr algn="l">
              <a:lnSpc>
                <a:spcPct val="100000"/>
              </a:lnSpc>
              <a:spcBef>
                <a:spcPts val="100"/>
              </a:spcBef>
              <a:spcAft>
                <a:spcPts val="0"/>
              </a:spcAft>
              <a:buNone/>
            </a:pPr>
            <a:r>
              <a:rPr lang="fr-FR" sz="1150" b="0" i="0" dirty="0">
                <a:solidFill>
                  <a:srgbClr val="202020"/>
                </a:solidFill>
                <a:latin typeface="Arial"/>
                <a:cs typeface="Arial"/>
              </a:rPr>
              <a:t>Les horaires changent selon le jour (vacances, week-end) et selon la date du téléchargement.</a:t>
            </a:r>
            <a:endParaRPr lang="fr-FR" sz="1150" dirty="0"/>
          </a:p>
          <a:p>
            <a:pPr algn="l">
              <a:lnSpc>
                <a:spcPct val="100000"/>
              </a:lnSpc>
              <a:spcBef>
                <a:spcPts val="800"/>
              </a:spcBef>
              <a:spcAft>
                <a:spcPts val="0"/>
              </a:spcAft>
              <a:buNone/>
            </a:pPr>
            <a:r>
              <a:rPr lang="fr-FR" sz="950" b="1" i="0" dirty="0">
                <a:solidFill>
                  <a:srgbClr val="20A4B0"/>
                </a:solidFill>
                <a:latin typeface="Arial"/>
                <a:cs typeface="Arial"/>
              </a:rPr>
              <a:t>CE QU'ON FAIT</a:t>
            </a:r>
            <a:endParaRPr lang="fr-FR" sz="950" dirty="0"/>
          </a:p>
          <a:p>
            <a:pPr algn="l">
              <a:lnSpc>
                <a:spcPct val="100000"/>
              </a:lnSpc>
              <a:spcBef>
                <a:spcPts val="100"/>
              </a:spcBef>
              <a:spcAft>
                <a:spcPts val="0"/>
              </a:spcAft>
              <a:buNone/>
            </a:pPr>
            <a:r>
              <a:rPr lang="fr-FR" sz="1150" b="0" i="0" dirty="0">
                <a:solidFill>
                  <a:srgbClr val="202020"/>
                </a:solidFill>
                <a:latin typeface="Arial"/>
                <a:cs typeface="Arial"/>
              </a:rPr>
              <a:t>Un </a:t>
            </a:r>
            <a:r>
              <a:rPr lang="fr-FR" sz="1150" b="1" i="0" dirty="0">
                <a:solidFill>
                  <a:srgbClr val="202020"/>
                </a:solidFill>
                <a:latin typeface="Arial"/>
                <a:cs typeface="Arial"/>
              </a:rPr>
              <a:t>mardi hors vacances, le 17/11/2026</a:t>
            </a:r>
            <a:r>
              <a:rPr lang="fr-FR" sz="1150" b="0" i="0" dirty="0">
                <a:solidFill>
                  <a:srgbClr val="202020"/>
                </a:solidFill>
                <a:latin typeface="Arial"/>
                <a:cs typeface="Arial"/>
              </a:rPr>
              <a:t>, figé dans </a:t>
            </a:r>
            <a:r>
              <a:rPr lang="fr-FR" sz="1150" b="0" i="0" dirty="0">
                <a:solidFill>
                  <a:srgbClr val="20A4B0"/>
                </a:solidFill>
                <a:latin typeface="Consolas"/>
                <a:cs typeface="Consolas"/>
              </a:rPr>
              <a:t>settings.yaml</a:t>
            </a:r>
            <a:r>
              <a:rPr lang="fr-FR" sz="1150" b="0" i="0" dirty="0">
                <a:solidFill>
                  <a:srgbClr val="202020"/>
                </a:solidFill>
                <a:latin typeface="Arial"/>
                <a:cs typeface="Arial"/>
              </a:rPr>
              <a:t>. Un flux expiré est lu sur son propre dernier mardi valide, et c'est signalé.</a:t>
            </a:r>
            <a:endParaRPr lang="fr-FR" sz="1150" dirty="0"/>
          </a:p>
        </p:txBody>
      </p:sp>
      <p:sp>
        <p:nvSpPr>
          <p:cNvPr id="18" name="Forme 18"/>
          <p:cNvSpPr/>
          <p:nvPr/>
        </p:nvSpPr>
        <p:spPr>
          <a:xfrm>
            <a:off x="4407408" y="4434840"/>
            <a:ext cx="3383280" cy="1298448"/>
          </a:xfrm>
          <a:prstGeom prst="roundRect">
            <a:avLst>
              <a:gd name="adj" fmla="val 8000"/>
            </a:avLst>
          </a:prstGeom>
          <a:solidFill>
            <a:srgbClr val="DBF4F4"/>
          </a:solidFill>
          <a:ln>
            <a:noFill/>
          </a:ln>
        </p:spPr>
        <p:txBody>
          <a:bodyPr wrap="square" lIns="137160" tIns="45720" rIns="109728" bIns="45720" anchor="ctr" rtlCol="0">
            <a:noAutofit/>
          </a:bodyPr>
          <a:lstStyle/>
          <a:p>
            <a:pPr algn="l">
              <a:lnSpc>
                <a:spcPct val="100000"/>
              </a:lnSpc>
              <a:spcBef>
                <a:spcPts val="0"/>
              </a:spcBef>
              <a:spcAft>
                <a:spcPts val="0"/>
              </a:spcAft>
              <a:buNone/>
            </a:pPr>
            <a:r>
              <a:rPr lang="fr-FR" sz="1800" b="1" i="0" dirty="0">
                <a:solidFill>
                  <a:srgbClr val="20A4B0"/>
                </a:solidFill>
                <a:latin typeface="Arial"/>
                <a:cs typeface="Arial"/>
              </a:rPr>
              <a:t>mardi 17/11/2026</a:t>
            </a:r>
            <a:endParaRPr lang="fr-FR" sz="1800" dirty="0"/>
          </a:p>
          <a:p>
            <a:pPr algn="l">
              <a:lnSpc>
                <a:spcPct val="100000"/>
              </a:lnSpc>
              <a:spcBef>
                <a:spcPts val="200"/>
              </a:spcBef>
              <a:spcAft>
                <a:spcPts val="0"/>
              </a:spcAft>
              <a:buNone/>
            </a:pPr>
            <a:r>
              <a:rPr lang="fr-FR" sz="950" b="0" i="0" dirty="0">
                <a:solidFill>
                  <a:srgbClr val="202020"/>
                </a:solidFill>
                <a:latin typeface="Arial"/>
                <a:cs typeface="Arial"/>
              </a:rPr>
              <a:t>pour tous les flux : chiffres reproductibles. France : 74 flux sur 547 lus sur leur dernier mardi valide.</a:t>
            </a:r>
            <a:endParaRPr lang="fr-FR" sz="950" dirty="0"/>
          </a:p>
        </p:txBody>
      </p:sp>
      <p:sp>
        <p:nvSpPr>
          <p:cNvPr id="19" name="Forme 19"/>
          <p:cNvSpPr/>
          <p:nvPr/>
        </p:nvSpPr>
        <p:spPr>
          <a:xfrm>
            <a:off x="4434840" y="5806440"/>
            <a:ext cx="3364992" cy="45720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900" b="0" i="0" dirty="0">
                <a:solidFill>
                  <a:srgbClr val="616060"/>
                </a:solidFill>
                <a:latin typeface="Consolas"/>
                <a:cs typeface="Consolas"/>
              </a:rPr>
              <a:t>offer.py › pick_weekday, active_services, last_valid_weekday</a:t>
            </a:r>
            <a:endParaRPr lang="fr-FR" sz="900" dirty="0"/>
          </a:p>
        </p:txBody>
      </p:sp>
      <p:sp>
        <p:nvSpPr>
          <p:cNvPr id="20" name="Forme 20"/>
          <p:cNvSpPr/>
          <p:nvPr/>
        </p:nvSpPr>
        <p:spPr>
          <a:xfrm>
            <a:off x="8083296" y="1371600"/>
            <a:ext cx="3657600" cy="4937760"/>
          </a:xfrm>
          <a:prstGeom prst="roundRect">
            <a:avLst>
              <a:gd name="adj" fmla="val 3000"/>
            </a:avLst>
          </a:prstGeom>
          <a:solidFill>
            <a:srgbClr val="F5F5F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1" name="Forme 21"/>
          <p:cNvSpPr/>
          <p:nvPr/>
        </p:nvSpPr>
        <p:spPr>
          <a:xfrm>
            <a:off x="8083296" y="1371600"/>
            <a:ext cx="3657600" cy="685800"/>
          </a:xfrm>
          <a:prstGeom prst="roundRect">
            <a:avLst>
              <a:gd name="adj" fmla="val 12000"/>
            </a:avLst>
          </a:prstGeom>
          <a:solidFill>
            <a:srgbClr val="32B4B5"/>
          </a:solidFill>
          <a:ln>
            <a:noFill/>
          </a:ln>
        </p:spPr>
        <p:txBody>
          <a:bodyPr wrap="square" lIns="164592" tIns="36576" rIns="109728" bIns="36576" anchor="ctr" rtlCol="0">
            <a:noAutofit/>
          </a:bodyPr>
          <a:lstStyle/>
          <a:p>
            <a:pPr algn="l">
              <a:lnSpc>
                <a:spcPct val="100000"/>
              </a:lnSpc>
              <a:spcBef>
                <a:spcPts val="0"/>
              </a:spcBef>
              <a:spcAft>
                <a:spcPts val="0"/>
              </a:spcAft>
              <a:buNone/>
            </a:pPr>
            <a:r>
              <a:rPr lang="fr-FR" sz="1250" b="1" i="0" dirty="0">
                <a:solidFill>
                  <a:srgbClr val="FFFFFF"/>
                </a:solidFill>
                <a:latin typeface="Arial"/>
                <a:cs typeface="Arial"/>
              </a:rPr>
              <a:t>3. Exclusions : Flixbus, BlaBlaCar, covoiturage</a:t>
            </a:r>
            <a:endParaRPr lang="fr-FR" sz="1250" dirty="0"/>
          </a:p>
        </p:txBody>
      </p:sp>
      <p:sp>
        <p:nvSpPr>
          <p:cNvPr id="22" name="Forme 22"/>
          <p:cNvSpPr/>
          <p:nvPr/>
        </p:nvSpPr>
        <p:spPr>
          <a:xfrm>
            <a:off x="8247888" y="2148840"/>
            <a:ext cx="3364992" cy="219456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50" b="1" i="0" dirty="0">
                <a:solidFill>
                  <a:srgbClr val="20A4B0"/>
                </a:solidFill>
                <a:latin typeface="Arial"/>
                <a:cs typeface="Arial"/>
              </a:rPr>
              <a:t>PROBLÈME</a:t>
            </a:r>
            <a:endParaRPr lang="fr-FR" sz="950" dirty="0"/>
          </a:p>
          <a:p>
            <a:pPr algn="l">
              <a:lnSpc>
                <a:spcPct val="100000"/>
              </a:lnSpc>
              <a:spcBef>
                <a:spcPts val="100"/>
              </a:spcBef>
              <a:spcAft>
                <a:spcPts val="0"/>
              </a:spcAft>
              <a:buNone/>
            </a:pPr>
            <a:r>
              <a:rPr lang="fr-FR" sz="1150" b="0" i="0" dirty="0">
                <a:solidFill>
                  <a:srgbClr val="202020"/>
                </a:solidFill>
                <a:latin typeface="Arial"/>
                <a:cs typeface="Arial"/>
              </a:rPr>
              <a:t>Des autocars longue distance (1 passage par jour) et des lignes de covoiturage gonflent l'offre sans être une option du quotidien.</a:t>
            </a:r>
            <a:endParaRPr lang="fr-FR" sz="1150" dirty="0"/>
          </a:p>
          <a:p>
            <a:pPr algn="l">
              <a:lnSpc>
                <a:spcPct val="100000"/>
              </a:lnSpc>
              <a:spcBef>
                <a:spcPts val="800"/>
              </a:spcBef>
              <a:spcAft>
                <a:spcPts val="0"/>
              </a:spcAft>
              <a:buNone/>
            </a:pPr>
            <a:r>
              <a:rPr lang="fr-FR" sz="950" b="1" i="0" dirty="0">
                <a:solidFill>
                  <a:srgbClr val="20A4B0"/>
                </a:solidFill>
                <a:latin typeface="Arial"/>
                <a:cs typeface="Arial"/>
              </a:rPr>
              <a:t>CE QU'ON FAIT</a:t>
            </a:r>
            <a:endParaRPr lang="fr-FR" sz="950" dirty="0"/>
          </a:p>
          <a:p>
            <a:pPr algn="l">
              <a:lnSpc>
                <a:spcPct val="100000"/>
              </a:lnSpc>
              <a:spcBef>
                <a:spcPts val="100"/>
              </a:spcBef>
              <a:spcAft>
                <a:spcPts val="0"/>
              </a:spcAft>
              <a:buNone/>
            </a:pPr>
            <a:r>
              <a:rPr lang="fr-FR" sz="1150" b="0" i="0" dirty="0">
                <a:solidFill>
                  <a:srgbClr val="202020"/>
                </a:solidFill>
                <a:latin typeface="Arial"/>
                <a:cs typeface="Arial"/>
              </a:rPr>
              <a:t>Motifs exclus : </a:t>
            </a:r>
            <a:r>
              <a:rPr lang="fr-FR" sz="1150" b="0" i="0" dirty="0">
                <a:solidFill>
                  <a:srgbClr val="20A4B0"/>
                </a:solidFill>
                <a:latin typeface="Consolas"/>
                <a:cs typeface="Consolas"/>
              </a:rPr>
              <a:t>covoit</a:t>
            </a:r>
            <a:r>
              <a:rPr lang="fr-FR" sz="1150" b="0" i="0" dirty="0">
                <a:solidFill>
                  <a:srgbClr val="202020"/>
                </a:solidFill>
                <a:latin typeface="Arial"/>
                <a:cs typeface="Arial"/>
              </a:rPr>
              <a:t>, </a:t>
            </a:r>
            <a:r>
              <a:rPr lang="fr-FR" sz="1150" b="0" i="0" dirty="0">
                <a:solidFill>
                  <a:srgbClr val="20A4B0"/>
                </a:solidFill>
                <a:latin typeface="Consolas"/>
                <a:cs typeface="Consolas"/>
              </a:rPr>
              <a:t>flixbus</a:t>
            </a:r>
            <a:r>
              <a:rPr lang="fr-FR" sz="1150" b="0" i="0" dirty="0">
                <a:solidFill>
                  <a:srgbClr val="202020"/>
                </a:solidFill>
                <a:latin typeface="Arial"/>
                <a:cs typeface="Arial"/>
              </a:rPr>
              <a:t>, </a:t>
            </a:r>
            <a:r>
              <a:rPr lang="fr-FR" sz="1150" b="0" i="0" dirty="0">
                <a:solidFill>
                  <a:srgbClr val="20A4B0"/>
                </a:solidFill>
                <a:latin typeface="Consolas"/>
                <a:cs typeface="Consolas"/>
              </a:rPr>
              <a:t>blablacar</a:t>
            </a:r>
            <a:r>
              <a:rPr lang="fr-FR" sz="1150" b="0" i="0" dirty="0">
                <a:solidFill>
                  <a:srgbClr val="202020"/>
                </a:solidFill>
                <a:latin typeface="Arial"/>
                <a:cs typeface="Arial"/>
              </a:rPr>
              <a:t> ; liste explicite de flux par ville. Côté GBFS : flux « Dott France » (doublon), emplacements « réservé » ou « demobox », scooters.</a:t>
            </a:r>
            <a:endParaRPr lang="fr-FR" sz="1150" dirty="0"/>
          </a:p>
        </p:txBody>
      </p:sp>
      <p:sp>
        <p:nvSpPr>
          <p:cNvPr id="23" name="Forme 23"/>
          <p:cNvSpPr/>
          <p:nvPr/>
        </p:nvSpPr>
        <p:spPr>
          <a:xfrm>
            <a:off x="8220456" y="4434840"/>
            <a:ext cx="3383280" cy="1298448"/>
          </a:xfrm>
          <a:prstGeom prst="roundRect">
            <a:avLst>
              <a:gd name="adj" fmla="val 8000"/>
            </a:avLst>
          </a:prstGeom>
          <a:solidFill>
            <a:srgbClr val="DBF4F4"/>
          </a:solidFill>
          <a:ln>
            <a:noFill/>
          </a:ln>
        </p:spPr>
        <p:txBody>
          <a:bodyPr wrap="square" lIns="137160" tIns="45720" rIns="109728" bIns="45720" anchor="ctr" rtlCol="0">
            <a:noAutofit/>
          </a:bodyPr>
          <a:lstStyle/>
          <a:p>
            <a:pPr algn="l">
              <a:lnSpc>
                <a:spcPct val="100000"/>
              </a:lnSpc>
              <a:spcBef>
                <a:spcPts val="0"/>
              </a:spcBef>
              <a:spcAft>
                <a:spcPts val="0"/>
              </a:spcAft>
              <a:buNone/>
            </a:pPr>
            <a:r>
              <a:rPr lang="fr-FR" sz="1800" b="1" i="0" dirty="0">
                <a:solidFill>
                  <a:srgbClr val="20A4B0"/>
                </a:solidFill>
                <a:latin typeface="Arial"/>
                <a:cs typeface="Arial"/>
              </a:rPr>
              <a:t>3 flux écartés</a:t>
            </a:r>
            <a:endParaRPr lang="fr-FR" sz="1800" dirty="0"/>
          </a:p>
          <a:p>
            <a:pPr algn="l">
              <a:lnSpc>
                <a:spcPct val="100000"/>
              </a:lnSpc>
              <a:spcBef>
                <a:spcPts val="200"/>
              </a:spcBef>
              <a:spcAft>
                <a:spcPts val="0"/>
              </a:spcAft>
              <a:buNone/>
            </a:pPr>
            <a:r>
              <a:rPr lang="fr-FR" sz="950" b="0" i="0" dirty="0">
                <a:solidFill>
                  <a:srgbClr val="202020"/>
                </a:solidFill>
                <a:latin typeface="Arial"/>
                <a:cs typeface="Arial"/>
              </a:rPr>
              <a:t>à Nantes (BlaBlaCar Bus, Flixbus, M Covoit') ; 4 retenus : Naolib, Aléop, SNCF, bacs de Loire.</a:t>
            </a:r>
            <a:endParaRPr lang="fr-FR" sz="950" dirty="0"/>
          </a:p>
        </p:txBody>
      </p:sp>
      <p:sp>
        <p:nvSpPr>
          <p:cNvPr id="24" name="Forme 24"/>
          <p:cNvSpPr/>
          <p:nvPr/>
        </p:nvSpPr>
        <p:spPr>
          <a:xfrm>
            <a:off x="8247888" y="5806440"/>
            <a:ext cx="3364992" cy="45720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900" b="0" i="0" dirty="0">
                <a:solidFill>
                  <a:srgbClr val="616060"/>
                </a:solidFill>
                <a:latin typeface="Consolas"/>
                <a:cs typeface="Consolas"/>
              </a:rPr>
              <a:t>offer.py › select_feeds ; settings.yaml</a:t>
            </a:r>
            <a:endParaRPr lang="fr-FR" sz="900" dirty="0"/>
          </a:p>
        </p:txBody>
      </p:sp>
      <p:pic>
        <p:nvPicPr>
          <p:cNvPr id="9015"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20A4B0"/>
                </a:solidFill>
                <a:latin typeface="Arial"/>
                <a:cs typeface="Arial"/>
              </a:rPr>
              <a:t>PARTIE 4 · LE NETTOYAGE</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Le nettoyage, étape par étape (2/3)</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Pour chaque traitement : le problème, ce qu'on fait, le résultat chiffré, le code.</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16</a:t>
            </a:r>
            <a:endParaRPr lang="fr-FR" sz="900" dirty="0"/>
          </a:p>
        </p:txBody>
      </p:sp>
      <p:sp>
        <p:nvSpPr>
          <p:cNvPr id="10" name="Forme 10"/>
          <p:cNvSpPr/>
          <p:nvPr/>
        </p:nvSpPr>
        <p:spPr>
          <a:xfrm>
            <a:off x="457200" y="1371600"/>
            <a:ext cx="3657600" cy="4937760"/>
          </a:xfrm>
          <a:prstGeom prst="roundRect">
            <a:avLst>
              <a:gd name="adj" fmla="val 3000"/>
            </a:avLst>
          </a:prstGeom>
          <a:solidFill>
            <a:srgbClr val="F5F5F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1" name="Forme 11"/>
          <p:cNvSpPr/>
          <p:nvPr/>
        </p:nvSpPr>
        <p:spPr>
          <a:xfrm>
            <a:off x="457200" y="1371600"/>
            <a:ext cx="3657600" cy="685800"/>
          </a:xfrm>
          <a:prstGeom prst="roundRect">
            <a:avLst>
              <a:gd name="adj" fmla="val 12000"/>
            </a:avLst>
          </a:prstGeom>
          <a:solidFill>
            <a:srgbClr val="32B4B5"/>
          </a:solidFill>
          <a:ln>
            <a:noFill/>
          </a:ln>
        </p:spPr>
        <p:txBody>
          <a:bodyPr wrap="square" lIns="164592" tIns="36576" rIns="109728" bIns="36576" anchor="ctr" rtlCol="0">
            <a:noAutofit/>
          </a:bodyPr>
          <a:lstStyle/>
          <a:p>
            <a:pPr algn="l">
              <a:lnSpc>
                <a:spcPct val="100000"/>
              </a:lnSpc>
              <a:spcBef>
                <a:spcPts val="0"/>
              </a:spcBef>
              <a:spcAft>
                <a:spcPts val="0"/>
              </a:spcAft>
              <a:buNone/>
            </a:pPr>
            <a:r>
              <a:rPr lang="fr-FR" sz="1250" b="1" i="0" dirty="0">
                <a:solidFill>
                  <a:srgbClr val="FFFFFF"/>
                </a:solidFill>
                <a:latin typeface="Arial"/>
                <a:cs typeface="Arial"/>
              </a:rPr>
              <a:t>4. Téléphérique : route_type et frequencies.txt</a:t>
            </a:r>
            <a:endParaRPr lang="fr-FR" sz="1250" dirty="0"/>
          </a:p>
        </p:txBody>
      </p:sp>
      <p:sp>
        <p:nvSpPr>
          <p:cNvPr id="12" name="Forme 12"/>
          <p:cNvSpPr/>
          <p:nvPr/>
        </p:nvSpPr>
        <p:spPr>
          <a:xfrm>
            <a:off x="621792" y="2148840"/>
            <a:ext cx="3364992" cy="219456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50" b="1" i="0" dirty="0">
                <a:solidFill>
                  <a:srgbClr val="20A4B0"/>
                </a:solidFill>
                <a:latin typeface="Arial"/>
                <a:cs typeface="Arial"/>
              </a:rPr>
              <a:t>PROBLÈME</a:t>
            </a:r>
            <a:endParaRPr lang="fr-FR" sz="950" dirty="0"/>
          </a:p>
          <a:p>
            <a:pPr algn="l">
              <a:lnSpc>
                <a:spcPct val="100000"/>
              </a:lnSpc>
              <a:spcBef>
                <a:spcPts val="100"/>
              </a:spcBef>
              <a:spcAft>
                <a:spcPts val="0"/>
              </a:spcAft>
              <a:buNone/>
            </a:pPr>
            <a:r>
              <a:rPr lang="fr-FR" sz="1150" b="0" i="0" dirty="0">
                <a:solidFill>
                  <a:srgbClr val="202020"/>
                </a:solidFill>
                <a:latin typeface="Arial"/>
                <a:cs typeface="Arial"/>
              </a:rPr>
              <a:t>Le téléphérique de la Bastille est codé « cable tram » (route_type 5) et ses horaires sont donnés « toutes les X minutes ».</a:t>
            </a:r>
            <a:endParaRPr lang="fr-FR" sz="1150" dirty="0"/>
          </a:p>
          <a:p>
            <a:pPr algn="l">
              <a:lnSpc>
                <a:spcPct val="100000"/>
              </a:lnSpc>
              <a:spcBef>
                <a:spcPts val="800"/>
              </a:spcBef>
              <a:spcAft>
                <a:spcPts val="0"/>
              </a:spcAft>
              <a:buNone/>
            </a:pPr>
            <a:r>
              <a:rPr lang="fr-FR" sz="950" b="1" i="0" dirty="0">
                <a:solidFill>
                  <a:srgbClr val="20A4B0"/>
                </a:solidFill>
                <a:latin typeface="Arial"/>
                <a:cs typeface="Arial"/>
              </a:rPr>
              <a:t>CE QU'ON FAIT</a:t>
            </a:r>
            <a:endParaRPr lang="fr-FR" sz="950" dirty="0"/>
          </a:p>
          <a:p>
            <a:pPr algn="l">
              <a:lnSpc>
                <a:spcPct val="100000"/>
              </a:lnSpc>
              <a:spcBef>
                <a:spcPts val="100"/>
              </a:spcBef>
              <a:spcAft>
                <a:spcPts val="0"/>
              </a:spcAft>
              <a:buNone/>
            </a:pPr>
            <a:r>
              <a:rPr lang="fr-FR" sz="1150" b="0" i="0" dirty="0">
                <a:solidFill>
                  <a:srgbClr val="202020"/>
                </a:solidFill>
                <a:latin typeface="Arial"/>
                <a:cs typeface="Arial"/>
              </a:rPr>
              <a:t>route_type 5, 6, 7 → téléphérique. </a:t>
            </a:r>
            <a:r>
              <a:rPr lang="fr-FR" sz="1150" b="0" i="0" dirty="0">
                <a:solidFill>
                  <a:srgbClr val="20A4B0"/>
                </a:solidFill>
                <a:latin typeface="Consolas"/>
                <a:cs typeface="Consolas"/>
              </a:rPr>
              <a:t>frequencies.txt</a:t>
            </a:r>
            <a:r>
              <a:rPr lang="fr-FR" sz="1150" b="0" i="0" dirty="0">
                <a:solidFill>
                  <a:srgbClr val="202020"/>
                </a:solidFill>
                <a:latin typeface="Arial"/>
                <a:cs typeface="Arial"/>
              </a:rPr>
              <a:t> : départs = (fin − début) / intervalle. Les autocars SNCF (« OCECar ») sont remis en bus.</a:t>
            </a:r>
            <a:endParaRPr lang="fr-FR" sz="1150" dirty="0"/>
          </a:p>
        </p:txBody>
      </p:sp>
      <p:sp>
        <p:nvSpPr>
          <p:cNvPr id="13" name="Forme 13"/>
          <p:cNvSpPr/>
          <p:nvPr/>
        </p:nvSpPr>
        <p:spPr>
          <a:xfrm>
            <a:off x="594360" y="4434840"/>
            <a:ext cx="3383280" cy="1298448"/>
          </a:xfrm>
          <a:prstGeom prst="roundRect">
            <a:avLst>
              <a:gd name="adj" fmla="val 8000"/>
            </a:avLst>
          </a:prstGeom>
          <a:solidFill>
            <a:srgbClr val="DBF4F4"/>
          </a:solidFill>
          <a:ln>
            <a:noFill/>
          </a:ln>
        </p:spPr>
        <p:txBody>
          <a:bodyPr wrap="square" lIns="137160" tIns="45720" rIns="109728" bIns="45720" anchor="ctr" rtlCol="0">
            <a:noAutofit/>
          </a:bodyPr>
          <a:lstStyle/>
          <a:p>
            <a:pPr algn="l">
              <a:lnSpc>
                <a:spcPct val="100000"/>
              </a:lnSpc>
              <a:spcBef>
                <a:spcPts val="0"/>
              </a:spcBef>
              <a:spcAft>
                <a:spcPts val="0"/>
              </a:spcAft>
              <a:buNone/>
            </a:pPr>
            <a:r>
              <a:rPr lang="fr-FR" sz="1800" b="1" i="0" dirty="0">
                <a:solidFill>
                  <a:srgbClr val="20A4B0"/>
                </a:solidFill>
                <a:latin typeface="Arial"/>
                <a:cs typeface="Arial"/>
              </a:rPr>
              <a:t>2 téléphériques</a:t>
            </a:r>
            <a:endParaRPr lang="fr-FR" sz="1800" dirty="0"/>
          </a:p>
          <a:p>
            <a:pPr algn="l">
              <a:lnSpc>
                <a:spcPct val="100000"/>
              </a:lnSpc>
              <a:spcBef>
                <a:spcPts val="200"/>
              </a:spcBef>
              <a:spcAft>
                <a:spcPts val="0"/>
              </a:spcAft>
              <a:buNone/>
            </a:pPr>
            <a:r>
              <a:rPr lang="fr-FR" sz="950" b="0" i="0" dirty="0">
                <a:solidFill>
                  <a:srgbClr val="202020"/>
                </a:solidFill>
                <a:latin typeface="Arial"/>
                <a:cs typeface="Arial"/>
              </a:rPr>
              <a:t>à Grenoble, avec leur vrai nombre de départs ; un trajet décrit une fois n'est plus compté 1 fois.</a:t>
            </a:r>
            <a:endParaRPr lang="fr-FR" sz="950" dirty="0"/>
          </a:p>
        </p:txBody>
      </p:sp>
      <p:sp>
        <p:nvSpPr>
          <p:cNvPr id="14" name="Forme 14"/>
          <p:cNvSpPr/>
          <p:nvPr/>
        </p:nvSpPr>
        <p:spPr>
          <a:xfrm>
            <a:off x="621792" y="5806440"/>
            <a:ext cx="3364992" cy="45720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900" b="0" i="0" dirty="0">
                <a:solidFill>
                  <a:srgbClr val="616060"/>
                </a:solidFill>
                <a:latin typeface="Consolas"/>
                <a:cs typeface="Consolas"/>
              </a:rPr>
              <a:t>offer.py › route_mode, trip_departures, STOP_MODE_OVERRIDES</a:t>
            </a:r>
            <a:endParaRPr lang="fr-FR" sz="900" dirty="0"/>
          </a:p>
        </p:txBody>
      </p:sp>
      <p:sp>
        <p:nvSpPr>
          <p:cNvPr id="15" name="Forme 15"/>
          <p:cNvSpPr/>
          <p:nvPr/>
        </p:nvSpPr>
        <p:spPr>
          <a:xfrm>
            <a:off x="4270248" y="1371600"/>
            <a:ext cx="3657600" cy="4937760"/>
          </a:xfrm>
          <a:prstGeom prst="roundRect">
            <a:avLst>
              <a:gd name="adj" fmla="val 3000"/>
            </a:avLst>
          </a:prstGeom>
          <a:solidFill>
            <a:srgbClr val="F5F5F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6" name="Forme 16"/>
          <p:cNvSpPr/>
          <p:nvPr/>
        </p:nvSpPr>
        <p:spPr>
          <a:xfrm>
            <a:off x="4270248" y="1371600"/>
            <a:ext cx="3657600" cy="685800"/>
          </a:xfrm>
          <a:prstGeom prst="roundRect">
            <a:avLst>
              <a:gd name="adj" fmla="val 12000"/>
            </a:avLst>
          </a:prstGeom>
          <a:solidFill>
            <a:srgbClr val="32B4B5"/>
          </a:solidFill>
          <a:ln>
            <a:noFill/>
          </a:ln>
        </p:spPr>
        <p:txBody>
          <a:bodyPr wrap="square" lIns="164592" tIns="36576" rIns="109728" bIns="36576" anchor="ctr" rtlCol="0">
            <a:noAutofit/>
          </a:bodyPr>
          <a:lstStyle/>
          <a:p>
            <a:pPr algn="l">
              <a:lnSpc>
                <a:spcPct val="100000"/>
              </a:lnSpc>
              <a:spcBef>
                <a:spcPts val="0"/>
              </a:spcBef>
              <a:spcAft>
                <a:spcPts val="0"/>
              </a:spcAft>
              <a:buNone/>
            </a:pPr>
            <a:r>
              <a:rPr lang="fr-FR" sz="1250" b="1" i="0" dirty="0">
                <a:solidFill>
                  <a:srgbClr val="FFFFFF"/>
                </a:solidFill>
                <a:latin typeface="Arial"/>
                <a:cs typeface="Arial"/>
              </a:rPr>
              <a:t>5. Coordonnées aberrantes</a:t>
            </a:r>
            <a:endParaRPr lang="fr-FR" sz="1250" dirty="0"/>
          </a:p>
        </p:txBody>
      </p:sp>
      <p:sp>
        <p:nvSpPr>
          <p:cNvPr id="17" name="Forme 17"/>
          <p:cNvSpPr/>
          <p:nvPr/>
        </p:nvSpPr>
        <p:spPr>
          <a:xfrm>
            <a:off x="4434840" y="2148840"/>
            <a:ext cx="3364992" cy="219456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50" b="1" i="0" dirty="0">
                <a:solidFill>
                  <a:srgbClr val="20A4B0"/>
                </a:solidFill>
                <a:latin typeface="Arial"/>
                <a:cs typeface="Arial"/>
              </a:rPr>
              <a:t>PROBLÈME</a:t>
            </a:r>
            <a:endParaRPr lang="fr-FR" sz="950" dirty="0"/>
          </a:p>
          <a:p>
            <a:pPr algn="l">
              <a:lnSpc>
                <a:spcPct val="100000"/>
              </a:lnSpc>
              <a:spcBef>
                <a:spcPts val="100"/>
              </a:spcBef>
              <a:spcAft>
                <a:spcPts val="0"/>
              </a:spcAft>
              <a:buNone/>
            </a:pPr>
            <a:r>
              <a:rPr lang="fr-FR" sz="1150" b="0" i="0" dirty="0">
                <a:solidFill>
                  <a:srgbClr val="202020"/>
                </a:solidFill>
                <a:latin typeface="Arial"/>
                <a:cs typeface="Arial"/>
              </a:rPr>
              <a:t>Des points en (0, 0) ou au milieu de l'océan, fréquents en open data.</a:t>
            </a:r>
            <a:endParaRPr lang="fr-FR" sz="1150" dirty="0"/>
          </a:p>
          <a:p>
            <a:pPr algn="l">
              <a:lnSpc>
                <a:spcPct val="100000"/>
              </a:lnSpc>
              <a:spcBef>
                <a:spcPts val="800"/>
              </a:spcBef>
              <a:spcAft>
                <a:spcPts val="0"/>
              </a:spcAft>
              <a:buNone/>
            </a:pPr>
            <a:r>
              <a:rPr lang="fr-FR" sz="950" b="1" i="0" dirty="0">
                <a:solidFill>
                  <a:srgbClr val="20A4B0"/>
                </a:solidFill>
                <a:latin typeface="Arial"/>
                <a:cs typeface="Arial"/>
              </a:rPr>
              <a:t>CE QU'ON FAIT</a:t>
            </a:r>
            <a:endParaRPr lang="fr-FR" sz="950" dirty="0"/>
          </a:p>
          <a:p>
            <a:pPr algn="l">
              <a:lnSpc>
                <a:spcPct val="100000"/>
              </a:lnSpc>
              <a:spcBef>
                <a:spcPts val="100"/>
              </a:spcBef>
              <a:spcAft>
                <a:spcPts val="0"/>
              </a:spcAft>
              <a:buNone/>
            </a:pPr>
            <a:r>
              <a:rPr lang="fr-FR" sz="1150" b="0" i="0" dirty="0">
                <a:solidFill>
                  <a:srgbClr val="202020"/>
                </a:solidFill>
                <a:latin typeface="Arial"/>
                <a:cs typeface="Arial"/>
              </a:rPr>
              <a:t>On ne garde que les points dans l'emprise de la métropole (ou de chacun des 5 DROM au national). </a:t>
            </a:r>
            <a:r>
              <a:rPr lang="fr-FR" sz="1150" b="0" i="0" dirty="0">
                <a:solidFill>
                  <a:srgbClr val="20A4B0"/>
                </a:solidFill>
                <a:latin typeface="Consolas"/>
                <a:cs typeface="Consolas"/>
              </a:rPr>
              <a:t>check_data.py</a:t>
            </a:r>
            <a:r>
              <a:rPr lang="fr-FR" sz="1150" b="0" i="0" dirty="0">
                <a:solidFill>
                  <a:srgbClr val="202020"/>
                </a:solidFill>
                <a:latin typeface="Arial"/>
                <a:cs typeface="Arial"/>
              </a:rPr>
              <a:t> signale aussi les stations Citiz aberrantes.</a:t>
            </a:r>
            <a:endParaRPr lang="fr-FR" sz="1150" dirty="0"/>
          </a:p>
        </p:txBody>
      </p:sp>
      <p:sp>
        <p:nvSpPr>
          <p:cNvPr id="18" name="Forme 18"/>
          <p:cNvSpPr/>
          <p:nvPr/>
        </p:nvSpPr>
        <p:spPr>
          <a:xfrm>
            <a:off x="4407408" y="4434840"/>
            <a:ext cx="3383280" cy="1298448"/>
          </a:xfrm>
          <a:prstGeom prst="roundRect">
            <a:avLst>
              <a:gd name="adj" fmla="val 8000"/>
            </a:avLst>
          </a:prstGeom>
          <a:solidFill>
            <a:srgbClr val="DBF4F4"/>
          </a:solidFill>
          <a:ln>
            <a:noFill/>
          </a:ln>
        </p:spPr>
        <p:txBody>
          <a:bodyPr wrap="square" lIns="137160" tIns="45720" rIns="109728" bIns="45720" anchor="ctr" rtlCol="0">
            <a:noAutofit/>
          </a:bodyPr>
          <a:lstStyle/>
          <a:p>
            <a:pPr algn="l">
              <a:lnSpc>
                <a:spcPct val="100000"/>
              </a:lnSpc>
              <a:spcBef>
                <a:spcPts val="0"/>
              </a:spcBef>
              <a:spcAft>
                <a:spcPts val="0"/>
              </a:spcAft>
              <a:buNone/>
            </a:pPr>
            <a:r>
              <a:rPr lang="fr-FR" sz="1800" b="1" i="0" dirty="0">
                <a:solidFill>
                  <a:srgbClr val="20A4B0"/>
                </a:solidFill>
                <a:latin typeface="Arial"/>
                <a:cs typeface="Arial"/>
              </a:rPr>
              <a:t>6 emprises</a:t>
            </a:r>
            <a:endParaRPr lang="fr-FR" sz="1800" dirty="0"/>
          </a:p>
          <a:p>
            <a:pPr algn="l">
              <a:lnSpc>
                <a:spcPct val="100000"/>
              </a:lnSpc>
              <a:spcBef>
                <a:spcPts val="200"/>
              </a:spcBef>
              <a:spcAft>
                <a:spcPts val="0"/>
              </a:spcAft>
              <a:buNone/>
            </a:pPr>
            <a:r>
              <a:rPr lang="fr-FR" sz="950" b="0" i="0" dirty="0">
                <a:solidFill>
                  <a:srgbClr val="202020"/>
                </a:solidFill>
                <a:latin typeface="Arial"/>
                <a:cs typeface="Arial"/>
              </a:rPr>
              <a:t>métropole, Guadeloupe, Martinique, Guyane, Réunion, Mayotte : tout point hors emprise est écarté.</a:t>
            </a:r>
            <a:endParaRPr lang="fr-FR" sz="950" dirty="0"/>
          </a:p>
        </p:txBody>
      </p:sp>
      <p:sp>
        <p:nvSpPr>
          <p:cNvPr id="19" name="Forme 19"/>
          <p:cNvSpPr/>
          <p:nvPr/>
        </p:nvSpPr>
        <p:spPr>
          <a:xfrm>
            <a:off x="4434840" y="5806440"/>
            <a:ext cx="3364992" cy="45720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900" b="0" i="0" dirty="0">
                <a:solidFill>
                  <a:srgbClr val="616060"/>
                </a:solidFill>
                <a:latin typeface="Consolas"/>
                <a:cs typeface="Consolas"/>
              </a:rPr>
              <a:t>geo.py › valid_coords · national/common.py › bbox_territory</a:t>
            </a:r>
            <a:endParaRPr lang="fr-FR" sz="900" dirty="0"/>
          </a:p>
        </p:txBody>
      </p:sp>
      <p:sp>
        <p:nvSpPr>
          <p:cNvPr id="20" name="Forme 20"/>
          <p:cNvSpPr/>
          <p:nvPr/>
        </p:nvSpPr>
        <p:spPr>
          <a:xfrm>
            <a:off x="8083296" y="1371600"/>
            <a:ext cx="3657600" cy="4937760"/>
          </a:xfrm>
          <a:prstGeom prst="roundRect">
            <a:avLst>
              <a:gd name="adj" fmla="val 3000"/>
            </a:avLst>
          </a:prstGeom>
          <a:solidFill>
            <a:srgbClr val="F5F5F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1" name="Forme 21"/>
          <p:cNvSpPr/>
          <p:nvPr/>
        </p:nvSpPr>
        <p:spPr>
          <a:xfrm>
            <a:off x="8083296" y="1371600"/>
            <a:ext cx="3657600" cy="685800"/>
          </a:xfrm>
          <a:prstGeom prst="roundRect">
            <a:avLst>
              <a:gd name="adj" fmla="val 12000"/>
            </a:avLst>
          </a:prstGeom>
          <a:solidFill>
            <a:srgbClr val="32B4B5"/>
          </a:solidFill>
          <a:ln>
            <a:noFill/>
          </a:ln>
        </p:spPr>
        <p:txBody>
          <a:bodyPr wrap="square" lIns="164592" tIns="36576" rIns="109728" bIns="36576" anchor="ctr" rtlCol="0">
            <a:noAutofit/>
          </a:bodyPr>
          <a:lstStyle/>
          <a:p>
            <a:pPr algn="l">
              <a:lnSpc>
                <a:spcPct val="100000"/>
              </a:lnSpc>
              <a:spcBef>
                <a:spcPts val="0"/>
              </a:spcBef>
              <a:spcAft>
                <a:spcPts val="0"/>
              </a:spcAft>
              <a:buNone/>
            </a:pPr>
            <a:r>
              <a:rPr lang="fr-FR" sz="1250" b="1" i="0" dirty="0">
                <a:solidFill>
                  <a:srgbClr val="FFFFFF"/>
                </a:solidFill>
                <a:latin typeface="Arial"/>
                <a:cs typeface="Arial"/>
              </a:rPr>
              <a:t>6. Calage de la population</a:t>
            </a:r>
            <a:endParaRPr lang="fr-FR" sz="1250" dirty="0"/>
          </a:p>
        </p:txBody>
      </p:sp>
      <p:sp>
        <p:nvSpPr>
          <p:cNvPr id="22" name="Forme 22"/>
          <p:cNvSpPr/>
          <p:nvPr/>
        </p:nvSpPr>
        <p:spPr>
          <a:xfrm>
            <a:off x="8247888" y="2148840"/>
            <a:ext cx="3364992" cy="219456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50" b="1" i="0" dirty="0">
                <a:solidFill>
                  <a:srgbClr val="20A4B0"/>
                </a:solidFill>
                <a:latin typeface="Arial"/>
                <a:cs typeface="Arial"/>
              </a:rPr>
              <a:t>PROBLÈME</a:t>
            </a:r>
            <a:endParaRPr lang="fr-FR" sz="950" dirty="0"/>
          </a:p>
          <a:p>
            <a:pPr algn="l">
              <a:lnSpc>
                <a:spcPct val="100000"/>
              </a:lnSpc>
              <a:spcBef>
                <a:spcPts val="100"/>
              </a:spcBef>
              <a:spcAft>
                <a:spcPts val="0"/>
              </a:spcAft>
              <a:buNone/>
            </a:pPr>
            <a:r>
              <a:rPr lang="fr-FR" sz="1150" b="0" i="0" dirty="0">
                <a:solidFill>
                  <a:srgbClr val="202020"/>
                </a:solidFill>
                <a:latin typeface="Arial"/>
                <a:cs typeface="Arial"/>
              </a:rPr>
              <a:t>Filosofi ne compte que les ménages fiscaux ordinaires : il manque étudiants en résidence, foyers, EHPAD, soit −10 % à Grenoble.</a:t>
            </a:r>
            <a:endParaRPr lang="fr-FR" sz="1150" dirty="0"/>
          </a:p>
          <a:p>
            <a:pPr algn="l">
              <a:lnSpc>
                <a:spcPct val="100000"/>
              </a:lnSpc>
              <a:spcBef>
                <a:spcPts val="800"/>
              </a:spcBef>
              <a:spcAft>
                <a:spcPts val="0"/>
              </a:spcAft>
              <a:buNone/>
            </a:pPr>
            <a:r>
              <a:rPr lang="fr-FR" sz="950" b="1" i="0" dirty="0">
                <a:solidFill>
                  <a:srgbClr val="20A4B0"/>
                </a:solidFill>
                <a:latin typeface="Arial"/>
                <a:cs typeface="Arial"/>
              </a:rPr>
              <a:t>CE QU'ON FAIT</a:t>
            </a:r>
            <a:endParaRPr lang="fr-FR" sz="950" dirty="0"/>
          </a:p>
          <a:p>
            <a:pPr algn="l">
              <a:lnSpc>
                <a:spcPct val="100000"/>
              </a:lnSpc>
              <a:spcBef>
                <a:spcPts val="100"/>
              </a:spcBef>
              <a:spcAft>
                <a:spcPts val="0"/>
              </a:spcAft>
              <a:buNone/>
            </a:pPr>
            <a:r>
              <a:rPr lang="fr-FR" sz="1150" b="0" i="0" dirty="0">
                <a:solidFill>
                  <a:srgbClr val="20A4B0"/>
                </a:solidFill>
                <a:latin typeface="Consolas"/>
                <a:cs typeface="Consolas"/>
              </a:rPr>
              <a:t>pop_calee = ind × population du recensement de la commune / Σ ind de la commune</a:t>
            </a:r>
            <a:r>
              <a:rPr lang="fr-FR" sz="1150" b="0" i="0" dirty="0">
                <a:solidFill>
                  <a:srgbClr val="202020"/>
                </a:solidFill>
                <a:latin typeface="Arial"/>
                <a:cs typeface="Arial"/>
              </a:rPr>
              <a:t>. La répartition dans la commune reste celle de Filosofi.</a:t>
            </a:r>
            <a:endParaRPr lang="fr-FR" sz="1150" dirty="0"/>
          </a:p>
        </p:txBody>
      </p:sp>
      <p:sp>
        <p:nvSpPr>
          <p:cNvPr id="23" name="Forme 23"/>
          <p:cNvSpPr/>
          <p:nvPr/>
        </p:nvSpPr>
        <p:spPr>
          <a:xfrm>
            <a:off x="8220456" y="4434840"/>
            <a:ext cx="3383280" cy="1298448"/>
          </a:xfrm>
          <a:prstGeom prst="roundRect">
            <a:avLst>
              <a:gd name="adj" fmla="val 8000"/>
            </a:avLst>
          </a:prstGeom>
          <a:solidFill>
            <a:srgbClr val="DBF4F4"/>
          </a:solidFill>
          <a:ln>
            <a:noFill/>
          </a:ln>
        </p:spPr>
        <p:txBody>
          <a:bodyPr wrap="square" lIns="137160" tIns="45720" rIns="109728" bIns="45720" anchor="ctr" rtlCol="0">
            <a:noAutofit/>
          </a:bodyPr>
          <a:lstStyle/>
          <a:p>
            <a:pPr algn="l">
              <a:lnSpc>
                <a:spcPct val="100000"/>
              </a:lnSpc>
              <a:spcBef>
                <a:spcPts val="0"/>
              </a:spcBef>
              <a:spcAft>
                <a:spcPts val="0"/>
              </a:spcAft>
              <a:buNone/>
            </a:pPr>
            <a:r>
              <a:rPr lang="fr-FR" sz="1800" b="1" i="0" dirty="0">
                <a:solidFill>
                  <a:srgbClr val="20A4B0"/>
                </a:solidFill>
                <a:latin typeface="Arial"/>
                <a:cs typeface="Arial"/>
              </a:rPr>
              <a:t>625 546 → 689 456</a:t>
            </a:r>
            <a:endParaRPr lang="fr-FR" sz="1800" dirty="0"/>
          </a:p>
          <a:p>
            <a:pPr algn="l">
              <a:lnSpc>
                <a:spcPct val="100000"/>
              </a:lnSpc>
              <a:spcBef>
                <a:spcPts val="200"/>
              </a:spcBef>
              <a:spcAft>
                <a:spcPts val="0"/>
              </a:spcAft>
              <a:buNone/>
            </a:pPr>
            <a:r>
              <a:rPr lang="fr-FR" sz="950" b="0" i="0" dirty="0">
                <a:solidFill>
                  <a:srgbClr val="202020"/>
                </a:solidFill>
                <a:latin typeface="Arial"/>
                <a:cs typeface="Arial"/>
              </a:rPr>
              <a:t>habitants à Nantes (= le recensement). Grenoble 406 039 → 450 608 ; France 63,8 M → 67,4 M.</a:t>
            </a:r>
            <a:endParaRPr lang="fr-FR" sz="950" dirty="0"/>
          </a:p>
        </p:txBody>
      </p:sp>
      <p:sp>
        <p:nvSpPr>
          <p:cNvPr id="24" name="Forme 24"/>
          <p:cNvSpPr/>
          <p:nvPr/>
        </p:nvSpPr>
        <p:spPr>
          <a:xfrm>
            <a:off x="8247888" y="5806440"/>
            <a:ext cx="3364992" cy="45720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900" b="0" i="0" dirty="0">
                <a:solidFill>
                  <a:srgbClr val="616060"/>
                </a:solidFill>
                <a:latin typeface="Consolas"/>
                <a:cs typeface="Consolas"/>
              </a:rPr>
              <a:t>population.py › calage</a:t>
            </a:r>
            <a:endParaRPr lang="fr-FR" sz="900" dirty="0"/>
          </a:p>
        </p:txBody>
      </p:sp>
      <p:pic>
        <p:nvPicPr>
          <p:cNvPr id="9016"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20A4B0"/>
                </a:solidFill>
                <a:latin typeface="Arial"/>
                <a:cs typeface="Arial"/>
              </a:rPr>
              <a:t>PARTIE 4 · LE NETTOYAGE</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Le nettoyage, étape par étape (3/3)</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Pour chaque traitement : le problème, ce qu'on fait, le résultat chiffré, le code.</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17</a:t>
            </a:r>
            <a:endParaRPr lang="fr-FR" sz="900" dirty="0"/>
          </a:p>
        </p:txBody>
      </p:sp>
      <p:sp>
        <p:nvSpPr>
          <p:cNvPr id="10" name="Forme 10"/>
          <p:cNvSpPr/>
          <p:nvPr/>
        </p:nvSpPr>
        <p:spPr>
          <a:xfrm>
            <a:off x="457200" y="1371600"/>
            <a:ext cx="3657600" cy="4937760"/>
          </a:xfrm>
          <a:prstGeom prst="roundRect">
            <a:avLst>
              <a:gd name="adj" fmla="val 3000"/>
            </a:avLst>
          </a:prstGeom>
          <a:solidFill>
            <a:srgbClr val="F5F5F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1" name="Forme 11"/>
          <p:cNvSpPr/>
          <p:nvPr/>
        </p:nvSpPr>
        <p:spPr>
          <a:xfrm>
            <a:off x="457200" y="1371600"/>
            <a:ext cx="3657600" cy="685800"/>
          </a:xfrm>
          <a:prstGeom prst="roundRect">
            <a:avLst>
              <a:gd name="adj" fmla="val 12000"/>
            </a:avLst>
          </a:prstGeom>
          <a:solidFill>
            <a:srgbClr val="32B4B5"/>
          </a:solidFill>
          <a:ln>
            <a:noFill/>
          </a:ln>
        </p:spPr>
        <p:txBody>
          <a:bodyPr wrap="square" lIns="164592" tIns="36576" rIns="109728" bIns="36576" anchor="ctr" rtlCol="0">
            <a:noAutofit/>
          </a:bodyPr>
          <a:lstStyle/>
          <a:p>
            <a:pPr algn="l">
              <a:lnSpc>
                <a:spcPct val="100000"/>
              </a:lnSpc>
              <a:spcBef>
                <a:spcPts val="0"/>
              </a:spcBef>
              <a:spcAft>
                <a:spcPts val="0"/>
              </a:spcAft>
              <a:buNone/>
            </a:pPr>
            <a:r>
              <a:rPr lang="fr-FR" sz="1250" b="1" i="0" dirty="0">
                <a:solidFill>
                  <a:srgbClr val="FFFFFF"/>
                </a:solidFill>
                <a:latin typeface="Arial"/>
                <a:cs typeface="Arial"/>
              </a:rPr>
              <a:t>7. Motorisation par IRIS, repli commune</a:t>
            </a:r>
            <a:endParaRPr lang="fr-FR" sz="1250" dirty="0"/>
          </a:p>
        </p:txBody>
      </p:sp>
      <p:sp>
        <p:nvSpPr>
          <p:cNvPr id="12" name="Forme 12"/>
          <p:cNvSpPr/>
          <p:nvPr/>
        </p:nvSpPr>
        <p:spPr>
          <a:xfrm>
            <a:off x="621792" y="2148840"/>
            <a:ext cx="3364992" cy="219456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50" b="1" i="0" dirty="0">
                <a:solidFill>
                  <a:srgbClr val="20A4B0"/>
                </a:solidFill>
                <a:latin typeface="Arial"/>
                <a:cs typeface="Arial"/>
              </a:rPr>
              <a:t>PROBLÈME</a:t>
            </a:r>
            <a:endParaRPr lang="fr-FR" sz="950" dirty="0"/>
          </a:p>
          <a:p>
            <a:pPr algn="l">
              <a:lnSpc>
                <a:spcPct val="100000"/>
              </a:lnSpc>
              <a:spcBef>
                <a:spcPts val="100"/>
              </a:spcBef>
              <a:spcAft>
                <a:spcPts val="0"/>
              </a:spcAft>
              <a:buNone/>
            </a:pPr>
            <a:r>
              <a:rPr lang="fr-FR" sz="1150" b="0" i="0" dirty="0">
                <a:solidFill>
                  <a:srgbClr val="202020"/>
                </a:solidFill>
                <a:latin typeface="Arial"/>
                <a:cs typeface="Arial"/>
              </a:rPr>
              <a:t>La part de ménages sans voiture existe par IRIS 2023, mais des IRIS ont été redécoupés depuis, et les petites communes n'en ont pas.</a:t>
            </a:r>
            <a:endParaRPr lang="fr-FR" sz="1150" dirty="0"/>
          </a:p>
          <a:p>
            <a:pPr algn="l">
              <a:lnSpc>
                <a:spcPct val="100000"/>
              </a:lnSpc>
              <a:spcBef>
                <a:spcPts val="800"/>
              </a:spcBef>
              <a:spcAft>
                <a:spcPts val="0"/>
              </a:spcAft>
              <a:buNone/>
            </a:pPr>
            <a:r>
              <a:rPr lang="fr-FR" sz="950" b="1" i="0" dirty="0">
                <a:solidFill>
                  <a:srgbClr val="20A4B0"/>
                </a:solidFill>
                <a:latin typeface="Arial"/>
                <a:cs typeface="Arial"/>
              </a:rPr>
              <a:t>CE QU'ON FAIT</a:t>
            </a:r>
            <a:endParaRPr lang="fr-FR" sz="950" dirty="0"/>
          </a:p>
          <a:p>
            <a:pPr algn="l">
              <a:lnSpc>
                <a:spcPct val="100000"/>
              </a:lnSpc>
              <a:spcBef>
                <a:spcPts val="100"/>
              </a:spcBef>
              <a:spcAft>
                <a:spcPts val="0"/>
              </a:spcAft>
              <a:buNone/>
            </a:pPr>
            <a:r>
              <a:rPr lang="fr-FR" sz="1150" b="0" i="0" dirty="0">
                <a:solidFill>
                  <a:srgbClr val="202020"/>
                </a:solidFill>
                <a:latin typeface="Arial"/>
                <a:cs typeface="Arial"/>
              </a:rPr>
              <a:t>Centre du carreau → IRIS 2026 (IGN) → valeur IRIS 2023 ; sinon, </a:t>
            </a:r>
            <a:r>
              <a:rPr lang="fr-FR" sz="1150" b="1" i="0" dirty="0">
                <a:solidFill>
                  <a:srgbClr val="202020"/>
                </a:solidFill>
                <a:latin typeface="Arial"/>
                <a:cs typeface="Arial"/>
              </a:rPr>
              <a:t>valeur de la commune</a:t>
            </a:r>
            <a:r>
              <a:rPr lang="fr-FR" sz="1150" b="0" i="0" dirty="0">
                <a:solidFill>
                  <a:srgbClr val="202020"/>
                </a:solidFill>
                <a:latin typeface="Arial"/>
                <a:cs typeface="Arial"/>
              </a:rPr>
              <a:t>. La source est notée (</a:t>
            </a:r>
            <a:r>
              <a:rPr lang="fr-FR" sz="1150" b="0" i="0" dirty="0">
                <a:solidFill>
                  <a:srgbClr val="20A4B0"/>
                </a:solidFill>
                <a:latin typeface="Consolas"/>
                <a:cs typeface="Consolas"/>
              </a:rPr>
              <a:t>motorisation_source</a:t>
            </a:r>
            <a:r>
              <a:rPr lang="fr-FR" sz="1150" b="0" i="0" dirty="0">
                <a:solidFill>
                  <a:srgbClr val="202020"/>
                </a:solidFill>
                <a:latin typeface="Arial"/>
                <a:cs typeface="Arial"/>
              </a:rPr>
              <a:t>).</a:t>
            </a:r>
            <a:endParaRPr lang="fr-FR" sz="1150" dirty="0"/>
          </a:p>
        </p:txBody>
      </p:sp>
      <p:sp>
        <p:nvSpPr>
          <p:cNvPr id="13" name="Forme 13"/>
          <p:cNvSpPr/>
          <p:nvPr/>
        </p:nvSpPr>
        <p:spPr>
          <a:xfrm>
            <a:off x="594360" y="4434840"/>
            <a:ext cx="3383280" cy="1298448"/>
          </a:xfrm>
          <a:prstGeom prst="roundRect">
            <a:avLst>
              <a:gd name="adj" fmla="val 8000"/>
            </a:avLst>
          </a:prstGeom>
          <a:solidFill>
            <a:srgbClr val="DBF4F4"/>
          </a:solidFill>
          <a:ln>
            <a:noFill/>
          </a:ln>
        </p:spPr>
        <p:txBody>
          <a:bodyPr wrap="square" lIns="137160" tIns="45720" rIns="109728" bIns="45720" anchor="ctr" rtlCol="0">
            <a:noAutofit/>
          </a:bodyPr>
          <a:lstStyle/>
          <a:p>
            <a:pPr algn="l">
              <a:lnSpc>
                <a:spcPct val="100000"/>
              </a:lnSpc>
              <a:spcBef>
                <a:spcPts val="0"/>
              </a:spcBef>
              <a:spcAft>
                <a:spcPts val="0"/>
              </a:spcAft>
              <a:buNone/>
            </a:pPr>
            <a:r>
              <a:rPr lang="fr-FR" sz="1800" b="1" i="0" dirty="0">
                <a:solidFill>
                  <a:srgbClr val="20A4B0"/>
                </a:solidFill>
                <a:latin typeface="Arial"/>
                <a:cs typeface="Arial"/>
              </a:rPr>
              <a:t>99,8 %</a:t>
            </a:r>
            <a:endParaRPr lang="fr-FR" sz="1800" dirty="0"/>
          </a:p>
          <a:p>
            <a:pPr algn="l">
              <a:lnSpc>
                <a:spcPct val="100000"/>
              </a:lnSpc>
              <a:spcBef>
                <a:spcPts val="200"/>
              </a:spcBef>
              <a:spcAft>
                <a:spcPts val="0"/>
              </a:spcAft>
              <a:buNone/>
            </a:pPr>
            <a:r>
              <a:rPr lang="fr-FR" sz="950" b="0" i="0" dirty="0">
                <a:solidFill>
                  <a:srgbClr val="202020"/>
                </a:solidFill>
                <a:latin typeface="Arial"/>
                <a:cs typeface="Arial"/>
              </a:rPr>
              <a:t>des carreaux nantais (communes découpées en IRIS) trouvent leur IRIS ; 11 en repli commune ; 0 sans valeur.</a:t>
            </a:r>
            <a:endParaRPr lang="fr-FR" sz="950" dirty="0"/>
          </a:p>
        </p:txBody>
      </p:sp>
      <p:sp>
        <p:nvSpPr>
          <p:cNvPr id="14" name="Forme 14"/>
          <p:cNvSpPr/>
          <p:nvPr/>
        </p:nvSpPr>
        <p:spPr>
          <a:xfrm>
            <a:off x="621792" y="5806440"/>
            <a:ext cx="3364992" cy="45720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900" b="0" i="0" dirty="0">
                <a:solidFill>
                  <a:srgbClr val="616060"/>
                </a:solidFill>
                <a:latin typeface="Consolas"/>
                <a:cs typeface="Consolas"/>
              </a:rPr>
              <a:t>population.py › motorisation, part_sans_voiture</a:t>
            </a:r>
            <a:endParaRPr lang="fr-FR" sz="900" dirty="0"/>
          </a:p>
        </p:txBody>
      </p:sp>
      <p:sp>
        <p:nvSpPr>
          <p:cNvPr id="15" name="Forme 15"/>
          <p:cNvSpPr/>
          <p:nvPr/>
        </p:nvSpPr>
        <p:spPr>
          <a:xfrm>
            <a:off x="4270248" y="1371600"/>
            <a:ext cx="3657600" cy="4937760"/>
          </a:xfrm>
          <a:prstGeom prst="roundRect">
            <a:avLst>
              <a:gd name="adj" fmla="val 3000"/>
            </a:avLst>
          </a:prstGeom>
          <a:solidFill>
            <a:srgbClr val="F5F5F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6" name="Forme 16"/>
          <p:cNvSpPr/>
          <p:nvPr/>
        </p:nvSpPr>
        <p:spPr>
          <a:xfrm>
            <a:off x="4270248" y="1371600"/>
            <a:ext cx="3657600" cy="685800"/>
          </a:xfrm>
          <a:prstGeom prst="roundRect">
            <a:avLst>
              <a:gd name="adj" fmla="val 12000"/>
            </a:avLst>
          </a:prstGeom>
          <a:solidFill>
            <a:srgbClr val="32B4B5"/>
          </a:solidFill>
          <a:ln>
            <a:noFill/>
          </a:ln>
        </p:spPr>
        <p:txBody>
          <a:bodyPr wrap="square" lIns="164592" tIns="36576" rIns="109728" bIns="36576" anchor="ctr" rtlCol="0">
            <a:noAutofit/>
          </a:bodyPr>
          <a:lstStyle/>
          <a:p>
            <a:pPr algn="l">
              <a:lnSpc>
                <a:spcPct val="100000"/>
              </a:lnSpc>
              <a:spcBef>
                <a:spcPts val="0"/>
              </a:spcBef>
              <a:spcAft>
                <a:spcPts val="0"/>
              </a:spcAft>
              <a:buNone/>
            </a:pPr>
            <a:r>
              <a:rPr lang="fr-FR" sz="1250" b="1" i="0" dirty="0">
                <a:solidFill>
                  <a:srgbClr val="FFFFFF"/>
                </a:solidFill>
                <a:latin typeface="Arial"/>
                <a:cs typeface="Arial"/>
              </a:rPr>
              <a:t>8. Secret statistique</a:t>
            </a:r>
            <a:endParaRPr lang="fr-FR" sz="1250" dirty="0"/>
          </a:p>
        </p:txBody>
      </p:sp>
      <p:sp>
        <p:nvSpPr>
          <p:cNvPr id="17" name="Forme 17"/>
          <p:cNvSpPr/>
          <p:nvPr/>
        </p:nvSpPr>
        <p:spPr>
          <a:xfrm>
            <a:off x="4434840" y="2148840"/>
            <a:ext cx="3364992" cy="219456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50" b="1" i="0" dirty="0">
                <a:solidFill>
                  <a:srgbClr val="20A4B0"/>
                </a:solidFill>
                <a:latin typeface="Arial"/>
                <a:cs typeface="Arial"/>
              </a:rPr>
              <a:t>PROBLÈME</a:t>
            </a:r>
            <a:endParaRPr lang="fr-FR" sz="950" dirty="0"/>
          </a:p>
          <a:p>
            <a:pPr algn="l">
              <a:lnSpc>
                <a:spcPct val="100000"/>
              </a:lnSpc>
              <a:spcBef>
                <a:spcPts val="100"/>
              </a:spcBef>
              <a:spcAft>
                <a:spcPts val="0"/>
              </a:spcAft>
              <a:buNone/>
            </a:pPr>
            <a:r>
              <a:rPr lang="fr-FR" sz="1150" b="0" i="0" dirty="0">
                <a:solidFill>
                  <a:srgbClr val="202020"/>
                </a:solidFill>
                <a:latin typeface="Arial"/>
                <a:cs typeface="Arial"/>
              </a:rPr>
              <a:t>Un carreau de quelques ménages permet de reconnaître des familles.</a:t>
            </a:r>
            <a:endParaRPr lang="fr-FR" sz="1150" dirty="0"/>
          </a:p>
          <a:p>
            <a:pPr algn="l">
              <a:lnSpc>
                <a:spcPct val="100000"/>
              </a:lnSpc>
              <a:spcBef>
                <a:spcPts val="800"/>
              </a:spcBef>
              <a:spcAft>
                <a:spcPts val="0"/>
              </a:spcAft>
              <a:buNone/>
            </a:pPr>
            <a:r>
              <a:rPr lang="fr-FR" sz="950" b="1" i="0" dirty="0">
                <a:solidFill>
                  <a:srgbClr val="20A4B0"/>
                </a:solidFill>
                <a:latin typeface="Arial"/>
                <a:cs typeface="Arial"/>
              </a:rPr>
              <a:t>CE QU'ON FAIT</a:t>
            </a:r>
            <a:endParaRPr lang="fr-FR" sz="950" dirty="0"/>
          </a:p>
          <a:p>
            <a:pPr algn="l">
              <a:lnSpc>
                <a:spcPct val="100000"/>
              </a:lnSpc>
              <a:spcBef>
                <a:spcPts val="100"/>
              </a:spcBef>
              <a:spcAft>
                <a:spcPts val="0"/>
              </a:spcAft>
              <a:buNone/>
            </a:pPr>
            <a:r>
              <a:rPr lang="fr-FR" sz="1150" b="0" i="0" dirty="0">
                <a:solidFill>
                  <a:srgbClr val="202020"/>
                </a:solidFill>
                <a:latin typeface="Arial"/>
                <a:cs typeface="Arial"/>
              </a:rPr>
              <a:t>Aucun carreau de </a:t>
            </a:r>
            <a:r>
              <a:rPr lang="fr-FR" sz="1150" b="1" i="0" dirty="0">
                <a:solidFill>
                  <a:srgbClr val="202020"/>
                </a:solidFill>
                <a:latin typeface="Arial"/>
                <a:cs typeface="Arial"/>
              </a:rPr>
              <a:t>moins de 11 ménages</a:t>
            </a:r>
            <a:r>
              <a:rPr lang="fr-FR" sz="1150" b="0" i="0" dirty="0">
                <a:solidFill>
                  <a:srgbClr val="202020"/>
                </a:solidFill>
                <a:latin typeface="Arial"/>
                <a:cs typeface="Arial"/>
              </a:rPr>
              <a:t> affiché seul (</a:t>
            </a:r>
            <a:r>
              <a:rPr lang="fr-FR" sz="1150" b="0" i="0" dirty="0">
                <a:solidFill>
                  <a:srgbClr val="20A4B0"/>
                </a:solidFill>
                <a:latin typeface="Consolas"/>
                <a:cs typeface="Consolas"/>
              </a:rPr>
              <a:t>privacy.min_households</a:t>
            </a:r>
            <a:r>
              <a:rPr lang="fr-FR" sz="1150" b="0" i="0" dirty="0">
                <a:solidFill>
                  <a:srgbClr val="202020"/>
                </a:solidFill>
                <a:latin typeface="Arial"/>
                <a:cs typeface="Arial"/>
              </a:rPr>
              <a:t>). Exports : effectifs IRIS </a:t>
            </a:r>
            <a:r>
              <a:rPr lang="fr-FR" sz="1150" b="1" i="0" dirty="0">
                <a:solidFill>
                  <a:srgbClr val="202020"/>
                </a:solidFill>
                <a:latin typeface="Arial"/>
                <a:cs typeface="Arial"/>
              </a:rPr>
              <a:t>arrondis à 5</a:t>
            </a:r>
            <a:r>
              <a:rPr lang="fr-FR" sz="1150" b="0" i="0" dirty="0">
                <a:solidFill>
                  <a:srgbClr val="202020"/>
                </a:solidFill>
                <a:latin typeface="Arial"/>
                <a:cs typeface="Arial"/>
              </a:rPr>
              <a:t> ; taux de vols publiés seulement pour les communes ≥ 10 000 hab.</a:t>
            </a:r>
            <a:endParaRPr lang="fr-FR" sz="1150" dirty="0"/>
          </a:p>
        </p:txBody>
      </p:sp>
      <p:sp>
        <p:nvSpPr>
          <p:cNvPr id="18" name="Forme 18"/>
          <p:cNvSpPr/>
          <p:nvPr/>
        </p:nvSpPr>
        <p:spPr>
          <a:xfrm>
            <a:off x="4407408" y="4434840"/>
            <a:ext cx="3383280" cy="1298448"/>
          </a:xfrm>
          <a:prstGeom prst="roundRect">
            <a:avLst>
              <a:gd name="adj" fmla="val 8000"/>
            </a:avLst>
          </a:prstGeom>
          <a:solidFill>
            <a:srgbClr val="DBF4F4"/>
          </a:solidFill>
          <a:ln>
            <a:noFill/>
          </a:ln>
        </p:spPr>
        <p:txBody>
          <a:bodyPr wrap="square" lIns="137160" tIns="45720" rIns="109728" bIns="45720" anchor="ctr" rtlCol="0">
            <a:noAutofit/>
          </a:bodyPr>
          <a:lstStyle/>
          <a:p>
            <a:pPr algn="l">
              <a:lnSpc>
                <a:spcPct val="100000"/>
              </a:lnSpc>
              <a:spcBef>
                <a:spcPts val="0"/>
              </a:spcBef>
              <a:spcAft>
                <a:spcPts val="0"/>
              </a:spcAft>
              <a:buNone/>
            </a:pPr>
            <a:r>
              <a:rPr lang="fr-FR" sz="1800" b="1" i="0" dirty="0">
                <a:solidFill>
                  <a:srgbClr val="20A4B0"/>
                </a:solidFill>
                <a:latin typeface="Arial"/>
                <a:cs typeface="Arial"/>
              </a:rPr>
              <a:t>1 795 894</a:t>
            </a:r>
            <a:endParaRPr lang="fr-FR" sz="1800" dirty="0"/>
          </a:p>
          <a:p>
            <a:pPr algn="l">
              <a:lnSpc>
                <a:spcPct val="100000"/>
              </a:lnSpc>
              <a:spcBef>
                <a:spcPts val="200"/>
              </a:spcBef>
              <a:spcAft>
                <a:spcPts val="0"/>
              </a:spcAft>
              <a:buNone/>
            </a:pPr>
            <a:r>
              <a:rPr lang="fr-FR" sz="950" b="0" i="0" dirty="0">
                <a:solidFill>
                  <a:srgbClr val="202020"/>
                </a:solidFill>
                <a:latin typeface="Arial"/>
                <a:cs typeface="Arial"/>
              </a:rPr>
              <a:t>carreaux masqués en France (77 %, surtout ruraux) : calculés, jamais montrés. Nantes : 2 835.</a:t>
            </a:r>
            <a:endParaRPr lang="fr-FR" sz="950" dirty="0"/>
          </a:p>
        </p:txBody>
      </p:sp>
      <p:sp>
        <p:nvSpPr>
          <p:cNvPr id="19" name="Forme 19"/>
          <p:cNvSpPr/>
          <p:nvPr/>
        </p:nvSpPr>
        <p:spPr>
          <a:xfrm>
            <a:off x="4434840" y="5806440"/>
            <a:ext cx="3364992" cy="45720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900" b="0" i="0" dirty="0">
                <a:solidFill>
                  <a:srgbClr val="616060"/>
                </a:solidFill>
                <a:latin typeface="Consolas"/>
                <a:cs typeface="Consolas"/>
              </a:rPr>
              <a:t>app/app.py · national/app_files.py · export_share.py › round_counts</a:t>
            </a:r>
            <a:endParaRPr lang="fr-FR" sz="900" dirty="0"/>
          </a:p>
        </p:txBody>
      </p:sp>
      <p:sp>
        <p:nvSpPr>
          <p:cNvPr id="20" name="Forme 20"/>
          <p:cNvSpPr/>
          <p:nvPr/>
        </p:nvSpPr>
        <p:spPr>
          <a:xfrm>
            <a:off x="8083296" y="1371600"/>
            <a:ext cx="3657600" cy="4937760"/>
          </a:xfrm>
          <a:prstGeom prst="roundRect">
            <a:avLst>
              <a:gd name="adj" fmla="val 3000"/>
            </a:avLst>
          </a:prstGeom>
          <a:solidFill>
            <a:srgbClr val="F5F5F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1" name="Forme 21"/>
          <p:cNvSpPr/>
          <p:nvPr/>
        </p:nvSpPr>
        <p:spPr>
          <a:xfrm>
            <a:off x="8083296" y="1371600"/>
            <a:ext cx="3657600" cy="685800"/>
          </a:xfrm>
          <a:prstGeom prst="roundRect">
            <a:avLst>
              <a:gd name="adj" fmla="val 12000"/>
            </a:avLst>
          </a:prstGeom>
          <a:solidFill>
            <a:srgbClr val="32B4B5"/>
          </a:solidFill>
          <a:ln>
            <a:noFill/>
          </a:ln>
        </p:spPr>
        <p:txBody>
          <a:bodyPr wrap="square" lIns="164592" tIns="36576" rIns="109728" bIns="36576" anchor="ctr" rtlCol="0">
            <a:noAutofit/>
          </a:bodyPr>
          <a:lstStyle/>
          <a:p>
            <a:pPr algn="l">
              <a:lnSpc>
                <a:spcPct val="100000"/>
              </a:lnSpc>
              <a:spcBef>
                <a:spcPts val="0"/>
              </a:spcBef>
              <a:spcAft>
                <a:spcPts val="0"/>
              </a:spcAft>
              <a:buNone/>
            </a:pPr>
            <a:r>
              <a:rPr lang="fr-FR" sz="1250" b="1" i="0" dirty="0">
                <a:solidFill>
                  <a:srgbClr val="FFFFFF"/>
                </a:solidFill>
                <a:latin typeface="Arial"/>
                <a:cs typeface="Arial"/>
              </a:rPr>
              <a:t>9. Masquage des clés d'API</a:t>
            </a:r>
            <a:endParaRPr lang="fr-FR" sz="1250" dirty="0"/>
          </a:p>
        </p:txBody>
      </p:sp>
      <p:sp>
        <p:nvSpPr>
          <p:cNvPr id="22" name="Forme 22"/>
          <p:cNvSpPr/>
          <p:nvPr/>
        </p:nvSpPr>
        <p:spPr>
          <a:xfrm>
            <a:off x="8247888" y="2148840"/>
            <a:ext cx="3364992" cy="219456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50" b="1" i="0" dirty="0">
                <a:solidFill>
                  <a:srgbClr val="20A4B0"/>
                </a:solidFill>
                <a:latin typeface="Arial"/>
                <a:cs typeface="Arial"/>
              </a:rPr>
              <a:t>PROBLÈME</a:t>
            </a:r>
            <a:endParaRPr lang="fr-FR" sz="950" dirty="0"/>
          </a:p>
          <a:p>
            <a:pPr algn="l">
              <a:lnSpc>
                <a:spcPct val="100000"/>
              </a:lnSpc>
              <a:spcBef>
                <a:spcPts val="100"/>
              </a:spcBef>
              <a:spcAft>
                <a:spcPts val="0"/>
              </a:spcAft>
              <a:buNone/>
            </a:pPr>
            <a:r>
              <a:rPr lang="fr-FR" sz="1150" b="0" i="0" dirty="0">
                <a:solidFill>
                  <a:srgbClr val="202020"/>
                </a:solidFill>
                <a:latin typeface="Arial"/>
                <a:cs typeface="Arial"/>
              </a:rPr>
              <a:t>Certaines URL de flux contiennent une clé (</a:t>
            </a:r>
            <a:r>
              <a:rPr lang="fr-FR" sz="1150" b="0" i="0" dirty="0">
                <a:solidFill>
                  <a:srgbClr val="20A4B0"/>
                </a:solidFill>
                <a:latin typeface="Consolas"/>
                <a:cs typeface="Consolas"/>
              </a:rPr>
              <a:t>?key=</a:t>
            </a:r>
            <a:r>
              <a:rPr lang="fr-FR" sz="1150" b="0" i="0" dirty="0">
                <a:solidFill>
                  <a:srgbClr val="202020"/>
                </a:solidFill>
                <a:latin typeface="Arial"/>
                <a:cs typeface="Arial"/>
              </a:rPr>
              <a:t>, </a:t>
            </a:r>
            <a:r>
              <a:rPr lang="fr-FR" sz="1150" b="0" i="0" dirty="0">
                <a:solidFill>
                  <a:srgbClr val="20A4B0"/>
                </a:solidFill>
                <a:latin typeface="Consolas"/>
                <a:cs typeface="Consolas"/>
              </a:rPr>
              <a:t>token=</a:t>
            </a:r>
            <a:r>
              <a:rPr lang="fr-FR" sz="1150" b="0" i="0" dirty="0">
                <a:solidFill>
                  <a:srgbClr val="202020"/>
                </a:solidFill>
                <a:latin typeface="Arial"/>
                <a:cs typeface="Arial"/>
              </a:rPr>
              <a:t>), et </a:t>
            </a:r>
            <a:r>
              <a:rPr lang="fr-FR" sz="1150" b="0" i="0" dirty="0">
                <a:solidFill>
                  <a:srgbClr val="20A4B0"/>
                </a:solidFill>
                <a:latin typeface="Consolas"/>
                <a:cs typeface="Consolas"/>
              </a:rPr>
              <a:t>docs/sources.md</a:t>
            </a:r>
            <a:r>
              <a:rPr lang="fr-FR" sz="1150" b="0" i="0" dirty="0">
                <a:solidFill>
                  <a:srgbClr val="202020"/>
                </a:solidFill>
                <a:latin typeface="Arial"/>
                <a:cs typeface="Arial"/>
              </a:rPr>
              <a:t> est publié.</a:t>
            </a:r>
            <a:endParaRPr lang="fr-FR" sz="1150" dirty="0"/>
          </a:p>
          <a:p>
            <a:pPr algn="l">
              <a:lnSpc>
                <a:spcPct val="100000"/>
              </a:lnSpc>
              <a:spcBef>
                <a:spcPts val="800"/>
              </a:spcBef>
              <a:spcAft>
                <a:spcPts val="0"/>
              </a:spcAft>
              <a:buNone/>
            </a:pPr>
            <a:r>
              <a:rPr lang="fr-FR" sz="950" b="1" i="0" dirty="0">
                <a:solidFill>
                  <a:srgbClr val="20A4B0"/>
                </a:solidFill>
                <a:latin typeface="Arial"/>
                <a:cs typeface="Arial"/>
              </a:rPr>
              <a:t>CE QU'ON FAIT</a:t>
            </a:r>
            <a:endParaRPr lang="fr-FR" sz="950" dirty="0"/>
          </a:p>
          <a:p>
            <a:pPr algn="l">
              <a:lnSpc>
                <a:spcPct val="100000"/>
              </a:lnSpc>
              <a:spcBef>
                <a:spcPts val="100"/>
              </a:spcBef>
              <a:spcAft>
                <a:spcPts val="0"/>
              </a:spcAft>
              <a:buNone/>
            </a:pPr>
            <a:r>
              <a:rPr lang="fr-FR" sz="1150" b="0" i="0" dirty="0">
                <a:solidFill>
                  <a:srgbClr val="202020"/>
                </a:solidFill>
                <a:latin typeface="Arial"/>
                <a:cs typeface="Arial"/>
              </a:rPr>
              <a:t>Une expression régulière remplace la valeur de </a:t>
            </a:r>
            <a:r>
              <a:rPr lang="fr-FR" sz="1150" b="0" i="0" dirty="0">
                <a:solidFill>
                  <a:srgbClr val="20A4B0"/>
                </a:solidFill>
                <a:latin typeface="Consolas"/>
                <a:cs typeface="Consolas"/>
              </a:rPr>
              <a:t>api_key</a:t>
            </a:r>
            <a:r>
              <a:rPr lang="fr-FR" sz="1150" b="0" i="0" dirty="0">
                <a:solidFill>
                  <a:srgbClr val="202020"/>
                </a:solidFill>
                <a:latin typeface="Arial"/>
                <a:cs typeface="Arial"/>
              </a:rPr>
              <a:t>, </a:t>
            </a:r>
            <a:r>
              <a:rPr lang="fr-FR" sz="1150" b="0" i="0" dirty="0">
                <a:solidFill>
                  <a:srgbClr val="20A4B0"/>
                </a:solidFill>
                <a:latin typeface="Consolas"/>
                <a:cs typeface="Consolas"/>
              </a:rPr>
              <a:t>key</a:t>
            </a:r>
            <a:r>
              <a:rPr lang="fr-FR" sz="1150" b="0" i="0" dirty="0">
                <a:solidFill>
                  <a:srgbClr val="202020"/>
                </a:solidFill>
                <a:latin typeface="Arial"/>
                <a:cs typeface="Arial"/>
              </a:rPr>
              <a:t>, </a:t>
            </a:r>
            <a:r>
              <a:rPr lang="fr-FR" sz="1150" b="0" i="0" dirty="0">
                <a:solidFill>
                  <a:srgbClr val="20A4B0"/>
                </a:solidFill>
                <a:latin typeface="Consolas"/>
                <a:cs typeface="Consolas"/>
              </a:rPr>
              <a:t>token</a:t>
            </a:r>
            <a:r>
              <a:rPr lang="fr-FR" sz="1150" b="0" i="0" dirty="0">
                <a:solidFill>
                  <a:srgbClr val="202020"/>
                </a:solidFill>
                <a:latin typeface="Arial"/>
                <a:cs typeface="Arial"/>
              </a:rPr>
              <a:t>, </a:t>
            </a:r>
            <a:r>
              <a:rPr lang="fr-FR" sz="1150" b="0" i="0" dirty="0">
                <a:solidFill>
                  <a:srgbClr val="20A4B0"/>
                </a:solidFill>
                <a:latin typeface="Consolas"/>
                <a:cs typeface="Consolas"/>
              </a:rPr>
              <a:t>access_token</a:t>
            </a:r>
            <a:r>
              <a:rPr lang="fr-FR" sz="1150" b="0" i="0" dirty="0">
                <a:solidFill>
                  <a:srgbClr val="202020"/>
                </a:solidFill>
                <a:latin typeface="Arial"/>
                <a:cs typeface="Arial"/>
              </a:rPr>
              <a:t> par </a:t>
            </a:r>
            <a:r>
              <a:rPr lang="fr-FR" sz="1150" b="0" i="0" dirty="0">
                <a:solidFill>
                  <a:srgbClr val="20A4B0"/>
                </a:solidFill>
                <a:latin typeface="Consolas"/>
                <a:cs typeface="Consolas"/>
              </a:rPr>
              <a:t>***</a:t>
            </a:r>
            <a:r>
              <a:rPr lang="fr-FR" sz="1150" b="0" i="0" dirty="0">
                <a:solidFill>
                  <a:srgbClr val="202020"/>
                </a:solidFill>
                <a:latin typeface="Arial"/>
                <a:cs typeface="Arial"/>
              </a:rPr>
              <a:t> avant d'écrire </a:t>
            </a:r>
            <a:r>
              <a:rPr lang="fr-FR" sz="1150" b="0" i="0" dirty="0">
                <a:solidFill>
                  <a:srgbClr val="20A4B0"/>
                </a:solidFill>
                <a:latin typeface="Consolas"/>
                <a:cs typeface="Consolas"/>
              </a:rPr>
              <a:t>sources.md</a:t>
            </a:r>
            <a:r>
              <a:rPr lang="fr-FR" sz="1150" b="0" i="0" dirty="0">
                <a:solidFill>
                  <a:srgbClr val="202020"/>
                </a:solidFill>
                <a:latin typeface="Arial"/>
                <a:cs typeface="Arial"/>
              </a:rPr>
              <a:t>.</a:t>
            </a:r>
            <a:endParaRPr lang="fr-FR" sz="1150" dirty="0"/>
          </a:p>
        </p:txBody>
      </p:sp>
      <p:sp>
        <p:nvSpPr>
          <p:cNvPr id="23" name="Forme 23"/>
          <p:cNvSpPr/>
          <p:nvPr/>
        </p:nvSpPr>
        <p:spPr>
          <a:xfrm>
            <a:off x="8220456" y="4434840"/>
            <a:ext cx="3383280" cy="1298448"/>
          </a:xfrm>
          <a:prstGeom prst="roundRect">
            <a:avLst>
              <a:gd name="adj" fmla="val 8000"/>
            </a:avLst>
          </a:prstGeom>
          <a:solidFill>
            <a:srgbClr val="DBF4F4"/>
          </a:solidFill>
          <a:ln>
            <a:noFill/>
          </a:ln>
        </p:spPr>
        <p:txBody>
          <a:bodyPr wrap="square" lIns="137160" tIns="45720" rIns="109728" bIns="45720" anchor="ctr" rtlCol="0">
            <a:noAutofit/>
          </a:bodyPr>
          <a:lstStyle/>
          <a:p>
            <a:pPr algn="l">
              <a:lnSpc>
                <a:spcPct val="100000"/>
              </a:lnSpc>
              <a:spcBef>
                <a:spcPts val="0"/>
              </a:spcBef>
              <a:spcAft>
                <a:spcPts val="0"/>
              </a:spcAft>
              <a:buNone/>
            </a:pPr>
            <a:r>
              <a:rPr lang="fr-FR" sz="1800" b="1" i="0" dirty="0">
                <a:solidFill>
                  <a:srgbClr val="20A4B0"/>
                </a:solidFill>
                <a:latin typeface="Arial"/>
                <a:cs typeface="Arial"/>
              </a:rPr>
              <a:t>key=***</a:t>
            </a:r>
            <a:endParaRPr lang="fr-FR" sz="1800" dirty="0"/>
          </a:p>
          <a:p>
            <a:pPr algn="l">
              <a:lnSpc>
                <a:spcPct val="100000"/>
              </a:lnSpc>
              <a:spcBef>
                <a:spcPts val="200"/>
              </a:spcBef>
              <a:spcAft>
                <a:spcPts val="0"/>
              </a:spcAft>
              <a:buNone/>
            </a:pPr>
            <a:r>
              <a:rPr lang="fr-FR" sz="950" b="0" i="0" dirty="0">
                <a:solidFill>
                  <a:srgbClr val="202020"/>
                </a:solidFill>
                <a:latin typeface="Arial"/>
                <a:cs typeface="Arial"/>
              </a:rPr>
              <a:t>aucune clé dans le dépôt ; vérifié à chaque lancement des tests (</a:t>
            </a:r>
            <a:r>
              <a:rPr lang="fr-FR" sz="950" b="0" i="0" dirty="0">
                <a:solidFill>
                  <a:srgbClr val="20A4B0"/>
                </a:solidFill>
                <a:latin typeface="Consolas"/>
                <a:cs typeface="Consolas"/>
              </a:rPr>
              <a:t>test_mask_secrets_in_source_urls</a:t>
            </a:r>
            <a:r>
              <a:rPr lang="fr-FR" sz="950" b="0" i="0" dirty="0">
                <a:solidFill>
                  <a:srgbClr val="202020"/>
                </a:solidFill>
                <a:latin typeface="Arial"/>
                <a:cs typeface="Arial"/>
              </a:rPr>
              <a:t>).</a:t>
            </a:r>
            <a:endParaRPr lang="fr-FR" sz="950" dirty="0"/>
          </a:p>
        </p:txBody>
      </p:sp>
      <p:sp>
        <p:nvSpPr>
          <p:cNvPr id="24" name="Forme 24"/>
          <p:cNvSpPr/>
          <p:nvPr/>
        </p:nvSpPr>
        <p:spPr>
          <a:xfrm>
            <a:off x="8247888" y="5806440"/>
            <a:ext cx="3364992" cy="45720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900" b="0" i="0" dirty="0">
                <a:solidFill>
                  <a:srgbClr val="616060"/>
                </a:solidFill>
                <a:latin typeface="Consolas"/>
                <a:cs typeface="Consolas"/>
              </a:rPr>
              <a:t>download_all.py › mask_secrets</a:t>
            </a:r>
            <a:endParaRPr lang="fr-FR" sz="900" dirty="0"/>
          </a:p>
        </p:txBody>
      </p:sp>
      <p:pic>
        <p:nvPicPr>
          <p:cNvPr id="9017"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32B4B5"/>
                </a:solidFill>
                <a:latin typeface="Arial"/>
                <a:cs typeface="Arial"/>
              </a:rPr>
              <a:t>PARTIE 5 · L'AUTOMATISATION</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Les scripts d'automatisation</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Durées mesurées sur notre PC (i5, 8 Go) : logs build_all.log, mesures.json, train.log, download_*.log.</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18</a:t>
            </a:r>
            <a:endParaRPr lang="fr-FR" sz="900" dirty="0"/>
          </a:p>
        </p:txBody>
      </p:sp>
      <p:graphicFrame>
        <p:nvGraphicFramePr>
          <p:cNvPr id="10" name="Tableau 10"/>
          <p:cNvGraphicFramePr>
            <a:graphicFrameLocks noGrp="1"/>
          </p:cNvGraphicFramePr>
          <p:nvPr/>
        </p:nvGraphicFramePr>
        <p:xfrm>
          <a:off x="457200" y="1371600"/>
          <a:ext cx="11274552" cy="4636008"/>
        </p:xfrm>
        <a:graphic>
          <a:graphicData uri="http://schemas.openxmlformats.org/drawingml/2006/table">
            <a:tbl>
              <a:tblPr firstRow="1" bandRow="1"/>
              <a:tblGrid>
                <a:gridCol w="2148840"/>
                <a:gridCol w="2880360"/>
                <a:gridCol w="3520440"/>
                <a:gridCol w="1371600"/>
                <a:gridCol w="1353312"/>
              </a:tblGrid>
              <a:tr h="356616">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FFFFFF"/>
                          </a:solidFill>
                          <a:latin typeface="Arial"/>
                          <a:cs typeface="Arial"/>
                        </a:rPr>
                        <a:t>Script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32B4B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FFFFFF"/>
                          </a:solidFill>
                          <a:latin typeface="Arial"/>
                          <a:cs typeface="Arial"/>
                        </a:rPr>
                        <a:t>À quoi il sert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32B4B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FFFFFF"/>
                          </a:solidFill>
                          <a:latin typeface="Arial"/>
                          <a:cs typeface="Arial"/>
                        </a:rPr>
                        <a:t>Commande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32B4B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FFFFFF"/>
                          </a:solidFill>
                          <a:latin typeface="Arial"/>
                          <a:cs typeface="Arial"/>
                        </a:rPr>
                        <a:t>Durée mesurée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32B4B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FFFFFF"/>
                          </a:solidFill>
                          <a:latin typeface="Arial"/>
                          <a:cs typeface="Arial"/>
                        </a:rPr>
                        <a:t>Quand le lancer</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32B4B5"/>
                    </a:solidFill>
                  </a:tcPr>
                </a:tc>
              </a:tr>
              <a:tr h="356616">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202020"/>
                          </a:solidFill>
                          <a:latin typeface="Arial"/>
                          <a:cs typeface="Arial"/>
                        </a:rPr>
                        <a:t>download_all.py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Télécharge les 14 sources, écrit manifest.csv et docs/sources.md</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100000"/>
                        </a:lnSpc>
                        <a:spcBef>
                          <a:spcPts val="0"/>
                        </a:spcBef>
                        <a:spcAft>
                          <a:spcPts val="0"/>
                        </a:spcAft>
                        <a:buNone/>
                      </a:pPr>
                      <a:r>
                        <a:rPr lang="fr-FR" sz="850" b="0" i="0" dirty="0">
                          <a:solidFill>
                            <a:srgbClr val="20A4B0"/>
                          </a:solidFill>
                          <a:latin typeface="Consolas"/>
                          <a:cs typeface="Consolas"/>
                        </a:rPr>
                        <a:t>python src/ingest/download_all.py --osm region --osm-region rhone-alpes pays-de-la-loire</a:t>
                      </a:r>
                      <a:endParaRPr lang="fr-FR" sz="8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14 min + 2 min GTFS + 8 min OSM</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au début, puis pour rafraîchir</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56616">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202020"/>
                          </a:solidFill>
                          <a:latin typeface="Arial"/>
                          <a:cs typeface="Arial"/>
                        </a:rPr>
                        <a:t>check_data.py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Vérifie chaque fichier : ✅ ⚠️ ❌</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100000"/>
                        </a:lnSpc>
                        <a:spcBef>
                          <a:spcPts val="0"/>
                        </a:spcBef>
                        <a:spcAft>
                          <a:spcPts val="0"/>
                        </a:spcAft>
                        <a:buNone/>
                      </a:pPr>
                      <a:r>
                        <a:rPr lang="fr-FR" sz="850" b="0" i="0" dirty="0">
                          <a:solidFill>
                            <a:srgbClr val="20A4B0"/>
                          </a:solidFill>
                          <a:latin typeface="Consolas"/>
                          <a:cs typeface="Consolas"/>
                        </a:rPr>
                        <a:t>python src/ingest/check_data.py --deep</a:t>
                      </a:r>
                      <a:endParaRPr lang="fr-FR" sz="8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1 s (mode rapide)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après chaque téléchargement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56616">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202020"/>
                          </a:solidFill>
                          <a:latin typeface="Arial"/>
                          <a:cs typeface="Arial"/>
                        </a:rPr>
                        <a:t>collect_gbfs_status.py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Photographie l'état des stations Citiz</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100000"/>
                        </a:lnSpc>
                        <a:spcBef>
                          <a:spcPts val="0"/>
                        </a:spcBef>
                        <a:spcAft>
                          <a:spcPts val="0"/>
                        </a:spcAft>
                        <a:buNone/>
                      </a:pPr>
                      <a:r>
                        <a:rPr lang="fr-FR" sz="850" b="0" i="0" dirty="0">
                          <a:solidFill>
                            <a:srgbClr val="20A4B0"/>
                          </a:solidFill>
                          <a:latin typeface="Consolas"/>
                          <a:cs typeface="Consolas"/>
                        </a:rPr>
                        <a:t>python src/ingest/collect_gbfs_status.py --interval 5</a:t>
                      </a:r>
                      <a:endParaRPr lang="fr-FR" sz="8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en continu</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en tâche de fond, dès le début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56616">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202020"/>
                          </a:solidFill>
                          <a:latin typeface="Arial"/>
                          <a:cs typeface="Arial"/>
                        </a:rPr>
                        <a:t>citiz_overview.py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Stations Citiz par commune et par EPCI</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100000"/>
                        </a:lnSpc>
                        <a:spcBef>
                          <a:spcPts val="0"/>
                        </a:spcBef>
                        <a:spcAft>
                          <a:spcPts val="0"/>
                        </a:spcAft>
                        <a:buNone/>
                      </a:pPr>
                      <a:r>
                        <a:rPr lang="fr-FR" sz="850" b="0" i="0" dirty="0">
                          <a:solidFill>
                            <a:srgbClr val="20A4B0"/>
                          </a:solidFill>
                          <a:latin typeface="Consolas"/>
                          <a:cs typeface="Consolas"/>
                        </a:rPr>
                        <a:t>python src/ingest/citiz_overview.py</a:t>
                      </a:r>
                      <a:endParaRPr lang="fr-FR" sz="8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non mesurée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pour choisir la ville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56616">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202020"/>
                          </a:solidFill>
                          <a:latin typeface="Arial"/>
                          <a:cs typeface="Arial"/>
                        </a:rPr>
                        <a:t>src.national.build_all</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France : carreaux, offre, accès, agrégats, classement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100000"/>
                        </a:lnSpc>
                        <a:spcBef>
                          <a:spcPts val="0"/>
                        </a:spcBef>
                        <a:spcAft>
                          <a:spcPts val="0"/>
                        </a:spcAft>
                        <a:buNone/>
                      </a:pPr>
                      <a:r>
                        <a:rPr lang="fr-FR" sz="850" b="0" i="0" dirty="0">
                          <a:solidFill>
                            <a:srgbClr val="20A4B0"/>
                          </a:solidFill>
                          <a:latin typeface="Consolas"/>
                          <a:cs typeface="Consolas"/>
                        </a:rPr>
                        <a:t>python -m src.national.build_all</a:t>
                      </a:r>
                      <a:endParaRPr lang="fr-FR" sz="8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7 min 30 (447 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après le téléchargement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56616">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202020"/>
                          </a:solidFill>
                          <a:latin typeface="Arial"/>
                          <a:cs typeface="Arial"/>
                        </a:rPr>
                        <a:t>src.model (features, train)</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Variables puis modèle LightGBM</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100000"/>
                        </a:lnSpc>
                        <a:spcBef>
                          <a:spcPts val="0"/>
                        </a:spcBef>
                        <a:spcAft>
                          <a:spcPts val="0"/>
                        </a:spcAft>
                        <a:buNone/>
                      </a:pPr>
                      <a:r>
                        <a:rPr lang="fr-FR" sz="850" b="0" i="0" dirty="0">
                          <a:solidFill>
                            <a:srgbClr val="20A4B0"/>
                          </a:solidFill>
                          <a:latin typeface="Consolas"/>
                          <a:cs typeface="Consolas"/>
                        </a:rPr>
                        <a:t>python -m src.model.features</a:t>
                      </a:r>
                      <a:r>
                        <a:rPr lang="fr-FR" sz="850" b="0" i="0" dirty="0">
                          <a:solidFill>
                            <a:srgbClr val="202020"/>
                          </a:solidFill>
                          <a:latin typeface="Arial"/>
                          <a:cs typeface="Arial"/>
                        </a:rPr>
                        <a:t> puis </a:t>
                      </a:r>
                      <a:r>
                        <a:rPr lang="fr-FR" sz="850" b="0" i="0" dirty="0">
                          <a:solidFill>
                            <a:srgbClr val="20A4B0"/>
                          </a:solidFill>
                          <a:latin typeface="Consolas"/>
                          <a:cs typeface="Consolas"/>
                        </a:rPr>
                        <a:t>python -m src.model.train</a:t>
                      </a:r>
                      <a:endParaRPr lang="fr-FR" sz="8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train : 2 min (119 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après le national et Grenoble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56616">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202020"/>
                          </a:solidFill>
                          <a:latin typeface="Arial"/>
                          <a:cs typeface="Arial"/>
                        </a:rPr>
                        <a:t>scripts.build_all</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Une ville : zone → population → offre → accès → recommandations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100000"/>
                        </a:lnSpc>
                        <a:spcBef>
                          <a:spcPts val="0"/>
                        </a:spcBef>
                        <a:spcAft>
                          <a:spcPts val="0"/>
                        </a:spcAft>
                        <a:buNone/>
                      </a:pPr>
                      <a:r>
                        <a:rPr lang="fr-FR" sz="850" b="0" i="0" dirty="0">
                          <a:solidFill>
                            <a:srgbClr val="20A4B0"/>
                          </a:solidFill>
                          <a:latin typeface="Consolas"/>
                          <a:cs typeface="Consolas"/>
                        </a:rPr>
                        <a:t>python -m scripts.build_all --ville nantes</a:t>
                      </a:r>
                      <a:endParaRPr lang="fr-FR" sz="8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Nantes 150 s · Grenoble 15 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après le modèle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56616">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202020"/>
                          </a:solidFill>
                          <a:latin typeface="Arial"/>
                          <a:cs typeface="Arial"/>
                        </a:rPr>
                        <a:t>export_share.py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Exports pour l'équipe : CSV, GPKG, cartes HTML, zip</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100000"/>
                        </a:lnSpc>
                        <a:spcBef>
                          <a:spcPts val="0"/>
                        </a:spcBef>
                        <a:spcAft>
                          <a:spcPts val="0"/>
                        </a:spcAft>
                        <a:buNone/>
                      </a:pPr>
                      <a:r>
                        <a:rPr lang="fr-FR" sz="850" b="0" i="0" dirty="0">
                          <a:solidFill>
                            <a:srgbClr val="20A4B0"/>
                          </a:solidFill>
                          <a:latin typeface="Consolas"/>
                          <a:cs typeface="Consolas"/>
                        </a:rPr>
                        <a:t>python scripts/export_share.py</a:t>
                      </a:r>
                      <a:endParaRPr lang="fr-FR" sz="8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non mesurée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pour partager</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56616">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202020"/>
                          </a:solidFill>
                          <a:latin typeface="Arial"/>
                          <a:cs typeface="Arial"/>
                        </a:rPr>
                        <a:t>scripts.chiffres_cles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Recalcule les chiffres des slides depuis les fichiers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100000"/>
                        </a:lnSpc>
                        <a:spcBef>
                          <a:spcPts val="0"/>
                        </a:spcBef>
                        <a:spcAft>
                          <a:spcPts val="0"/>
                        </a:spcAft>
                        <a:buNone/>
                      </a:pPr>
                      <a:r>
                        <a:rPr lang="fr-FR" sz="850" b="0" i="0" dirty="0">
                          <a:solidFill>
                            <a:srgbClr val="20A4B0"/>
                          </a:solidFill>
                          <a:latin typeface="Consolas"/>
                          <a:cs typeface="Consolas"/>
                        </a:rPr>
                        <a:t>python -m scripts.chiffres_cles</a:t>
                      </a:r>
                      <a:endParaRPr lang="fr-FR" sz="8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non mesurée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après toute reconstruction</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56616">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202020"/>
                          </a:solidFill>
                          <a:latin typeface="Arial"/>
                          <a:cs typeface="Arial"/>
                        </a:rPr>
                        <a:t>lancer_demo.bat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Lance l'appli et ouvre le navigateur</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double-clic</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 10 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le jour de la démo</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56616">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202020"/>
                          </a:solidFill>
                          <a:latin typeface="Arial"/>
                          <a:cs typeface="Arial"/>
                        </a:rPr>
                        <a:t>pytest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82 tests automatiques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100000"/>
                        </a:lnSpc>
                        <a:spcBef>
                          <a:spcPts val="0"/>
                        </a:spcBef>
                        <a:spcAft>
                          <a:spcPts val="0"/>
                        </a:spcAft>
                        <a:buNone/>
                      </a:pPr>
                      <a:r>
                        <a:rPr lang="fr-FR" sz="850" b="0" i="0" dirty="0">
                          <a:solidFill>
                            <a:srgbClr val="20A4B0"/>
                          </a:solidFill>
                          <a:latin typeface="Consolas"/>
                          <a:cs typeface="Consolas"/>
                        </a:rPr>
                        <a:t>.venv\Scripts\python -m pytest -q</a:t>
                      </a:r>
                      <a:endParaRPr lang="fr-FR" sz="8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61 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avant chaque commit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56616">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202020"/>
                          </a:solidFill>
                          <a:latin typeface="Arial"/>
                          <a:cs typeface="Arial"/>
                        </a:rPr>
                        <a:t>make_rendu.ps1 · export_fabric</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N'existent pas dans le dépôt (non créés)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Fabric = notebooks bronze → gold</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bl>
          </a:graphicData>
        </a:graphic>
      </p:graphicFrame>
      <p:pic>
        <p:nvPicPr>
          <p:cNvPr id="9018"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32B4B5"/>
                </a:solidFill>
                <a:latin typeface="Arial"/>
                <a:cs typeface="Arial"/>
              </a:rPr>
              <a:t>PARTIE 5 · L'AUTOMATISATION</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Fiche par script (1/2)</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À quoi il sert, entrées, sorties, durée, quand le lancer.</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19</a:t>
            </a:r>
            <a:endParaRPr lang="fr-FR" sz="900" dirty="0"/>
          </a:p>
        </p:txBody>
      </p:sp>
      <p:sp>
        <p:nvSpPr>
          <p:cNvPr id="10" name="Forme 10"/>
          <p:cNvSpPr/>
          <p:nvPr/>
        </p:nvSpPr>
        <p:spPr>
          <a:xfrm>
            <a:off x="457200" y="1371600"/>
            <a:ext cx="5559552" cy="2395728"/>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1" name="Forme 11"/>
          <p:cNvSpPr/>
          <p:nvPr/>
        </p:nvSpPr>
        <p:spPr>
          <a:xfrm>
            <a:off x="457200" y="1371600"/>
            <a:ext cx="64008" cy="2395728"/>
          </a:xfrm>
          <a:prstGeom prst="rect">
            <a:avLst/>
          </a:prstGeom>
          <a:solidFill>
            <a:srgbClr val="20A4B0"/>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2" name="Forme 12"/>
          <p:cNvSpPr/>
          <p:nvPr/>
        </p:nvSpPr>
        <p:spPr>
          <a:xfrm>
            <a:off x="640080" y="1463040"/>
            <a:ext cx="5266944" cy="2258568"/>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20A4B0"/>
                </a:solidFill>
                <a:latin typeface="Arial"/>
                <a:cs typeface="Arial"/>
              </a:rPr>
              <a:t>download_all.py</a:t>
            </a:r>
            <a:endParaRPr lang="fr-FR" sz="1300" dirty="0"/>
          </a:p>
          <a:p>
            <a:pPr algn="l">
              <a:lnSpc>
                <a:spcPct val="100000"/>
              </a:lnSpc>
              <a:spcBef>
                <a:spcPts val="0"/>
              </a:spcBef>
              <a:spcAft>
                <a:spcPts val="0"/>
              </a:spcAft>
              <a:buNone/>
            </a:pPr>
            <a:r>
              <a:rPr lang="fr-FR" sz="1050" b="0" i="1" dirty="0">
                <a:solidFill>
                  <a:srgbClr val="616060"/>
                </a:solidFill>
                <a:latin typeface="Arial"/>
                <a:cs typeface="Arial"/>
              </a:rPr>
              <a:t>Tout télécharger, sans rien installer (bibliothèque standard Python)</a:t>
            </a:r>
            <a:endParaRPr lang="fr-FR" sz="1050" dirty="0"/>
          </a:p>
          <a:p>
            <a:pPr algn="l" marL="201168" indent="-201168">
              <a:lnSpc>
                <a:spcPct val="100000"/>
              </a:lnSpc>
              <a:spcBef>
                <a:spcPts val="400"/>
              </a:spcBef>
              <a:spcAft>
                <a:spcPts val="0"/>
              </a:spcAft>
              <a:buClr>
                <a:srgbClr val="20A4B0"/>
              </a:buClr>
              <a:buFont typeface="Arial"/>
              <a:buChar char="•"/>
            </a:pPr>
            <a:r>
              <a:rPr lang="fr-FR" sz="1150" b="1" i="0" dirty="0">
                <a:solidFill>
                  <a:srgbClr val="202020"/>
                </a:solidFill>
                <a:latin typeface="Arial"/>
                <a:cs typeface="Arial"/>
              </a:rPr>
              <a:t>Entrées</a:t>
            </a:r>
            <a:r>
              <a:rPr lang="fr-FR" sz="1150" b="0" i="0" dirty="0">
                <a:solidFill>
                  <a:srgbClr val="202020"/>
                </a:solidFill>
                <a:latin typeface="Arial"/>
                <a:cs typeface="Arial"/>
              </a:rPr>
              <a:t> : API transport.data.gouv.fr, liens </a:t>
            </a:r>
            <a:r>
              <a:rPr lang="fr-FR" sz="1150" b="0" i="0" dirty="0">
                <a:solidFill>
                  <a:srgbClr val="20A4B0"/>
                </a:solidFill>
                <a:latin typeface="Consolas"/>
                <a:cs typeface="Consolas"/>
              </a:rPr>
              <a:t>STATIC</a:t>
            </a:r>
            <a:r>
              <a:rPr lang="fr-FR" sz="1150" b="0" i="0" dirty="0">
                <a:solidFill>
                  <a:srgbClr val="202020"/>
                </a:solidFill>
                <a:latin typeface="Arial"/>
                <a:cs typeface="Arial"/>
              </a:rPr>
              <a:t>, flux Atom IGN, Geofabrik.</a:t>
            </a:r>
            <a:endParaRPr lang="fr-FR" sz="1150" dirty="0"/>
          </a:p>
          <a:p>
            <a:pPr algn="l" marL="201168" indent="-201168">
              <a:lnSpc>
                <a:spcPct val="100000"/>
              </a:lnSpc>
              <a:spcBef>
                <a:spcPts val="400"/>
              </a:spcBef>
              <a:spcAft>
                <a:spcPts val="0"/>
              </a:spcAft>
              <a:buClr>
                <a:srgbClr val="20A4B0"/>
              </a:buClr>
              <a:buFont typeface="Arial"/>
              <a:buChar char="•"/>
            </a:pPr>
            <a:r>
              <a:rPr lang="fr-FR" sz="1150" b="1" i="0" dirty="0">
                <a:solidFill>
                  <a:srgbClr val="202020"/>
                </a:solidFill>
                <a:latin typeface="Arial"/>
                <a:cs typeface="Arial"/>
              </a:rPr>
              <a:t>Sorties</a:t>
            </a:r>
            <a:r>
              <a:rPr lang="fr-FR" sz="1150" b="0" i="0" dirty="0">
                <a:solidFill>
                  <a:srgbClr val="202020"/>
                </a:solidFill>
                <a:latin typeface="Arial"/>
                <a:cs typeface="Arial"/>
              </a:rPr>
              <a:t> : </a:t>
            </a:r>
            <a:r>
              <a:rPr lang="fr-FR" sz="1150" b="0" i="0" dirty="0">
                <a:solidFill>
                  <a:srgbClr val="20A4B0"/>
                </a:solidFill>
                <a:latin typeface="Consolas"/>
                <a:cs typeface="Consolas"/>
              </a:rPr>
              <a:t>data/raw/&lt;catégorie&gt;/…</a:t>
            </a:r>
            <a:r>
              <a:rPr lang="fr-FR" sz="1150" b="0" i="0" dirty="0">
                <a:solidFill>
                  <a:srgbClr val="202020"/>
                </a:solidFill>
                <a:latin typeface="Arial"/>
                <a:cs typeface="Arial"/>
              </a:rPr>
              <a:t>, </a:t>
            </a:r>
            <a:r>
              <a:rPr lang="fr-FR" sz="1150" b="0" i="0" dirty="0">
                <a:solidFill>
                  <a:srgbClr val="20A4B0"/>
                </a:solidFill>
                <a:latin typeface="Consolas"/>
                <a:cs typeface="Consolas"/>
              </a:rPr>
              <a:t>manifest.csv</a:t>
            </a:r>
            <a:r>
              <a:rPr lang="fr-FR" sz="1150" b="0" i="0" dirty="0">
                <a:solidFill>
                  <a:srgbClr val="202020"/>
                </a:solidFill>
                <a:latin typeface="Arial"/>
                <a:cs typeface="Arial"/>
              </a:rPr>
              <a:t>, </a:t>
            </a:r>
            <a:r>
              <a:rPr lang="fr-FR" sz="1150" b="0" i="0" dirty="0">
                <a:solidFill>
                  <a:srgbClr val="20A4B0"/>
                </a:solidFill>
                <a:latin typeface="Consolas"/>
                <a:cs typeface="Consolas"/>
              </a:rPr>
              <a:t>docs/sources.md</a:t>
            </a:r>
            <a:r>
              <a:rPr lang="fr-FR" sz="1150" b="0" i="0" dirty="0">
                <a:solidFill>
                  <a:srgbClr val="202020"/>
                </a:solidFill>
                <a:latin typeface="Arial"/>
                <a:cs typeface="Arial"/>
              </a:rPr>
              <a:t>.</a:t>
            </a:r>
            <a:endParaRPr lang="fr-FR" sz="1150" dirty="0"/>
          </a:p>
          <a:p>
            <a:pPr algn="l" marL="201168" indent="-201168">
              <a:lnSpc>
                <a:spcPct val="100000"/>
              </a:lnSpc>
              <a:spcBef>
                <a:spcPts val="400"/>
              </a:spcBef>
              <a:spcAft>
                <a:spcPts val="0"/>
              </a:spcAft>
              <a:buClr>
                <a:srgbClr val="20A4B0"/>
              </a:buClr>
              <a:buFont typeface="Arial"/>
              <a:buChar char="•"/>
            </a:pPr>
            <a:r>
              <a:rPr lang="fr-FR" sz="1150" b="1" i="0" dirty="0">
                <a:solidFill>
                  <a:srgbClr val="202020"/>
                </a:solidFill>
                <a:latin typeface="Arial"/>
                <a:cs typeface="Arial"/>
              </a:rPr>
              <a:t>Options</a:t>
            </a:r>
            <a:r>
              <a:rPr lang="fr-FR" sz="1150" b="0" i="0" dirty="0">
                <a:solidFill>
                  <a:srgbClr val="202020"/>
                </a:solidFill>
                <a:latin typeface="Arial"/>
                <a:cs typeface="Arial"/>
              </a:rPr>
              <a:t> : </a:t>
            </a:r>
            <a:r>
              <a:rPr lang="fr-FR" sz="1150" b="0" i="0" dirty="0">
                <a:solidFill>
                  <a:srgbClr val="20A4B0"/>
                </a:solidFill>
                <a:latin typeface="Consolas"/>
                <a:cs typeface="Consolas"/>
              </a:rPr>
              <a:t>--only</a:t>
            </a:r>
            <a:r>
              <a:rPr lang="fr-FR" sz="1150" b="0" i="0" dirty="0">
                <a:solidFill>
                  <a:srgbClr val="202020"/>
                </a:solidFill>
                <a:latin typeface="Arial"/>
                <a:cs typeface="Arial"/>
              </a:rPr>
              <a:t>, </a:t>
            </a:r>
            <a:r>
              <a:rPr lang="fr-FR" sz="1150" b="0" i="0" dirty="0">
                <a:solidFill>
                  <a:srgbClr val="20A4B0"/>
                </a:solidFill>
                <a:latin typeface="Consolas"/>
                <a:cs typeface="Consolas"/>
              </a:rPr>
              <a:t>--skip</a:t>
            </a:r>
            <a:r>
              <a:rPr lang="fr-FR" sz="1150" b="0" i="0" dirty="0">
                <a:solidFill>
                  <a:srgbClr val="202020"/>
                </a:solidFill>
                <a:latin typeface="Arial"/>
                <a:cs typeface="Arial"/>
              </a:rPr>
              <a:t>, </a:t>
            </a:r>
            <a:r>
              <a:rPr lang="fr-FR" sz="1150" b="0" i="0" dirty="0">
                <a:solidFill>
                  <a:srgbClr val="20A4B0"/>
                </a:solidFill>
                <a:latin typeface="Consolas"/>
                <a:cs typeface="Consolas"/>
              </a:rPr>
              <a:t>--gtfs-filter</a:t>
            </a:r>
            <a:r>
              <a:rPr lang="fr-FR" sz="1150" b="0" i="0" dirty="0">
                <a:solidFill>
                  <a:srgbClr val="202020"/>
                </a:solidFill>
                <a:latin typeface="Arial"/>
                <a:cs typeface="Arial"/>
              </a:rPr>
              <a:t>, </a:t>
            </a:r>
            <a:r>
              <a:rPr lang="fr-FR" sz="1150" b="0" i="0" dirty="0">
                <a:solidFill>
                  <a:srgbClr val="20A4B0"/>
                </a:solidFill>
                <a:latin typeface="Consolas"/>
                <a:cs typeface="Consolas"/>
              </a:rPr>
              <a:t>--osm france|region|none</a:t>
            </a:r>
            <a:r>
              <a:rPr lang="fr-FR" sz="1150" b="0" i="0" dirty="0">
                <a:solidFill>
                  <a:srgbClr val="202020"/>
                </a:solidFill>
                <a:latin typeface="Arial"/>
                <a:cs typeface="Arial"/>
              </a:rPr>
              <a:t>, </a:t>
            </a:r>
            <a:r>
              <a:rPr lang="fr-FR" sz="1150" b="0" i="0" dirty="0">
                <a:solidFill>
                  <a:srgbClr val="20A4B0"/>
                </a:solidFill>
                <a:latin typeface="Consolas"/>
                <a:cs typeface="Consolas"/>
              </a:rPr>
              <a:t>--osm-region</a:t>
            </a:r>
            <a:r>
              <a:rPr lang="fr-FR" sz="1150" b="0" i="0" dirty="0">
                <a:solidFill>
                  <a:srgbClr val="202020"/>
                </a:solidFill>
                <a:latin typeface="Arial"/>
                <a:cs typeface="Arial"/>
              </a:rPr>
              <a:t>, </a:t>
            </a:r>
            <a:r>
              <a:rPr lang="fr-FR" sz="1150" b="0" i="0" dirty="0">
                <a:solidFill>
                  <a:srgbClr val="20A4B0"/>
                </a:solidFill>
                <a:latin typeface="Consolas"/>
                <a:cs typeface="Consolas"/>
              </a:rPr>
              <a:t>--workers</a:t>
            </a:r>
            <a:r>
              <a:rPr lang="fr-FR" sz="1150" b="0" i="0" dirty="0">
                <a:solidFill>
                  <a:srgbClr val="202020"/>
                </a:solidFill>
                <a:latin typeface="Arial"/>
                <a:cs typeface="Arial"/>
              </a:rPr>
              <a:t>, </a:t>
            </a:r>
            <a:r>
              <a:rPr lang="fr-FR" sz="1150" b="0" i="0" dirty="0">
                <a:solidFill>
                  <a:srgbClr val="20A4B0"/>
                </a:solidFill>
                <a:latin typeface="Consolas"/>
                <a:cs typeface="Consolas"/>
              </a:rPr>
              <a:t>--list</a:t>
            </a:r>
            <a:r>
              <a:rPr lang="fr-FR" sz="1150" b="0" i="0" dirty="0">
                <a:solidFill>
                  <a:srgbClr val="202020"/>
                </a:solidFill>
                <a:latin typeface="Arial"/>
                <a:cs typeface="Arial"/>
              </a:rPr>
              <a:t>.</a:t>
            </a:r>
            <a:endParaRPr lang="fr-FR" sz="1150" dirty="0"/>
          </a:p>
          <a:p>
            <a:pPr algn="l" marL="201168" indent="-201168">
              <a:lnSpc>
                <a:spcPct val="100000"/>
              </a:lnSpc>
              <a:spcBef>
                <a:spcPts val="400"/>
              </a:spcBef>
              <a:spcAft>
                <a:spcPts val="0"/>
              </a:spcAft>
              <a:buClr>
                <a:srgbClr val="20A4B0"/>
              </a:buClr>
              <a:buFont typeface="Arial"/>
              <a:buChar char="•"/>
            </a:pPr>
            <a:r>
              <a:rPr lang="fr-FR" sz="1150" b="1" i="0" dirty="0">
                <a:solidFill>
                  <a:srgbClr val="202020"/>
                </a:solidFill>
                <a:latin typeface="Arial"/>
                <a:cs typeface="Arial"/>
              </a:rPr>
              <a:t>Durée</a:t>
            </a:r>
            <a:r>
              <a:rPr lang="fr-FR" sz="1150" b="0" i="0" dirty="0">
                <a:solidFill>
                  <a:srgbClr val="202020"/>
                </a:solidFill>
                <a:latin typeface="Arial"/>
                <a:cs typeface="Arial"/>
              </a:rPr>
              <a:t> : 14 min pour 1 468 fichiers (2 Go) ; reprise automatique.</a:t>
            </a:r>
            <a:endParaRPr lang="fr-FR" sz="1150" dirty="0"/>
          </a:p>
        </p:txBody>
      </p:sp>
      <p:sp>
        <p:nvSpPr>
          <p:cNvPr id="13" name="Forme 13"/>
          <p:cNvSpPr/>
          <p:nvPr/>
        </p:nvSpPr>
        <p:spPr>
          <a:xfrm>
            <a:off x="6172200" y="1371600"/>
            <a:ext cx="5559552" cy="2395728"/>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4" name="Forme 14"/>
          <p:cNvSpPr/>
          <p:nvPr/>
        </p:nvSpPr>
        <p:spPr>
          <a:xfrm>
            <a:off x="6172200" y="1371600"/>
            <a:ext cx="64008" cy="2395728"/>
          </a:xfrm>
          <a:prstGeom prst="rect">
            <a:avLst/>
          </a:prstGeom>
          <a:solidFill>
            <a:srgbClr val="514E98"/>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5" name="Forme 15"/>
          <p:cNvSpPr/>
          <p:nvPr/>
        </p:nvSpPr>
        <p:spPr>
          <a:xfrm>
            <a:off x="6355080" y="1463040"/>
            <a:ext cx="5266944" cy="2258568"/>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514E98"/>
                </a:solidFill>
                <a:latin typeface="Arial"/>
                <a:cs typeface="Arial"/>
              </a:rPr>
              <a:t>check_data.py</a:t>
            </a:r>
            <a:endParaRPr lang="fr-FR" sz="1300" dirty="0"/>
          </a:p>
          <a:p>
            <a:pPr algn="l">
              <a:lnSpc>
                <a:spcPct val="100000"/>
              </a:lnSpc>
              <a:spcBef>
                <a:spcPts val="0"/>
              </a:spcBef>
              <a:spcAft>
                <a:spcPts val="0"/>
              </a:spcAft>
              <a:buNone/>
            </a:pPr>
            <a:r>
              <a:rPr lang="fr-FR" sz="1050" b="0" i="1" dirty="0">
                <a:solidFill>
                  <a:srgbClr val="616060"/>
                </a:solidFill>
                <a:latin typeface="Arial"/>
                <a:cs typeface="Arial"/>
              </a:rPr>
              <a:t>Vérifier avant de calculer</a:t>
            </a:r>
            <a:endParaRPr lang="fr-FR" sz="1050" dirty="0"/>
          </a:p>
          <a:p>
            <a:pPr algn="l" marL="201168" indent="-201168">
              <a:lnSpc>
                <a:spcPct val="100000"/>
              </a:lnSpc>
              <a:spcBef>
                <a:spcPts val="400"/>
              </a:spcBef>
              <a:spcAft>
                <a:spcPts val="0"/>
              </a:spcAft>
              <a:buClr>
                <a:srgbClr val="514E98"/>
              </a:buClr>
              <a:buFont typeface="Arial"/>
              <a:buChar char="•"/>
            </a:pPr>
            <a:r>
              <a:rPr lang="fr-FR" sz="1150" b="1" i="0" dirty="0">
                <a:solidFill>
                  <a:srgbClr val="202020"/>
                </a:solidFill>
                <a:latin typeface="Arial"/>
                <a:cs typeface="Arial"/>
              </a:rPr>
              <a:t>Entrées</a:t>
            </a:r>
            <a:r>
              <a:rPr lang="fr-FR" sz="1150" b="0" i="0" dirty="0">
                <a:solidFill>
                  <a:srgbClr val="202020"/>
                </a:solidFill>
                <a:latin typeface="Arial"/>
                <a:cs typeface="Arial"/>
              </a:rPr>
              <a:t> : </a:t>
            </a:r>
            <a:r>
              <a:rPr lang="fr-FR" sz="1150" b="0" i="0" dirty="0">
                <a:solidFill>
                  <a:srgbClr val="20A4B0"/>
                </a:solidFill>
                <a:latin typeface="Consolas"/>
                <a:cs typeface="Consolas"/>
              </a:rPr>
              <a:t>data/raw/</a:t>
            </a:r>
            <a:r>
              <a:rPr lang="fr-FR" sz="1150" b="0" i="0" dirty="0">
                <a:solidFill>
                  <a:srgbClr val="202020"/>
                </a:solidFill>
                <a:latin typeface="Arial"/>
                <a:cs typeface="Arial"/>
              </a:rPr>
              <a:t>, </a:t>
            </a:r>
            <a:r>
              <a:rPr lang="fr-FR" sz="1150" b="0" i="0" dirty="0">
                <a:solidFill>
                  <a:srgbClr val="20A4B0"/>
                </a:solidFill>
                <a:latin typeface="Consolas"/>
                <a:cs typeface="Consolas"/>
              </a:rPr>
              <a:t>manifest.csv</a:t>
            </a:r>
            <a:r>
              <a:rPr lang="fr-FR" sz="1150" b="0" i="0" dirty="0">
                <a:solidFill>
                  <a:srgbClr val="202020"/>
                </a:solidFill>
                <a:latin typeface="Arial"/>
                <a:cs typeface="Arial"/>
              </a:rPr>
              <a:t>.</a:t>
            </a:r>
            <a:endParaRPr lang="fr-FR" sz="1150" dirty="0"/>
          </a:p>
          <a:p>
            <a:pPr algn="l" marL="201168" indent="-201168">
              <a:lnSpc>
                <a:spcPct val="100000"/>
              </a:lnSpc>
              <a:spcBef>
                <a:spcPts val="400"/>
              </a:spcBef>
              <a:spcAft>
                <a:spcPts val="0"/>
              </a:spcAft>
              <a:buClr>
                <a:srgbClr val="514E98"/>
              </a:buClr>
              <a:buFont typeface="Arial"/>
              <a:buChar char="•"/>
            </a:pPr>
            <a:r>
              <a:rPr lang="fr-FR" sz="1150" b="1" i="0" dirty="0">
                <a:solidFill>
                  <a:srgbClr val="202020"/>
                </a:solidFill>
                <a:latin typeface="Arial"/>
                <a:cs typeface="Arial"/>
              </a:rPr>
              <a:t>Sorties</a:t>
            </a:r>
            <a:r>
              <a:rPr lang="fr-FR" sz="1150" b="0" i="0" dirty="0">
                <a:solidFill>
                  <a:srgbClr val="202020"/>
                </a:solidFill>
                <a:latin typeface="Arial"/>
                <a:cs typeface="Arial"/>
              </a:rPr>
              <a:t> : </a:t>
            </a:r>
            <a:r>
              <a:rPr lang="fr-FR" sz="1150" b="0" i="0" dirty="0">
                <a:solidFill>
                  <a:srgbClr val="20A4B0"/>
                </a:solidFill>
                <a:latin typeface="Consolas"/>
                <a:cs typeface="Consolas"/>
              </a:rPr>
              <a:t>data/raw/check_report.md</a:t>
            </a:r>
            <a:r>
              <a:rPr lang="fr-FR" sz="1150" b="0" i="0" dirty="0">
                <a:solidFill>
                  <a:srgbClr val="202020"/>
                </a:solidFill>
                <a:latin typeface="Arial"/>
                <a:cs typeface="Arial"/>
              </a:rPr>
              <a:t> ; code de retour 1 s'il y a un ❌.</a:t>
            </a:r>
            <a:endParaRPr lang="fr-FR" sz="1150" dirty="0"/>
          </a:p>
          <a:p>
            <a:pPr algn="l" marL="201168" indent="-201168">
              <a:lnSpc>
                <a:spcPct val="100000"/>
              </a:lnSpc>
              <a:spcBef>
                <a:spcPts val="400"/>
              </a:spcBef>
              <a:spcAft>
                <a:spcPts val="0"/>
              </a:spcAft>
              <a:buClr>
                <a:srgbClr val="514E98"/>
              </a:buClr>
              <a:buFont typeface="Arial"/>
              <a:buChar char="•"/>
            </a:pPr>
            <a:r>
              <a:rPr lang="fr-FR" sz="1150" b="1" i="0" dirty="0">
                <a:solidFill>
                  <a:srgbClr val="202020"/>
                </a:solidFill>
                <a:latin typeface="Arial"/>
                <a:cs typeface="Arial"/>
              </a:rPr>
              <a:t>Contrôles</a:t>
            </a:r>
            <a:r>
              <a:rPr lang="fr-FR" sz="1150" b="0" i="0" dirty="0">
                <a:solidFill>
                  <a:srgbClr val="202020"/>
                </a:solidFill>
                <a:latin typeface="Arial"/>
                <a:cs typeface="Arial"/>
              </a:rPr>
              <a:t> : manifeste, Citiz, autres GBFS, historique, fichiers attendus ; </a:t>
            </a:r>
            <a:r>
              <a:rPr lang="fr-FR" sz="1150" b="0" i="0" dirty="0">
                <a:solidFill>
                  <a:srgbClr val="20A4B0"/>
                </a:solidFill>
                <a:latin typeface="Consolas"/>
                <a:cs typeface="Consolas"/>
              </a:rPr>
              <a:t>--deep</a:t>
            </a:r>
            <a:r>
              <a:rPr lang="fr-FR" sz="1150" b="0" i="0" dirty="0">
                <a:solidFill>
                  <a:srgbClr val="202020"/>
                </a:solidFill>
                <a:latin typeface="Arial"/>
                <a:cs typeface="Arial"/>
              </a:rPr>
              <a:t> : zip, 7z, PBF, parquet, page HTML.</a:t>
            </a:r>
            <a:endParaRPr lang="fr-FR" sz="1150" dirty="0"/>
          </a:p>
          <a:p>
            <a:pPr algn="l" marL="201168" indent="-201168">
              <a:lnSpc>
                <a:spcPct val="100000"/>
              </a:lnSpc>
              <a:spcBef>
                <a:spcPts val="400"/>
              </a:spcBef>
              <a:spcAft>
                <a:spcPts val="0"/>
              </a:spcAft>
              <a:buClr>
                <a:srgbClr val="514E98"/>
              </a:buClr>
              <a:buFont typeface="Arial"/>
              <a:buChar char="•"/>
            </a:pPr>
            <a:r>
              <a:rPr lang="fr-FR" sz="1150" b="1" i="0" dirty="0">
                <a:solidFill>
                  <a:srgbClr val="202020"/>
                </a:solidFill>
                <a:latin typeface="Arial"/>
                <a:cs typeface="Arial"/>
              </a:rPr>
              <a:t>Durée</a:t>
            </a:r>
            <a:r>
              <a:rPr lang="fr-FR" sz="1150" b="0" i="0" dirty="0">
                <a:solidFill>
                  <a:srgbClr val="202020"/>
                </a:solidFill>
                <a:latin typeface="Arial"/>
                <a:cs typeface="Arial"/>
              </a:rPr>
              <a:t> : 1 s ; le 19/10 : 26 ✅ · 1 ⚠️ · 0 ❌.</a:t>
            </a:r>
            <a:endParaRPr lang="fr-FR" sz="1150" dirty="0"/>
          </a:p>
        </p:txBody>
      </p:sp>
      <p:sp>
        <p:nvSpPr>
          <p:cNvPr id="16" name="Forme 16"/>
          <p:cNvSpPr/>
          <p:nvPr/>
        </p:nvSpPr>
        <p:spPr>
          <a:xfrm>
            <a:off x="457200" y="3886200"/>
            <a:ext cx="5559552" cy="2395728"/>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7" name="Forme 17"/>
          <p:cNvSpPr/>
          <p:nvPr/>
        </p:nvSpPr>
        <p:spPr>
          <a:xfrm>
            <a:off x="457200" y="3886200"/>
            <a:ext cx="64008" cy="2395728"/>
          </a:xfrm>
          <a:prstGeom prst="rect">
            <a:avLst/>
          </a:prstGeom>
          <a:solidFill>
            <a:srgbClr val="32B4B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8" name="Forme 18"/>
          <p:cNvSpPr/>
          <p:nvPr/>
        </p:nvSpPr>
        <p:spPr>
          <a:xfrm>
            <a:off x="640080" y="3977640"/>
            <a:ext cx="5266944" cy="2258568"/>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32B4B5"/>
                </a:solidFill>
                <a:latin typeface="Arial"/>
                <a:cs typeface="Arial"/>
              </a:rPr>
              <a:t>collect_gbfs_status.py</a:t>
            </a:r>
            <a:endParaRPr lang="fr-FR" sz="1300" dirty="0"/>
          </a:p>
          <a:p>
            <a:pPr algn="l">
              <a:lnSpc>
                <a:spcPct val="100000"/>
              </a:lnSpc>
              <a:spcBef>
                <a:spcPts val="0"/>
              </a:spcBef>
              <a:spcAft>
                <a:spcPts val="0"/>
              </a:spcAft>
              <a:buNone/>
            </a:pPr>
            <a:r>
              <a:rPr lang="fr-FR" sz="1050" b="0" i="1" dirty="0">
                <a:solidFill>
                  <a:srgbClr val="616060"/>
                </a:solidFill>
                <a:latin typeface="Arial"/>
                <a:cs typeface="Arial"/>
              </a:rPr>
              <a:t>Garder une trace de l'usage des stations</a:t>
            </a:r>
            <a:endParaRPr lang="fr-FR" sz="1050" dirty="0"/>
          </a:p>
          <a:p>
            <a:pPr algn="l" marL="201168" indent="-201168">
              <a:lnSpc>
                <a:spcPct val="100000"/>
              </a:lnSpc>
              <a:spcBef>
                <a:spcPts val="400"/>
              </a:spcBef>
              <a:spcAft>
                <a:spcPts val="0"/>
              </a:spcAft>
              <a:buClr>
                <a:srgbClr val="32B4B5"/>
              </a:buClr>
              <a:buFont typeface="Arial"/>
              <a:buChar char="•"/>
            </a:pPr>
            <a:r>
              <a:rPr lang="fr-FR" sz="1150" b="1" i="0" dirty="0">
                <a:solidFill>
                  <a:srgbClr val="202020"/>
                </a:solidFill>
                <a:latin typeface="Arial"/>
                <a:cs typeface="Arial"/>
              </a:rPr>
              <a:t>Entrées</a:t>
            </a:r>
            <a:r>
              <a:rPr lang="fr-FR" sz="1150" b="0" i="0" dirty="0">
                <a:solidFill>
                  <a:srgbClr val="202020"/>
                </a:solidFill>
                <a:latin typeface="Arial"/>
                <a:cs typeface="Arial"/>
              </a:rPr>
              <a:t> : </a:t>
            </a:r>
            <a:r>
              <a:rPr lang="fr-FR" sz="1150" b="0" i="0" dirty="0">
                <a:solidFill>
                  <a:srgbClr val="20A4B0"/>
                </a:solidFill>
                <a:latin typeface="Consolas"/>
                <a:cs typeface="Consolas"/>
              </a:rPr>
              <a:t>data/raw/gbfs_citiz/index.json</a:t>
            </a:r>
            <a:r>
              <a:rPr lang="fr-FR" sz="1150" b="0" i="0" dirty="0">
                <a:solidFill>
                  <a:srgbClr val="202020"/>
                </a:solidFill>
                <a:latin typeface="Arial"/>
                <a:cs typeface="Arial"/>
              </a:rPr>
              <a:t>.</a:t>
            </a:r>
            <a:endParaRPr lang="fr-FR" sz="1150" dirty="0"/>
          </a:p>
          <a:p>
            <a:pPr algn="l" marL="201168" indent="-201168">
              <a:lnSpc>
                <a:spcPct val="100000"/>
              </a:lnSpc>
              <a:spcBef>
                <a:spcPts val="400"/>
              </a:spcBef>
              <a:spcAft>
                <a:spcPts val="0"/>
              </a:spcAft>
              <a:buClr>
                <a:srgbClr val="32B4B5"/>
              </a:buClr>
              <a:buFont typeface="Arial"/>
              <a:buChar char="•"/>
            </a:pPr>
            <a:r>
              <a:rPr lang="fr-FR" sz="1150" b="1" i="0" dirty="0">
                <a:solidFill>
                  <a:srgbClr val="202020"/>
                </a:solidFill>
                <a:latin typeface="Arial"/>
                <a:cs typeface="Arial"/>
              </a:rPr>
              <a:t>Sorties</a:t>
            </a:r>
            <a:r>
              <a:rPr lang="fr-FR" sz="1150" b="0" i="0" dirty="0">
                <a:solidFill>
                  <a:srgbClr val="202020"/>
                </a:solidFill>
                <a:latin typeface="Arial"/>
                <a:cs typeface="Arial"/>
              </a:rPr>
              <a:t> : </a:t>
            </a:r>
            <a:r>
              <a:rPr lang="fr-FR" sz="1150" b="0" i="0" dirty="0">
                <a:solidFill>
                  <a:srgbClr val="20A4B0"/>
                </a:solidFill>
                <a:latin typeface="Consolas"/>
                <a:cs typeface="Consolas"/>
              </a:rPr>
              <a:t>gbfs_history/station_status_AAAAMMJJ.csv</a:t>
            </a:r>
            <a:r>
              <a:rPr lang="fr-FR" sz="1150" b="0" i="0" dirty="0">
                <a:solidFill>
                  <a:srgbClr val="202020"/>
                </a:solidFill>
                <a:latin typeface="Arial"/>
                <a:cs typeface="Arial"/>
              </a:rPr>
              <a:t> (une ligne par station et par photo).</a:t>
            </a:r>
            <a:endParaRPr lang="fr-FR" sz="1150" dirty="0"/>
          </a:p>
          <a:p>
            <a:pPr algn="l" marL="201168" indent="-201168">
              <a:lnSpc>
                <a:spcPct val="100000"/>
              </a:lnSpc>
              <a:spcBef>
                <a:spcPts val="400"/>
              </a:spcBef>
              <a:spcAft>
                <a:spcPts val="0"/>
              </a:spcAft>
              <a:buClr>
                <a:srgbClr val="32B4B5"/>
              </a:buClr>
              <a:buFont typeface="Arial"/>
              <a:buChar char="•"/>
            </a:pPr>
            <a:r>
              <a:rPr lang="fr-FR" sz="1150" b="1" i="0" dirty="0">
                <a:solidFill>
                  <a:srgbClr val="202020"/>
                </a:solidFill>
                <a:latin typeface="Arial"/>
                <a:cs typeface="Arial"/>
              </a:rPr>
              <a:t>Options</a:t>
            </a:r>
            <a:r>
              <a:rPr lang="fr-FR" sz="1150" b="0" i="0" dirty="0">
                <a:solidFill>
                  <a:srgbClr val="202020"/>
                </a:solidFill>
                <a:latin typeface="Arial"/>
                <a:cs typeface="Arial"/>
              </a:rPr>
              <a:t> : </a:t>
            </a:r>
            <a:r>
              <a:rPr lang="fr-FR" sz="1150" b="0" i="0" dirty="0">
                <a:solidFill>
                  <a:srgbClr val="20A4B0"/>
                </a:solidFill>
                <a:latin typeface="Consolas"/>
                <a:cs typeface="Consolas"/>
              </a:rPr>
              <a:t>--interval</a:t>
            </a:r>
            <a:r>
              <a:rPr lang="fr-FR" sz="1150" b="0" i="0" dirty="0">
                <a:solidFill>
                  <a:srgbClr val="202020"/>
                </a:solidFill>
                <a:latin typeface="Arial"/>
                <a:cs typeface="Arial"/>
              </a:rPr>
              <a:t> (min), </a:t>
            </a:r>
            <a:r>
              <a:rPr lang="fr-FR" sz="1150" b="0" i="0" dirty="0">
                <a:solidFill>
                  <a:srgbClr val="20A4B0"/>
                </a:solidFill>
                <a:latin typeface="Consolas"/>
                <a:cs typeface="Consolas"/>
              </a:rPr>
              <a:t>--hours</a:t>
            </a:r>
            <a:r>
              <a:rPr lang="fr-FR" sz="1150" b="0" i="0" dirty="0">
                <a:solidFill>
                  <a:srgbClr val="202020"/>
                </a:solidFill>
                <a:latin typeface="Arial"/>
                <a:cs typeface="Arial"/>
              </a:rPr>
              <a:t> (0 = sans fin), </a:t>
            </a:r>
            <a:r>
              <a:rPr lang="fr-FR" sz="1150" b="0" i="0" dirty="0">
                <a:solidFill>
                  <a:srgbClr val="20A4B0"/>
                </a:solidFill>
                <a:latin typeface="Consolas"/>
                <a:cs typeface="Consolas"/>
              </a:rPr>
              <a:t>--index</a:t>
            </a:r>
            <a:r>
              <a:rPr lang="fr-FR" sz="1150" b="0" i="0" dirty="0">
                <a:solidFill>
                  <a:srgbClr val="202020"/>
                </a:solidFill>
                <a:latin typeface="Arial"/>
                <a:cs typeface="Arial"/>
              </a:rPr>
              <a:t> (tous les GBFS).</a:t>
            </a:r>
            <a:endParaRPr lang="fr-FR" sz="1150" dirty="0"/>
          </a:p>
          <a:p>
            <a:pPr algn="l" marL="201168" indent="-201168">
              <a:lnSpc>
                <a:spcPct val="100000"/>
              </a:lnSpc>
              <a:spcBef>
                <a:spcPts val="400"/>
              </a:spcBef>
              <a:spcAft>
                <a:spcPts val="0"/>
              </a:spcAft>
              <a:buClr>
                <a:srgbClr val="32B4B5"/>
              </a:buClr>
              <a:buFont typeface="Arial"/>
              <a:buChar char="•"/>
            </a:pPr>
            <a:r>
              <a:rPr lang="fr-FR" sz="1150" b="1" i="0" dirty="0">
                <a:solidFill>
                  <a:srgbClr val="202020"/>
                </a:solidFill>
                <a:latin typeface="Arial"/>
                <a:cs typeface="Arial"/>
              </a:rPr>
              <a:t>Attention</a:t>
            </a:r>
            <a:r>
              <a:rPr lang="fr-FR" sz="1150" b="0" i="0" dirty="0">
                <a:solidFill>
                  <a:srgbClr val="202020"/>
                </a:solidFill>
                <a:latin typeface="Arial"/>
                <a:cs typeface="Arial"/>
              </a:rPr>
              <a:t> : ne se retélécharge pas, il faut copier le fichier.</a:t>
            </a:r>
            <a:endParaRPr lang="fr-FR" sz="1150" dirty="0"/>
          </a:p>
        </p:txBody>
      </p:sp>
      <p:sp>
        <p:nvSpPr>
          <p:cNvPr id="19" name="Forme 19"/>
          <p:cNvSpPr/>
          <p:nvPr/>
        </p:nvSpPr>
        <p:spPr>
          <a:xfrm>
            <a:off x="6172200" y="3886200"/>
            <a:ext cx="5559552" cy="2395728"/>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0" name="Forme 20"/>
          <p:cNvSpPr/>
          <p:nvPr/>
        </p:nvSpPr>
        <p:spPr>
          <a:xfrm>
            <a:off x="6172200" y="3886200"/>
            <a:ext cx="64008" cy="2395728"/>
          </a:xfrm>
          <a:prstGeom prst="rect">
            <a:avLst/>
          </a:prstGeom>
          <a:solidFill>
            <a:srgbClr val="32B4B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1" name="Forme 21"/>
          <p:cNvSpPr/>
          <p:nvPr/>
        </p:nvSpPr>
        <p:spPr>
          <a:xfrm>
            <a:off x="6355080" y="3977640"/>
            <a:ext cx="5266944" cy="2258568"/>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20A4B0"/>
                </a:solidFill>
                <a:latin typeface="Arial"/>
                <a:cs typeface="Arial"/>
              </a:rPr>
              <a:t>scripts.build_all</a:t>
            </a:r>
            <a:endParaRPr lang="fr-FR" sz="1300" dirty="0"/>
          </a:p>
          <a:p>
            <a:pPr algn="l">
              <a:lnSpc>
                <a:spcPct val="100000"/>
              </a:lnSpc>
              <a:spcBef>
                <a:spcPts val="0"/>
              </a:spcBef>
              <a:spcAft>
                <a:spcPts val="0"/>
              </a:spcAft>
              <a:buNone/>
            </a:pPr>
            <a:r>
              <a:rPr lang="fr-FR" sz="1050" b="0" i="1" dirty="0">
                <a:solidFill>
                  <a:srgbClr val="616060"/>
                </a:solidFill>
                <a:latin typeface="Arial"/>
                <a:cs typeface="Arial"/>
              </a:rPr>
              <a:t>Une commande = une ville reconstruite</a:t>
            </a:r>
            <a:endParaRPr lang="fr-FR" sz="1050" dirty="0"/>
          </a:p>
          <a:p>
            <a:pPr algn="l" marL="201168" indent="-201168">
              <a:lnSpc>
                <a:spcPct val="100000"/>
              </a:lnSpc>
              <a:spcBef>
                <a:spcPts val="400"/>
              </a:spcBef>
              <a:spcAft>
                <a:spcPts val="0"/>
              </a:spcAft>
              <a:buClr>
                <a:srgbClr val="32B4B5"/>
              </a:buClr>
              <a:buFont typeface="Arial"/>
              <a:buChar char="•"/>
            </a:pPr>
            <a:r>
              <a:rPr lang="fr-FR" sz="1150" b="1" i="0" dirty="0">
                <a:solidFill>
                  <a:srgbClr val="202020"/>
                </a:solidFill>
                <a:latin typeface="Arial"/>
                <a:cs typeface="Arial"/>
              </a:rPr>
              <a:t>Entrées</a:t>
            </a:r>
            <a:r>
              <a:rPr lang="fr-FR" sz="1150" b="0" i="0" dirty="0">
                <a:solidFill>
                  <a:srgbClr val="202020"/>
                </a:solidFill>
                <a:latin typeface="Arial"/>
                <a:cs typeface="Arial"/>
              </a:rPr>
              <a:t> : </a:t>
            </a:r>
            <a:r>
              <a:rPr lang="fr-FR" sz="1150" b="0" i="0" dirty="0">
                <a:solidFill>
                  <a:srgbClr val="20A4B0"/>
                </a:solidFill>
                <a:latin typeface="Consolas"/>
                <a:cs typeface="Consolas"/>
              </a:rPr>
              <a:t>data/raw/</a:t>
            </a:r>
            <a:r>
              <a:rPr lang="fr-FR" sz="1150" b="0" i="0" dirty="0">
                <a:solidFill>
                  <a:srgbClr val="202020"/>
                </a:solidFill>
                <a:latin typeface="Arial"/>
                <a:cs typeface="Arial"/>
              </a:rPr>
              <a:t> + </a:t>
            </a:r>
            <a:r>
              <a:rPr lang="fr-FR" sz="1150" b="0" i="0" dirty="0">
                <a:solidFill>
                  <a:srgbClr val="20A4B0"/>
                </a:solidFill>
                <a:latin typeface="Consolas"/>
                <a:cs typeface="Consolas"/>
              </a:rPr>
              <a:t>settings.yaml</a:t>
            </a:r>
            <a:r>
              <a:rPr lang="fr-FR" sz="1150" b="0" i="0" dirty="0">
                <a:solidFill>
                  <a:srgbClr val="202020"/>
                </a:solidFill>
                <a:latin typeface="Arial"/>
                <a:cs typeface="Arial"/>
              </a:rPr>
              <a:t> (</a:t>
            </a:r>
            <a:r>
              <a:rPr lang="fr-FR" sz="1150" b="0" i="0" dirty="0">
                <a:solidFill>
                  <a:srgbClr val="20A4B0"/>
                </a:solidFill>
                <a:latin typeface="Consolas"/>
                <a:cs typeface="Consolas"/>
              </a:rPr>
              <a:t>cities.&lt;ville&gt;</a:t>
            </a:r>
            <a:r>
              <a:rPr lang="fr-FR" sz="1150" b="0" i="0" dirty="0">
                <a:solidFill>
                  <a:srgbClr val="202020"/>
                </a:solidFill>
                <a:latin typeface="Arial"/>
                <a:cs typeface="Arial"/>
              </a:rPr>
              <a:t>).</a:t>
            </a:r>
            <a:endParaRPr lang="fr-FR" sz="1150" dirty="0"/>
          </a:p>
          <a:p>
            <a:pPr algn="l" marL="201168" indent="-201168">
              <a:lnSpc>
                <a:spcPct val="100000"/>
              </a:lnSpc>
              <a:spcBef>
                <a:spcPts val="400"/>
              </a:spcBef>
              <a:spcAft>
                <a:spcPts val="0"/>
              </a:spcAft>
              <a:buClr>
                <a:srgbClr val="32B4B5"/>
              </a:buClr>
              <a:buFont typeface="Arial"/>
              <a:buChar char="•"/>
            </a:pPr>
            <a:r>
              <a:rPr lang="fr-FR" sz="1150" b="1" i="0" dirty="0">
                <a:solidFill>
                  <a:srgbClr val="202020"/>
                </a:solidFill>
                <a:latin typeface="Arial"/>
                <a:cs typeface="Arial"/>
              </a:rPr>
              <a:t>Étapes</a:t>
            </a:r>
            <a:r>
              <a:rPr lang="fr-FR" sz="1150" b="0" i="0" dirty="0">
                <a:solidFill>
                  <a:srgbClr val="202020"/>
                </a:solidFill>
                <a:latin typeface="Arial"/>
                <a:cs typeface="Arial"/>
              </a:rPr>
              <a:t> : </a:t>
            </a:r>
            <a:r>
              <a:rPr lang="fr-FR" sz="1150" b="0" i="0" dirty="0">
                <a:solidFill>
                  <a:srgbClr val="20A4B0"/>
                </a:solidFill>
                <a:latin typeface="Consolas"/>
                <a:cs typeface="Consolas"/>
              </a:rPr>
              <a:t>build_zone</a:t>
            </a:r>
            <a:r>
              <a:rPr lang="fr-FR" sz="1150" b="0" i="0" dirty="0">
                <a:solidFill>
                  <a:srgbClr val="202020"/>
                </a:solidFill>
                <a:latin typeface="Arial"/>
                <a:cs typeface="Arial"/>
              </a:rPr>
              <a:t> → </a:t>
            </a:r>
            <a:r>
              <a:rPr lang="fr-FR" sz="1150" b="0" i="0" dirty="0">
                <a:solidFill>
                  <a:srgbClr val="20A4B0"/>
                </a:solidFill>
                <a:latin typeface="Consolas"/>
                <a:cs typeface="Consolas"/>
              </a:rPr>
              <a:t>build_population</a:t>
            </a:r>
            <a:r>
              <a:rPr lang="fr-FR" sz="1150" b="0" i="0" dirty="0">
                <a:solidFill>
                  <a:srgbClr val="202020"/>
                </a:solidFill>
                <a:latin typeface="Arial"/>
                <a:cs typeface="Arial"/>
              </a:rPr>
              <a:t> → </a:t>
            </a:r>
            <a:r>
              <a:rPr lang="fr-FR" sz="1150" b="0" i="0" dirty="0">
                <a:solidFill>
                  <a:srgbClr val="20A4B0"/>
                </a:solidFill>
                <a:latin typeface="Consolas"/>
                <a:cs typeface="Consolas"/>
              </a:rPr>
              <a:t>build_offer</a:t>
            </a:r>
            <a:r>
              <a:rPr lang="fr-FR" sz="1150" b="0" i="0" dirty="0">
                <a:solidFill>
                  <a:srgbClr val="202020"/>
                </a:solidFill>
                <a:latin typeface="Arial"/>
                <a:cs typeface="Arial"/>
              </a:rPr>
              <a:t> → </a:t>
            </a:r>
            <a:r>
              <a:rPr lang="fr-FR" sz="1150" b="0" i="0" dirty="0">
                <a:solidFill>
                  <a:srgbClr val="20A4B0"/>
                </a:solidFill>
                <a:latin typeface="Consolas"/>
                <a:cs typeface="Consolas"/>
              </a:rPr>
              <a:t>build_access</a:t>
            </a:r>
            <a:r>
              <a:rPr lang="fr-FR" sz="1150" b="0" i="0" dirty="0">
                <a:solidFill>
                  <a:srgbClr val="202020"/>
                </a:solidFill>
                <a:latin typeface="Arial"/>
                <a:cs typeface="Arial"/>
              </a:rPr>
              <a:t> (V1 + V2) → </a:t>
            </a:r>
            <a:r>
              <a:rPr lang="fr-FR" sz="1150" b="0" i="0" dirty="0">
                <a:solidFill>
                  <a:srgbClr val="20A4B0"/>
                </a:solidFill>
                <a:latin typeface="Consolas"/>
                <a:cs typeface="Consolas"/>
              </a:rPr>
              <a:t>build_served</a:t>
            </a:r>
            <a:r>
              <a:rPr lang="fr-FR" sz="1150" b="0" i="0" dirty="0">
                <a:solidFill>
                  <a:srgbClr val="202020"/>
                </a:solidFill>
                <a:latin typeface="Arial"/>
                <a:cs typeface="Arial"/>
              </a:rPr>
              <a:t> → </a:t>
            </a:r>
            <a:r>
              <a:rPr lang="fr-FR" sz="1150" b="0" i="0" dirty="0">
                <a:solidFill>
                  <a:srgbClr val="20A4B0"/>
                </a:solidFill>
                <a:latin typeface="Consolas"/>
                <a:cs typeface="Consolas"/>
              </a:rPr>
              <a:t>build_reco</a:t>
            </a:r>
            <a:r>
              <a:rPr lang="fr-FR" sz="1150" b="0" i="0" dirty="0">
                <a:solidFill>
                  <a:srgbClr val="202020"/>
                </a:solidFill>
                <a:latin typeface="Arial"/>
                <a:cs typeface="Arial"/>
              </a:rPr>
              <a:t> (Nantes) ou </a:t>
            </a:r>
            <a:r>
              <a:rPr lang="fr-FR" sz="1150" b="0" i="0" dirty="0">
                <a:solidFill>
                  <a:srgbClr val="20A4B0"/>
                </a:solidFill>
                <a:latin typeface="Consolas"/>
                <a:cs typeface="Consolas"/>
              </a:rPr>
              <a:t>build_app_files</a:t>
            </a:r>
            <a:r>
              <a:rPr lang="fr-FR" sz="1150" b="0" i="0" dirty="0">
                <a:solidFill>
                  <a:srgbClr val="202020"/>
                </a:solidFill>
                <a:latin typeface="Arial"/>
                <a:cs typeface="Arial"/>
              </a:rPr>
              <a:t> (Grenoble).</a:t>
            </a:r>
            <a:endParaRPr lang="fr-FR" sz="1150" dirty="0"/>
          </a:p>
          <a:p>
            <a:pPr algn="l" marL="201168" indent="-201168">
              <a:lnSpc>
                <a:spcPct val="100000"/>
              </a:lnSpc>
              <a:spcBef>
                <a:spcPts val="400"/>
              </a:spcBef>
              <a:spcAft>
                <a:spcPts val="0"/>
              </a:spcAft>
              <a:buClr>
                <a:srgbClr val="32B4B5"/>
              </a:buClr>
              <a:buFont typeface="Arial"/>
              <a:buChar char="•"/>
            </a:pPr>
            <a:r>
              <a:rPr lang="fr-FR" sz="1150" b="1" i="0" dirty="0">
                <a:solidFill>
                  <a:srgbClr val="202020"/>
                </a:solidFill>
                <a:latin typeface="Arial"/>
                <a:cs typeface="Arial"/>
              </a:rPr>
              <a:t>Sorties</a:t>
            </a:r>
            <a:r>
              <a:rPr lang="fr-FR" sz="1150" b="0" i="0" dirty="0">
                <a:solidFill>
                  <a:srgbClr val="202020"/>
                </a:solidFill>
                <a:latin typeface="Arial"/>
                <a:cs typeface="Arial"/>
              </a:rPr>
              <a:t> : </a:t>
            </a:r>
            <a:r>
              <a:rPr lang="fr-FR" sz="1150" b="0" i="0" dirty="0">
                <a:solidFill>
                  <a:srgbClr val="20A4B0"/>
                </a:solidFill>
                <a:latin typeface="Consolas"/>
                <a:cs typeface="Consolas"/>
              </a:rPr>
              <a:t>data/processed/&lt;ville&gt;/</a:t>
            </a:r>
            <a:r>
              <a:rPr lang="fr-FR" sz="1150" b="0" i="0" dirty="0">
                <a:solidFill>
                  <a:srgbClr val="202020"/>
                </a:solidFill>
                <a:latin typeface="Arial"/>
                <a:cs typeface="Arial"/>
              </a:rPr>
              <a:t> et </a:t>
            </a:r>
            <a:r>
              <a:rPr lang="fr-FR" sz="1150" b="0" i="0" dirty="0">
                <a:solidFill>
                  <a:srgbClr val="20A4B0"/>
                </a:solidFill>
                <a:latin typeface="Consolas"/>
                <a:cs typeface="Consolas"/>
              </a:rPr>
              <a:t>docs/figures/&lt;ville&gt;/</a:t>
            </a:r>
            <a:r>
              <a:rPr lang="fr-FR" sz="1150" b="0" i="0" dirty="0">
                <a:solidFill>
                  <a:srgbClr val="202020"/>
                </a:solidFill>
                <a:latin typeface="Arial"/>
                <a:cs typeface="Arial"/>
              </a:rPr>
              <a:t>.</a:t>
            </a:r>
            <a:endParaRPr lang="fr-FR" sz="1150" dirty="0"/>
          </a:p>
          <a:p>
            <a:pPr algn="l" marL="201168" indent="-201168">
              <a:lnSpc>
                <a:spcPct val="100000"/>
              </a:lnSpc>
              <a:spcBef>
                <a:spcPts val="400"/>
              </a:spcBef>
              <a:spcAft>
                <a:spcPts val="0"/>
              </a:spcAft>
              <a:buClr>
                <a:srgbClr val="32B4B5"/>
              </a:buClr>
              <a:buFont typeface="Arial"/>
              <a:buChar char="•"/>
            </a:pPr>
            <a:r>
              <a:rPr lang="fr-FR" sz="1150" b="1" i="0" dirty="0">
                <a:solidFill>
                  <a:srgbClr val="202020"/>
                </a:solidFill>
                <a:latin typeface="Arial"/>
                <a:cs typeface="Arial"/>
              </a:rPr>
              <a:t>Durée</a:t>
            </a:r>
            <a:r>
              <a:rPr lang="fr-FR" sz="1150" b="0" i="0" dirty="0">
                <a:solidFill>
                  <a:srgbClr val="202020"/>
                </a:solidFill>
                <a:latin typeface="Arial"/>
                <a:cs typeface="Arial"/>
              </a:rPr>
              <a:t> : Nantes 150 s, Grenoble 15 s.</a:t>
            </a:r>
            <a:endParaRPr lang="fr-FR" sz="1150" dirty="0"/>
          </a:p>
        </p:txBody>
      </p:sp>
      <p:pic>
        <p:nvPicPr>
          <p:cNvPr id="9019"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32B4B5"/>
                </a:solidFill>
                <a:latin typeface="Arial"/>
                <a:cs typeface="Arial"/>
              </a:rPr>
              <a:t>PARTIE 5 · L'AUTOMATISATION</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Fiche par script (2/2)</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À quoi il sert, entrées, sorties, durée, quand le lancer.</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20</a:t>
            </a:r>
            <a:endParaRPr lang="fr-FR" sz="900" dirty="0"/>
          </a:p>
        </p:txBody>
      </p:sp>
      <p:sp>
        <p:nvSpPr>
          <p:cNvPr id="10" name="Forme 10"/>
          <p:cNvSpPr/>
          <p:nvPr/>
        </p:nvSpPr>
        <p:spPr>
          <a:xfrm>
            <a:off x="457200" y="1371600"/>
            <a:ext cx="5559552" cy="2395728"/>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1" name="Forme 11"/>
          <p:cNvSpPr/>
          <p:nvPr/>
        </p:nvSpPr>
        <p:spPr>
          <a:xfrm>
            <a:off x="457200" y="1371600"/>
            <a:ext cx="64008" cy="2395728"/>
          </a:xfrm>
          <a:prstGeom prst="rect">
            <a:avLst/>
          </a:prstGeom>
          <a:solidFill>
            <a:srgbClr val="20A4B0"/>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2" name="Forme 12"/>
          <p:cNvSpPr/>
          <p:nvPr/>
        </p:nvSpPr>
        <p:spPr>
          <a:xfrm>
            <a:off x="640080" y="1463040"/>
            <a:ext cx="5266944" cy="2258568"/>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20A4B0"/>
                </a:solidFill>
                <a:latin typeface="Arial"/>
                <a:cs typeface="Arial"/>
              </a:rPr>
              <a:t>src.national.build_all</a:t>
            </a:r>
            <a:endParaRPr lang="fr-FR" sz="1300" dirty="0"/>
          </a:p>
          <a:p>
            <a:pPr algn="l">
              <a:lnSpc>
                <a:spcPct val="100000"/>
              </a:lnSpc>
              <a:spcBef>
                <a:spcPts val="0"/>
              </a:spcBef>
              <a:spcAft>
                <a:spcPts val="0"/>
              </a:spcAft>
              <a:buNone/>
            </a:pPr>
            <a:r>
              <a:rPr lang="fr-FR" sz="1050" b="0" i="1" dirty="0">
                <a:solidFill>
                  <a:srgbClr val="616060"/>
                </a:solidFill>
                <a:latin typeface="Arial"/>
                <a:cs typeface="Arial"/>
              </a:rPr>
              <a:t>La France entière, 2,3 millions de carreaux</a:t>
            </a:r>
            <a:endParaRPr lang="fr-FR" sz="1050" dirty="0"/>
          </a:p>
          <a:p>
            <a:pPr algn="l" marL="201168" indent="-201168">
              <a:lnSpc>
                <a:spcPct val="100000"/>
              </a:lnSpc>
              <a:spcBef>
                <a:spcPts val="400"/>
              </a:spcBef>
              <a:spcAft>
                <a:spcPts val="0"/>
              </a:spcAft>
              <a:buClr>
                <a:srgbClr val="20A4B0"/>
              </a:buClr>
              <a:buFont typeface="Arial"/>
              <a:buChar char="•"/>
            </a:pPr>
            <a:r>
              <a:rPr lang="fr-FR" sz="1150" b="1" i="0" dirty="0">
                <a:solidFill>
                  <a:srgbClr val="202020"/>
                </a:solidFill>
                <a:latin typeface="Arial"/>
                <a:cs typeface="Arial"/>
              </a:rPr>
              <a:t>Étapes</a:t>
            </a:r>
            <a:r>
              <a:rPr lang="fr-FR" sz="1150" b="0" i="0" dirty="0">
                <a:solidFill>
                  <a:srgbClr val="202020"/>
                </a:solidFill>
                <a:latin typeface="Arial"/>
                <a:cs typeface="Arial"/>
              </a:rPr>
              <a:t> : </a:t>
            </a:r>
            <a:r>
              <a:rPr lang="fr-FR" sz="1150" b="0" i="0" dirty="0">
                <a:solidFill>
                  <a:srgbClr val="20A4B0"/>
                </a:solidFill>
                <a:latin typeface="Consolas"/>
                <a:cs typeface="Consolas"/>
              </a:rPr>
              <a:t>cells</a:t>
            </a:r>
            <a:r>
              <a:rPr lang="fr-FR" sz="1150" b="0" i="0" dirty="0">
                <a:solidFill>
                  <a:srgbClr val="202020"/>
                </a:solidFill>
                <a:latin typeface="Arial"/>
                <a:cs typeface="Arial"/>
              </a:rPr>
              <a:t> → </a:t>
            </a:r>
            <a:r>
              <a:rPr lang="fr-FR" sz="1150" b="0" i="0" dirty="0">
                <a:solidFill>
                  <a:srgbClr val="20A4B0"/>
                </a:solidFill>
                <a:latin typeface="Consolas"/>
                <a:cs typeface="Consolas"/>
              </a:rPr>
              <a:t>offer</a:t>
            </a:r>
            <a:r>
              <a:rPr lang="fr-FR" sz="1150" b="0" i="0" dirty="0">
                <a:solidFill>
                  <a:srgbClr val="202020"/>
                </a:solidFill>
                <a:latin typeface="Arial"/>
                <a:cs typeface="Arial"/>
              </a:rPr>
              <a:t> → </a:t>
            </a:r>
            <a:r>
              <a:rPr lang="fr-FR" sz="1150" b="0" i="0" dirty="0">
                <a:solidFill>
                  <a:srgbClr val="20A4B0"/>
                </a:solidFill>
                <a:latin typeface="Consolas"/>
                <a:cs typeface="Consolas"/>
              </a:rPr>
              <a:t>access</a:t>
            </a:r>
            <a:r>
              <a:rPr lang="fr-FR" sz="1150" b="0" i="0" dirty="0">
                <a:solidFill>
                  <a:srgbClr val="202020"/>
                </a:solidFill>
                <a:latin typeface="Arial"/>
                <a:cs typeface="Arial"/>
              </a:rPr>
              <a:t> → </a:t>
            </a:r>
            <a:r>
              <a:rPr lang="fr-FR" sz="1150" b="0" i="0" dirty="0">
                <a:solidFill>
                  <a:srgbClr val="20A4B0"/>
                </a:solidFill>
                <a:latin typeface="Consolas"/>
                <a:cs typeface="Consolas"/>
              </a:rPr>
              <a:t>aggregates</a:t>
            </a:r>
            <a:r>
              <a:rPr lang="fr-FR" sz="1150" b="0" i="0" dirty="0">
                <a:solidFill>
                  <a:srgbClr val="202020"/>
                </a:solidFill>
                <a:latin typeface="Arial"/>
                <a:cs typeface="Arial"/>
              </a:rPr>
              <a:t> → </a:t>
            </a:r>
            <a:r>
              <a:rPr lang="fr-FR" sz="1150" b="0" i="0" dirty="0">
                <a:solidFill>
                  <a:srgbClr val="20A4B0"/>
                </a:solidFill>
                <a:latin typeface="Consolas"/>
                <a:cs typeface="Consolas"/>
              </a:rPr>
              <a:t>ranking</a:t>
            </a:r>
            <a:r>
              <a:rPr lang="fr-FR" sz="1150" b="0" i="0" dirty="0">
                <a:solidFill>
                  <a:srgbClr val="202020"/>
                </a:solidFill>
                <a:latin typeface="Arial"/>
                <a:cs typeface="Arial"/>
              </a:rPr>
              <a:t> → </a:t>
            </a:r>
            <a:r>
              <a:rPr lang="fr-FR" sz="1150" b="0" i="0" dirty="0">
                <a:solidFill>
                  <a:srgbClr val="20A4B0"/>
                </a:solidFill>
                <a:latin typeface="Consolas"/>
                <a:cs typeface="Consolas"/>
              </a:rPr>
              <a:t>app_files</a:t>
            </a:r>
            <a:r>
              <a:rPr lang="fr-FR" sz="1150" b="0" i="0" dirty="0">
                <a:solidFill>
                  <a:srgbClr val="202020"/>
                </a:solidFill>
                <a:latin typeface="Arial"/>
                <a:cs typeface="Arial"/>
              </a:rPr>
              <a:t>.</a:t>
            </a:r>
            <a:endParaRPr lang="fr-FR" sz="1150" dirty="0"/>
          </a:p>
          <a:p>
            <a:pPr algn="l" marL="201168" indent="-201168">
              <a:lnSpc>
                <a:spcPct val="100000"/>
              </a:lnSpc>
              <a:spcBef>
                <a:spcPts val="400"/>
              </a:spcBef>
              <a:spcAft>
                <a:spcPts val="0"/>
              </a:spcAft>
              <a:buClr>
                <a:srgbClr val="20A4B0"/>
              </a:buClr>
              <a:buFont typeface="Arial"/>
              <a:buChar char="•"/>
            </a:pPr>
            <a:r>
              <a:rPr lang="fr-FR" sz="1150" b="1" i="0" dirty="0">
                <a:solidFill>
                  <a:srgbClr val="202020"/>
                </a:solidFill>
                <a:latin typeface="Arial"/>
                <a:cs typeface="Arial"/>
              </a:rPr>
              <a:t>Entrées</a:t>
            </a:r>
            <a:r>
              <a:rPr lang="fr-FR" sz="1150" b="0" i="0" dirty="0">
                <a:solidFill>
                  <a:srgbClr val="202020"/>
                </a:solidFill>
                <a:latin typeface="Arial"/>
                <a:cs typeface="Arial"/>
              </a:rPr>
              <a:t> : Filosofi, ADMIN EXPRESS, IRIS, logement, 547 GTFS, GBFS, SSMSI.</a:t>
            </a:r>
            <a:endParaRPr lang="fr-FR" sz="1150" dirty="0"/>
          </a:p>
          <a:p>
            <a:pPr algn="l" marL="201168" indent="-201168">
              <a:lnSpc>
                <a:spcPct val="100000"/>
              </a:lnSpc>
              <a:spcBef>
                <a:spcPts val="400"/>
              </a:spcBef>
              <a:spcAft>
                <a:spcPts val="0"/>
              </a:spcAft>
              <a:buClr>
                <a:srgbClr val="20A4B0"/>
              </a:buClr>
              <a:buFont typeface="Arial"/>
              <a:buChar char="•"/>
            </a:pPr>
            <a:r>
              <a:rPr lang="fr-FR" sz="1150" b="1" i="0" dirty="0">
                <a:solidFill>
                  <a:srgbClr val="202020"/>
                </a:solidFill>
                <a:latin typeface="Arial"/>
                <a:cs typeface="Arial"/>
              </a:rPr>
              <a:t>Sorties</a:t>
            </a:r>
            <a:r>
              <a:rPr lang="fr-FR" sz="1150" b="0" i="0" dirty="0">
                <a:solidFill>
                  <a:srgbClr val="202020"/>
                </a:solidFill>
                <a:latin typeface="Arial"/>
                <a:cs typeface="Arial"/>
              </a:rPr>
              <a:t> : </a:t>
            </a:r>
            <a:r>
              <a:rPr lang="fr-FR" sz="1150" b="0" i="0" dirty="0">
                <a:solidFill>
                  <a:srgbClr val="20A4B0"/>
                </a:solidFill>
                <a:latin typeface="Consolas"/>
                <a:cs typeface="Consolas"/>
              </a:rPr>
              <a:t>data/processed/national/</a:t>
            </a:r>
            <a:r>
              <a:rPr lang="fr-FR" sz="1150" b="0" i="0" dirty="0">
                <a:solidFill>
                  <a:srgbClr val="202020"/>
                </a:solidFill>
                <a:latin typeface="Arial"/>
                <a:cs typeface="Arial"/>
              </a:rPr>
              <a:t> (agrégats, classement des EPCI, fichiers de l'appli).</a:t>
            </a:r>
            <a:endParaRPr lang="fr-FR" sz="1150" dirty="0"/>
          </a:p>
          <a:p>
            <a:pPr algn="l" marL="201168" indent="-201168">
              <a:lnSpc>
                <a:spcPct val="100000"/>
              </a:lnSpc>
              <a:spcBef>
                <a:spcPts val="400"/>
              </a:spcBef>
              <a:spcAft>
                <a:spcPts val="0"/>
              </a:spcAft>
              <a:buClr>
                <a:srgbClr val="20A4B0"/>
              </a:buClr>
              <a:buFont typeface="Arial"/>
              <a:buChar char="•"/>
            </a:pPr>
            <a:r>
              <a:rPr lang="fr-FR" sz="1150" b="1" i="0" dirty="0">
                <a:solidFill>
                  <a:srgbClr val="202020"/>
                </a:solidFill>
                <a:latin typeface="Arial"/>
                <a:cs typeface="Arial"/>
              </a:rPr>
              <a:t>Durée</a:t>
            </a:r>
            <a:r>
              <a:rPr lang="fr-FR" sz="1150" b="0" i="0" dirty="0">
                <a:solidFill>
                  <a:srgbClr val="202020"/>
                </a:solidFill>
                <a:latin typeface="Arial"/>
                <a:cs typeface="Arial"/>
              </a:rPr>
              <a:t> : 447 s ; temps et mémoire de chaque étape dans </a:t>
            </a:r>
            <a:r>
              <a:rPr lang="fr-FR" sz="1150" b="0" i="0" dirty="0">
                <a:solidFill>
                  <a:srgbClr val="20A4B0"/>
                </a:solidFill>
                <a:latin typeface="Consolas"/>
                <a:cs typeface="Consolas"/>
              </a:rPr>
              <a:t>mesures.json</a:t>
            </a:r>
            <a:r>
              <a:rPr lang="fr-FR" sz="1150" b="0" i="0" dirty="0">
                <a:solidFill>
                  <a:srgbClr val="202020"/>
                </a:solidFill>
                <a:latin typeface="Arial"/>
                <a:cs typeface="Arial"/>
              </a:rPr>
              <a:t>.</a:t>
            </a:r>
            <a:endParaRPr lang="fr-FR" sz="1150" dirty="0"/>
          </a:p>
        </p:txBody>
      </p:sp>
      <p:sp>
        <p:nvSpPr>
          <p:cNvPr id="13" name="Forme 13"/>
          <p:cNvSpPr/>
          <p:nvPr/>
        </p:nvSpPr>
        <p:spPr>
          <a:xfrm>
            <a:off x="6172200" y="1371600"/>
            <a:ext cx="5559552" cy="2395728"/>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4" name="Forme 14"/>
          <p:cNvSpPr/>
          <p:nvPr/>
        </p:nvSpPr>
        <p:spPr>
          <a:xfrm>
            <a:off x="6172200" y="1371600"/>
            <a:ext cx="64008" cy="2395728"/>
          </a:xfrm>
          <a:prstGeom prst="rect">
            <a:avLst/>
          </a:prstGeom>
          <a:solidFill>
            <a:srgbClr val="32B4B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5" name="Forme 15"/>
          <p:cNvSpPr/>
          <p:nvPr/>
        </p:nvSpPr>
        <p:spPr>
          <a:xfrm>
            <a:off x="6355080" y="1463040"/>
            <a:ext cx="5266944" cy="2258568"/>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32B4B5"/>
                </a:solidFill>
                <a:latin typeface="Arial"/>
                <a:cs typeface="Arial"/>
              </a:rPr>
              <a:t>export_share.py</a:t>
            </a:r>
            <a:endParaRPr lang="fr-FR" sz="1300" dirty="0"/>
          </a:p>
          <a:p>
            <a:pPr algn="l">
              <a:lnSpc>
                <a:spcPct val="100000"/>
              </a:lnSpc>
              <a:spcBef>
                <a:spcPts val="0"/>
              </a:spcBef>
              <a:spcAft>
                <a:spcPts val="0"/>
              </a:spcAft>
              <a:buNone/>
            </a:pPr>
            <a:r>
              <a:rPr lang="fr-FR" sz="1050" b="0" i="1" dirty="0">
                <a:solidFill>
                  <a:srgbClr val="616060"/>
                </a:solidFill>
                <a:latin typeface="Arial"/>
                <a:cs typeface="Arial"/>
              </a:rPr>
              <a:t>Partager des données propres avec l'équipe</a:t>
            </a:r>
            <a:endParaRPr lang="fr-FR" sz="1050" dirty="0"/>
          </a:p>
          <a:p>
            <a:pPr algn="l" marL="201168" indent="-201168">
              <a:lnSpc>
                <a:spcPct val="100000"/>
              </a:lnSpc>
              <a:spcBef>
                <a:spcPts val="400"/>
              </a:spcBef>
              <a:spcAft>
                <a:spcPts val="0"/>
              </a:spcAft>
              <a:buClr>
                <a:srgbClr val="32B4B5"/>
              </a:buClr>
              <a:buFont typeface="Arial"/>
              <a:buChar char="•"/>
            </a:pPr>
            <a:r>
              <a:rPr lang="fr-FR" sz="1150" b="1" i="0" dirty="0">
                <a:solidFill>
                  <a:srgbClr val="202020"/>
                </a:solidFill>
                <a:latin typeface="Arial"/>
                <a:cs typeface="Arial"/>
              </a:rPr>
              <a:t>Entrées</a:t>
            </a:r>
            <a:r>
              <a:rPr lang="fr-FR" sz="1150" b="0" i="0" dirty="0">
                <a:solidFill>
                  <a:srgbClr val="202020"/>
                </a:solidFill>
                <a:latin typeface="Arial"/>
                <a:cs typeface="Arial"/>
              </a:rPr>
              <a:t> : </a:t>
            </a:r>
            <a:r>
              <a:rPr lang="fr-FR" sz="1150" b="0" i="0" dirty="0">
                <a:solidFill>
                  <a:srgbClr val="20A4B0"/>
                </a:solidFill>
                <a:latin typeface="Consolas"/>
                <a:cs typeface="Consolas"/>
              </a:rPr>
              <a:t>data/processed/</a:t>
            </a:r>
            <a:r>
              <a:rPr lang="fr-FR" sz="1150" b="0" i="0" dirty="0">
                <a:solidFill>
                  <a:srgbClr val="202020"/>
                </a:solidFill>
                <a:latin typeface="Arial"/>
                <a:cs typeface="Arial"/>
              </a:rPr>
              <a:t>.</a:t>
            </a:r>
            <a:endParaRPr lang="fr-FR" sz="1150" dirty="0"/>
          </a:p>
          <a:p>
            <a:pPr algn="l" marL="201168" indent="-201168">
              <a:lnSpc>
                <a:spcPct val="100000"/>
              </a:lnSpc>
              <a:spcBef>
                <a:spcPts val="400"/>
              </a:spcBef>
              <a:spcAft>
                <a:spcPts val="0"/>
              </a:spcAft>
              <a:buClr>
                <a:srgbClr val="32B4B5"/>
              </a:buClr>
              <a:buFont typeface="Arial"/>
              <a:buChar char="•"/>
            </a:pPr>
            <a:r>
              <a:rPr lang="fr-FR" sz="1150" b="1" i="0" dirty="0">
                <a:solidFill>
                  <a:srgbClr val="202020"/>
                </a:solidFill>
                <a:latin typeface="Arial"/>
                <a:cs typeface="Arial"/>
              </a:rPr>
              <a:t>Sorties</a:t>
            </a:r>
            <a:r>
              <a:rPr lang="fr-FR" sz="1150" b="0" i="0" dirty="0">
                <a:solidFill>
                  <a:srgbClr val="202020"/>
                </a:solidFill>
                <a:latin typeface="Arial"/>
                <a:cs typeface="Arial"/>
              </a:rPr>
              <a:t> : </a:t>
            </a:r>
            <a:r>
              <a:rPr lang="fr-FR" sz="1150" b="0" i="0" dirty="0">
                <a:solidFill>
                  <a:srgbClr val="20A4B0"/>
                </a:solidFill>
                <a:latin typeface="Consolas"/>
                <a:cs typeface="Consolas"/>
              </a:rPr>
              <a:t>data/share/</a:t>
            </a:r>
            <a:r>
              <a:rPr lang="fr-FR" sz="1150" b="0" i="0" dirty="0">
                <a:solidFill>
                  <a:srgbClr val="202020"/>
                </a:solidFill>
                <a:latin typeface="Arial"/>
                <a:cs typeface="Arial"/>
              </a:rPr>
              <a:t> : GPKG (QGIS), CSV pour Excel (</a:t>
            </a:r>
            <a:r>
              <a:rPr lang="fr-FR" sz="1150" b="0" i="0" dirty="0">
                <a:solidFill>
                  <a:srgbClr val="20A4B0"/>
                </a:solidFill>
                <a:latin typeface="Consolas"/>
                <a:cs typeface="Consolas"/>
              </a:rPr>
              <a:t>;</a:t>
            </a:r>
            <a:r>
              <a:rPr lang="fr-FR" sz="1150" b="0" i="0" dirty="0">
                <a:solidFill>
                  <a:srgbClr val="202020"/>
                </a:solidFill>
                <a:latin typeface="Arial"/>
                <a:cs typeface="Arial"/>
              </a:rPr>
              <a:t>, BOM), GeoJSON &lt; 50 Mo, cartes HTML, zip, </a:t>
            </a:r>
            <a:r>
              <a:rPr lang="fr-FR" sz="1150" b="0" i="0" dirty="0">
                <a:solidFill>
                  <a:srgbClr val="20A4B0"/>
                </a:solidFill>
                <a:latin typeface="Consolas"/>
                <a:cs typeface="Consolas"/>
              </a:rPr>
              <a:t>DICTIONNAIRE_DONNEES.md</a:t>
            </a:r>
            <a:r>
              <a:rPr lang="fr-FR" sz="1150" b="0" i="0" dirty="0">
                <a:solidFill>
                  <a:srgbClr val="202020"/>
                </a:solidFill>
                <a:latin typeface="Arial"/>
                <a:cs typeface="Arial"/>
              </a:rPr>
              <a:t>.</a:t>
            </a:r>
            <a:endParaRPr lang="fr-FR" sz="1150" dirty="0"/>
          </a:p>
          <a:p>
            <a:pPr algn="l" marL="201168" indent="-201168">
              <a:lnSpc>
                <a:spcPct val="100000"/>
              </a:lnSpc>
              <a:spcBef>
                <a:spcPts val="400"/>
              </a:spcBef>
              <a:spcAft>
                <a:spcPts val="0"/>
              </a:spcAft>
              <a:buClr>
                <a:srgbClr val="32B4B5"/>
              </a:buClr>
              <a:buFont typeface="Arial"/>
              <a:buChar char="•"/>
            </a:pPr>
            <a:r>
              <a:rPr lang="fr-FR" sz="1150" b="1" i="0" dirty="0">
                <a:solidFill>
                  <a:srgbClr val="202020"/>
                </a:solidFill>
                <a:latin typeface="Arial"/>
                <a:cs typeface="Arial"/>
              </a:rPr>
              <a:t>Secret</a:t>
            </a:r>
            <a:r>
              <a:rPr lang="fr-FR" sz="1150" b="0" i="0" dirty="0">
                <a:solidFill>
                  <a:srgbClr val="202020"/>
                </a:solidFill>
                <a:latin typeface="Arial"/>
                <a:cs typeface="Arial"/>
              </a:rPr>
              <a:t> : carreaux ≥ 11 ménages, IRIS arrondis à 5.</a:t>
            </a:r>
            <a:endParaRPr lang="fr-FR" sz="1150" dirty="0"/>
          </a:p>
          <a:p>
            <a:pPr algn="l" marL="201168" indent="-201168">
              <a:lnSpc>
                <a:spcPct val="100000"/>
              </a:lnSpc>
              <a:spcBef>
                <a:spcPts val="400"/>
              </a:spcBef>
              <a:spcAft>
                <a:spcPts val="0"/>
              </a:spcAft>
              <a:buClr>
                <a:srgbClr val="32B4B5"/>
              </a:buClr>
              <a:buFont typeface="Arial"/>
              <a:buChar char="•"/>
            </a:pPr>
            <a:r>
              <a:rPr lang="fr-FR" sz="1150" b="1" i="0" dirty="0">
                <a:solidFill>
                  <a:srgbClr val="202020"/>
                </a:solidFill>
                <a:latin typeface="Arial"/>
                <a:cs typeface="Arial"/>
              </a:rPr>
              <a:t>Options</a:t>
            </a:r>
            <a:r>
              <a:rPr lang="fr-FR" sz="1150" b="0" i="0" dirty="0">
                <a:solidFill>
                  <a:srgbClr val="202020"/>
                </a:solidFill>
                <a:latin typeface="Arial"/>
                <a:cs typeface="Arial"/>
              </a:rPr>
              <a:t> : </a:t>
            </a:r>
            <a:r>
              <a:rPr lang="fr-FR" sz="1150" b="0" i="0" dirty="0">
                <a:solidFill>
                  <a:srgbClr val="20A4B0"/>
                </a:solidFill>
                <a:latin typeface="Consolas"/>
                <a:cs typeface="Consolas"/>
              </a:rPr>
              <a:t>--only grenoble|nantes|france</a:t>
            </a:r>
            <a:r>
              <a:rPr lang="fr-FR" sz="1150" b="0" i="0" dirty="0">
                <a:solidFill>
                  <a:srgbClr val="202020"/>
                </a:solidFill>
                <a:latin typeface="Arial"/>
                <a:cs typeface="Arial"/>
              </a:rPr>
              <a:t>, </a:t>
            </a:r>
            <a:r>
              <a:rPr lang="fr-FR" sz="1150" b="0" i="0" dirty="0">
                <a:solidFill>
                  <a:srgbClr val="20A4B0"/>
                </a:solidFill>
                <a:latin typeface="Consolas"/>
                <a:cs typeface="Consolas"/>
              </a:rPr>
              <a:t>--estimate-raw-zone</a:t>
            </a:r>
            <a:r>
              <a:rPr lang="fr-FR" sz="1150" b="0" i="0" dirty="0">
                <a:solidFill>
                  <a:srgbClr val="202020"/>
                </a:solidFill>
                <a:latin typeface="Arial"/>
                <a:cs typeface="Arial"/>
              </a:rPr>
              <a:t>.</a:t>
            </a:r>
            <a:endParaRPr lang="fr-FR" sz="1150" dirty="0"/>
          </a:p>
        </p:txBody>
      </p:sp>
      <p:sp>
        <p:nvSpPr>
          <p:cNvPr id="16" name="Forme 16"/>
          <p:cNvSpPr/>
          <p:nvPr/>
        </p:nvSpPr>
        <p:spPr>
          <a:xfrm>
            <a:off x="457200" y="3886200"/>
            <a:ext cx="5559552" cy="2395728"/>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7" name="Forme 17"/>
          <p:cNvSpPr/>
          <p:nvPr/>
        </p:nvSpPr>
        <p:spPr>
          <a:xfrm>
            <a:off x="457200" y="3886200"/>
            <a:ext cx="64008" cy="2395728"/>
          </a:xfrm>
          <a:prstGeom prst="rect">
            <a:avLst/>
          </a:prstGeom>
          <a:solidFill>
            <a:srgbClr val="514E98"/>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18" name="Forme 18"/>
          <p:cNvSpPr/>
          <p:nvPr/>
        </p:nvSpPr>
        <p:spPr>
          <a:xfrm>
            <a:off x="640080" y="3977640"/>
            <a:ext cx="5266944" cy="2258568"/>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514E98"/>
                </a:solidFill>
                <a:latin typeface="Arial"/>
                <a:cs typeface="Arial"/>
              </a:rPr>
              <a:t>scripts.chiffres_cles</a:t>
            </a:r>
            <a:endParaRPr lang="fr-FR" sz="1300" dirty="0"/>
          </a:p>
          <a:p>
            <a:pPr algn="l">
              <a:lnSpc>
                <a:spcPct val="100000"/>
              </a:lnSpc>
              <a:spcBef>
                <a:spcPts val="0"/>
              </a:spcBef>
              <a:spcAft>
                <a:spcPts val="0"/>
              </a:spcAft>
              <a:buNone/>
            </a:pPr>
            <a:r>
              <a:rPr lang="fr-FR" sz="1050" b="0" i="1" dirty="0">
                <a:solidFill>
                  <a:srgbClr val="616060"/>
                </a:solidFill>
                <a:latin typeface="Arial"/>
                <a:cs typeface="Arial"/>
              </a:rPr>
              <a:t>Aucun chiffre tapé à la main</a:t>
            </a:r>
            <a:endParaRPr lang="fr-FR" sz="1050" dirty="0"/>
          </a:p>
          <a:p>
            <a:pPr algn="l" marL="201168" indent="-201168">
              <a:lnSpc>
                <a:spcPct val="100000"/>
              </a:lnSpc>
              <a:spcBef>
                <a:spcPts val="400"/>
              </a:spcBef>
              <a:spcAft>
                <a:spcPts val="0"/>
              </a:spcAft>
              <a:buClr>
                <a:srgbClr val="514E98"/>
              </a:buClr>
              <a:buFont typeface="Arial"/>
              <a:buChar char="•"/>
            </a:pPr>
            <a:r>
              <a:rPr lang="fr-FR" sz="1150" b="1" i="0" dirty="0">
                <a:solidFill>
                  <a:srgbClr val="202020"/>
                </a:solidFill>
                <a:latin typeface="Arial"/>
                <a:cs typeface="Arial"/>
              </a:rPr>
              <a:t>Entrées</a:t>
            </a:r>
            <a:r>
              <a:rPr lang="fr-FR" sz="1150" b="0" i="0" dirty="0">
                <a:solidFill>
                  <a:srgbClr val="202020"/>
                </a:solidFill>
                <a:latin typeface="Arial"/>
                <a:cs typeface="Arial"/>
              </a:rPr>
              <a:t> : fichiers produits (</a:t>
            </a:r>
            <a:r>
              <a:rPr lang="fr-FR" sz="1150" b="0" i="0" dirty="0">
                <a:solidFill>
                  <a:srgbClr val="20A4B0"/>
                </a:solidFill>
                <a:latin typeface="Consolas"/>
                <a:cs typeface="Consolas"/>
              </a:rPr>
              <a:t>reco_resume.json</a:t>
            </a:r>
            <a:r>
              <a:rPr lang="fr-FR" sz="1150" b="0" i="0" dirty="0">
                <a:solidFill>
                  <a:srgbClr val="202020"/>
                </a:solidFill>
                <a:latin typeface="Arial"/>
                <a:cs typeface="Arial"/>
              </a:rPr>
              <a:t>, </a:t>
            </a:r>
            <a:r>
              <a:rPr lang="fr-FR" sz="1150" b="0" i="0" dirty="0">
                <a:solidFill>
                  <a:srgbClr val="20A4B0"/>
                </a:solidFill>
                <a:latin typeface="Consolas"/>
                <a:cs typeface="Consolas"/>
              </a:rPr>
              <a:t>validation.json</a:t>
            </a:r>
            <a:r>
              <a:rPr lang="fr-FR" sz="1150" b="0" i="0" dirty="0">
                <a:solidFill>
                  <a:srgbClr val="202020"/>
                </a:solidFill>
                <a:latin typeface="Arial"/>
                <a:cs typeface="Arial"/>
              </a:rPr>
              <a:t>, </a:t>
            </a:r>
            <a:r>
              <a:rPr lang="fr-FR" sz="1150" b="0" i="0" dirty="0">
                <a:solidFill>
                  <a:srgbClr val="20A4B0"/>
                </a:solidFill>
                <a:latin typeface="Consolas"/>
                <a:cs typeface="Consolas"/>
              </a:rPr>
              <a:t>agg_rapport.json</a:t>
            </a:r>
            <a:r>
              <a:rPr lang="fr-FR" sz="1150" b="0" i="0" dirty="0">
                <a:solidFill>
                  <a:srgbClr val="202020"/>
                </a:solidFill>
                <a:latin typeface="Arial"/>
                <a:cs typeface="Arial"/>
              </a:rPr>
              <a:t>…).</a:t>
            </a:r>
            <a:endParaRPr lang="fr-FR" sz="1150" dirty="0"/>
          </a:p>
          <a:p>
            <a:pPr algn="l" marL="201168" indent="-201168">
              <a:lnSpc>
                <a:spcPct val="100000"/>
              </a:lnSpc>
              <a:spcBef>
                <a:spcPts val="400"/>
              </a:spcBef>
              <a:spcAft>
                <a:spcPts val="0"/>
              </a:spcAft>
              <a:buClr>
                <a:srgbClr val="514E98"/>
              </a:buClr>
              <a:buFont typeface="Arial"/>
              <a:buChar char="•"/>
            </a:pPr>
            <a:r>
              <a:rPr lang="fr-FR" sz="1150" b="1" i="0" dirty="0">
                <a:solidFill>
                  <a:srgbClr val="202020"/>
                </a:solidFill>
                <a:latin typeface="Arial"/>
                <a:cs typeface="Arial"/>
              </a:rPr>
              <a:t>Sorties</a:t>
            </a:r>
            <a:r>
              <a:rPr lang="fr-FR" sz="1150" b="0" i="0" dirty="0">
                <a:solidFill>
                  <a:srgbClr val="202020"/>
                </a:solidFill>
                <a:latin typeface="Arial"/>
                <a:cs typeface="Arial"/>
              </a:rPr>
              <a:t> : </a:t>
            </a:r>
            <a:r>
              <a:rPr lang="fr-FR" sz="1150" b="0" i="0" dirty="0">
                <a:solidFill>
                  <a:srgbClr val="20A4B0"/>
                </a:solidFill>
                <a:latin typeface="Consolas"/>
                <a:cs typeface="Consolas"/>
              </a:rPr>
              <a:t>docs/chiffres_cles.md</a:t>
            </a:r>
            <a:r>
              <a:rPr lang="fr-FR" sz="1150" b="0" i="0" dirty="0">
                <a:solidFill>
                  <a:srgbClr val="202020"/>
                </a:solidFill>
                <a:latin typeface="Arial"/>
                <a:cs typeface="Arial"/>
              </a:rPr>
              <a:t> (chaque chiffre avec son fichier et sa commande) + </a:t>
            </a:r>
            <a:r>
              <a:rPr lang="fr-FR" sz="1150" b="0" i="0" dirty="0">
                <a:solidFill>
                  <a:srgbClr val="20A4B0"/>
                </a:solidFill>
                <a:latin typeface="Consolas"/>
                <a:cs typeface="Consolas"/>
              </a:rPr>
              <a:t>slides/img/*.png</a:t>
            </a:r>
            <a:r>
              <a:rPr lang="fr-FR" sz="1150" b="0" i="0" dirty="0">
                <a:solidFill>
                  <a:srgbClr val="202020"/>
                </a:solidFill>
                <a:latin typeface="Arial"/>
                <a:cs typeface="Arial"/>
              </a:rPr>
              <a:t>.</a:t>
            </a:r>
            <a:endParaRPr lang="fr-FR" sz="1150" dirty="0"/>
          </a:p>
          <a:p>
            <a:pPr algn="l" marL="201168" indent="-201168">
              <a:lnSpc>
                <a:spcPct val="100000"/>
              </a:lnSpc>
              <a:spcBef>
                <a:spcPts val="400"/>
              </a:spcBef>
              <a:spcAft>
                <a:spcPts val="0"/>
              </a:spcAft>
              <a:buClr>
                <a:srgbClr val="514E98"/>
              </a:buClr>
              <a:buFont typeface="Arial"/>
              <a:buChar char="•"/>
            </a:pPr>
            <a:r>
              <a:rPr lang="fr-FR" sz="1150" b="1" i="0" dirty="0">
                <a:solidFill>
                  <a:srgbClr val="202020"/>
                </a:solidFill>
                <a:latin typeface="Arial"/>
                <a:cs typeface="Arial"/>
              </a:rPr>
              <a:t>Quand</a:t>
            </a:r>
            <a:r>
              <a:rPr lang="fr-FR" sz="1150" b="0" i="0" dirty="0">
                <a:solidFill>
                  <a:srgbClr val="202020"/>
                </a:solidFill>
                <a:latin typeface="Arial"/>
                <a:cs typeface="Arial"/>
              </a:rPr>
              <a:t> : après toute reconstruction, avant de mettre à jour les slides.</a:t>
            </a:r>
            <a:endParaRPr lang="fr-FR" sz="1150" dirty="0"/>
          </a:p>
        </p:txBody>
      </p:sp>
      <p:sp>
        <p:nvSpPr>
          <p:cNvPr id="19" name="Forme 19"/>
          <p:cNvSpPr/>
          <p:nvPr/>
        </p:nvSpPr>
        <p:spPr>
          <a:xfrm>
            <a:off x="6172200" y="3886200"/>
            <a:ext cx="5559552" cy="2395728"/>
          </a:xfrm>
          <a:prstGeom prst="roundRect">
            <a:avLst>
              <a:gd name="adj" fmla="val 4000"/>
            </a:avLst>
          </a:prstGeom>
          <a:solidFill>
            <a:srgbClr val="DBF4F4"/>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0" name="Forme 20"/>
          <p:cNvSpPr/>
          <p:nvPr/>
        </p:nvSpPr>
        <p:spPr>
          <a:xfrm>
            <a:off x="6172200" y="3886200"/>
            <a:ext cx="64008" cy="2395728"/>
          </a:xfrm>
          <a:prstGeom prst="rect">
            <a:avLst/>
          </a:prstGeom>
          <a:solidFill>
            <a:srgbClr val="32B4B5"/>
          </a:solidFill>
          <a:ln>
            <a:noFill/>
          </a:ln>
        </p:spPr>
        <p:txBody>
          <a:bodyPr wrap="square" lIns="109728" tIns="54864" rIns="109728" bIns="54864" anchor="t" rtlCol="0">
            <a:noAutofit/>
          </a:bodyPr>
          <a:lstStyle/>
          <a:p>
            <a:pPr algn="l">
              <a:lnSpc>
                <a:spcPct val="100000"/>
              </a:lnSpc>
              <a:spcBef>
                <a:spcPts val="0"/>
              </a:spcBef>
              <a:spcAft>
                <a:spcPts val="0"/>
              </a:spcAft>
              <a:buNone/>
            </a:pPr>
            <a:endParaRPr lang="fr-FR" sz="1400" dirty="0"/>
          </a:p>
        </p:txBody>
      </p:sp>
      <p:sp>
        <p:nvSpPr>
          <p:cNvPr id="21" name="Forme 21"/>
          <p:cNvSpPr/>
          <p:nvPr/>
        </p:nvSpPr>
        <p:spPr>
          <a:xfrm>
            <a:off x="6355080" y="3977640"/>
            <a:ext cx="5266944" cy="2258568"/>
          </a:xfrm>
          <a:prstGeom prst="rect">
            <a:avLst/>
          </a:prstGeom>
          <a:noFill/>
          <a:ln>
            <a:noFill/>
          </a:ln>
        </p:spPr>
        <p:txBody>
          <a:bodyPr wrap="square" lIns="18288" tIns="18288" rIns="18288" bIns="18288" anchor="t" rtlCol="0">
            <a:noAutofit/>
          </a:bodyPr>
          <a:lstStyle/>
          <a:p>
            <a:pPr algn="l">
              <a:lnSpc>
                <a:spcPct val="100000"/>
              </a:lnSpc>
              <a:spcBef>
                <a:spcPts val="0"/>
              </a:spcBef>
              <a:spcAft>
                <a:spcPts val="300"/>
              </a:spcAft>
              <a:buNone/>
            </a:pPr>
            <a:r>
              <a:rPr lang="fr-FR" sz="1300" b="1" i="0" dirty="0">
                <a:solidFill>
                  <a:srgbClr val="20A4B0"/>
                </a:solidFill>
                <a:latin typeface="Arial"/>
                <a:cs typeface="Arial"/>
              </a:rPr>
              <a:t>lancer_demo.bat</a:t>
            </a:r>
            <a:endParaRPr lang="fr-FR" sz="1300" dirty="0"/>
          </a:p>
          <a:p>
            <a:pPr algn="l">
              <a:lnSpc>
                <a:spcPct val="100000"/>
              </a:lnSpc>
              <a:spcBef>
                <a:spcPts val="0"/>
              </a:spcBef>
              <a:spcAft>
                <a:spcPts val="0"/>
              </a:spcAft>
              <a:buNone/>
            </a:pPr>
            <a:r>
              <a:rPr lang="fr-FR" sz="1050" b="0" i="1" dirty="0">
                <a:solidFill>
                  <a:srgbClr val="616060"/>
                </a:solidFill>
                <a:latin typeface="Arial"/>
                <a:cs typeface="Arial"/>
              </a:rPr>
              <a:t>La démo en un double-clic</a:t>
            </a:r>
            <a:endParaRPr lang="fr-FR" sz="1050" dirty="0"/>
          </a:p>
          <a:p>
            <a:pPr algn="l" marL="201168" indent="-201168">
              <a:lnSpc>
                <a:spcPct val="100000"/>
              </a:lnSpc>
              <a:spcBef>
                <a:spcPts val="400"/>
              </a:spcBef>
              <a:spcAft>
                <a:spcPts val="0"/>
              </a:spcAft>
              <a:buClr>
                <a:srgbClr val="32B4B5"/>
              </a:buClr>
              <a:buFont typeface="Arial"/>
              <a:buChar char="•"/>
            </a:pPr>
            <a:r>
              <a:rPr lang="fr-FR" sz="1150" b="0" i="0" dirty="0">
                <a:solidFill>
                  <a:srgbClr val="202020"/>
                </a:solidFill>
                <a:latin typeface="Arial"/>
                <a:cs typeface="Arial"/>
              </a:rPr>
              <a:t>Vérifie </a:t>
            </a:r>
            <a:r>
              <a:rPr lang="fr-FR" sz="1150" b="0" i="0" dirty="0">
                <a:solidFill>
                  <a:srgbClr val="20A4B0"/>
                </a:solidFill>
                <a:latin typeface="Consolas"/>
                <a:cs typeface="Consolas"/>
              </a:rPr>
              <a:t>.venv</a:t>
            </a:r>
            <a:r>
              <a:rPr lang="fr-FR" sz="1150" b="0" i="0" dirty="0">
                <a:solidFill>
                  <a:srgbClr val="202020"/>
                </a:solidFill>
                <a:latin typeface="Arial"/>
                <a:cs typeface="Arial"/>
              </a:rPr>
              <a:t> et la présence des données France, Nantes, Grenoble (message sinon).</a:t>
            </a:r>
            <a:endParaRPr lang="fr-FR" sz="1150" dirty="0"/>
          </a:p>
          <a:p>
            <a:pPr algn="l" marL="201168" indent="-201168">
              <a:lnSpc>
                <a:spcPct val="100000"/>
              </a:lnSpc>
              <a:spcBef>
                <a:spcPts val="400"/>
              </a:spcBef>
              <a:spcAft>
                <a:spcPts val="0"/>
              </a:spcAft>
              <a:buClr>
                <a:srgbClr val="32B4B5"/>
              </a:buClr>
              <a:buFont typeface="Arial"/>
              <a:buChar char="•"/>
            </a:pPr>
            <a:r>
              <a:rPr lang="fr-FR" sz="1150" b="0" i="0" dirty="0">
                <a:solidFill>
                  <a:srgbClr val="202020"/>
                </a:solidFill>
                <a:latin typeface="Arial"/>
                <a:cs typeface="Arial"/>
              </a:rPr>
              <a:t>Lance Streamlit sans fenêtre de configuration (</a:t>
            </a:r>
            <a:r>
              <a:rPr lang="fr-FR" sz="1150" b="0" i="0" dirty="0">
                <a:solidFill>
                  <a:srgbClr val="20A4B0"/>
                </a:solidFill>
                <a:latin typeface="Consolas"/>
                <a:cs typeface="Consolas"/>
              </a:rPr>
              <a:t>--server.headless true</a:t>
            </a:r>
            <a:r>
              <a:rPr lang="fr-FR" sz="1150" b="0" i="0" dirty="0">
                <a:solidFill>
                  <a:srgbClr val="202020"/>
                </a:solidFill>
                <a:latin typeface="Arial"/>
                <a:cs typeface="Arial"/>
              </a:rPr>
              <a:t>, port 8501).</a:t>
            </a:r>
            <a:endParaRPr lang="fr-FR" sz="1150" dirty="0"/>
          </a:p>
          <a:p>
            <a:pPr algn="l" marL="201168" indent="-201168">
              <a:lnSpc>
                <a:spcPct val="100000"/>
              </a:lnSpc>
              <a:spcBef>
                <a:spcPts val="400"/>
              </a:spcBef>
              <a:spcAft>
                <a:spcPts val="0"/>
              </a:spcAft>
              <a:buClr>
                <a:srgbClr val="32B4B5"/>
              </a:buClr>
              <a:buFont typeface="Arial"/>
              <a:buChar char="•"/>
            </a:pPr>
            <a:r>
              <a:rPr lang="fr-FR" sz="1150" b="0" i="0" dirty="0">
                <a:solidFill>
                  <a:srgbClr val="202020"/>
                </a:solidFill>
                <a:latin typeface="Arial"/>
                <a:cs typeface="Arial"/>
              </a:rPr>
              <a:t>Ouvre le navigateur dès que </a:t>
            </a:r>
            <a:r>
              <a:rPr lang="fr-FR" sz="1150" b="0" i="0" dirty="0">
                <a:solidFill>
                  <a:srgbClr val="20A4B0"/>
                </a:solidFill>
                <a:latin typeface="Consolas"/>
                <a:cs typeface="Consolas"/>
              </a:rPr>
              <a:t>/_stcore/health</a:t>
            </a:r>
            <a:r>
              <a:rPr lang="fr-FR" sz="1150" b="0" i="0" dirty="0">
                <a:solidFill>
                  <a:srgbClr val="202020"/>
                </a:solidFill>
                <a:latin typeface="Arial"/>
                <a:cs typeface="Arial"/>
              </a:rPr>
              <a:t> répond.</a:t>
            </a:r>
            <a:endParaRPr lang="fr-FR" sz="1150" dirty="0"/>
          </a:p>
          <a:p>
            <a:pPr algn="l" marL="201168" indent="-201168">
              <a:lnSpc>
                <a:spcPct val="100000"/>
              </a:lnSpc>
              <a:spcBef>
                <a:spcPts val="400"/>
              </a:spcBef>
              <a:spcAft>
                <a:spcPts val="0"/>
              </a:spcAft>
              <a:buClr>
                <a:srgbClr val="32B4B5"/>
              </a:buClr>
              <a:buFont typeface="Arial"/>
              <a:buChar char="•"/>
            </a:pPr>
            <a:r>
              <a:rPr lang="fr-FR" sz="1150" b="1" i="0" dirty="0">
                <a:solidFill>
                  <a:srgbClr val="202020"/>
                </a:solidFill>
                <a:latin typeface="Arial"/>
                <a:cs typeface="Arial"/>
              </a:rPr>
              <a:t>Plan B</a:t>
            </a:r>
            <a:r>
              <a:rPr lang="fr-FR" sz="1150" b="0" i="0" dirty="0">
                <a:solidFill>
                  <a:srgbClr val="202020"/>
                </a:solidFill>
                <a:latin typeface="Arial"/>
                <a:cs typeface="Arial"/>
              </a:rPr>
              <a:t> : captures de </a:t>
            </a:r>
            <a:r>
              <a:rPr lang="fr-FR" sz="1150" b="0" i="0" dirty="0">
                <a:solidFill>
                  <a:srgbClr val="20A4B0"/>
                </a:solidFill>
                <a:latin typeface="Consolas"/>
                <a:cs typeface="Consolas"/>
              </a:rPr>
              <a:t>slides/img/demo/</a:t>
            </a:r>
            <a:r>
              <a:rPr lang="fr-FR" sz="1150" b="0" i="0" dirty="0">
                <a:solidFill>
                  <a:srgbClr val="202020"/>
                </a:solidFill>
                <a:latin typeface="Arial"/>
                <a:cs typeface="Arial"/>
              </a:rPr>
              <a:t>.</a:t>
            </a:r>
            <a:endParaRPr lang="fr-FR" sz="1150" dirty="0"/>
          </a:p>
        </p:txBody>
      </p:sp>
      <p:pic>
        <p:nvPicPr>
          <p:cNvPr id="9020"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32B4B5"/>
                </a:solidFill>
                <a:latin typeface="Arial"/>
                <a:cs typeface="Arial"/>
              </a:rPr>
              <a:t>PARTIE 5 · L'AUTOMATISATION</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Les tests : 82 vérifications automatiques</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Lancés par </a:t>
            </a:r>
            <a:r>
              <a:rPr lang="fr-FR" sz="1250" b="0" i="0" dirty="0">
                <a:solidFill>
                  <a:srgbClr val="20A4B0"/>
                </a:solidFill>
                <a:latin typeface="Consolas"/>
                <a:cs typeface="Consolas"/>
              </a:rPr>
              <a:t>pytest</a:t>
            </a:r>
            <a:r>
              <a:rPr lang="fr-FR" sz="1250" b="0" i="0" dirty="0">
                <a:solidFill>
                  <a:srgbClr val="616060"/>
                </a:solidFill>
                <a:latin typeface="Arial"/>
                <a:cs typeface="Arial"/>
              </a:rPr>
              <a:t> en 61 s ; tous verts le 21/10/2026.</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21</a:t>
            </a:r>
            <a:endParaRPr lang="fr-FR" sz="900" dirty="0"/>
          </a:p>
        </p:txBody>
      </p:sp>
      <p:graphicFrame>
        <p:nvGraphicFramePr>
          <p:cNvPr id="10" name="Tableau 10"/>
          <p:cNvGraphicFramePr>
            <a:graphicFrameLocks noGrp="1"/>
          </p:cNvGraphicFramePr>
          <p:nvPr/>
        </p:nvGraphicFramePr>
        <p:xfrm>
          <a:off x="457200" y="1371600"/>
          <a:ext cx="11274552" cy="4608576"/>
        </p:xfrm>
        <a:graphic>
          <a:graphicData uri="http://schemas.openxmlformats.org/drawingml/2006/table">
            <a:tbl>
              <a:tblPr firstRow="1" bandRow="1"/>
              <a:tblGrid>
                <a:gridCol w="2743200"/>
                <a:gridCol w="731520"/>
                <a:gridCol w="7799832"/>
              </a:tblGrid>
              <a:tr h="384048">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FFFFFF"/>
                          </a:solidFill>
                          <a:latin typeface="Arial"/>
                          <a:cs typeface="Arial"/>
                        </a:rPr>
                        <a:t>Fichier</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32B4B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FFFFFF"/>
                          </a:solidFill>
                          <a:latin typeface="Arial"/>
                          <a:cs typeface="Arial"/>
                        </a:rPr>
                        <a:t>Tests</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32B4B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FFFFFF"/>
                          </a:solidFill>
                          <a:latin typeface="Arial"/>
                          <a:cs typeface="Arial"/>
                        </a:rPr>
                        <a:t>Ce qu'il vérifie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32B4B5"/>
                    </a:solidFill>
                  </a:tcPr>
                </a:tc>
              </a:tr>
              <a:tr h="384048">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test_offer.py</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9</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mode depuis route_type, calendrier et exceptions, mardi type, frequencies.txt, flux expiré, exclusion longue distance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84048">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test_geo.py</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8</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fusion de quais, modes jamais mélangés, rayon par mode (gares), somme dans une source / max entre sources</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84048">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test_population.py</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4</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choix des communes de l'EPCI, calage = total du recensement, motorisation IRIS puis commune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84048">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test_accessibility.py</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8</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rayon 400 m, détour réel (un pont), poids et fréquence, 2SFCA, filtre piéton, population desservie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84048">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test_national.py</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8</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centre du carreau depuis son identifiant INSEE, emprises DROM, couverture, agrégats pondérés</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84048">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test_optimize.py</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9</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budget respecté, glouton contre ILP, pas de double compte des habitants, effet de l'équité</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84048">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test_costs.py</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9</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3 scénarios de coût ordonnés, coût total sur l'horizon, CO₂ prudent, surcoût de risque plafonné</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84048">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test_export_share.py</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9</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formats CSV / GPKG, chaque colonne documentée, effectifs IRIS multiples de 5, pas de carreau France</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84048">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test_ingest.py</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4</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A4B0"/>
                          </a:solidFill>
                          <a:latin typeface="Consolas"/>
                          <a:cs typeface="Consolas"/>
                        </a:rPr>
                        <a:t>--list</a:t>
                      </a:r>
                      <a:r>
                        <a:rPr lang="fr-FR" sz="950" b="0" i="0" dirty="0">
                          <a:solidFill>
                            <a:srgbClr val="202020"/>
                          </a:solidFill>
                          <a:latin typeface="Arial"/>
                          <a:cs typeface="Arial"/>
                        </a:rPr>
                        <a:t>, chemins ancrés au dépôt, check_data sur un faux dossier, masquage des clés</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84048">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test_app.py</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4</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l'appli entière (Nantes, Grenoble, France), bouton « Scénario démo » = calcul en direct</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84048">
                <a:tc>
                  <a:txBody>
                    <a:bodyPr wrap="square" lIns="109728" tIns="54864" rIns="109728" bIns="54864" anchor="t" rtlCol="0">
                      <a:noAutofit/>
                    </a:bodyPr>
                    <a:lstStyle/>
                    <a:p>
                      <a:pPr algn="l">
                        <a:lnSpc>
                          <a:spcPct val="95000"/>
                        </a:lnSpc>
                        <a:spcBef>
                          <a:spcPts val="0"/>
                        </a:spcBef>
                        <a:spcAft>
                          <a:spcPts val="0"/>
                        </a:spcAft>
                        <a:buNone/>
                      </a:pPr>
                      <a:r>
                        <a:rPr lang="fr-FR" sz="950" b="1" i="0" dirty="0">
                          <a:solidFill>
                            <a:srgbClr val="202020"/>
                          </a:solidFill>
                          <a:latin typeface="Arial"/>
                          <a:cs typeface="Arial"/>
                        </a:rPr>
                        <a:t>test_config.py · test_env.py · test_ui.py</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10</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50" b="0" i="0" dirty="0">
                          <a:solidFill>
                            <a:srgbClr val="202020"/>
                          </a:solidFill>
                          <a:latin typeface="Arial"/>
                          <a:cs typeface="Arial"/>
                        </a:rPr>
                        <a:t>réglages (400 m = 5 min à 4,8 km/h, mardi figé), solveur HiGHS, Lambert-93, nombres en français</a:t>
                      </a:r>
                      <a:endParaRPr lang="fr-FR" sz="95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bl>
          </a:graphicData>
        </a:graphic>
      </p:graphicFrame>
      <p:pic>
        <p:nvPicPr>
          <p:cNvPr id="9021"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32B4B5"/>
                </a:solidFill>
                <a:latin typeface="Arial"/>
                <a:cs typeface="Arial"/>
              </a:rPr>
              <a:t>PARTIE 5 · L'AUTOMATISATION</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Reconstruire tout le projet depuis zéro</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5 commandes, dans l'ordre, dans PowerShell depuis le dossier du dépôt.</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22</a:t>
            </a:r>
            <a:endParaRPr lang="fr-FR" sz="900" dirty="0"/>
          </a:p>
        </p:txBody>
      </p:sp>
      <p:sp>
        <p:nvSpPr>
          <p:cNvPr id="10" name="Forme 10"/>
          <p:cNvSpPr/>
          <p:nvPr/>
        </p:nvSpPr>
        <p:spPr>
          <a:xfrm>
            <a:off x="457200" y="1481328"/>
            <a:ext cx="548640" cy="548640"/>
          </a:xfrm>
          <a:prstGeom prst="ellipse">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1800" b="1" i="0" dirty="0">
                <a:solidFill>
                  <a:srgbClr val="FFFFFF"/>
                </a:solidFill>
                <a:latin typeface="Arial"/>
                <a:cs typeface="Arial"/>
              </a:rPr>
              <a:t>1</a:t>
            </a:r>
            <a:endParaRPr lang="fr-FR" sz="1800" dirty="0"/>
          </a:p>
        </p:txBody>
      </p:sp>
      <p:sp>
        <p:nvSpPr>
          <p:cNvPr id="11" name="Forme 11"/>
          <p:cNvSpPr/>
          <p:nvPr/>
        </p:nvSpPr>
        <p:spPr>
          <a:xfrm>
            <a:off x="1188720" y="1371600"/>
            <a:ext cx="3017520" cy="77724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250" b="1" i="0" dirty="0">
                <a:solidFill>
                  <a:srgbClr val="202020"/>
                </a:solidFill>
                <a:latin typeface="Arial"/>
                <a:cs typeface="Arial"/>
              </a:rPr>
              <a:t>Installer l'environnement</a:t>
            </a:r>
            <a:endParaRPr lang="fr-FR" sz="1250" dirty="0"/>
          </a:p>
          <a:p>
            <a:pPr algn="l">
              <a:lnSpc>
                <a:spcPct val="100000"/>
              </a:lnSpc>
              <a:spcBef>
                <a:spcPts val="200"/>
              </a:spcBef>
              <a:spcAft>
                <a:spcPts val="0"/>
              </a:spcAft>
              <a:buNone/>
            </a:pPr>
            <a:r>
              <a:rPr lang="fr-FR" sz="1050" b="0" i="0" dirty="0">
                <a:solidFill>
                  <a:srgbClr val="616060"/>
                </a:solidFill>
                <a:latin typeface="Arial"/>
                <a:cs typeface="Arial"/>
              </a:rPr>
              <a:t>≈ 5 min</a:t>
            </a:r>
            <a:endParaRPr lang="fr-FR" sz="1050" dirty="0"/>
          </a:p>
        </p:txBody>
      </p:sp>
      <p:sp>
        <p:nvSpPr>
          <p:cNvPr id="12" name="Forme 12"/>
          <p:cNvSpPr/>
          <p:nvPr/>
        </p:nvSpPr>
        <p:spPr>
          <a:xfrm>
            <a:off x="4206240" y="1399032"/>
            <a:ext cx="7525512" cy="731520"/>
          </a:xfrm>
          <a:prstGeom prst="roundRect">
            <a:avLst>
              <a:gd name="adj" fmla="val 6000"/>
            </a:avLst>
          </a:prstGeom>
          <a:solidFill>
            <a:srgbClr val="202020"/>
          </a:solidFill>
          <a:ln>
            <a:noFill/>
          </a:ln>
        </p:spPr>
        <p:txBody>
          <a:bodyPr wrap="square" lIns="164592" tIns="73152" rIns="164592" bIns="73152" anchor="ctr" rtlCol="0">
            <a:noAutofit/>
          </a:bodyPr>
          <a:lstStyle/>
          <a:p>
            <a:pPr algn="l">
              <a:lnSpc>
                <a:spcPct val="105000"/>
              </a:lnSpc>
              <a:spcBef>
                <a:spcPts val="0"/>
              </a:spcBef>
              <a:spcAft>
                <a:spcPts val="0"/>
              </a:spcAft>
              <a:buNone/>
            </a:pPr>
            <a:r>
              <a:rPr lang="fr-FR" sz="1000" b="0" i="0" dirty="0">
                <a:solidFill>
                  <a:srgbClr val="DBF4F4"/>
                </a:solidFill>
                <a:latin typeface="Consolas"/>
                <a:cs typeface="Consolas"/>
              </a:rPr>
              <a:t>python -m venv .venv ; .venv\Scripts\python -m pip install -r requirements.txt</a:t>
            </a:r>
            <a:endParaRPr lang="fr-FR" sz="1000" dirty="0"/>
          </a:p>
        </p:txBody>
      </p:sp>
      <p:sp>
        <p:nvSpPr>
          <p:cNvPr id="13" name="Forme 13"/>
          <p:cNvSpPr/>
          <p:nvPr/>
        </p:nvSpPr>
        <p:spPr>
          <a:xfrm>
            <a:off x="457200" y="2377440"/>
            <a:ext cx="548640" cy="548640"/>
          </a:xfrm>
          <a:prstGeom prst="ellipse">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1800" b="1" i="0" dirty="0">
                <a:solidFill>
                  <a:srgbClr val="FFFFFF"/>
                </a:solidFill>
                <a:latin typeface="Arial"/>
                <a:cs typeface="Arial"/>
              </a:rPr>
              <a:t>2</a:t>
            </a:r>
            <a:endParaRPr lang="fr-FR" sz="1800" dirty="0"/>
          </a:p>
        </p:txBody>
      </p:sp>
      <p:sp>
        <p:nvSpPr>
          <p:cNvPr id="14" name="Forme 14"/>
          <p:cNvSpPr/>
          <p:nvPr/>
        </p:nvSpPr>
        <p:spPr>
          <a:xfrm>
            <a:off x="1188720" y="2267712"/>
            <a:ext cx="3017520" cy="77724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250" b="1" i="0" dirty="0">
                <a:solidFill>
                  <a:srgbClr val="202020"/>
                </a:solidFill>
                <a:latin typeface="Arial"/>
                <a:cs typeface="Arial"/>
              </a:rPr>
              <a:t>Télécharger les sources</a:t>
            </a:r>
            <a:endParaRPr lang="fr-FR" sz="1250" dirty="0"/>
          </a:p>
          <a:p>
            <a:pPr algn="l">
              <a:lnSpc>
                <a:spcPct val="100000"/>
              </a:lnSpc>
              <a:spcBef>
                <a:spcPts val="200"/>
              </a:spcBef>
              <a:spcAft>
                <a:spcPts val="0"/>
              </a:spcAft>
              <a:buNone/>
            </a:pPr>
            <a:r>
              <a:rPr lang="fr-FR" sz="1050" b="0" i="0" dirty="0">
                <a:solidFill>
                  <a:srgbClr val="616060"/>
                </a:solidFill>
                <a:latin typeface="Arial"/>
                <a:cs typeface="Arial"/>
              </a:rPr>
              <a:t>≈ 23 min mesurées · ≈ 4,8 Go</a:t>
            </a:r>
            <a:endParaRPr lang="fr-FR" sz="1050" dirty="0"/>
          </a:p>
        </p:txBody>
      </p:sp>
      <p:sp>
        <p:nvSpPr>
          <p:cNvPr id="15" name="Forme 15"/>
          <p:cNvSpPr/>
          <p:nvPr/>
        </p:nvSpPr>
        <p:spPr>
          <a:xfrm>
            <a:off x="4206240" y="2295144"/>
            <a:ext cx="7525512" cy="731520"/>
          </a:xfrm>
          <a:prstGeom prst="roundRect">
            <a:avLst>
              <a:gd name="adj" fmla="val 6000"/>
            </a:avLst>
          </a:prstGeom>
          <a:solidFill>
            <a:srgbClr val="202020"/>
          </a:solidFill>
          <a:ln>
            <a:noFill/>
          </a:ln>
        </p:spPr>
        <p:txBody>
          <a:bodyPr wrap="square" lIns="164592" tIns="73152" rIns="164592" bIns="73152" anchor="ctr" rtlCol="0">
            <a:noAutofit/>
          </a:bodyPr>
          <a:lstStyle/>
          <a:p>
            <a:pPr algn="l">
              <a:lnSpc>
                <a:spcPct val="105000"/>
              </a:lnSpc>
              <a:spcBef>
                <a:spcPts val="0"/>
              </a:spcBef>
              <a:spcAft>
                <a:spcPts val="0"/>
              </a:spcAft>
              <a:buNone/>
            </a:pPr>
            <a:r>
              <a:rPr lang="fr-FR" sz="1000" b="0" i="0" dirty="0">
                <a:solidFill>
                  <a:srgbClr val="DBF4F4"/>
                </a:solidFill>
                <a:latin typeface="Consolas"/>
                <a:cs typeface="Consolas"/>
              </a:rPr>
              <a:t>.venv\Scripts\python src/ingest/download_all.py --osm region --osm-region rhone-alpes pays-de-la-loire</a:t>
            </a:r>
            <a:endParaRPr lang="fr-FR" sz="1000" dirty="0"/>
          </a:p>
        </p:txBody>
      </p:sp>
      <p:sp>
        <p:nvSpPr>
          <p:cNvPr id="16" name="Forme 16"/>
          <p:cNvSpPr/>
          <p:nvPr/>
        </p:nvSpPr>
        <p:spPr>
          <a:xfrm>
            <a:off x="457200" y="3273552"/>
            <a:ext cx="548640" cy="548640"/>
          </a:xfrm>
          <a:prstGeom prst="ellipse">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1800" b="1" i="0" dirty="0">
                <a:solidFill>
                  <a:srgbClr val="FFFFFF"/>
                </a:solidFill>
                <a:latin typeface="Arial"/>
                <a:cs typeface="Arial"/>
              </a:rPr>
              <a:t>3</a:t>
            </a:r>
            <a:endParaRPr lang="fr-FR" sz="1800" dirty="0"/>
          </a:p>
        </p:txBody>
      </p:sp>
      <p:sp>
        <p:nvSpPr>
          <p:cNvPr id="17" name="Forme 17"/>
          <p:cNvSpPr/>
          <p:nvPr/>
        </p:nvSpPr>
        <p:spPr>
          <a:xfrm>
            <a:off x="1188720" y="3163824"/>
            <a:ext cx="3017520" cy="77724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250" b="1" i="0" dirty="0">
                <a:solidFill>
                  <a:srgbClr val="202020"/>
                </a:solidFill>
                <a:latin typeface="Arial"/>
                <a:cs typeface="Arial"/>
              </a:rPr>
              <a:t>Calculer la France entière</a:t>
            </a:r>
            <a:endParaRPr lang="fr-FR" sz="1250" dirty="0"/>
          </a:p>
          <a:p>
            <a:pPr algn="l">
              <a:lnSpc>
                <a:spcPct val="100000"/>
              </a:lnSpc>
              <a:spcBef>
                <a:spcPts val="200"/>
              </a:spcBef>
              <a:spcAft>
                <a:spcPts val="0"/>
              </a:spcAft>
              <a:buNone/>
            </a:pPr>
            <a:r>
              <a:rPr lang="fr-FR" sz="1050" b="0" i="0" dirty="0">
                <a:solidFill>
                  <a:srgbClr val="616060"/>
                </a:solidFill>
                <a:latin typeface="Arial"/>
                <a:cs typeface="Arial"/>
              </a:rPr>
              <a:t>≈ 7 min 30</a:t>
            </a:r>
            <a:endParaRPr lang="fr-FR" sz="1050" dirty="0"/>
          </a:p>
        </p:txBody>
      </p:sp>
      <p:sp>
        <p:nvSpPr>
          <p:cNvPr id="18" name="Forme 18"/>
          <p:cNvSpPr/>
          <p:nvPr/>
        </p:nvSpPr>
        <p:spPr>
          <a:xfrm>
            <a:off x="4206240" y="3191256"/>
            <a:ext cx="7525512" cy="731520"/>
          </a:xfrm>
          <a:prstGeom prst="roundRect">
            <a:avLst>
              <a:gd name="adj" fmla="val 6000"/>
            </a:avLst>
          </a:prstGeom>
          <a:solidFill>
            <a:srgbClr val="202020"/>
          </a:solidFill>
          <a:ln>
            <a:noFill/>
          </a:ln>
        </p:spPr>
        <p:txBody>
          <a:bodyPr wrap="square" lIns="164592" tIns="73152" rIns="164592" bIns="73152" anchor="ctr" rtlCol="0">
            <a:noAutofit/>
          </a:bodyPr>
          <a:lstStyle/>
          <a:p>
            <a:pPr algn="l">
              <a:lnSpc>
                <a:spcPct val="105000"/>
              </a:lnSpc>
              <a:spcBef>
                <a:spcPts val="0"/>
              </a:spcBef>
              <a:spcAft>
                <a:spcPts val="0"/>
              </a:spcAft>
              <a:buNone/>
            </a:pPr>
            <a:r>
              <a:rPr lang="fr-FR" sz="1000" b="0" i="0" dirty="0">
                <a:solidFill>
                  <a:srgbClr val="DBF4F4"/>
                </a:solidFill>
                <a:latin typeface="Consolas"/>
                <a:cs typeface="Consolas"/>
              </a:rPr>
              <a:t>.venv\Scripts\python -m src.national.build_all</a:t>
            </a:r>
            <a:endParaRPr lang="fr-FR" sz="1000" dirty="0"/>
          </a:p>
        </p:txBody>
      </p:sp>
      <p:sp>
        <p:nvSpPr>
          <p:cNvPr id="19" name="Forme 19"/>
          <p:cNvSpPr/>
          <p:nvPr/>
        </p:nvSpPr>
        <p:spPr>
          <a:xfrm>
            <a:off x="457200" y="4169664"/>
            <a:ext cx="548640" cy="548640"/>
          </a:xfrm>
          <a:prstGeom prst="ellipse">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1800" b="1" i="0" dirty="0">
                <a:solidFill>
                  <a:srgbClr val="FFFFFF"/>
                </a:solidFill>
                <a:latin typeface="Arial"/>
                <a:cs typeface="Arial"/>
              </a:rPr>
              <a:t>4</a:t>
            </a:r>
            <a:endParaRPr lang="fr-FR" sz="1800" dirty="0"/>
          </a:p>
        </p:txBody>
      </p:sp>
      <p:sp>
        <p:nvSpPr>
          <p:cNvPr id="20" name="Forme 20"/>
          <p:cNvSpPr/>
          <p:nvPr/>
        </p:nvSpPr>
        <p:spPr>
          <a:xfrm>
            <a:off x="1188720" y="4059936"/>
            <a:ext cx="3017520" cy="77724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250" b="1" i="0" dirty="0">
                <a:solidFill>
                  <a:srgbClr val="202020"/>
                </a:solidFill>
                <a:latin typeface="Arial"/>
                <a:cs typeface="Arial"/>
              </a:rPr>
              <a:t>Grenoble, puis le modèle</a:t>
            </a:r>
            <a:endParaRPr lang="fr-FR" sz="1250" dirty="0"/>
          </a:p>
          <a:p>
            <a:pPr algn="l">
              <a:lnSpc>
                <a:spcPct val="100000"/>
              </a:lnSpc>
              <a:spcBef>
                <a:spcPts val="200"/>
              </a:spcBef>
              <a:spcAft>
                <a:spcPts val="0"/>
              </a:spcAft>
              <a:buNone/>
            </a:pPr>
            <a:r>
              <a:rPr lang="fr-FR" sz="1050" b="0" i="0" dirty="0">
                <a:solidFill>
                  <a:srgbClr val="616060"/>
                </a:solidFill>
                <a:latin typeface="Arial"/>
                <a:cs typeface="Arial"/>
              </a:rPr>
              <a:t>15 s + variables + 2 min (train)</a:t>
            </a:r>
            <a:endParaRPr lang="fr-FR" sz="1050" dirty="0"/>
          </a:p>
        </p:txBody>
      </p:sp>
      <p:sp>
        <p:nvSpPr>
          <p:cNvPr id="21" name="Forme 21"/>
          <p:cNvSpPr/>
          <p:nvPr/>
        </p:nvSpPr>
        <p:spPr>
          <a:xfrm>
            <a:off x="4206240" y="4087368"/>
            <a:ext cx="7525512" cy="731520"/>
          </a:xfrm>
          <a:prstGeom prst="roundRect">
            <a:avLst>
              <a:gd name="adj" fmla="val 6000"/>
            </a:avLst>
          </a:prstGeom>
          <a:solidFill>
            <a:srgbClr val="202020"/>
          </a:solidFill>
          <a:ln>
            <a:noFill/>
          </a:ln>
        </p:spPr>
        <p:txBody>
          <a:bodyPr wrap="square" lIns="164592" tIns="73152" rIns="164592" bIns="73152" anchor="ctr" rtlCol="0">
            <a:noAutofit/>
          </a:bodyPr>
          <a:lstStyle/>
          <a:p>
            <a:pPr algn="l">
              <a:lnSpc>
                <a:spcPct val="105000"/>
              </a:lnSpc>
              <a:spcBef>
                <a:spcPts val="0"/>
              </a:spcBef>
              <a:spcAft>
                <a:spcPts val="0"/>
              </a:spcAft>
              <a:buNone/>
            </a:pPr>
            <a:r>
              <a:rPr lang="fr-FR" sz="1000" b="0" i="0" dirty="0">
                <a:solidFill>
                  <a:srgbClr val="DBF4F4"/>
                </a:solidFill>
                <a:latin typeface="Consolas"/>
                <a:cs typeface="Consolas"/>
              </a:rPr>
              <a:t>.venv\Scripts\python -m scripts.build_all --ville grenoble ; .venv\Scripts\python -m src.model.features ; .venv\Scripts\python -m src.model.train</a:t>
            </a:r>
            <a:endParaRPr lang="fr-FR" sz="1000" dirty="0"/>
          </a:p>
        </p:txBody>
      </p:sp>
      <p:sp>
        <p:nvSpPr>
          <p:cNvPr id="22" name="Forme 22"/>
          <p:cNvSpPr/>
          <p:nvPr/>
        </p:nvSpPr>
        <p:spPr>
          <a:xfrm>
            <a:off x="457200" y="5065776"/>
            <a:ext cx="548640" cy="548640"/>
          </a:xfrm>
          <a:prstGeom prst="ellipse">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1800" b="1" i="0" dirty="0">
                <a:solidFill>
                  <a:srgbClr val="FFFFFF"/>
                </a:solidFill>
                <a:latin typeface="Arial"/>
                <a:cs typeface="Arial"/>
              </a:rPr>
              <a:t>5</a:t>
            </a:r>
            <a:endParaRPr lang="fr-FR" sz="1800" dirty="0"/>
          </a:p>
        </p:txBody>
      </p:sp>
      <p:sp>
        <p:nvSpPr>
          <p:cNvPr id="23" name="Forme 23"/>
          <p:cNvSpPr/>
          <p:nvPr/>
        </p:nvSpPr>
        <p:spPr>
          <a:xfrm>
            <a:off x="1188720" y="4956048"/>
            <a:ext cx="3017520" cy="777240"/>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250" b="1" i="0" dirty="0">
                <a:solidFill>
                  <a:srgbClr val="202020"/>
                </a:solidFill>
                <a:latin typeface="Arial"/>
                <a:cs typeface="Arial"/>
              </a:rPr>
              <a:t>Nantes et ses recommandations</a:t>
            </a:r>
            <a:endParaRPr lang="fr-FR" sz="1250" dirty="0"/>
          </a:p>
          <a:p>
            <a:pPr algn="l">
              <a:lnSpc>
                <a:spcPct val="100000"/>
              </a:lnSpc>
              <a:spcBef>
                <a:spcPts val="200"/>
              </a:spcBef>
              <a:spcAft>
                <a:spcPts val="0"/>
              </a:spcAft>
              <a:buNone/>
            </a:pPr>
            <a:r>
              <a:rPr lang="fr-FR" sz="1050" b="0" i="0" dirty="0">
                <a:solidFill>
                  <a:srgbClr val="616060"/>
                </a:solidFill>
                <a:latin typeface="Arial"/>
                <a:cs typeface="Arial"/>
              </a:rPr>
              <a:t>≈ 2 min 30</a:t>
            </a:r>
            <a:endParaRPr lang="fr-FR" sz="1050" dirty="0"/>
          </a:p>
        </p:txBody>
      </p:sp>
      <p:sp>
        <p:nvSpPr>
          <p:cNvPr id="24" name="Forme 24"/>
          <p:cNvSpPr/>
          <p:nvPr/>
        </p:nvSpPr>
        <p:spPr>
          <a:xfrm>
            <a:off x="4206240" y="4983480"/>
            <a:ext cx="7525512" cy="731520"/>
          </a:xfrm>
          <a:prstGeom prst="roundRect">
            <a:avLst>
              <a:gd name="adj" fmla="val 6000"/>
            </a:avLst>
          </a:prstGeom>
          <a:solidFill>
            <a:srgbClr val="202020"/>
          </a:solidFill>
          <a:ln>
            <a:noFill/>
          </a:ln>
        </p:spPr>
        <p:txBody>
          <a:bodyPr wrap="square" lIns="164592" tIns="73152" rIns="164592" bIns="73152" anchor="ctr" rtlCol="0">
            <a:noAutofit/>
          </a:bodyPr>
          <a:lstStyle/>
          <a:p>
            <a:pPr algn="l">
              <a:lnSpc>
                <a:spcPct val="105000"/>
              </a:lnSpc>
              <a:spcBef>
                <a:spcPts val="0"/>
              </a:spcBef>
              <a:spcAft>
                <a:spcPts val="0"/>
              </a:spcAft>
              <a:buNone/>
            </a:pPr>
            <a:r>
              <a:rPr lang="fr-FR" sz="1000" b="0" i="0" dirty="0">
                <a:solidFill>
                  <a:srgbClr val="DBF4F4"/>
                </a:solidFill>
                <a:latin typeface="Consolas"/>
                <a:cs typeface="Consolas"/>
              </a:rPr>
              <a:t>.venv\Scripts\python -m scripts.build_all --ville nantes</a:t>
            </a:r>
            <a:endParaRPr lang="fr-FR" sz="1000" dirty="0"/>
          </a:p>
        </p:txBody>
      </p:sp>
      <p:sp>
        <p:nvSpPr>
          <p:cNvPr id="25" name="Forme 25"/>
          <p:cNvSpPr/>
          <p:nvPr/>
        </p:nvSpPr>
        <p:spPr>
          <a:xfrm>
            <a:off x="457200" y="5870448"/>
            <a:ext cx="11274552" cy="457200"/>
          </a:xfrm>
          <a:prstGeom prst="roundRect">
            <a:avLst>
              <a:gd name="adj" fmla="val 10000"/>
            </a:avLst>
          </a:prstGeom>
          <a:solidFill>
            <a:srgbClr val="DBF4F4"/>
          </a:solidFill>
          <a:ln>
            <a:noFill/>
          </a:ln>
        </p:spPr>
        <p:txBody>
          <a:bodyPr wrap="square" lIns="228600" tIns="27432" rIns="182880" bIns="27432" anchor="ctr" rtlCol="0">
            <a:noAutofit/>
          </a:bodyPr>
          <a:lstStyle/>
          <a:p>
            <a:pPr algn="l">
              <a:lnSpc>
                <a:spcPct val="100000"/>
              </a:lnSpc>
              <a:spcBef>
                <a:spcPts val="0"/>
              </a:spcBef>
              <a:spcAft>
                <a:spcPts val="0"/>
              </a:spcAft>
              <a:buNone/>
            </a:pPr>
            <a:r>
              <a:rPr lang="fr-FR" sz="1050" b="0" i="0" dirty="0">
                <a:solidFill>
                  <a:srgbClr val="202020"/>
                </a:solidFill>
                <a:latin typeface="Arial"/>
                <a:cs typeface="Arial"/>
              </a:rPr>
              <a:t>Ensuite : </a:t>
            </a:r>
            <a:r>
              <a:rPr lang="fr-FR" sz="1050" b="0" i="0" dirty="0">
                <a:solidFill>
                  <a:srgbClr val="20A4B0"/>
                </a:solidFill>
                <a:latin typeface="Consolas"/>
                <a:cs typeface="Consolas"/>
              </a:rPr>
              <a:t>check_data.py --deep</a:t>
            </a:r>
            <a:r>
              <a:rPr lang="fr-FR" sz="1050" b="0" i="0" dirty="0">
                <a:solidFill>
                  <a:srgbClr val="202020"/>
                </a:solidFill>
                <a:latin typeface="Arial"/>
                <a:cs typeface="Arial"/>
              </a:rPr>
              <a:t> conseillé après l'étape 2 · </a:t>
            </a:r>
            <a:r>
              <a:rPr lang="fr-FR" sz="1050" b="0" i="0" dirty="0">
                <a:solidFill>
                  <a:srgbClr val="20A4B0"/>
                </a:solidFill>
                <a:latin typeface="Consolas"/>
                <a:cs typeface="Consolas"/>
              </a:rPr>
              <a:t>lancer_demo.bat</a:t>
            </a:r>
            <a:r>
              <a:rPr lang="fr-FR" sz="1050" b="0" i="0" dirty="0">
                <a:solidFill>
                  <a:srgbClr val="202020"/>
                </a:solidFill>
                <a:latin typeface="Arial"/>
                <a:cs typeface="Arial"/>
              </a:rPr>
              <a:t> pour l'appli · l'historique Citiz (</a:t>
            </a:r>
            <a:r>
              <a:rPr lang="fr-FR" sz="1050" b="0" i="0" dirty="0">
                <a:solidFill>
                  <a:srgbClr val="20A4B0"/>
                </a:solidFill>
                <a:latin typeface="Consolas"/>
                <a:cs typeface="Consolas"/>
              </a:rPr>
              <a:t>gbfs_history</a:t>
            </a:r>
            <a:r>
              <a:rPr lang="fr-FR" sz="1050" b="0" i="0" dirty="0">
                <a:solidFill>
                  <a:srgbClr val="202020"/>
                </a:solidFill>
                <a:latin typeface="Arial"/>
                <a:cs typeface="Arial"/>
              </a:rPr>
              <a:t>) ne se retélécharge pas.</a:t>
            </a:r>
            <a:endParaRPr lang="fr-FR" sz="1050" dirty="0"/>
          </a:p>
        </p:txBody>
      </p:sp>
      <p:pic>
        <p:nvPicPr>
          <p:cNvPr id="9022"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20A4B0"/>
                </a:solidFill>
                <a:latin typeface="Arial"/>
                <a:cs typeface="Arial"/>
              </a:rPr>
              <a:t>PARTIE 6 · LES TABLES PRODUITES</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Les tables lues par l'application</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Toutes dans data/processed/ (jamais versionné) ; nombres de lignes lus dans les fichiers le 21/10/2026.</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23</a:t>
            </a:r>
            <a:endParaRPr lang="fr-FR" sz="900" dirty="0"/>
          </a:p>
        </p:txBody>
      </p:sp>
      <p:graphicFrame>
        <p:nvGraphicFramePr>
          <p:cNvPr id="10" name="Tableau 10"/>
          <p:cNvGraphicFramePr>
            <a:graphicFrameLocks noGrp="1"/>
          </p:cNvGraphicFramePr>
          <p:nvPr/>
        </p:nvGraphicFramePr>
        <p:xfrm>
          <a:off x="457200" y="1371600"/>
          <a:ext cx="11274552" cy="4754880"/>
        </p:xfrm>
        <a:graphic>
          <a:graphicData uri="http://schemas.openxmlformats.org/drawingml/2006/table">
            <a:tbl>
              <a:tblPr firstRow="1" bandRow="1"/>
              <a:tblGrid>
                <a:gridCol w="2971800"/>
                <a:gridCol w="2514600"/>
                <a:gridCol w="3291840"/>
                <a:gridCol w="1051560"/>
                <a:gridCol w="1444752"/>
              </a:tblGrid>
              <a:tr h="365760">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FFFFFF"/>
                          </a:solidFill>
                          <a:latin typeface="Arial"/>
                          <a:cs typeface="Arial"/>
                        </a:rPr>
                        <a:t>Fichier</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20A4B0"/>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FFFFFF"/>
                          </a:solidFill>
                          <a:latin typeface="Arial"/>
                          <a:cs typeface="Arial"/>
                        </a:rPr>
                        <a:t>Contenu</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20A4B0"/>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FFFFFF"/>
                          </a:solidFill>
                          <a:latin typeface="Arial"/>
                          <a:cs typeface="Arial"/>
                        </a:rPr>
                        <a:t>Colonnes principales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20A4B0"/>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FFFFFF"/>
                          </a:solidFill>
                          <a:latin typeface="Arial"/>
                          <a:cs typeface="Arial"/>
                        </a:rPr>
                        <a:t>Lignes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20A4B0"/>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FFFFFF"/>
                          </a:solidFill>
                          <a:latin typeface="Arial"/>
                          <a:cs typeface="Arial"/>
                        </a:rPr>
                        <a:t>Produit par</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20A4B0"/>
                    </a:solidFill>
                  </a:tcPr>
                </a:tc>
              </a:tr>
              <a:tr h="365760">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national/app/departements.parquet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départements + indicateurs (carte France)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dep, nom, population, part_pop_sans_option, part_pop_citiz_5min</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101</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national/app_files.py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65760">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national/app/epci.parquet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intercommunalités + classement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code_epci, nom, population, stations_citiz, autopartage_10k_hab</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1 238</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app_files.py + ranking.py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65760">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national/app/dep/&lt;dep&gt;_carreaux.parquet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carreaux ≥ 11 ménages d'un département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idcar_200m, pop_calee, n_options, n_tc, n_citiz, acces_1000</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44 : 12 812</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app_files.py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65760">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national/app/dep/&lt;dep&gt;_iris.parquet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IRIS d'un département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code_iris, nom_iris, population, part_pop_sans_option</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44 : 506</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app_files.py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65760">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&lt;ville&gt;/cells.parquet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carreaux habités de la ville (carte)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population, menages, n_options, score_acces, priorite_equite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6 739 · 4 285</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optim/build_reco.py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65760">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&lt;ville&gt;/iris.parquet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quartiers IRIS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code_iris, nom, population, n_options, score_acces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234 · 200</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optim/build_reco.py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65760">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&lt;ville&gt;/offer_served.parquet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offre dédoublonnée + habitants desservis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type, nom, passages_jour, pop_desservie, pop_seule_option</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2 042 · 2 718</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features/served.py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65760">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&lt;ville&gt;/served_by_type.csv</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synthèse par mode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type, points_dans_zone, pop_desservie, part_pop_desservie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7 · 7</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features/served.py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65760">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&lt;ville&gt;/access_comparaison.json</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V1 contre V2</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part_pop_au_moins_1_option, surestimation_options_moyennes_pct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features/build_access.py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65760">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nantes/candidates.parquet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emplacements candidats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nom, type, cout, usage_predit, dist_autopartage_m, surcout_risque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7 871</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optim/build_reco.py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65760">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nantes/coverage.npz</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qui couvre qui : carreaux × candidats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matrice 0/1 (6 739 × 7 871, 30 471 liens)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optim/build_reco.py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65760">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&lt;ville&gt;/meta.json · model/validation.json</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date, jour type, version · scores du modèle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jour_type_gtfs, version_acces · auc, top_20pct, par_reseau</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build_reco.py · model/train.py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bl>
          </a:graphicData>
        </a:graphic>
      </p:graphicFrame>
      <p:sp>
        <p:nvSpPr>
          <p:cNvPr id="11" name="Forme 11"/>
          <p:cNvSpPr/>
          <p:nvPr/>
        </p:nvSpPr>
        <p:spPr>
          <a:xfrm>
            <a:off x="457200" y="6199632"/>
            <a:ext cx="11247120" cy="22860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50" b="0" i="1" dirty="0">
                <a:solidFill>
                  <a:srgbClr val="616060"/>
                </a:solidFill>
                <a:latin typeface="Arial"/>
                <a:cs typeface="Arial"/>
              </a:rPr>
              <a:t>Lignes : Nantes · Grenoble. « 44 » = Loire-Atlantique, exemple d'un fichier départemental (98 départements au total).</a:t>
            </a:r>
            <a:endParaRPr lang="fr-FR" sz="950" dirty="0"/>
          </a:p>
        </p:txBody>
      </p:sp>
      <p:pic>
        <p:nvPicPr>
          <p:cNvPr id="9023"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20A4B0"/>
                </a:solidFill>
                <a:latin typeface="Arial"/>
                <a:cs typeface="Arial"/>
              </a:rPr>
              <a:t>PARTIE 6 · LES TABLES PRODUITES</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Les tables intermédiaires (Silver et Gold)</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Elles ne sont pas lues par l'appli, mais tout le reste en découle.</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24</a:t>
            </a:r>
            <a:endParaRPr lang="fr-FR" sz="900" dirty="0"/>
          </a:p>
        </p:txBody>
      </p:sp>
      <p:graphicFrame>
        <p:nvGraphicFramePr>
          <p:cNvPr id="10" name="Tableau 10"/>
          <p:cNvGraphicFramePr>
            <a:graphicFrameLocks noGrp="1"/>
          </p:cNvGraphicFramePr>
          <p:nvPr/>
        </p:nvGraphicFramePr>
        <p:xfrm>
          <a:off x="457200" y="1371600"/>
          <a:ext cx="11274552" cy="4325112"/>
        </p:xfrm>
        <a:graphic>
          <a:graphicData uri="http://schemas.openxmlformats.org/drawingml/2006/table">
            <a:tbl>
              <a:tblPr firstRow="1" bandRow="1"/>
              <a:tblGrid>
                <a:gridCol w="2880360"/>
                <a:gridCol w="2286000"/>
                <a:gridCol w="3291840"/>
                <a:gridCol w="1234440"/>
                <a:gridCol w="1581912"/>
              </a:tblGrid>
              <a:tr h="393192">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FFFFFF"/>
                          </a:solidFill>
                          <a:latin typeface="Arial"/>
                          <a:cs typeface="Arial"/>
                        </a:rPr>
                        <a:t>Fichier</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20A4B0"/>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FFFFFF"/>
                          </a:solidFill>
                          <a:latin typeface="Arial"/>
                          <a:cs typeface="Arial"/>
                        </a:rPr>
                        <a:t>Contenu</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20A4B0"/>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FFFFFF"/>
                          </a:solidFill>
                          <a:latin typeface="Arial"/>
                          <a:cs typeface="Arial"/>
                        </a:rPr>
                        <a:t>Colonnes principales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20A4B0"/>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FFFFFF"/>
                          </a:solidFill>
                          <a:latin typeface="Arial"/>
                          <a:cs typeface="Arial"/>
                        </a:rPr>
                        <a:t>Lignes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20A4B0"/>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1" i="0" dirty="0">
                          <a:solidFill>
                            <a:srgbClr val="FFFFFF"/>
                          </a:solidFill>
                          <a:latin typeface="Arial"/>
                          <a:cs typeface="Arial"/>
                        </a:rPr>
                        <a:t>Produit par</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20A4B0"/>
                    </a:solidFill>
                  </a:tcPr>
                </a:tc>
              </a:tr>
              <a:tr h="393192">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&lt;ville&gt;/zone.gpkg</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communes de la zone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code_insee, nom, population, date_du_recensement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24 · 49</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ingest/zone.py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93192">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&lt;ville&gt;/population.parquet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carreaux Filosofi calés + motorisation</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idcar_200m, ind, men, pop_calee, ratio_calage, part_sans_voiture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6 739 · 4 285</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ingest/population.py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93192">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&lt;ville&gt;/offer.parquet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offre unifiée et dédoublonnée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id, type, sous_type, nom, source, capacite, passages_jour, n_fusionnes, dans_zone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2 042 · 2 718</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ingest/offer.py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93192">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&lt;ville&gt;/access_cells.parquet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indicateurs par carreau</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n_options_v1 / v2, n_points, acces_1000 (2SFCA), n_&lt;mode&gt;_v2</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6 739 · 4 285</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features/build_access.py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93192">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&lt;ville&gt;/coverage_v1.npz · coverage_v2.npz</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carreaux × offre à 5 min (0/1)</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Nantes V2 : 10 013 liens ; V1 : 20 461</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features/build_access.py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93192">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model/features.parquet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28 colonnes par carreau (métropole)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densite_400m / 800m, niveau_vie, part_sans_voiture, bpe_*_400m, vols_vehicules_1000</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2 298 581</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model/features.py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93192">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model/predictions.parquet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probabilité d'une station Citiz</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cible_citiz_400m, proba, proba_oof</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2 298 581</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model/train.py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93192">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nantes/recommandations_*.csv</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listes priorisées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glouton / ILP × 250 k, 500 k, 1 M € × V1 / V2</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12 fichiers</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optim/build_reco.py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r h="393192">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national/offer.parquet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offre de toute la France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type, source, passages_jour, territoire, dep</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231 092</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national/offer.py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393192">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national/agg_{iris, commune, epci, departement}</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agrégats France</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population, part_pop_sans_option, part_pop_citiz_5min</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48 891 · 34 801 · 1 239 · 98</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c>
                  <a:txBody>
                    <a:bodyPr wrap="square" lIns="109728" tIns="54864" rIns="109728" bIns="54864" anchor="t" rtlCol="0">
                      <a:noAutofit/>
                    </a:bodyPr>
                    <a:lstStyle/>
                    <a:p>
                      <a:pPr algn="l">
                        <a:lnSpc>
                          <a:spcPct val="95000"/>
                        </a:lnSpc>
                        <a:spcBef>
                          <a:spcPts val="0"/>
                        </a:spcBef>
                        <a:spcAft>
                          <a:spcPts val="0"/>
                        </a:spcAft>
                        <a:buNone/>
                      </a:pPr>
                      <a:r>
                        <a:rPr lang="fr-FR" sz="900" b="0" i="0" dirty="0">
                          <a:solidFill>
                            <a:srgbClr val="202020"/>
                          </a:solidFill>
                          <a:latin typeface="Arial"/>
                          <a:cs typeface="Arial"/>
                        </a:rPr>
                        <a:t>national/access.py</a:t>
                      </a:r>
                      <a:endParaRPr lang="fr-FR" sz="9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5F5F5"/>
                    </a:solidFill>
                  </a:tcPr>
                </a:tc>
              </a:tr>
            </a:tbl>
          </a:graphicData>
        </a:graphic>
      </p:graphicFrame>
      <p:pic>
        <p:nvPicPr>
          <p:cNvPr id="9024"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20A4B0"/>
                </a:solidFill>
                <a:latin typeface="Arial"/>
                <a:cs typeface="Arial"/>
              </a:rPr>
              <a:t>PARTIE 6 · LES TABLES PRODUITES</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Ce que l'application fait de ces tables</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Onglet « Où investir ? », scénario démo 500 000 € à Nantes.</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25</a:t>
            </a:r>
            <a:endParaRPr lang="fr-FR" sz="900" dirty="0"/>
          </a:p>
        </p:txBody>
      </p:sp>
      <p:pic>
        <p:nvPicPr>
          <p:cNvPr id="10" name="Image 10"/>
          <p:cNvPicPr>
            <a:picLocks noChangeAspect="1"/>
          </p:cNvPicPr>
          <p:nvPr/>
        </p:nvPicPr>
        <p:blipFill>
          <a:blip r:embed="rId2"/>
          <a:stretch>
            <a:fillRect/>
          </a:stretch>
        </p:blipFill>
        <p:spPr>
          <a:xfrm>
            <a:off x="457200" y="1371600"/>
            <a:ext cx="7223760" cy="4514850"/>
          </a:xfrm>
          <a:prstGeom prst="rect">
            <a:avLst/>
          </a:prstGeom>
          <a:ln w="9525">
            <a:solidFill>
              <a:srgbClr val="EAEAEA"/>
            </a:solidFill>
          </a:ln>
        </p:spPr>
      </p:pic>
      <p:sp>
        <p:nvSpPr>
          <p:cNvPr id="11" name="Forme 11"/>
          <p:cNvSpPr/>
          <p:nvPr/>
        </p:nvSpPr>
        <p:spPr>
          <a:xfrm>
            <a:off x="7909560" y="1371600"/>
            <a:ext cx="3822192" cy="676656"/>
          </a:xfrm>
          <a:prstGeom prst="roundRect">
            <a:avLst>
              <a:gd name="adj" fmla="val 8000"/>
            </a:avLst>
          </a:prstGeom>
          <a:solidFill>
            <a:srgbClr val="DBF4F4"/>
          </a:solidFill>
          <a:ln>
            <a:noFill/>
          </a:ln>
        </p:spPr>
        <p:txBody>
          <a:bodyPr wrap="square" lIns="137160" tIns="27432" rIns="91440" bIns="27432" anchor="ctr" rtlCol="0">
            <a:noAutofit/>
          </a:bodyPr>
          <a:lstStyle/>
          <a:p>
            <a:pPr algn="l">
              <a:lnSpc>
                <a:spcPct val="100000"/>
              </a:lnSpc>
              <a:spcBef>
                <a:spcPts val="0"/>
              </a:spcBef>
              <a:spcAft>
                <a:spcPts val="0"/>
              </a:spcAft>
              <a:buNone/>
            </a:pPr>
            <a:r>
              <a:rPr lang="fr-FR" sz="1000" b="0" i="0" dirty="0">
                <a:solidFill>
                  <a:srgbClr val="20A4B0"/>
                </a:solidFill>
                <a:latin typeface="Consolas"/>
                <a:cs typeface="Consolas"/>
              </a:rPr>
              <a:t>cells.parquet</a:t>
            </a:r>
            <a:endParaRPr lang="fr-FR" sz="1000" dirty="0"/>
          </a:p>
          <a:p>
            <a:pPr algn="l">
              <a:lnSpc>
                <a:spcPct val="100000"/>
              </a:lnSpc>
              <a:spcBef>
                <a:spcPts val="100"/>
              </a:spcBef>
              <a:spcAft>
                <a:spcPts val="0"/>
              </a:spcAft>
              <a:buNone/>
            </a:pPr>
            <a:r>
              <a:rPr lang="fr-FR" sz="1000" b="0" i="0" dirty="0">
                <a:solidFill>
                  <a:srgbClr val="616060"/>
                </a:solidFill>
                <a:latin typeface="Arial"/>
                <a:cs typeface="Arial"/>
              </a:rPr>
              <a:t>la carte des carreaux (≥ 11 ménages)</a:t>
            </a:r>
            <a:endParaRPr lang="fr-FR" sz="1000" dirty="0"/>
          </a:p>
        </p:txBody>
      </p:sp>
      <p:sp>
        <p:nvSpPr>
          <p:cNvPr id="12" name="Forme 12"/>
          <p:cNvSpPr/>
          <p:nvPr/>
        </p:nvSpPr>
        <p:spPr>
          <a:xfrm>
            <a:off x="7909560" y="2139696"/>
            <a:ext cx="3822192" cy="676656"/>
          </a:xfrm>
          <a:prstGeom prst="roundRect">
            <a:avLst>
              <a:gd name="adj" fmla="val 8000"/>
            </a:avLst>
          </a:prstGeom>
          <a:solidFill>
            <a:srgbClr val="DBF4F4"/>
          </a:solidFill>
          <a:ln>
            <a:noFill/>
          </a:ln>
        </p:spPr>
        <p:txBody>
          <a:bodyPr wrap="square" lIns="137160" tIns="27432" rIns="91440" bIns="27432" anchor="ctr" rtlCol="0">
            <a:noAutofit/>
          </a:bodyPr>
          <a:lstStyle/>
          <a:p>
            <a:pPr algn="l">
              <a:lnSpc>
                <a:spcPct val="100000"/>
              </a:lnSpc>
              <a:spcBef>
                <a:spcPts val="0"/>
              </a:spcBef>
              <a:spcAft>
                <a:spcPts val="0"/>
              </a:spcAft>
              <a:buNone/>
            </a:pPr>
            <a:r>
              <a:rPr lang="fr-FR" sz="1000" b="0" i="0" dirty="0">
                <a:solidFill>
                  <a:srgbClr val="20A4B0"/>
                </a:solidFill>
                <a:latin typeface="Consolas"/>
                <a:cs typeface="Consolas"/>
              </a:rPr>
              <a:t>candidates.parquet + coverage.npz</a:t>
            </a:r>
            <a:endParaRPr lang="fr-FR" sz="1000" dirty="0"/>
          </a:p>
          <a:p>
            <a:pPr algn="l">
              <a:lnSpc>
                <a:spcPct val="100000"/>
              </a:lnSpc>
              <a:spcBef>
                <a:spcPts val="100"/>
              </a:spcBef>
              <a:spcAft>
                <a:spcPts val="0"/>
              </a:spcAft>
              <a:buNone/>
            </a:pPr>
            <a:r>
              <a:rPr lang="fr-FR" sz="1000" b="0" i="0" dirty="0">
                <a:solidFill>
                  <a:srgbClr val="616060"/>
                </a:solidFill>
                <a:latin typeface="Arial"/>
                <a:cs typeface="Arial"/>
              </a:rPr>
              <a:t>l'optimiseur choisit parmi 7 871 candidats, en direct</a:t>
            </a:r>
            <a:endParaRPr lang="fr-FR" sz="1000" dirty="0"/>
          </a:p>
        </p:txBody>
      </p:sp>
      <p:sp>
        <p:nvSpPr>
          <p:cNvPr id="13" name="Forme 13"/>
          <p:cNvSpPr/>
          <p:nvPr/>
        </p:nvSpPr>
        <p:spPr>
          <a:xfrm>
            <a:off x="7909560" y="2907792"/>
            <a:ext cx="3822192" cy="676656"/>
          </a:xfrm>
          <a:prstGeom prst="roundRect">
            <a:avLst>
              <a:gd name="adj" fmla="val 8000"/>
            </a:avLst>
          </a:prstGeom>
          <a:solidFill>
            <a:srgbClr val="DBF4F4"/>
          </a:solidFill>
          <a:ln>
            <a:noFill/>
          </a:ln>
        </p:spPr>
        <p:txBody>
          <a:bodyPr wrap="square" lIns="137160" tIns="27432" rIns="91440" bIns="27432" anchor="ctr" rtlCol="0">
            <a:noAutofit/>
          </a:bodyPr>
          <a:lstStyle/>
          <a:p>
            <a:pPr algn="l">
              <a:lnSpc>
                <a:spcPct val="100000"/>
              </a:lnSpc>
              <a:spcBef>
                <a:spcPts val="0"/>
              </a:spcBef>
              <a:spcAft>
                <a:spcPts val="0"/>
              </a:spcAft>
              <a:buNone/>
            </a:pPr>
            <a:r>
              <a:rPr lang="fr-FR" sz="1000" b="0" i="0" dirty="0">
                <a:solidFill>
                  <a:srgbClr val="20A4B0"/>
                </a:solidFill>
                <a:latin typeface="Consolas"/>
                <a:cs typeface="Consolas"/>
              </a:rPr>
              <a:t>model/predictions.parquet → usage_predit</a:t>
            </a:r>
            <a:endParaRPr lang="fr-FR" sz="1000" dirty="0"/>
          </a:p>
          <a:p>
            <a:pPr algn="l">
              <a:lnSpc>
                <a:spcPct val="100000"/>
              </a:lnSpc>
              <a:spcBef>
                <a:spcPts val="100"/>
              </a:spcBef>
              <a:spcAft>
                <a:spcPts val="0"/>
              </a:spcAft>
              <a:buNone/>
            </a:pPr>
            <a:r>
              <a:rPr lang="fr-FR" sz="1000" b="0" i="0" dirty="0">
                <a:solidFill>
                  <a:srgbClr val="616060"/>
                </a:solidFill>
                <a:latin typeface="Arial"/>
                <a:cs typeface="Arial"/>
              </a:rPr>
              <a:t>la probabilité qu'une station fonctionne</a:t>
            </a:r>
            <a:endParaRPr lang="fr-FR" sz="1000" dirty="0"/>
          </a:p>
        </p:txBody>
      </p:sp>
      <p:sp>
        <p:nvSpPr>
          <p:cNvPr id="14" name="Forme 14"/>
          <p:cNvSpPr/>
          <p:nvPr/>
        </p:nvSpPr>
        <p:spPr>
          <a:xfrm>
            <a:off x="7909560" y="3675888"/>
            <a:ext cx="3822192" cy="676656"/>
          </a:xfrm>
          <a:prstGeom prst="roundRect">
            <a:avLst>
              <a:gd name="adj" fmla="val 8000"/>
            </a:avLst>
          </a:prstGeom>
          <a:solidFill>
            <a:srgbClr val="DBF4F4"/>
          </a:solidFill>
          <a:ln>
            <a:noFill/>
          </a:ln>
        </p:spPr>
        <p:txBody>
          <a:bodyPr wrap="square" lIns="137160" tIns="27432" rIns="91440" bIns="27432" anchor="ctr" rtlCol="0">
            <a:noAutofit/>
          </a:bodyPr>
          <a:lstStyle/>
          <a:p>
            <a:pPr algn="l">
              <a:lnSpc>
                <a:spcPct val="100000"/>
              </a:lnSpc>
              <a:spcBef>
                <a:spcPts val="0"/>
              </a:spcBef>
              <a:spcAft>
                <a:spcPts val="0"/>
              </a:spcAft>
              <a:buNone/>
            </a:pPr>
            <a:r>
              <a:rPr lang="fr-FR" sz="1000" b="0" i="0" dirty="0">
                <a:solidFill>
                  <a:srgbClr val="20A4B0"/>
                </a:solidFill>
                <a:latin typeface="Consolas"/>
                <a:cs typeface="Consolas"/>
              </a:rPr>
              <a:t>costs.yaml + SSMSI → cout, surcout_risque</a:t>
            </a:r>
            <a:endParaRPr lang="fr-FR" sz="1000" dirty="0"/>
          </a:p>
          <a:p>
            <a:pPr algn="l">
              <a:lnSpc>
                <a:spcPct val="100000"/>
              </a:lnSpc>
              <a:spcBef>
                <a:spcPts val="100"/>
              </a:spcBef>
              <a:spcAft>
                <a:spcPts val="0"/>
              </a:spcAft>
              <a:buNone/>
            </a:pPr>
            <a:r>
              <a:rPr lang="fr-FR" sz="1000" b="0" i="0" dirty="0">
                <a:solidFill>
                  <a:srgbClr val="616060"/>
                </a:solidFill>
                <a:latin typeface="Arial"/>
                <a:cs typeface="Arial"/>
              </a:rPr>
              <a:t>le coût de chaque station sur 3 ans</a:t>
            </a:r>
            <a:endParaRPr lang="fr-FR" sz="1000" dirty="0"/>
          </a:p>
        </p:txBody>
      </p:sp>
      <p:sp>
        <p:nvSpPr>
          <p:cNvPr id="15" name="Forme 15"/>
          <p:cNvSpPr/>
          <p:nvPr/>
        </p:nvSpPr>
        <p:spPr>
          <a:xfrm>
            <a:off x="7909560" y="4443984"/>
            <a:ext cx="3822192" cy="676656"/>
          </a:xfrm>
          <a:prstGeom prst="roundRect">
            <a:avLst>
              <a:gd name="adj" fmla="val 8000"/>
            </a:avLst>
          </a:prstGeom>
          <a:solidFill>
            <a:srgbClr val="DBF4F4"/>
          </a:solidFill>
          <a:ln>
            <a:noFill/>
          </a:ln>
        </p:spPr>
        <p:txBody>
          <a:bodyPr wrap="square" lIns="137160" tIns="27432" rIns="91440" bIns="27432" anchor="ctr" rtlCol="0">
            <a:noAutofit/>
          </a:bodyPr>
          <a:lstStyle/>
          <a:p>
            <a:pPr algn="l">
              <a:lnSpc>
                <a:spcPct val="100000"/>
              </a:lnSpc>
              <a:spcBef>
                <a:spcPts val="0"/>
              </a:spcBef>
              <a:spcAft>
                <a:spcPts val="0"/>
              </a:spcAft>
              <a:buNone/>
            </a:pPr>
            <a:r>
              <a:rPr lang="fr-FR" sz="1000" b="0" i="0" dirty="0">
                <a:solidFill>
                  <a:srgbClr val="20A4B0"/>
                </a:solidFill>
                <a:latin typeface="Consolas"/>
                <a:cs typeface="Consolas"/>
              </a:rPr>
              <a:t>meta.json</a:t>
            </a:r>
            <a:endParaRPr lang="fr-FR" sz="1000" dirty="0"/>
          </a:p>
          <a:p>
            <a:pPr algn="l">
              <a:lnSpc>
                <a:spcPct val="100000"/>
              </a:lnSpc>
              <a:spcBef>
                <a:spcPts val="100"/>
              </a:spcBef>
              <a:spcAft>
                <a:spcPts val="0"/>
              </a:spcAft>
              <a:buNone/>
            </a:pPr>
            <a:r>
              <a:rPr lang="fr-FR" sz="1000" b="0" i="0" dirty="0">
                <a:solidFill>
                  <a:srgbClr val="616060"/>
                </a:solidFill>
                <a:latin typeface="Arial"/>
                <a:cs typeface="Arial"/>
              </a:rPr>
              <a:t>la date, le jour type, la version V2 affichés</a:t>
            </a:r>
            <a:endParaRPr lang="fr-FR" sz="1000" dirty="0"/>
          </a:p>
        </p:txBody>
      </p:sp>
      <p:sp>
        <p:nvSpPr>
          <p:cNvPr id="16" name="Forme 16"/>
          <p:cNvSpPr/>
          <p:nvPr/>
        </p:nvSpPr>
        <p:spPr>
          <a:xfrm>
            <a:off x="7909560" y="5212080"/>
            <a:ext cx="3822192" cy="676656"/>
          </a:xfrm>
          <a:prstGeom prst="roundRect">
            <a:avLst>
              <a:gd name="adj" fmla="val 8000"/>
            </a:avLst>
          </a:prstGeom>
          <a:solidFill>
            <a:srgbClr val="DBF4F4"/>
          </a:solidFill>
          <a:ln>
            <a:noFill/>
          </a:ln>
        </p:spPr>
        <p:txBody>
          <a:bodyPr wrap="square" lIns="137160" tIns="27432" rIns="91440" bIns="27432" anchor="ctr" rtlCol="0">
            <a:noAutofit/>
          </a:bodyPr>
          <a:lstStyle/>
          <a:p>
            <a:pPr algn="l">
              <a:lnSpc>
                <a:spcPct val="100000"/>
              </a:lnSpc>
              <a:spcBef>
                <a:spcPts val="0"/>
              </a:spcBef>
              <a:spcAft>
                <a:spcPts val="0"/>
              </a:spcAft>
              <a:buNone/>
            </a:pPr>
            <a:r>
              <a:rPr lang="fr-FR" sz="1000" b="0" i="0" dirty="0">
                <a:solidFill>
                  <a:srgbClr val="20A4B0"/>
                </a:solidFill>
                <a:latin typeface="Consolas"/>
                <a:cs typeface="Consolas"/>
              </a:rPr>
              <a:t>recommandations_*.csv</a:t>
            </a:r>
            <a:endParaRPr lang="fr-FR" sz="1000" dirty="0"/>
          </a:p>
          <a:p>
            <a:pPr algn="l">
              <a:lnSpc>
                <a:spcPct val="100000"/>
              </a:lnSpc>
              <a:spcBef>
                <a:spcPts val="100"/>
              </a:spcBef>
              <a:spcAft>
                <a:spcPts val="0"/>
              </a:spcAft>
              <a:buNone/>
            </a:pPr>
            <a:r>
              <a:rPr lang="fr-FR" sz="1000" b="0" i="0" dirty="0">
                <a:solidFill>
                  <a:srgbClr val="616060"/>
                </a:solidFill>
                <a:latin typeface="Arial"/>
                <a:cs typeface="Arial"/>
              </a:rPr>
              <a:t>les scénarios précalculés (démo instantanée)</a:t>
            </a:r>
            <a:endParaRPr lang="fr-FR" sz="1000" dirty="0"/>
          </a:p>
        </p:txBody>
      </p:sp>
      <p:sp>
        <p:nvSpPr>
          <p:cNvPr id="17" name="Forme 17"/>
          <p:cNvSpPr/>
          <p:nvPr/>
        </p:nvSpPr>
        <p:spPr>
          <a:xfrm>
            <a:off x="457200" y="6053328"/>
            <a:ext cx="7223760" cy="301752"/>
          </a:xfrm>
          <a:prstGeom prst="rect">
            <a:avLst/>
          </a:prstGeom>
          <a:solidFill>
            <a:srgbClr val="20A4B0"/>
          </a:solidFill>
          <a:ln>
            <a:noFill/>
          </a:ln>
        </p:spPr>
        <p:txBody>
          <a:bodyPr wrap="square" lIns="109728" tIns="54864" rIns="109728" bIns="54864" anchor="ctr" rtlCol="0">
            <a:noAutofit/>
          </a:bodyPr>
          <a:lstStyle/>
          <a:p>
            <a:pPr algn="ctr">
              <a:lnSpc>
                <a:spcPct val="100000"/>
              </a:lnSpc>
              <a:spcBef>
                <a:spcPts val="0"/>
              </a:spcBef>
              <a:spcAft>
                <a:spcPts val="0"/>
              </a:spcAft>
              <a:buNone/>
            </a:pPr>
            <a:r>
              <a:rPr lang="fr-FR" sz="1050" b="1" i="0" dirty="0">
                <a:solidFill>
                  <a:srgbClr val="FFFFFF"/>
                </a:solidFill>
                <a:latin typeface="Arial"/>
                <a:cs typeface="Arial"/>
              </a:rPr>
              <a:t>13 stations · +22 510 habitants · 19,0 % → 22,3 % · 21,9 € par habitant gagné sur 3 ans</a:t>
            </a:r>
            <a:endParaRPr lang="fr-FR" sz="1050" dirty="0"/>
          </a:p>
        </p:txBody>
      </p:sp>
      <p:pic>
        <p:nvPicPr>
          <p:cNvPr id="9025"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E63329"/>
                </a:solidFill>
                <a:latin typeface="Arial"/>
                <a:cs typeface="Arial"/>
              </a:rPr>
              <a:t>PARTIE 7 · LES LIMITES</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Les limites des données, et leur impact</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On les dit avant qu'on nous les demande.</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26</a:t>
            </a:r>
            <a:endParaRPr lang="fr-FR" sz="900" dirty="0"/>
          </a:p>
        </p:txBody>
      </p:sp>
      <p:graphicFrame>
        <p:nvGraphicFramePr>
          <p:cNvPr id="10" name="Tableau 10"/>
          <p:cNvGraphicFramePr>
            <a:graphicFrameLocks noGrp="1"/>
          </p:cNvGraphicFramePr>
          <p:nvPr/>
        </p:nvGraphicFramePr>
        <p:xfrm>
          <a:off x="457200" y="1371600"/>
          <a:ext cx="11274552" cy="4572000"/>
        </p:xfrm>
        <a:graphic>
          <a:graphicData uri="http://schemas.openxmlformats.org/drawingml/2006/table">
            <a:tbl>
              <a:tblPr firstRow="1" bandRow="1"/>
              <a:tblGrid>
                <a:gridCol w="3291840"/>
                <a:gridCol w="4114800"/>
                <a:gridCol w="3867912"/>
              </a:tblGrid>
              <a:tr h="457200">
                <a:tc>
                  <a:txBody>
                    <a:bodyPr wrap="square" lIns="109728" tIns="54864" rIns="109728" bIns="54864" anchor="t" rtlCol="0">
                      <a:noAutofit/>
                    </a:bodyPr>
                    <a:lstStyle/>
                    <a:p>
                      <a:pPr algn="l">
                        <a:lnSpc>
                          <a:spcPct val="95000"/>
                        </a:lnSpc>
                        <a:spcBef>
                          <a:spcPts val="0"/>
                        </a:spcBef>
                        <a:spcAft>
                          <a:spcPts val="0"/>
                        </a:spcAft>
                        <a:buNone/>
                      </a:pPr>
                      <a:r>
                        <a:rPr lang="fr-FR" sz="1000" b="1" i="0" dirty="0">
                          <a:solidFill>
                            <a:srgbClr val="FFFFFF"/>
                          </a:solidFill>
                          <a:latin typeface="Arial"/>
                          <a:cs typeface="Arial"/>
                        </a:rPr>
                        <a:t>Limite</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E63329"/>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1" i="0" dirty="0">
                          <a:solidFill>
                            <a:srgbClr val="FFFFFF"/>
                          </a:solidFill>
                          <a:latin typeface="Arial"/>
                          <a:cs typeface="Arial"/>
                        </a:rPr>
                        <a:t>Impact</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E63329"/>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1" i="0" dirty="0">
                          <a:solidFill>
                            <a:srgbClr val="FFFFFF"/>
                          </a:solidFill>
                          <a:latin typeface="Arial"/>
                          <a:cs typeface="Arial"/>
                        </a:rPr>
                        <a:t>Ce qu'on fait</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E63329"/>
                    </a:solidFill>
                  </a:tcPr>
                </a:tc>
              </a:tr>
              <a:tr h="457200">
                <a:tc>
                  <a:txBody>
                    <a:bodyPr wrap="square" lIns="109728" tIns="54864" rIns="109728" bIns="54864" anchor="t" rtlCol="0">
                      <a:noAutofit/>
                    </a:bodyPr>
                    <a:lstStyle/>
                    <a:p>
                      <a:pPr algn="l">
                        <a:lnSpc>
                          <a:spcPct val="95000"/>
                        </a:lnSpc>
                        <a:spcBef>
                          <a:spcPts val="0"/>
                        </a:spcBef>
                        <a:spcAft>
                          <a:spcPts val="0"/>
                        </a:spcAft>
                        <a:buNone/>
                      </a:pPr>
                      <a:r>
                        <a:rPr lang="fr-FR" sz="1000" b="1" i="0" dirty="0">
                          <a:solidFill>
                            <a:srgbClr val="202020"/>
                          </a:solidFill>
                          <a:latin typeface="Arial"/>
                          <a:cs typeface="Arial"/>
                        </a:rPr>
                        <a:t>Getaround, Zity, Free2Move, Communauto… invisibles</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0" i="0" dirty="0">
                          <a:solidFill>
                            <a:srgbClr val="202020"/>
                          </a:solidFill>
                          <a:latin typeface="Arial"/>
                          <a:cs typeface="Arial"/>
                        </a:rPr>
                        <a:t>l'autopartage existant est sous-estimé ; le critère avantage à tort les grandes villes</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0" i="0" dirty="0">
                          <a:solidFill>
                            <a:srgbClr val="202020"/>
                          </a:solidFill>
                          <a:latin typeface="Arial"/>
                          <a:cs typeface="Arial"/>
                        </a:rPr>
                        <a:t>dit clairement ; Marguerite ajouté via l'open data de Nantes</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457200">
                <a:tc>
                  <a:txBody>
                    <a:bodyPr wrap="square" lIns="109728" tIns="54864" rIns="109728" bIns="54864" anchor="t" rtlCol="0">
                      <a:noAutofit/>
                    </a:bodyPr>
                    <a:lstStyle/>
                    <a:p>
                      <a:pPr algn="l">
                        <a:lnSpc>
                          <a:spcPct val="95000"/>
                        </a:lnSpc>
                        <a:spcBef>
                          <a:spcPts val="0"/>
                        </a:spcBef>
                        <a:spcAft>
                          <a:spcPts val="0"/>
                        </a:spcAft>
                        <a:buNone/>
                      </a:pPr>
                      <a:r>
                        <a:rPr lang="fr-FR" sz="1000" b="1" i="0" dirty="0">
                          <a:solidFill>
                            <a:srgbClr val="202020"/>
                          </a:solidFill>
                          <a:latin typeface="Arial"/>
                          <a:cs typeface="Arial"/>
                        </a:rPr>
                        <a:t>Filosofi : −10 % d'habitants</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DECEB"/>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0" i="0" dirty="0">
                          <a:solidFill>
                            <a:srgbClr val="202020"/>
                          </a:solidFill>
                          <a:latin typeface="Arial"/>
                          <a:cs typeface="Arial"/>
                        </a:rPr>
                        <a:t>étudiants, foyers, EHPAD manquants</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DECEB"/>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0" i="0" dirty="0">
                          <a:solidFill>
                            <a:srgbClr val="202020"/>
                          </a:solidFill>
                          <a:latin typeface="Arial"/>
                          <a:cs typeface="Arial"/>
                        </a:rPr>
                        <a:t>calage commune par commune sur le recensement</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DECEB"/>
                    </a:solidFill>
                  </a:tcPr>
                </a:tc>
              </a:tr>
              <a:tr h="457200">
                <a:tc>
                  <a:txBody>
                    <a:bodyPr wrap="square" lIns="109728" tIns="54864" rIns="109728" bIns="54864" anchor="t" rtlCol="0">
                      <a:noAutofit/>
                    </a:bodyPr>
                    <a:lstStyle/>
                    <a:p>
                      <a:pPr algn="l">
                        <a:lnSpc>
                          <a:spcPct val="95000"/>
                        </a:lnSpc>
                        <a:spcBef>
                          <a:spcPts val="0"/>
                        </a:spcBef>
                        <a:spcAft>
                          <a:spcPts val="0"/>
                        </a:spcAft>
                        <a:buNone/>
                      </a:pPr>
                      <a:r>
                        <a:rPr lang="fr-FR" sz="1000" b="1" i="0" dirty="0">
                          <a:solidFill>
                            <a:srgbClr val="202020"/>
                          </a:solidFill>
                          <a:latin typeface="Arial"/>
                          <a:cs typeface="Arial"/>
                        </a:rPr>
                        <a:t>Historique Citiz inexploitable</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0" i="0" dirty="0">
                          <a:solidFill>
                            <a:srgbClr val="202020"/>
                          </a:solidFill>
                          <a:latin typeface="Arial"/>
                          <a:cs typeface="Arial"/>
                        </a:rPr>
                        <a:t>34 photos, 12 changements de disponibilité : pas d'usage réel</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0" i="0" dirty="0">
                          <a:solidFill>
                            <a:srgbClr val="202020"/>
                          </a:solidFill>
                          <a:latin typeface="Arial"/>
                          <a:cs typeface="Arial"/>
                        </a:rPr>
                        <a:t>cible = présence d'une station ; le modèle apprend où Citiz s'est installé</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457200">
                <a:tc>
                  <a:txBody>
                    <a:bodyPr wrap="square" lIns="109728" tIns="54864" rIns="109728" bIns="54864" anchor="t" rtlCol="0">
                      <a:noAutofit/>
                    </a:bodyPr>
                    <a:lstStyle/>
                    <a:p>
                      <a:pPr algn="l">
                        <a:lnSpc>
                          <a:spcPct val="95000"/>
                        </a:lnSpc>
                        <a:spcBef>
                          <a:spcPts val="0"/>
                        </a:spcBef>
                        <a:spcAft>
                          <a:spcPts val="0"/>
                        </a:spcAft>
                        <a:buNone/>
                      </a:pPr>
                      <a:r>
                        <a:rPr lang="fr-FR" sz="1000" b="1" i="0" dirty="0">
                          <a:solidFill>
                            <a:srgbClr val="202020"/>
                          </a:solidFill>
                          <a:latin typeface="Arial"/>
                          <a:cs typeface="Arial"/>
                        </a:rPr>
                        <a:t>DROM incomplets</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DECEB"/>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0" i="0" dirty="0">
                          <a:solidFill>
                            <a:srgbClr val="202020"/>
                          </a:solidFill>
                          <a:latin typeface="Arial"/>
                          <a:cs typeface="Arial"/>
                        </a:rPr>
                        <a:t>Guadeloupe, Guyane, Mayotte absents de Filosofi ; GTFS Guyane partiel</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DECEB"/>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0" i="0" dirty="0">
                          <a:solidFill>
                            <a:srgbClr val="202020"/>
                          </a:solidFill>
                          <a:latin typeface="Arial"/>
                          <a:cs typeface="Arial"/>
                        </a:rPr>
                        <a:t>affichés en « offre seule », sans indicateur par habitant</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DECEB"/>
                    </a:solidFill>
                  </a:tcPr>
                </a:tc>
              </a:tr>
              <a:tr h="457200">
                <a:tc>
                  <a:txBody>
                    <a:bodyPr wrap="square" lIns="109728" tIns="54864" rIns="109728" bIns="54864" anchor="t" rtlCol="0">
                      <a:noAutofit/>
                    </a:bodyPr>
                    <a:lstStyle/>
                    <a:p>
                      <a:pPr algn="l">
                        <a:lnSpc>
                          <a:spcPct val="95000"/>
                        </a:lnSpc>
                        <a:spcBef>
                          <a:spcPts val="0"/>
                        </a:spcBef>
                        <a:spcAft>
                          <a:spcPts val="0"/>
                        </a:spcAft>
                        <a:buNone/>
                      </a:pPr>
                      <a:r>
                        <a:rPr lang="fr-FR" sz="1000" b="1" i="0" dirty="0">
                          <a:solidFill>
                            <a:srgbClr val="202020"/>
                          </a:solidFill>
                          <a:latin typeface="Arial"/>
                          <a:cs typeface="Arial"/>
                        </a:rPr>
                        <a:t>OpenStreetMap rempli par des bénévoles</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0" i="0" dirty="0">
                          <a:solidFill>
                            <a:srgbClr val="202020"/>
                          </a:solidFill>
                          <a:latin typeface="Arial"/>
                          <a:cs typeface="Arial"/>
                        </a:rPr>
                        <a:t>un chemin manquant fausse une distance à pied locale</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0" i="0" dirty="0">
                          <a:solidFill>
                            <a:srgbClr val="202020"/>
                          </a:solidFill>
                          <a:latin typeface="Arial"/>
                          <a:cs typeface="Arial"/>
                        </a:rPr>
                        <a:t>filtre d'osmnx ; plus grand réseau connecté (1 835 tronçons isolés écartés à Nantes)</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457200">
                <a:tc>
                  <a:txBody>
                    <a:bodyPr wrap="square" lIns="109728" tIns="54864" rIns="109728" bIns="54864" anchor="t" rtlCol="0">
                      <a:noAutofit/>
                    </a:bodyPr>
                    <a:lstStyle/>
                    <a:p>
                      <a:pPr algn="l">
                        <a:lnSpc>
                          <a:spcPct val="95000"/>
                        </a:lnSpc>
                        <a:spcBef>
                          <a:spcPts val="0"/>
                        </a:spcBef>
                        <a:spcAft>
                          <a:spcPts val="0"/>
                        </a:spcAft>
                        <a:buNone/>
                      </a:pPr>
                      <a:r>
                        <a:rPr lang="fr-FR" sz="1000" b="1" i="0" dirty="0">
                          <a:solidFill>
                            <a:srgbClr val="202020"/>
                          </a:solidFill>
                          <a:latin typeface="Arial"/>
                          <a:cs typeface="Arial"/>
                        </a:rPr>
                        <a:t>Délinquance seulement par commune</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DECEB"/>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0" i="0" dirty="0">
                          <a:solidFill>
                            <a:srgbClr val="202020"/>
                          </a:solidFill>
                          <a:latin typeface="Arial"/>
                          <a:cs typeface="Arial"/>
                        </a:rPr>
                        <a:t>même risque pour tous les quartiers d'une commune</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DECEB"/>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0" i="0" dirty="0">
                          <a:solidFill>
                            <a:srgbClr val="202020"/>
                          </a:solidFill>
                          <a:latin typeface="Arial"/>
                          <a:cs typeface="Arial"/>
                        </a:rPr>
                        <a:t>donnée retirée de tous les calculs (choix éthique)</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DECEB"/>
                    </a:solidFill>
                  </a:tcPr>
                </a:tc>
              </a:tr>
              <a:tr h="457200">
                <a:tc>
                  <a:txBody>
                    <a:bodyPr wrap="square" lIns="109728" tIns="54864" rIns="109728" bIns="54864" anchor="t" rtlCol="0">
                      <a:noAutofit/>
                    </a:bodyPr>
                    <a:lstStyle/>
                    <a:p>
                      <a:pPr algn="l">
                        <a:lnSpc>
                          <a:spcPct val="95000"/>
                        </a:lnSpc>
                        <a:spcBef>
                          <a:spcPts val="0"/>
                        </a:spcBef>
                        <a:spcAft>
                          <a:spcPts val="0"/>
                        </a:spcAft>
                        <a:buNone/>
                      </a:pPr>
                      <a:r>
                        <a:rPr lang="fr-FR" sz="1000" b="1" i="0" dirty="0">
                          <a:solidFill>
                            <a:srgbClr val="202020"/>
                          </a:solidFill>
                          <a:latin typeface="Arial"/>
                          <a:cs typeface="Arial"/>
                        </a:rPr>
                        <a:t>GTFS et GBFS changent chaque jour</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0" i="0" dirty="0">
                          <a:solidFill>
                            <a:srgbClr val="202020"/>
                          </a:solidFill>
                          <a:latin typeface="Arial"/>
                          <a:cs typeface="Arial"/>
                        </a:rPr>
                        <a:t>un autre jour de téléchargement donne d'autres chiffres</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0" i="0" dirty="0">
                          <a:solidFill>
                            <a:srgbClr val="202020"/>
                          </a:solidFill>
                          <a:latin typeface="Arial"/>
                          <a:cs typeface="Arial"/>
                        </a:rPr>
                        <a:t>jour type figé ; données de référence du 19/10/2026</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r h="457200">
                <a:tc>
                  <a:txBody>
                    <a:bodyPr wrap="square" lIns="109728" tIns="54864" rIns="109728" bIns="54864" anchor="t" rtlCol="0">
                      <a:noAutofit/>
                    </a:bodyPr>
                    <a:lstStyle/>
                    <a:p>
                      <a:pPr algn="l">
                        <a:lnSpc>
                          <a:spcPct val="95000"/>
                        </a:lnSpc>
                        <a:spcBef>
                          <a:spcPts val="0"/>
                        </a:spcBef>
                        <a:spcAft>
                          <a:spcPts val="0"/>
                        </a:spcAft>
                        <a:buNone/>
                      </a:pPr>
                      <a:r>
                        <a:rPr lang="fr-FR" sz="1000" b="1" i="0" dirty="0">
                          <a:solidFill>
                            <a:srgbClr val="202020"/>
                          </a:solidFill>
                          <a:latin typeface="Arial"/>
                          <a:cs typeface="Arial"/>
                        </a:rPr>
                        <a:t>Années différentes</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DECEB"/>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0" i="0" dirty="0">
                          <a:solidFill>
                            <a:srgbClr val="202020"/>
                          </a:solidFill>
                          <a:latin typeface="Arial"/>
                          <a:cs typeface="Arial"/>
                        </a:rPr>
                        <a:t>Filosofi 2021, recensement 2023, BPE 2025, IRIS 2026</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DECEB"/>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0" i="0" dirty="0">
                          <a:solidFill>
                            <a:srgbClr val="202020"/>
                          </a:solidFill>
                          <a:latin typeface="Arial"/>
                          <a:cs typeface="Arial"/>
                        </a:rPr>
                        <a:t>repli sur la commune quand un IRIS a changé</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DECEB"/>
                    </a:solidFill>
                  </a:tcPr>
                </a:tc>
              </a:tr>
              <a:tr h="457200">
                <a:tc>
                  <a:txBody>
                    <a:bodyPr wrap="square" lIns="109728" tIns="54864" rIns="109728" bIns="54864" anchor="t" rtlCol="0">
                      <a:noAutofit/>
                    </a:bodyPr>
                    <a:lstStyle/>
                    <a:p>
                      <a:pPr algn="l">
                        <a:lnSpc>
                          <a:spcPct val="95000"/>
                        </a:lnSpc>
                        <a:spcBef>
                          <a:spcPts val="0"/>
                        </a:spcBef>
                        <a:spcAft>
                          <a:spcPts val="0"/>
                        </a:spcAft>
                        <a:buNone/>
                      </a:pPr>
                      <a:r>
                        <a:rPr lang="fr-FR" sz="1000" b="1" i="0" dirty="0">
                          <a:solidFill>
                            <a:srgbClr val="202020"/>
                          </a:solidFill>
                          <a:latin typeface="Arial"/>
                          <a:cs typeface="Arial"/>
                        </a:rPr>
                        <a:t>Cible à vol d'oiseau</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0" i="0" dirty="0">
                          <a:solidFill>
                            <a:srgbClr val="202020"/>
                          </a:solidFill>
                          <a:latin typeface="Arial"/>
                          <a:cs typeface="Arial"/>
                        </a:rPr>
                        <a:t>variables du modèle en V1 ; aucun surcoût de vol</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c>
                  <a:txBody>
                    <a:bodyPr wrap="square" lIns="109728" tIns="54864" rIns="109728" bIns="54864" anchor="t" rtlCol="0">
                      <a:noAutofit/>
                    </a:bodyPr>
                    <a:lstStyle/>
                    <a:p>
                      <a:pPr algn="l">
                        <a:lnSpc>
                          <a:spcPct val="95000"/>
                        </a:lnSpc>
                        <a:spcBef>
                          <a:spcPts val="0"/>
                        </a:spcBef>
                        <a:spcAft>
                          <a:spcPts val="0"/>
                        </a:spcAft>
                        <a:buNone/>
                      </a:pPr>
                      <a:r>
                        <a:rPr lang="fr-FR" sz="1000" b="0" i="0" dirty="0">
                          <a:solidFill>
                            <a:srgbClr val="202020"/>
                          </a:solidFill>
                          <a:latin typeface="Arial"/>
                          <a:cs typeface="Arial"/>
                        </a:rPr>
                        <a:t>à valider avec Citiz ; affiché à part</a:t>
                      </a:r>
                      <a:endParaRPr lang="fr-FR" sz="1000" dirty="0"/>
                    </a:p>
                  </a:txBody>
                  <a:tcPr marL="64008" marR="64008" marT="36576" marB="36576" anchor="ctr">
                    <a:lnL w="6350">
                      <a:solidFill>
                        <a:srgbClr val="EAEAEA"/>
                      </a:solidFill>
                    </a:lnL>
                    <a:lnR w="6350">
                      <a:solidFill>
                        <a:srgbClr val="EAEAEA"/>
                      </a:solidFill>
                    </a:lnR>
                    <a:lnT w="6350">
                      <a:solidFill>
                        <a:srgbClr val="EAEAEA"/>
                      </a:solidFill>
                    </a:lnT>
                    <a:lnB w="6350">
                      <a:solidFill>
                        <a:srgbClr val="EAEAEA"/>
                      </a:solidFill>
                    </a:lnB>
                    <a:solidFill>
                      <a:srgbClr val="FFFFFF"/>
                    </a:solidFill>
                  </a:tcPr>
                </a:tc>
              </a:tr>
            </a:tbl>
          </a:graphicData>
        </a:graphic>
      </p:graphicFrame>
      <p:pic>
        <p:nvPicPr>
          <p:cNvPr id="9026"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616060"/>
                </a:solidFill>
                <a:latin typeface="Arial"/>
                <a:cs typeface="Arial"/>
              </a:rPr>
              <a:t>PARTIE 8 · LEXIQUE</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Lexique</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14 mots, en mots simples.</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27</a:t>
            </a:r>
            <a:endParaRPr lang="fr-FR" sz="900" dirty="0"/>
          </a:p>
        </p:txBody>
      </p:sp>
      <p:sp>
        <p:nvSpPr>
          <p:cNvPr id="10" name="Forme 10"/>
          <p:cNvSpPr/>
          <p:nvPr/>
        </p:nvSpPr>
        <p:spPr>
          <a:xfrm>
            <a:off x="457200" y="1371600"/>
            <a:ext cx="1783080" cy="603504"/>
          </a:xfrm>
          <a:prstGeom prst="roundRect">
            <a:avLst>
              <a:gd name="adj" fmla="val 14000"/>
            </a:avLst>
          </a:prstGeom>
          <a:solidFill>
            <a:srgbClr val="20A4B0"/>
          </a:solidFill>
          <a:ln>
            <a:noFill/>
          </a:ln>
        </p:spPr>
        <p:txBody>
          <a:bodyPr wrap="square" lIns="45720" tIns="0" rIns="45720" bIns="0" anchor="ctr" rtlCol="0">
            <a:noAutofit/>
          </a:bodyPr>
          <a:lstStyle/>
          <a:p>
            <a:pPr algn="ctr">
              <a:lnSpc>
                <a:spcPct val="100000"/>
              </a:lnSpc>
              <a:spcBef>
                <a:spcPts val="0"/>
              </a:spcBef>
              <a:spcAft>
                <a:spcPts val="0"/>
              </a:spcAft>
              <a:buNone/>
            </a:pPr>
            <a:r>
              <a:rPr lang="fr-FR" sz="1150" b="1" i="0" dirty="0">
                <a:solidFill>
                  <a:srgbClr val="FFFFFF"/>
                </a:solidFill>
                <a:latin typeface="Arial"/>
                <a:cs typeface="Arial"/>
              </a:rPr>
              <a:t>GTFS</a:t>
            </a:r>
            <a:endParaRPr lang="fr-FR" sz="1150" dirty="0"/>
          </a:p>
        </p:txBody>
      </p:sp>
      <p:sp>
        <p:nvSpPr>
          <p:cNvPr id="11" name="Forme 11"/>
          <p:cNvSpPr/>
          <p:nvPr/>
        </p:nvSpPr>
        <p:spPr>
          <a:xfrm>
            <a:off x="2377440" y="1371600"/>
            <a:ext cx="3657600" cy="603504"/>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050" b="0" i="0" dirty="0">
                <a:solidFill>
                  <a:srgbClr val="202020"/>
                </a:solidFill>
                <a:latin typeface="Arial"/>
                <a:cs typeface="Arial"/>
              </a:rPr>
              <a:t>format standard des horaires de transport en commun : arrêts, lignes, courses, horaires (un zip de fichiers texte).</a:t>
            </a:r>
            <a:endParaRPr lang="fr-FR" sz="1050" dirty="0"/>
          </a:p>
        </p:txBody>
      </p:sp>
      <p:sp>
        <p:nvSpPr>
          <p:cNvPr id="12" name="Forme 12"/>
          <p:cNvSpPr/>
          <p:nvPr/>
        </p:nvSpPr>
        <p:spPr>
          <a:xfrm>
            <a:off x="6172200" y="1371600"/>
            <a:ext cx="1783080" cy="603504"/>
          </a:xfrm>
          <a:prstGeom prst="roundRect">
            <a:avLst>
              <a:gd name="adj" fmla="val 14000"/>
            </a:avLst>
          </a:prstGeom>
          <a:solidFill>
            <a:srgbClr val="32B4B5"/>
          </a:solidFill>
          <a:ln>
            <a:noFill/>
          </a:ln>
        </p:spPr>
        <p:txBody>
          <a:bodyPr wrap="square" lIns="45720" tIns="0" rIns="45720" bIns="0" anchor="ctr" rtlCol="0">
            <a:noAutofit/>
          </a:bodyPr>
          <a:lstStyle/>
          <a:p>
            <a:pPr algn="ctr">
              <a:lnSpc>
                <a:spcPct val="100000"/>
              </a:lnSpc>
              <a:spcBef>
                <a:spcPts val="0"/>
              </a:spcBef>
              <a:spcAft>
                <a:spcPts val="0"/>
              </a:spcAft>
              <a:buNone/>
            </a:pPr>
            <a:r>
              <a:rPr lang="fr-FR" sz="1150" b="1" i="0" dirty="0">
                <a:solidFill>
                  <a:srgbClr val="FFFFFF"/>
                </a:solidFill>
                <a:latin typeface="Arial"/>
                <a:cs typeface="Arial"/>
              </a:rPr>
              <a:t>GBFS</a:t>
            </a:r>
            <a:endParaRPr lang="fr-FR" sz="1150" dirty="0"/>
          </a:p>
        </p:txBody>
      </p:sp>
      <p:sp>
        <p:nvSpPr>
          <p:cNvPr id="13" name="Forme 13"/>
          <p:cNvSpPr/>
          <p:nvPr/>
        </p:nvSpPr>
        <p:spPr>
          <a:xfrm>
            <a:off x="8092440" y="1371600"/>
            <a:ext cx="3657600" cy="603504"/>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050" b="0" i="0" dirty="0">
                <a:solidFill>
                  <a:srgbClr val="202020"/>
                </a:solidFill>
                <a:latin typeface="Arial"/>
                <a:cs typeface="Arial"/>
              </a:rPr>
              <a:t>format standard des services partagés (vélos, trottinettes, voitures) : où sont les stations, combien de véhicules libres.</a:t>
            </a:r>
            <a:endParaRPr lang="fr-FR" sz="1050" dirty="0"/>
          </a:p>
        </p:txBody>
      </p:sp>
      <p:sp>
        <p:nvSpPr>
          <p:cNvPr id="14" name="Forme 14"/>
          <p:cNvSpPr/>
          <p:nvPr/>
        </p:nvSpPr>
        <p:spPr>
          <a:xfrm>
            <a:off x="457200" y="2075688"/>
            <a:ext cx="1783080" cy="603504"/>
          </a:xfrm>
          <a:prstGeom prst="roundRect">
            <a:avLst>
              <a:gd name="adj" fmla="val 14000"/>
            </a:avLst>
          </a:prstGeom>
          <a:solidFill>
            <a:srgbClr val="32B4B5"/>
          </a:solidFill>
          <a:ln>
            <a:noFill/>
          </a:ln>
        </p:spPr>
        <p:txBody>
          <a:bodyPr wrap="square" lIns="45720" tIns="0" rIns="45720" bIns="0" anchor="ctr" rtlCol="0">
            <a:noAutofit/>
          </a:bodyPr>
          <a:lstStyle/>
          <a:p>
            <a:pPr algn="ctr">
              <a:lnSpc>
                <a:spcPct val="100000"/>
              </a:lnSpc>
              <a:spcBef>
                <a:spcPts val="0"/>
              </a:spcBef>
              <a:spcAft>
                <a:spcPts val="0"/>
              </a:spcAft>
              <a:buNone/>
            </a:pPr>
            <a:r>
              <a:rPr lang="fr-FR" sz="1150" b="1" i="0" dirty="0">
                <a:solidFill>
                  <a:srgbClr val="FFFFFF"/>
                </a:solidFill>
                <a:latin typeface="Arial"/>
                <a:cs typeface="Arial"/>
              </a:rPr>
              <a:t>Filosofi</a:t>
            </a:r>
            <a:endParaRPr lang="fr-FR" sz="1150" dirty="0"/>
          </a:p>
        </p:txBody>
      </p:sp>
      <p:sp>
        <p:nvSpPr>
          <p:cNvPr id="15" name="Forme 15"/>
          <p:cNvSpPr/>
          <p:nvPr/>
        </p:nvSpPr>
        <p:spPr>
          <a:xfrm>
            <a:off x="2377440" y="2075688"/>
            <a:ext cx="3657600" cy="603504"/>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050" b="0" i="0" dirty="0">
                <a:solidFill>
                  <a:srgbClr val="202020"/>
                </a:solidFill>
                <a:latin typeface="Arial"/>
                <a:cs typeface="Arial"/>
              </a:rPr>
              <a:t>fichier de l'INSEE tiré des données fiscales : habitants, ménages et revenus.</a:t>
            </a:r>
            <a:endParaRPr lang="fr-FR" sz="1050" dirty="0"/>
          </a:p>
        </p:txBody>
      </p:sp>
      <p:sp>
        <p:nvSpPr>
          <p:cNvPr id="16" name="Forme 16"/>
          <p:cNvSpPr/>
          <p:nvPr/>
        </p:nvSpPr>
        <p:spPr>
          <a:xfrm>
            <a:off x="6172200" y="2075688"/>
            <a:ext cx="1783080" cy="603504"/>
          </a:xfrm>
          <a:prstGeom prst="roundRect">
            <a:avLst>
              <a:gd name="adj" fmla="val 14000"/>
            </a:avLst>
          </a:prstGeom>
          <a:solidFill>
            <a:srgbClr val="20A4B0"/>
          </a:solidFill>
          <a:ln>
            <a:noFill/>
          </a:ln>
        </p:spPr>
        <p:txBody>
          <a:bodyPr wrap="square" lIns="45720" tIns="0" rIns="45720" bIns="0" anchor="ctr" rtlCol="0">
            <a:noAutofit/>
          </a:bodyPr>
          <a:lstStyle/>
          <a:p>
            <a:pPr algn="ctr">
              <a:lnSpc>
                <a:spcPct val="100000"/>
              </a:lnSpc>
              <a:spcBef>
                <a:spcPts val="0"/>
              </a:spcBef>
              <a:spcAft>
                <a:spcPts val="0"/>
              </a:spcAft>
              <a:buNone/>
            </a:pPr>
            <a:r>
              <a:rPr lang="fr-FR" sz="1150" b="1" i="0" dirty="0">
                <a:solidFill>
                  <a:srgbClr val="FFFFFF"/>
                </a:solidFill>
                <a:latin typeface="Arial"/>
                <a:cs typeface="Arial"/>
              </a:rPr>
              <a:t>Carreau 200 m</a:t>
            </a:r>
            <a:endParaRPr lang="fr-FR" sz="1150" dirty="0"/>
          </a:p>
        </p:txBody>
      </p:sp>
      <p:sp>
        <p:nvSpPr>
          <p:cNvPr id="17" name="Forme 17"/>
          <p:cNvSpPr/>
          <p:nvPr/>
        </p:nvSpPr>
        <p:spPr>
          <a:xfrm>
            <a:off x="8092440" y="2075688"/>
            <a:ext cx="3657600" cy="603504"/>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050" b="0" i="0" dirty="0">
                <a:solidFill>
                  <a:srgbClr val="202020"/>
                </a:solidFill>
                <a:latin typeface="Arial"/>
                <a:cs typeface="Arial"/>
              </a:rPr>
              <a:t>carré de 200 m × 200 m de la grille INSEE : notre unité de calcul (2,3 millions en France).</a:t>
            </a:r>
            <a:endParaRPr lang="fr-FR" sz="1050" dirty="0"/>
          </a:p>
        </p:txBody>
      </p:sp>
      <p:sp>
        <p:nvSpPr>
          <p:cNvPr id="18" name="Forme 18"/>
          <p:cNvSpPr/>
          <p:nvPr/>
        </p:nvSpPr>
        <p:spPr>
          <a:xfrm>
            <a:off x="457200" y="2779776"/>
            <a:ext cx="1783080" cy="603504"/>
          </a:xfrm>
          <a:prstGeom prst="roundRect">
            <a:avLst>
              <a:gd name="adj" fmla="val 14000"/>
            </a:avLst>
          </a:prstGeom>
          <a:solidFill>
            <a:srgbClr val="20A4B0"/>
          </a:solidFill>
          <a:ln>
            <a:noFill/>
          </a:ln>
        </p:spPr>
        <p:txBody>
          <a:bodyPr wrap="square" lIns="45720" tIns="0" rIns="45720" bIns="0" anchor="ctr" rtlCol="0">
            <a:noAutofit/>
          </a:bodyPr>
          <a:lstStyle/>
          <a:p>
            <a:pPr algn="ctr">
              <a:lnSpc>
                <a:spcPct val="100000"/>
              </a:lnSpc>
              <a:spcBef>
                <a:spcPts val="0"/>
              </a:spcBef>
              <a:spcAft>
                <a:spcPts val="0"/>
              </a:spcAft>
              <a:buNone/>
            </a:pPr>
            <a:r>
              <a:rPr lang="fr-FR" sz="1150" b="1" i="0" dirty="0">
                <a:solidFill>
                  <a:srgbClr val="FFFFFF"/>
                </a:solidFill>
                <a:latin typeface="Arial"/>
                <a:cs typeface="Arial"/>
              </a:rPr>
              <a:t>IRIS</a:t>
            </a:r>
            <a:endParaRPr lang="fr-FR" sz="1150" dirty="0"/>
          </a:p>
        </p:txBody>
      </p:sp>
      <p:sp>
        <p:nvSpPr>
          <p:cNvPr id="19" name="Forme 19"/>
          <p:cNvSpPr/>
          <p:nvPr/>
        </p:nvSpPr>
        <p:spPr>
          <a:xfrm>
            <a:off x="2377440" y="2779776"/>
            <a:ext cx="3657600" cy="603504"/>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050" b="0" i="0" dirty="0">
                <a:solidFill>
                  <a:srgbClr val="202020"/>
                </a:solidFill>
                <a:latin typeface="Arial"/>
                <a:cs typeface="Arial"/>
              </a:rPr>
              <a:t>petit quartier statistique de l'INSEE, environ 2 000 habitants.</a:t>
            </a:r>
            <a:endParaRPr lang="fr-FR" sz="1050" dirty="0"/>
          </a:p>
        </p:txBody>
      </p:sp>
      <p:sp>
        <p:nvSpPr>
          <p:cNvPr id="20" name="Forme 20"/>
          <p:cNvSpPr/>
          <p:nvPr/>
        </p:nvSpPr>
        <p:spPr>
          <a:xfrm>
            <a:off x="6172200" y="2779776"/>
            <a:ext cx="1783080" cy="603504"/>
          </a:xfrm>
          <a:prstGeom prst="roundRect">
            <a:avLst>
              <a:gd name="adj" fmla="val 14000"/>
            </a:avLst>
          </a:prstGeom>
          <a:solidFill>
            <a:srgbClr val="32B4B5"/>
          </a:solidFill>
          <a:ln>
            <a:noFill/>
          </a:ln>
        </p:spPr>
        <p:txBody>
          <a:bodyPr wrap="square" lIns="45720" tIns="0" rIns="45720" bIns="0" anchor="ctr" rtlCol="0">
            <a:noAutofit/>
          </a:bodyPr>
          <a:lstStyle/>
          <a:p>
            <a:pPr algn="ctr">
              <a:lnSpc>
                <a:spcPct val="100000"/>
              </a:lnSpc>
              <a:spcBef>
                <a:spcPts val="0"/>
              </a:spcBef>
              <a:spcAft>
                <a:spcPts val="0"/>
              </a:spcAft>
              <a:buNone/>
            </a:pPr>
            <a:r>
              <a:rPr lang="fr-FR" sz="1150" b="1" i="0" dirty="0">
                <a:solidFill>
                  <a:srgbClr val="FFFFFF"/>
                </a:solidFill>
                <a:latin typeface="Arial"/>
                <a:cs typeface="Arial"/>
              </a:rPr>
              <a:t>EPCI</a:t>
            </a:r>
            <a:endParaRPr lang="fr-FR" sz="1150" dirty="0"/>
          </a:p>
        </p:txBody>
      </p:sp>
      <p:sp>
        <p:nvSpPr>
          <p:cNvPr id="21" name="Forme 21"/>
          <p:cNvSpPr/>
          <p:nvPr/>
        </p:nvSpPr>
        <p:spPr>
          <a:xfrm>
            <a:off x="8092440" y="2779776"/>
            <a:ext cx="3657600" cy="603504"/>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050" b="0" i="0" dirty="0">
                <a:solidFill>
                  <a:srgbClr val="202020"/>
                </a:solidFill>
                <a:latin typeface="Arial"/>
                <a:cs typeface="Arial"/>
              </a:rPr>
              <a:t>intercommunalité (métropole, agglomération…) : Nantes Métropole = 24 communes.</a:t>
            </a:r>
            <a:endParaRPr lang="fr-FR" sz="1050" dirty="0"/>
          </a:p>
        </p:txBody>
      </p:sp>
      <p:sp>
        <p:nvSpPr>
          <p:cNvPr id="22" name="Forme 22"/>
          <p:cNvSpPr/>
          <p:nvPr/>
        </p:nvSpPr>
        <p:spPr>
          <a:xfrm>
            <a:off x="457200" y="3483864"/>
            <a:ext cx="1783080" cy="603504"/>
          </a:xfrm>
          <a:prstGeom prst="roundRect">
            <a:avLst>
              <a:gd name="adj" fmla="val 14000"/>
            </a:avLst>
          </a:prstGeom>
          <a:solidFill>
            <a:srgbClr val="32B4B5"/>
          </a:solidFill>
          <a:ln>
            <a:noFill/>
          </a:ln>
        </p:spPr>
        <p:txBody>
          <a:bodyPr wrap="square" lIns="45720" tIns="0" rIns="45720" bIns="0" anchor="ctr" rtlCol="0">
            <a:noAutofit/>
          </a:bodyPr>
          <a:lstStyle/>
          <a:p>
            <a:pPr algn="ctr">
              <a:lnSpc>
                <a:spcPct val="100000"/>
              </a:lnSpc>
              <a:spcBef>
                <a:spcPts val="0"/>
              </a:spcBef>
              <a:spcAft>
                <a:spcPts val="0"/>
              </a:spcAft>
              <a:buNone/>
            </a:pPr>
            <a:r>
              <a:rPr lang="fr-FR" sz="1150" b="1" i="0" dirty="0">
                <a:solidFill>
                  <a:srgbClr val="FFFFFF"/>
                </a:solidFill>
                <a:latin typeface="Arial"/>
                <a:cs typeface="Arial"/>
              </a:rPr>
              <a:t>BPE</a:t>
            </a:r>
            <a:endParaRPr lang="fr-FR" sz="1150" dirty="0"/>
          </a:p>
        </p:txBody>
      </p:sp>
      <p:sp>
        <p:nvSpPr>
          <p:cNvPr id="23" name="Forme 23"/>
          <p:cNvSpPr/>
          <p:nvPr/>
        </p:nvSpPr>
        <p:spPr>
          <a:xfrm>
            <a:off x="2377440" y="3483864"/>
            <a:ext cx="3657600" cy="603504"/>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050" b="0" i="0" dirty="0">
                <a:solidFill>
                  <a:srgbClr val="202020"/>
                </a:solidFill>
                <a:latin typeface="Arial"/>
                <a:cs typeface="Arial"/>
              </a:rPr>
              <a:t>Base permanente des équipements : commerces, écoles, médecins… avec leur position.</a:t>
            </a:r>
            <a:endParaRPr lang="fr-FR" sz="1050" dirty="0"/>
          </a:p>
        </p:txBody>
      </p:sp>
      <p:sp>
        <p:nvSpPr>
          <p:cNvPr id="24" name="Forme 24"/>
          <p:cNvSpPr/>
          <p:nvPr/>
        </p:nvSpPr>
        <p:spPr>
          <a:xfrm>
            <a:off x="6172200" y="3483864"/>
            <a:ext cx="1783080" cy="603504"/>
          </a:xfrm>
          <a:prstGeom prst="roundRect">
            <a:avLst>
              <a:gd name="adj" fmla="val 14000"/>
            </a:avLst>
          </a:prstGeom>
          <a:solidFill>
            <a:srgbClr val="20A4B0"/>
          </a:solidFill>
          <a:ln>
            <a:noFill/>
          </a:ln>
        </p:spPr>
        <p:txBody>
          <a:bodyPr wrap="square" lIns="45720" tIns="0" rIns="45720" bIns="0" anchor="ctr" rtlCol="0">
            <a:noAutofit/>
          </a:bodyPr>
          <a:lstStyle/>
          <a:p>
            <a:pPr algn="ctr">
              <a:lnSpc>
                <a:spcPct val="100000"/>
              </a:lnSpc>
              <a:spcBef>
                <a:spcPts val="0"/>
              </a:spcBef>
              <a:spcAft>
                <a:spcPts val="0"/>
              </a:spcAft>
              <a:buNone/>
            </a:pPr>
            <a:r>
              <a:rPr lang="fr-FR" sz="1150" b="1" i="0" dirty="0">
                <a:solidFill>
                  <a:srgbClr val="FFFFFF"/>
                </a:solidFill>
                <a:latin typeface="Arial"/>
                <a:cs typeface="Arial"/>
              </a:rPr>
              <a:t>V1 / V2</a:t>
            </a:r>
            <a:endParaRPr lang="fr-FR" sz="1150" dirty="0"/>
          </a:p>
        </p:txBody>
      </p:sp>
      <p:sp>
        <p:nvSpPr>
          <p:cNvPr id="25" name="Forme 25"/>
          <p:cNvSpPr/>
          <p:nvPr/>
        </p:nvSpPr>
        <p:spPr>
          <a:xfrm>
            <a:off x="8092440" y="3483864"/>
            <a:ext cx="3657600" cy="603504"/>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050" b="0" i="0" dirty="0">
                <a:solidFill>
                  <a:srgbClr val="202020"/>
                </a:solidFill>
                <a:latin typeface="Arial"/>
                <a:cs typeface="Arial"/>
              </a:rPr>
              <a:t>V1 : 400 m à vol d'oiseau. V2 : 400 m de vraie marche par les rues. La V1 surestime l'offre de 80 à 93 %.</a:t>
            </a:r>
            <a:endParaRPr lang="fr-FR" sz="1050" dirty="0"/>
          </a:p>
        </p:txBody>
      </p:sp>
      <p:sp>
        <p:nvSpPr>
          <p:cNvPr id="26" name="Forme 26"/>
          <p:cNvSpPr/>
          <p:nvPr/>
        </p:nvSpPr>
        <p:spPr>
          <a:xfrm>
            <a:off x="457200" y="4187952"/>
            <a:ext cx="1783080" cy="603504"/>
          </a:xfrm>
          <a:prstGeom prst="roundRect">
            <a:avLst>
              <a:gd name="adj" fmla="val 14000"/>
            </a:avLst>
          </a:prstGeom>
          <a:solidFill>
            <a:srgbClr val="20A4B0"/>
          </a:solidFill>
          <a:ln>
            <a:noFill/>
          </a:ln>
        </p:spPr>
        <p:txBody>
          <a:bodyPr wrap="square" lIns="45720" tIns="0" rIns="45720" bIns="0" anchor="ctr" rtlCol="0">
            <a:noAutofit/>
          </a:bodyPr>
          <a:lstStyle/>
          <a:p>
            <a:pPr algn="ctr">
              <a:lnSpc>
                <a:spcPct val="100000"/>
              </a:lnSpc>
              <a:spcBef>
                <a:spcPts val="0"/>
              </a:spcBef>
              <a:spcAft>
                <a:spcPts val="0"/>
              </a:spcAft>
              <a:buNone/>
            </a:pPr>
            <a:r>
              <a:rPr lang="fr-FR" sz="1150" b="1" i="0" dirty="0">
                <a:solidFill>
                  <a:srgbClr val="FFFFFF"/>
                </a:solidFill>
                <a:latin typeface="Arial"/>
                <a:cs typeface="Arial"/>
              </a:rPr>
              <a:t>2SFCA</a:t>
            </a:r>
            <a:endParaRPr lang="fr-FR" sz="1150" dirty="0"/>
          </a:p>
        </p:txBody>
      </p:sp>
      <p:sp>
        <p:nvSpPr>
          <p:cNvPr id="27" name="Forme 27"/>
          <p:cNvSpPr/>
          <p:nvPr/>
        </p:nvSpPr>
        <p:spPr>
          <a:xfrm>
            <a:off x="2377440" y="4187952"/>
            <a:ext cx="3657600" cy="603504"/>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050" b="0" i="0" dirty="0">
                <a:solidFill>
                  <a:srgbClr val="202020"/>
                </a:solidFill>
                <a:latin typeface="Arial"/>
                <a:cs typeface="Arial"/>
              </a:rPr>
              <a:t>on partage l'offre d'un arrêt entre tous les habitants qui y ont accès : options pour 1 000 habitants.</a:t>
            </a:r>
            <a:endParaRPr lang="fr-FR" sz="1050" dirty="0"/>
          </a:p>
        </p:txBody>
      </p:sp>
      <p:sp>
        <p:nvSpPr>
          <p:cNvPr id="28" name="Forme 28"/>
          <p:cNvSpPr/>
          <p:nvPr/>
        </p:nvSpPr>
        <p:spPr>
          <a:xfrm>
            <a:off x="6172200" y="4187952"/>
            <a:ext cx="1783080" cy="603504"/>
          </a:xfrm>
          <a:prstGeom prst="roundRect">
            <a:avLst>
              <a:gd name="adj" fmla="val 14000"/>
            </a:avLst>
          </a:prstGeom>
          <a:solidFill>
            <a:srgbClr val="32B4B5"/>
          </a:solidFill>
          <a:ln>
            <a:noFill/>
          </a:ln>
        </p:spPr>
        <p:txBody>
          <a:bodyPr wrap="square" lIns="45720" tIns="0" rIns="45720" bIns="0" anchor="ctr" rtlCol="0">
            <a:noAutofit/>
          </a:bodyPr>
          <a:lstStyle/>
          <a:p>
            <a:pPr algn="ctr">
              <a:lnSpc>
                <a:spcPct val="100000"/>
              </a:lnSpc>
              <a:spcBef>
                <a:spcPts val="0"/>
              </a:spcBef>
              <a:spcAft>
                <a:spcPts val="0"/>
              </a:spcAft>
              <a:buNone/>
            </a:pPr>
            <a:r>
              <a:rPr lang="fr-FR" sz="1150" b="1" i="0" dirty="0">
                <a:solidFill>
                  <a:srgbClr val="FFFFFF"/>
                </a:solidFill>
                <a:latin typeface="Arial"/>
                <a:cs typeface="Arial"/>
              </a:rPr>
              <a:t>Lakehouse</a:t>
            </a:r>
            <a:endParaRPr lang="fr-FR" sz="1150" dirty="0"/>
          </a:p>
        </p:txBody>
      </p:sp>
      <p:sp>
        <p:nvSpPr>
          <p:cNvPr id="29" name="Forme 29"/>
          <p:cNvSpPr/>
          <p:nvPr/>
        </p:nvSpPr>
        <p:spPr>
          <a:xfrm>
            <a:off x="8092440" y="4187952"/>
            <a:ext cx="3657600" cy="603504"/>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050" b="0" i="0" dirty="0">
                <a:solidFill>
                  <a:srgbClr val="202020"/>
                </a:solidFill>
                <a:latin typeface="Arial"/>
                <a:cs typeface="Arial"/>
              </a:rPr>
              <a:t>espace de stockage de Microsoft Fabric qui range à la fois des fichiers et des tables.</a:t>
            </a:r>
            <a:endParaRPr lang="fr-FR" sz="1050" dirty="0"/>
          </a:p>
        </p:txBody>
      </p:sp>
      <p:sp>
        <p:nvSpPr>
          <p:cNvPr id="30" name="Forme 30"/>
          <p:cNvSpPr/>
          <p:nvPr/>
        </p:nvSpPr>
        <p:spPr>
          <a:xfrm>
            <a:off x="457200" y="4892040"/>
            <a:ext cx="1783080" cy="603504"/>
          </a:xfrm>
          <a:prstGeom prst="roundRect">
            <a:avLst>
              <a:gd name="adj" fmla="val 14000"/>
            </a:avLst>
          </a:prstGeom>
          <a:solidFill>
            <a:srgbClr val="32B4B5"/>
          </a:solidFill>
          <a:ln>
            <a:noFill/>
          </a:ln>
        </p:spPr>
        <p:txBody>
          <a:bodyPr wrap="square" lIns="45720" tIns="0" rIns="45720" bIns="0" anchor="ctr" rtlCol="0">
            <a:noAutofit/>
          </a:bodyPr>
          <a:lstStyle/>
          <a:p>
            <a:pPr algn="ctr">
              <a:lnSpc>
                <a:spcPct val="100000"/>
              </a:lnSpc>
              <a:spcBef>
                <a:spcPts val="0"/>
              </a:spcBef>
              <a:spcAft>
                <a:spcPts val="0"/>
              </a:spcAft>
              <a:buNone/>
            </a:pPr>
            <a:r>
              <a:rPr lang="fr-FR" sz="1150" b="1" i="0" dirty="0">
                <a:solidFill>
                  <a:srgbClr val="FFFFFF"/>
                </a:solidFill>
                <a:latin typeface="Arial"/>
                <a:cs typeface="Arial"/>
              </a:rPr>
              <a:t>Bronze / Silver / Gold</a:t>
            </a:r>
            <a:endParaRPr lang="fr-FR" sz="1150" dirty="0"/>
          </a:p>
        </p:txBody>
      </p:sp>
      <p:sp>
        <p:nvSpPr>
          <p:cNvPr id="31" name="Forme 31"/>
          <p:cNvSpPr/>
          <p:nvPr/>
        </p:nvSpPr>
        <p:spPr>
          <a:xfrm>
            <a:off x="2377440" y="4892040"/>
            <a:ext cx="3657600" cy="603504"/>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050" b="0" i="0" dirty="0">
                <a:solidFill>
                  <a:srgbClr val="202020"/>
                </a:solidFill>
                <a:latin typeface="Arial"/>
                <a:cs typeface="Arial"/>
              </a:rPr>
              <a:t>brut tel que téléchargé / nettoyé / prêt à l'emploi (indicateurs, recommandations).</a:t>
            </a:r>
            <a:endParaRPr lang="fr-FR" sz="1050" dirty="0"/>
          </a:p>
        </p:txBody>
      </p:sp>
      <p:sp>
        <p:nvSpPr>
          <p:cNvPr id="32" name="Forme 32"/>
          <p:cNvSpPr/>
          <p:nvPr/>
        </p:nvSpPr>
        <p:spPr>
          <a:xfrm>
            <a:off x="6172200" y="4892040"/>
            <a:ext cx="1783080" cy="603504"/>
          </a:xfrm>
          <a:prstGeom prst="roundRect">
            <a:avLst>
              <a:gd name="adj" fmla="val 14000"/>
            </a:avLst>
          </a:prstGeom>
          <a:solidFill>
            <a:srgbClr val="20A4B0"/>
          </a:solidFill>
          <a:ln>
            <a:noFill/>
          </a:ln>
        </p:spPr>
        <p:txBody>
          <a:bodyPr wrap="square" lIns="45720" tIns="0" rIns="45720" bIns="0" anchor="ctr" rtlCol="0">
            <a:noAutofit/>
          </a:bodyPr>
          <a:lstStyle/>
          <a:p>
            <a:pPr algn="ctr">
              <a:lnSpc>
                <a:spcPct val="100000"/>
              </a:lnSpc>
              <a:spcBef>
                <a:spcPts val="0"/>
              </a:spcBef>
              <a:spcAft>
                <a:spcPts val="0"/>
              </a:spcAft>
              <a:buNone/>
            </a:pPr>
            <a:r>
              <a:rPr lang="fr-FR" sz="1150" b="1" i="0" dirty="0">
                <a:solidFill>
                  <a:srgbClr val="FFFFFF"/>
                </a:solidFill>
                <a:latin typeface="Arial"/>
                <a:cs typeface="Arial"/>
              </a:rPr>
              <a:t>ILP</a:t>
            </a:r>
            <a:endParaRPr lang="fr-FR" sz="1150" dirty="0"/>
          </a:p>
        </p:txBody>
      </p:sp>
      <p:sp>
        <p:nvSpPr>
          <p:cNvPr id="33" name="Forme 33"/>
          <p:cNvSpPr/>
          <p:nvPr/>
        </p:nvSpPr>
        <p:spPr>
          <a:xfrm>
            <a:off x="8092440" y="4892040"/>
            <a:ext cx="3657600" cy="603504"/>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050" b="0" i="0" dirty="0">
                <a:solidFill>
                  <a:srgbClr val="202020"/>
                </a:solidFill>
                <a:latin typeface="Arial"/>
                <a:cs typeface="Arial"/>
              </a:rPr>
              <a:t>programme linéaire en nombres entiers : le solveur trouve le meilleur choix exact de stations sous budget.</a:t>
            </a:r>
            <a:endParaRPr lang="fr-FR" sz="1050" dirty="0"/>
          </a:p>
        </p:txBody>
      </p:sp>
      <p:sp>
        <p:nvSpPr>
          <p:cNvPr id="34" name="Forme 34"/>
          <p:cNvSpPr/>
          <p:nvPr/>
        </p:nvSpPr>
        <p:spPr>
          <a:xfrm>
            <a:off x="457200" y="5596128"/>
            <a:ext cx="1783080" cy="603504"/>
          </a:xfrm>
          <a:prstGeom prst="roundRect">
            <a:avLst>
              <a:gd name="adj" fmla="val 14000"/>
            </a:avLst>
          </a:prstGeom>
          <a:solidFill>
            <a:srgbClr val="20A4B0"/>
          </a:solidFill>
          <a:ln>
            <a:noFill/>
          </a:ln>
        </p:spPr>
        <p:txBody>
          <a:bodyPr wrap="square" lIns="45720" tIns="0" rIns="45720" bIns="0" anchor="ctr" rtlCol="0">
            <a:noAutofit/>
          </a:bodyPr>
          <a:lstStyle/>
          <a:p>
            <a:pPr algn="ctr">
              <a:lnSpc>
                <a:spcPct val="100000"/>
              </a:lnSpc>
              <a:spcBef>
                <a:spcPts val="0"/>
              </a:spcBef>
              <a:spcAft>
                <a:spcPts val="0"/>
              </a:spcAft>
              <a:buNone/>
            </a:pPr>
            <a:r>
              <a:rPr lang="fr-FR" sz="1150" b="1" i="0" dirty="0">
                <a:solidFill>
                  <a:srgbClr val="FFFFFF"/>
                </a:solidFill>
                <a:latin typeface="Arial"/>
                <a:cs typeface="Arial"/>
              </a:rPr>
              <a:t>Glouton</a:t>
            </a:r>
            <a:endParaRPr lang="fr-FR" sz="1150" dirty="0"/>
          </a:p>
        </p:txBody>
      </p:sp>
      <p:sp>
        <p:nvSpPr>
          <p:cNvPr id="35" name="Forme 35"/>
          <p:cNvSpPr/>
          <p:nvPr/>
        </p:nvSpPr>
        <p:spPr>
          <a:xfrm>
            <a:off x="2377440" y="5596128"/>
            <a:ext cx="3657600" cy="603504"/>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050" b="0" i="0" dirty="0">
                <a:solidFill>
                  <a:srgbClr val="202020"/>
                </a:solidFill>
                <a:latin typeface="Arial"/>
                <a:cs typeface="Arial"/>
              </a:rPr>
              <a:t>on prend à chaque fois la station qui rapporte le plus, sans revenir en arrière : rapide, pas toujours optimal.</a:t>
            </a:r>
            <a:endParaRPr lang="fr-FR" sz="1050" dirty="0"/>
          </a:p>
        </p:txBody>
      </p:sp>
      <p:sp>
        <p:nvSpPr>
          <p:cNvPr id="36" name="Forme 36"/>
          <p:cNvSpPr/>
          <p:nvPr/>
        </p:nvSpPr>
        <p:spPr>
          <a:xfrm>
            <a:off x="6172200" y="5596128"/>
            <a:ext cx="1783080" cy="603504"/>
          </a:xfrm>
          <a:prstGeom prst="roundRect">
            <a:avLst>
              <a:gd name="adj" fmla="val 14000"/>
            </a:avLst>
          </a:prstGeom>
          <a:solidFill>
            <a:srgbClr val="32B4B5"/>
          </a:solidFill>
          <a:ln>
            <a:noFill/>
          </a:ln>
        </p:spPr>
        <p:txBody>
          <a:bodyPr wrap="square" lIns="45720" tIns="0" rIns="45720" bIns="0" anchor="ctr" rtlCol="0">
            <a:noAutofit/>
          </a:bodyPr>
          <a:lstStyle/>
          <a:p>
            <a:pPr algn="ctr">
              <a:lnSpc>
                <a:spcPct val="100000"/>
              </a:lnSpc>
              <a:spcBef>
                <a:spcPts val="0"/>
              </a:spcBef>
              <a:spcAft>
                <a:spcPts val="0"/>
              </a:spcAft>
              <a:buNone/>
            </a:pPr>
            <a:r>
              <a:rPr lang="fr-FR" sz="1150" b="1" i="0" dirty="0">
                <a:solidFill>
                  <a:srgbClr val="FFFFFF"/>
                </a:solidFill>
                <a:latin typeface="Arial"/>
                <a:cs typeface="Arial"/>
              </a:rPr>
              <a:t>Jour type</a:t>
            </a:r>
            <a:endParaRPr lang="fr-FR" sz="1150" dirty="0"/>
          </a:p>
        </p:txBody>
      </p:sp>
      <p:sp>
        <p:nvSpPr>
          <p:cNvPr id="37" name="Forme 37"/>
          <p:cNvSpPr/>
          <p:nvPr/>
        </p:nvSpPr>
        <p:spPr>
          <a:xfrm>
            <a:off x="8092440" y="5596128"/>
            <a:ext cx="3657600" cy="603504"/>
          </a:xfrm>
          <a:prstGeom prst="rect">
            <a:avLst/>
          </a:prstGeom>
          <a:noFill/>
          <a:ln>
            <a:noFill/>
          </a:ln>
        </p:spPr>
        <p:txBody>
          <a:bodyPr wrap="square" lIns="18288" tIns="18288" rIns="18288" bIns="18288" anchor="ctr" rtlCol="0">
            <a:noAutofit/>
          </a:bodyPr>
          <a:lstStyle/>
          <a:p>
            <a:pPr algn="l">
              <a:lnSpc>
                <a:spcPct val="100000"/>
              </a:lnSpc>
              <a:spcBef>
                <a:spcPts val="0"/>
              </a:spcBef>
              <a:spcAft>
                <a:spcPts val="0"/>
              </a:spcAft>
              <a:buNone/>
            </a:pPr>
            <a:r>
              <a:rPr lang="fr-FR" sz="1050" b="0" i="0" dirty="0">
                <a:solidFill>
                  <a:srgbClr val="202020"/>
                </a:solidFill>
                <a:latin typeface="Arial"/>
                <a:cs typeface="Arial"/>
              </a:rPr>
              <a:t>le mardi 17/11/2026, figé, sur lequel on compte les passages de tous les réseaux.</a:t>
            </a:r>
            <a:endParaRPr lang="fr-FR" sz="1050" dirty="0"/>
          </a:p>
        </p:txBody>
      </p:sp>
      <p:pic>
        <p:nvPicPr>
          <p:cNvPr id="9027"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32B4B5"/>
                </a:solidFill>
                <a:latin typeface="Arial"/>
                <a:cs typeface="Arial"/>
              </a:rPr>
              <a:t>PARTIE 9 · VERSION ORALE</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Le résumé d'une minute</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À dire tel quel, calmement : environ 160 mots.</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28</a:t>
            </a:r>
            <a:endParaRPr lang="fr-FR" sz="900" dirty="0"/>
          </a:p>
        </p:txBody>
      </p:sp>
      <p:sp>
        <p:nvSpPr>
          <p:cNvPr id="10" name="Forme 10"/>
          <p:cNvSpPr/>
          <p:nvPr/>
        </p:nvSpPr>
        <p:spPr>
          <a:xfrm>
            <a:off x="457200" y="1371600"/>
            <a:ext cx="11274552" cy="4206240"/>
          </a:xfrm>
          <a:prstGeom prst="roundRect">
            <a:avLst>
              <a:gd name="adj" fmla="val 4000"/>
            </a:avLst>
          </a:prstGeom>
          <a:solidFill>
            <a:srgbClr val="DBF4F4"/>
          </a:solidFill>
          <a:ln>
            <a:noFill/>
          </a:ln>
        </p:spPr>
        <p:txBody>
          <a:bodyPr wrap="square" lIns="411480" tIns="274320" rIns="411480" bIns="228600" anchor="t" rtlCol="0">
            <a:noAutofit/>
          </a:bodyPr>
          <a:lstStyle/>
          <a:p>
            <a:pPr algn="l">
              <a:lnSpc>
                <a:spcPct val="110000"/>
              </a:lnSpc>
              <a:spcBef>
                <a:spcPts val="0"/>
              </a:spcBef>
              <a:spcAft>
                <a:spcPts val="0"/>
              </a:spcAft>
              <a:buNone/>
            </a:pPr>
            <a:r>
              <a:rPr lang="fr-FR" sz="1500" b="0" i="0" dirty="0">
                <a:solidFill>
                  <a:srgbClr val="202020"/>
                </a:solidFill>
                <a:latin typeface="Arial"/>
                <a:cs typeface="Arial"/>
              </a:rPr>
              <a:t>« Toutes nos données sont </a:t>
            </a:r>
            <a:r>
              <a:rPr lang="fr-FR" sz="1500" b="1" i="0" dirty="0">
                <a:solidFill>
                  <a:srgbClr val="202020"/>
                </a:solidFill>
                <a:latin typeface="Arial"/>
                <a:cs typeface="Arial"/>
              </a:rPr>
              <a:t>ouvertes</a:t>
            </a:r>
            <a:r>
              <a:rPr lang="fr-FR" sz="1500" b="0" i="0" dirty="0">
                <a:solidFill>
                  <a:srgbClr val="202020"/>
                </a:solidFill>
                <a:latin typeface="Arial"/>
                <a:cs typeface="Arial"/>
              </a:rPr>
              <a:t> : quatorze sources publiques, de l'INSEE, de l'IGN, de transport.data.gouv.fr, d'OpenStreetMap, du ministère de l'Intérieur et de Nantes Métropole.</a:t>
            </a:r>
            <a:endParaRPr lang="fr-FR" sz="1500" dirty="0"/>
          </a:p>
          <a:p>
            <a:pPr algn="l">
              <a:lnSpc>
                <a:spcPct val="110000"/>
              </a:lnSpc>
              <a:spcBef>
                <a:spcPts val="800"/>
              </a:spcBef>
              <a:spcAft>
                <a:spcPts val="0"/>
              </a:spcAft>
              <a:buNone/>
            </a:pPr>
            <a:r>
              <a:rPr lang="fr-FR" sz="1500" b="0" i="0" dirty="0">
                <a:solidFill>
                  <a:srgbClr val="202020"/>
                </a:solidFill>
                <a:latin typeface="Arial"/>
                <a:cs typeface="Arial"/>
              </a:rPr>
              <a:t>Un seul script les </a:t>
            </a:r>
            <a:r>
              <a:rPr lang="fr-FR" sz="1500" b="1" i="0" dirty="0">
                <a:solidFill>
                  <a:srgbClr val="202020"/>
                </a:solidFill>
                <a:latin typeface="Arial"/>
                <a:cs typeface="Arial"/>
              </a:rPr>
              <a:t>télécharge automatiquement</a:t>
            </a:r>
            <a:r>
              <a:rPr lang="fr-FR" sz="1500" b="0" i="0" dirty="0">
                <a:solidFill>
                  <a:srgbClr val="202020"/>
                </a:solidFill>
                <a:latin typeface="Arial"/>
                <a:cs typeface="Arial"/>
              </a:rPr>
              <a:t> : il interroge l'API nationale des transports pour trouver les 548 fichiers d'horaires et les flux de vélos et d'autopartage, il lit le catalogue de l'IGN pour prendre la dernière édition, et il </a:t>
            </a:r>
            <a:r>
              <a:rPr lang="fr-FR" sz="1500" b="1" i="0" dirty="0">
                <a:solidFill>
                  <a:srgbClr val="202020"/>
                </a:solidFill>
                <a:latin typeface="Arial"/>
                <a:cs typeface="Arial"/>
              </a:rPr>
              <a:t>reprend tout seul</a:t>
            </a:r>
            <a:r>
              <a:rPr lang="fr-FR" sz="1500" b="0" i="0" dirty="0">
                <a:solidFill>
                  <a:srgbClr val="202020"/>
                </a:solidFill>
                <a:latin typeface="Arial"/>
                <a:cs typeface="Arial"/>
              </a:rPr>
              <a:t> s'il est coupé. Un deuxième script </a:t>
            </a:r>
            <a:r>
              <a:rPr lang="fr-FR" sz="1500" b="1" i="0" dirty="0">
                <a:solidFill>
                  <a:srgbClr val="202020"/>
                </a:solidFill>
                <a:latin typeface="Arial"/>
                <a:cs typeface="Arial"/>
              </a:rPr>
              <a:t>vérifie</a:t>
            </a:r>
            <a:r>
              <a:rPr lang="fr-FR" sz="1500" b="0" i="0" dirty="0">
                <a:solidFill>
                  <a:srgbClr val="202020"/>
                </a:solidFill>
                <a:latin typeface="Arial"/>
                <a:cs typeface="Arial"/>
              </a:rPr>
              <a:t> chaque fichier.</a:t>
            </a:r>
            <a:endParaRPr lang="fr-FR" sz="1500" dirty="0"/>
          </a:p>
          <a:p>
            <a:pPr algn="l">
              <a:lnSpc>
                <a:spcPct val="110000"/>
              </a:lnSpc>
              <a:spcBef>
                <a:spcPts val="800"/>
              </a:spcBef>
              <a:spcAft>
                <a:spcPts val="0"/>
              </a:spcAft>
              <a:buNone/>
            </a:pPr>
            <a:r>
              <a:rPr lang="fr-FR" sz="1500" b="0" i="0" dirty="0">
                <a:solidFill>
                  <a:srgbClr val="202020"/>
                </a:solidFill>
                <a:latin typeface="Arial"/>
                <a:cs typeface="Arial"/>
              </a:rPr>
              <a:t>Ensuite on </a:t>
            </a:r>
            <a:r>
              <a:rPr lang="fr-FR" sz="1500" b="1" i="0" dirty="0">
                <a:solidFill>
                  <a:srgbClr val="202020"/>
                </a:solidFill>
                <a:latin typeface="Arial"/>
                <a:cs typeface="Arial"/>
              </a:rPr>
              <a:t>nettoie</a:t>
            </a:r>
            <a:r>
              <a:rPr lang="fr-FR" sz="1500" b="0" i="0" dirty="0">
                <a:solidFill>
                  <a:srgbClr val="202020"/>
                </a:solidFill>
                <a:latin typeface="Arial"/>
                <a:cs typeface="Arial"/>
              </a:rPr>
              <a:t> : on fusionne les arrêts en double, on fige un mardi type pour les horaires, et on recale la population sur le recensement, parce que Filosofi oublie environ 10 % des habitants, surtout des étudiants.</a:t>
            </a:r>
            <a:endParaRPr lang="fr-FR" sz="1500" dirty="0"/>
          </a:p>
          <a:p>
            <a:pPr algn="l">
              <a:lnSpc>
                <a:spcPct val="110000"/>
              </a:lnSpc>
              <a:spcBef>
                <a:spcPts val="800"/>
              </a:spcBef>
              <a:spcAft>
                <a:spcPts val="0"/>
              </a:spcAft>
              <a:buNone/>
            </a:pPr>
            <a:r>
              <a:rPr lang="fr-FR" sz="1500" b="0" i="0" dirty="0">
                <a:solidFill>
                  <a:srgbClr val="202020"/>
                </a:solidFill>
                <a:latin typeface="Arial"/>
                <a:cs typeface="Arial"/>
              </a:rPr>
              <a:t>Enfin, pour chaque carreau de 200 mètres, on compte les options à </a:t>
            </a:r>
            <a:r>
              <a:rPr lang="fr-FR" sz="1500" b="1" i="0" dirty="0">
                <a:solidFill>
                  <a:srgbClr val="202020"/>
                </a:solidFill>
                <a:latin typeface="Arial"/>
                <a:cs typeface="Arial"/>
              </a:rPr>
              <a:t>5 minutes de vraie marche</a:t>
            </a:r>
            <a:r>
              <a:rPr lang="fr-FR" sz="1500" b="0" i="0" dirty="0">
                <a:solidFill>
                  <a:srgbClr val="202020"/>
                </a:solidFill>
                <a:latin typeface="Arial"/>
                <a:cs typeface="Arial"/>
              </a:rPr>
              <a:t>. Tout se reconstruit en </a:t>
            </a:r>
            <a:r>
              <a:rPr lang="fr-FR" sz="1500" b="1" i="0" dirty="0">
                <a:solidFill>
                  <a:srgbClr val="202020"/>
                </a:solidFill>
                <a:latin typeface="Arial"/>
                <a:cs typeface="Arial"/>
              </a:rPr>
              <a:t>cinq commandes</a:t>
            </a:r>
            <a:r>
              <a:rPr lang="fr-FR" sz="1500" b="0" i="0" dirty="0">
                <a:solidFill>
                  <a:srgbClr val="202020"/>
                </a:solidFill>
                <a:latin typeface="Arial"/>
                <a:cs typeface="Arial"/>
              </a:rPr>
              <a:t>, </a:t>
            </a:r>
            <a:r>
              <a:rPr lang="fr-FR" sz="1500" b="1" i="0" dirty="0">
                <a:solidFill>
                  <a:srgbClr val="202020"/>
                </a:solidFill>
                <a:latin typeface="Arial"/>
                <a:cs typeface="Arial"/>
              </a:rPr>
              <a:t>82 tests</a:t>
            </a:r>
            <a:r>
              <a:rPr lang="fr-FR" sz="1500" b="0" i="0" dirty="0">
                <a:solidFill>
                  <a:srgbClr val="202020"/>
                </a:solidFill>
                <a:latin typeface="Arial"/>
                <a:cs typeface="Arial"/>
              </a:rPr>
              <a:t> vérifient le résultat, et la même chaîne tourne dans Fabric en Bronze, Silver, Gold. »</a:t>
            </a:r>
            <a:endParaRPr lang="fr-FR" sz="1500" dirty="0"/>
          </a:p>
        </p:txBody>
      </p:sp>
      <p:sp>
        <p:nvSpPr>
          <p:cNvPr id="11" name="Forme 11"/>
          <p:cNvSpPr/>
          <p:nvPr/>
        </p:nvSpPr>
        <p:spPr>
          <a:xfrm>
            <a:off x="457200" y="5715000"/>
            <a:ext cx="11274552" cy="548640"/>
          </a:xfrm>
          <a:prstGeom prst="roundRect">
            <a:avLst>
              <a:gd name="adj" fmla="val 10000"/>
            </a:avLst>
          </a:prstGeom>
          <a:solidFill>
            <a:srgbClr val="F5F5F5"/>
          </a:solidFill>
          <a:ln>
            <a:noFill/>
          </a:ln>
        </p:spPr>
        <p:txBody>
          <a:bodyPr wrap="square" lIns="274320" tIns="27432" rIns="274320" bIns="27432" anchor="ctr" rtlCol="0">
            <a:noAutofit/>
          </a:bodyPr>
          <a:lstStyle/>
          <a:p>
            <a:pPr algn="l">
              <a:lnSpc>
                <a:spcPct val="100000"/>
              </a:lnSpc>
              <a:spcBef>
                <a:spcPts val="0"/>
              </a:spcBef>
              <a:spcAft>
                <a:spcPts val="0"/>
              </a:spcAft>
              <a:buNone/>
            </a:pPr>
            <a:r>
              <a:rPr lang="fr-FR" sz="1100" b="0" i="0" dirty="0">
                <a:solidFill>
                  <a:srgbClr val="202020"/>
                </a:solidFill>
                <a:latin typeface="Arial"/>
                <a:cs typeface="Arial"/>
              </a:rPr>
              <a:t>À montrer si on a l'écran : </a:t>
            </a:r>
            <a:r>
              <a:rPr lang="fr-FR" sz="1100" b="0" i="0" dirty="0">
                <a:solidFill>
                  <a:srgbClr val="20A4B0"/>
                </a:solidFill>
                <a:latin typeface="Consolas"/>
                <a:cs typeface="Consolas"/>
              </a:rPr>
              <a:t>docs/sources.md</a:t>
            </a:r>
            <a:r>
              <a:rPr lang="fr-FR" sz="1100" b="0" i="0" dirty="0">
                <a:solidFill>
                  <a:srgbClr val="202020"/>
                </a:solidFill>
                <a:latin typeface="Arial"/>
                <a:cs typeface="Arial"/>
              </a:rPr>
              <a:t> (liens), </a:t>
            </a:r>
            <a:r>
              <a:rPr lang="fr-FR" sz="1100" b="0" i="0" dirty="0">
                <a:solidFill>
                  <a:srgbClr val="20A4B0"/>
                </a:solidFill>
                <a:latin typeface="Consolas"/>
                <a:cs typeface="Consolas"/>
              </a:rPr>
              <a:t>data/raw/manifest.csv</a:t>
            </a:r>
            <a:r>
              <a:rPr lang="fr-FR" sz="1100" b="0" i="0" dirty="0">
                <a:solidFill>
                  <a:srgbClr val="202020"/>
                </a:solidFill>
                <a:latin typeface="Arial"/>
                <a:cs typeface="Arial"/>
              </a:rPr>
              <a:t> (traçabilité), </a:t>
            </a:r>
            <a:r>
              <a:rPr lang="fr-FR" sz="1100" b="0" i="0" dirty="0">
                <a:solidFill>
                  <a:srgbClr val="20A4B0"/>
                </a:solidFill>
                <a:latin typeface="Consolas"/>
                <a:cs typeface="Consolas"/>
              </a:rPr>
              <a:t>data/raw/check_report.md</a:t>
            </a:r>
            <a:r>
              <a:rPr lang="fr-FR" sz="1100" b="0" i="0" dirty="0">
                <a:solidFill>
                  <a:srgbClr val="202020"/>
                </a:solidFill>
                <a:latin typeface="Arial"/>
                <a:cs typeface="Arial"/>
              </a:rPr>
              <a:t> (vérification).</a:t>
            </a:r>
            <a:endParaRPr lang="fr-FR" sz="1100" dirty="0"/>
          </a:p>
        </p:txBody>
      </p:sp>
      <p:pic>
        <p:nvPicPr>
          <p:cNvPr id="9028"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e 4"/>
          <p:cNvSpPr/>
          <p:nvPr/>
        </p:nvSpPr>
        <p:spPr>
          <a:xfrm>
            <a:off x="457200" y="256032"/>
            <a:ext cx="7315200" cy="2743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050" b="1" i="0" dirty="0">
                <a:solidFill>
                  <a:srgbClr val="32B4B5"/>
                </a:solidFill>
                <a:latin typeface="Arial"/>
                <a:cs typeface="Arial"/>
              </a:rPr>
              <a:t>PARTIE 9 · VERSION ORALE</a:t>
            </a:r>
            <a:endParaRPr lang="fr-FR" sz="1050" dirty="0"/>
          </a:p>
        </p:txBody>
      </p:sp>
      <p:sp>
        <p:nvSpPr>
          <p:cNvPr id="5" name="Forme 5"/>
          <p:cNvSpPr/>
          <p:nvPr/>
        </p:nvSpPr>
        <p:spPr>
          <a:xfrm>
            <a:off x="457200" y="502920"/>
            <a:ext cx="11247120" cy="5486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2500" b="1" i="0" dirty="0">
                <a:solidFill>
                  <a:srgbClr val="202020"/>
                </a:solidFill>
                <a:latin typeface="Arial"/>
                <a:cs typeface="Arial"/>
              </a:rPr>
              <a:t>Les 5 questions les plus probables sur les données</a:t>
            </a:r>
            <a:endParaRPr lang="fr-FR" sz="2500" dirty="0"/>
          </a:p>
        </p:txBody>
      </p:sp>
      <p:sp>
        <p:nvSpPr>
          <p:cNvPr id="6" name="Forme 6"/>
          <p:cNvSpPr/>
          <p:nvPr/>
        </p:nvSpPr>
        <p:spPr>
          <a:xfrm>
            <a:off x="457200" y="987552"/>
            <a:ext cx="11247120" cy="32004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50" b="0" i="0" dirty="0">
                <a:solidFill>
                  <a:srgbClr val="616060"/>
                </a:solidFill>
                <a:latin typeface="Arial"/>
                <a:cs typeface="Arial"/>
              </a:rPr>
              <a:t>Réponse courte d'abord, le chiffre ensuite.</a:t>
            </a:r>
            <a:endParaRPr lang="fr-FR" sz="1250" dirty="0"/>
          </a:p>
        </p:txBody>
      </p:sp>
      <p:sp>
        <p:nvSpPr>
          <p:cNvPr id="9" name="Forme 9"/>
          <p:cNvSpPr/>
          <p:nvPr/>
        </p:nvSpPr>
        <p:spPr>
          <a:xfrm>
            <a:off x="457200" y="6492240"/>
            <a:ext cx="1371600" cy="256032"/>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900" b="0" i="0" dirty="0">
                <a:solidFill>
                  <a:srgbClr val="616060"/>
                </a:solidFill>
                <a:latin typeface="Arial"/>
                <a:cs typeface="Arial"/>
              </a:rPr>
              <a:t>29</a:t>
            </a:r>
            <a:endParaRPr lang="fr-FR" sz="900" dirty="0"/>
          </a:p>
        </p:txBody>
      </p:sp>
      <p:sp>
        <p:nvSpPr>
          <p:cNvPr id="10" name="Forme 10"/>
          <p:cNvSpPr/>
          <p:nvPr/>
        </p:nvSpPr>
        <p:spPr>
          <a:xfrm>
            <a:off x="457200" y="1371600"/>
            <a:ext cx="548640" cy="868680"/>
          </a:xfrm>
          <a:prstGeom prst="roundRect">
            <a:avLst>
              <a:gd name="adj" fmla="val 12000"/>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1400" b="1" i="0" dirty="0">
                <a:solidFill>
                  <a:srgbClr val="FFFFFF"/>
                </a:solidFill>
                <a:latin typeface="Arial"/>
                <a:cs typeface="Arial"/>
              </a:rPr>
              <a:t>Q1</a:t>
            </a:r>
            <a:endParaRPr lang="fr-FR" sz="1400" dirty="0"/>
          </a:p>
        </p:txBody>
      </p:sp>
      <p:sp>
        <p:nvSpPr>
          <p:cNvPr id="11" name="Forme 11"/>
          <p:cNvSpPr/>
          <p:nvPr/>
        </p:nvSpPr>
        <p:spPr>
          <a:xfrm>
            <a:off x="1097280" y="1371600"/>
            <a:ext cx="10634472" cy="868680"/>
          </a:xfrm>
          <a:prstGeom prst="roundRect">
            <a:avLst>
              <a:gd name="adj" fmla="val 6000"/>
            </a:avLst>
          </a:prstGeom>
          <a:solidFill>
            <a:srgbClr val="F5F5F5"/>
          </a:solidFill>
          <a:ln>
            <a:noFill/>
          </a:ln>
        </p:spPr>
        <p:txBody>
          <a:bodyPr wrap="square" lIns="182880" tIns="36576" rIns="182880" bIns="36576" anchor="ctr" rtlCol="0">
            <a:noAutofit/>
          </a:bodyPr>
          <a:lstStyle/>
          <a:p>
            <a:pPr algn="l">
              <a:lnSpc>
                <a:spcPct val="100000"/>
              </a:lnSpc>
              <a:spcBef>
                <a:spcPts val="0"/>
              </a:spcBef>
              <a:spcAft>
                <a:spcPts val="0"/>
              </a:spcAft>
              <a:buNone/>
            </a:pPr>
            <a:r>
              <a:rPr lang="fr-FR" sz="1300" b="1" i="0" dirty="0">
                <a:solidFill>
                  <a:srgbClr val="202020"/>
                </a:solidFill>
                <a:latin typeface="Arial"/>
                <a:cs typeface="Arial"/>
              </a:rPr>
              <a:t>Vos données sont-elles à jour et reproductibles ?</a:t>
            </a:r>
            <a:endParaRPr lang="fr-FR" sz="1300" dirty="0"/>
          </a:p>
          <a:p>
            <a:pPr algn="l">
              <a:lnSpc>
                <a:spcPct val="100000"/>
              </a:lnSpc>
              <a:spcBef>
                <a:spcPts val="200"/>
              </a:spcBef>
              <a:spcAft>
                <a:spcPts val="0"/>
              </a:spcAft>
              <a:buNone/>
            </a:pPr>
            <a:r>
              <a:rPr lang="fr-FR" sz="1150" b="0" i="0" dirty="0">
                <a:solidFill>
                  <a:srgbClr val="202020"/>
                </a:solidFill>
                <a:latin typeface="Arial"/>
                <a:cs typeface="Arial"/>
              </a:rPr>
              <a:t>Téléchargées le 19/10/2026, horaires lus sur un mardi figé (17/11/2026). </a:t>
            </a:r>
            <a:r>
              <a:rPr lang="fr-FR" sz="1150" b="0" i="0" dirty="0">
                <a:solidFill>
                  <a:srgbClr val="20A4B0"/>
                </a:solidFill>
                <a:latin typeface="Consolas"/>
                <a:cs typeface="Consolas"/>
              </a:rPr>
              <a:t>manifest.csv</a:t>
            </a:r>
            <a:r>
              <a:rPr lang="fr-FR" sz="1150" b="0" i="0" dirty="0">
                <a:solidFill>
                  <a:srgbClr val="202020"/>
                </a:solidFill>
                <a:latin typeface="Arial"/>
                <a:cs typeface="Arial"/>
              </a:rPr>
              <a:t> garde l'URL, la taille et la date de chaque fichier ; tout se relance en 5 commandes.</a:t>
            </a:r>
            <a:endParaRPr lang="fr-FR" sz="1150" dirty="0"/>
          </a:p>
        </p:txBody>
      </p:sp>
      <p:sp>
        <p:nvSpPr>
          <p:cNvPr id="12" name="Forme 12"/>
          <p:cNvSpPr/>
          <p:nvPr/>
        </p:nvSpPr>
        <p:spPr>
          <a:xfrm>
            <a:off x="457200" y="2359152"/>
            <a:ext cx="548640" cy="868680"/>
          </a:xfrm>
          <a:prstGeom prst="roundRect">
            <a:avLst>
              <a:gd name="adj" fmla="val 12000"/>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1400" b="1" i="0" dirty="0">
                <a:solidFill>
                  <a:srgbClr val="FFFFFF"/>
                </a:solidFill>
                <a:latin typeface="Arial"/>
                <a:cs typeface="Arial"/>
              </a:rPr>
              <a:t>Q2</a:t>
            </a:r>
            <a:endParaRPr lang="fr-FR" sz="1400" dirty="0"/>
          </a:p>
        </p:txBody>
      </p:sp>
      <p:sp>
        <p:nvSpPr>
          <p:cNvPr id="13" name="Forme 13"/>
          <p:cNvSpPr/>
          <p:nvPr/>
        </p:nvSpPr>
        <p:spPr>
          <a:xfrm>
            <a:off x="1097280" y="2359152"/>
            <a:ext cx="10634472" cy="868680"/>
          </a:xfrm>
          <a:prstGeom prst="roundRect">
            <a:avLst>
              <a:gd name="adj" fmla="val 6000"/>
            </a:avLst>
          </a:prstGeom>
          <a:solidFill>
            <a:srgbClr val="F5F5F5"/>
          </a:solidFill>
          <a:ln>
            <a:noFill/>
          </a:ln>
        </p:spPr>
        <p:txBody>
          <a:bodyPr wrap="square" lIns="182880" tIns="36576" rIns="182880" bIns="36576" anchor="ctr" rtlCol="0">
            <a:noAutofit/>
          </a:bodyPr>
          <a:lstStyle/>
          <a:p>
            <a:pPr algn="l">
              <a:lnSpc>
                <a:spcPct val="100000"/>
              </a:lnSpc>
              <a:spcBef>
                <a:spcPts val="0"/>
              </a:spcBef>
              <a:spcAft>
                <a:spcPts val="0"/>
              </a:spcAft>
              <a:buNone/>
            </a:pPr>
            <a:r>
              <a:rPr lang="fr-FR" sz="1300" b="1" i="0" dirty="0">
                <a:solidFill>
                  <a:srgbClr val="202020"/>
                </a:solidFill>
                <a:latin typeface="Arial"/>
                <a:cs typeface="Arial"/>
              </a:rPr>
              <a:t>Pourquoi recaler la population ?</a:t>
            </a:r>
            <a:endParaRPr lang="fr-FR" sz="1300" dirty="0"/>
          </a:p>
          <a:p>
            <a:pPr algn="l">
              <a:lnSpc>
                <a:spcPct val="100000"/>
              </a:lnSpc>
              <a:spcBef>
                <a:spcPts val="200"/>
              </a:spcBef>
              <a:spcAft>
                <a:spcPts val="0"/>
              </a:spcAft>
              <a:buNone/>
            </a:pPr>
            <a:r>
              <a:rPr lang="fr-FR" sz="1150" b="0" i="0" dirty="0">
                <a:solidFill>
                  <a:srgbClr val="202020"/>
                </a:solidFill>
                <a:latin typeface="Arial"/>
                <a:cs typeface="Arial"/>
              </a:rPr>
              <a:t>Filosofi ne compte que les ménages fiscaux ordinaires : 625 546 habitants à Nantes contre 689 456 au recensement. On recale commune par commune ; la répartition dans la commune reste celle de Filosofi.</a:t>
            </a:r>
            <a:endParaRPr lang="fr-FR" sz="1150" dirty="0"/>
          </a:p>
        </p:txBody>
      </p:sp>
      <p:sp>
        <p:nvSpPr>
          <p:cNvPr id="14" name="Forme 14"/>
          <p:cNvSpPr/>
          <p:nvPr/>
        </p:nvSpPr>
        <p:spPr>
          <a:xfrm>
            <a:off x="457200" y="3346704"/>
            <a:ext cx="548640" cy="868680"/>
          </a:xfrm>
          <a:prstGeom prst="roundRect">
            <a:avLst>
              <a:gd name="adj" fmla="val 12000"/>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1400" b="1" i="0" dirty="0">
                <a:solidFill>
                  <a:srgbClr val="FFFFFF"/>
                </a:solidFill>
                <a:latin typeface="Arial"/>
                <a:cs typeface="Arial"/>
              </a:rPr>
              <a:t>Q3</a:t>
            </a:r>
            <a:endParaRPr lang="fr-FR" sz="1400" dirty="0"/>
          </a:p>
        </p:txBody>
      </p:sp>
      <p:sp>
        <p:nvSpPr>
          <p:cNvPr id="15" name="Forme 15"/>
          <p:cNvSpPr/>
          <p:nvPr/>
        </p:nvSpPr>
        <p:spPr>
          <a:xfrm>
            <a:off x="1097280" y="3346704"/>
            <a:ext cx="10634472" cy="868680"/>
          </a:xfrm>
          <a:prstGeom prst="roundRect">
            <a:avLst>
              <a:gd name="adj" fmla="val 6000"/>
            </a:avLst>
          </a:prstGeom>
          <a:solidFill>
            <a:srgbClr val="F5F5F5"/>
          </a:solidFill>
          <a:ln>
            <a:noFill/>
          </a:ln>
        </p:spPr>
        <p:txBody>
          <a:bodyPr wrap="square" lIns="182880" tIns="36576" rIns="182880" bIns="36576" anchor="ctr" rtlCol="0">
            <a:noAutofit/>
          </a:bodyPr>
          <a:lstStyle/>
          <a:p>
            <a:pPr algn="l">
              <a:lnSpc>
                <a:spcPct val="100000"/>
              </a:lnSpc>
              <a:spcBef>
                <a:spcPts val="0"/>
              </a:spcBef>
              <a:spcAft>
                <a:spcPts val="0"/>
              </a:spcAft>
              <a:buNone/>
            </a:pPr>
            <a:r>
              <a:rPr lang="fr-FR" sz="1300" b="1" i="0" dirty="0">
                <a:solidFill>
                  <a:srgbClr val="202020"/>
                </a:solidFill>
                <a:latin typeface="Arial"/>
                <a:cs typeface="Arial"/>
              </a:rPr>
              <a:t>Et l'autopartage qui n'est pas en open data, comme Getaround ?</a:t>
            </a:r>
            <a:endParaRPr lang="fr-FR" sz="1300" dirty="0"/>
          </a:p>
          <a:p>
            <a:pPr algn="l">
              <a:lnSpc>
                <a:spcPct val="100000"/>
              </a:lnSpc>
              <a:spcBef>
                <a:spcPts val="200"/>
              </a:spcBef>
              <a:spcAft>
                <a:spcPts val="0"/>
              </a:spcAft>
              <a:buNone/>
            </a:pPr>
            <a:r>
              <a:rPr lang="fr-FR" sz="1150" b="0" i="0" dirty="0">
                <a:solidFill>
                  <a:srgbClr val="202020"/>
                </a:solidFill>
                <a:latin typeface="Arial"/>
                <a:cs typeface="Arial"/>
              </a:rPr>
              <a:t>Il est invisible, et nous le disons. Nous avons ajouté les 61 stations Marguerite grâce à l'open data de Nantes Métropole. Notre critère mesure l'autopartage « visible ».</a:t>
            </a:r>
            <a:endParaRPr lang="fr-FR" sz="1150" dirty="0"/>
          </a:p>
        </p:txBody>
      </p:sp>
      <p:sp>
        <p:nvSpPr>
          <p:cNvPr id="16" name="Forme 16"/>
          <p:cNvSpPr/>
          <p:nvPr/>
        </p:nvSpPr>
        <p:spPr>
          <a:xfrm>
            <a:off x="457200" y="4334256"/>
            <a:ext cx="548640" cy="868680"/>
          </a:xfrm>
          <a:prstGeom prst="roundRect">
            <a:avLst>
              <a:gd name="adj" fmla="val 12000"/>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1400" b="1" i="0" dirty="0">
                <a:solidFill>
                  <a:srgbClr val="FFFFFF"/>
                </a:solidFill>
                <a:latin typeface="Arial"/>
                <a:cs typeface="Arial"/>
              </a:rPr>
              <a:t>Q4</a:t>
            </a:r>
            <a:endParaRPr lang="fr-FR" sz="1400" dirty="0"/>
          </a:p>
        </p:txBody>
      </p:sp>
      <p:sp>
        <p:nvSpPr>
          <p:cNvPr id="17" name="Forme 17"/>
          <p:cNvSpPr/>
          <p:nvPr/>
        </p:nvSpPr>
        <p:spPr>
          <a:xfrm>
            <a:off x="1097280" y="4334256"/>
            <a:ext cx="10634472" cy="868680"/>
          </a:xfrm>
          <a:prstGeom prst="roundRect">
            <a:avLst>
              <a:gd name="adj" fmla="val 6000"/>
            </a:avLst>
          </a:prstGeom>
          <a:solidFill>
            <a:srgbClr val="F5F5F5"/>
          </a:solidFill>
          <a:ln>
            <a:noFill/>
          </a:ln>
        </p:spPr>
        <p:txBody>
          <a:bodyPr wrap="square" lIns="182880" tIns="36576" rIns="182880" bIns="36576" anchor="ctr" rtlCol="0">
            <a:noAutofit/>
          </a:bodyPr>
          <a:lstStyle/>
          <a:p>
            <a:pPr algn="l">
              <a:lnSpc>
                <a:spcPct val="100000"/>
              </a:lnSpc>
              <a:spcBef>
                <a:spcPts val="0"/>
              </a:spcBef>
              <a:spcAft>
                <a:spcPts val="0"/>
              </a:spcAft>
              <a:buNone/>
            </a:pPr>
            <a:r>
              <a:rPr lang="fr-FR" sz="1300" b="1" i="0" dirty="0">
                <a:solidFill>
                  <a:srgbClr val="202020"/>
                </a:solidFill>
                <a:latin typeface="Arial"/>
                <a:cs typeface="Arial"/>
              </a:rPr>
              <a:t>Comment évitez-vous de compter deux fois un arrêt ?</a:t>
            </a:r>
            <a:endParaRPr lang="fr-FR" sz="1300" dirty="0"/>
          </a:p>
          <a:p>
            <a:pPr algn="l">
              <a:lnSpc>
                <a:spcPct val="100000"/>
              </a:lnSpc>
              <a:spcBef>
                <a:spcPts val="200"/>
              </a:spcBef>
              <a:spcAft>
                <a:spcPts val="0"/>
              </a:spcAft>
              <a:buNone/>
            </a:pPr>
            <a:r>
              <a:rPr lang="fr-FR" sz="1150" b="0" i="0" dirty="0">
                <a:solidFill>
                  <a:srgbClr val="202020"/>
                </a:solidFill>
                <a:latin typeface="Arial"/>
                <a:cs typeface="Arial"/>
              </a:rPr>
              <a:t>On fusionne les points d'un même mode à moins de 40 m (150 m pour les gares) : à Nantes, 2 536 arrêts de bus deviennent 1 682 ; en France, 533 613 points deviennent 231 092.</a:t>
            </a:r>
            <a:endParaRPr lang="fr-FR" sz="1150" dirty="0"/>
          </a:p>
        </p:txBody>
      </p:sp>
      <p:sp>
        <p:nvSpPr>
          <p:cNvPr id="18" name="Forme 18"/>
          <p:cNvSpPr/>
          <p:nvPr/>
        </p:nvSpPr>
        <p:spPr>
          <a:xfrm>
            <a:off x="457200" y="5321808"/>
            <a:ext cx="548640" cy="868680"/>
          </a:xfrm>
          <a:prstGeom prst="roundRect">
            <a:avLst>
              <a:gd name="adj" fmla="val 12000"/>
            </a:avLst>
          </a:prstGeom>
          <a:solidFill>
            <a:srgbClr val="32B4B5"/>
          </a:solidFill>
          <a:ln>
            <a:noFill/>
          </a:ln>
        </p:spPr>
        <p:txBody>
          <a:bodyPr wrap="square" lIns="0" tIns="0" rIns="0" bIns="0" anchor="ctr" rtlCol="0">
            <a:noAutofit/>
          </a:bodyPr>
          <a:lstStyle/>
          <a:p>
            <a:pPr algn="ctr">
              <a:lnSpc>
                <a:spcPct val="100000"/>
              </a:lnSpc>
              <a:spcBef>
                <a:spcPts val="0"/>
              </a:spcBef>
              <a:spcAft>
                <a:spcPts val="0"/>
              </a:spcAft>
              <a:buNone/>
            </a:pPr>
            <a:r>
              <a:rPr lang="fr-FR" sz="1400" b="1" i="0" dirty="0">
                <a:solidFill>
                  <a:srgbClr val="FFFFFF"/>
                </a:solidFill>
                <a:latin typeface="Arial"/>
                <a:cs typeface="Arial"/>
              </a:rPr>
              <a:t>Q5</a:t>
            </a:r>
            <a:endParaRPr lang="fr-FR" sz="1400" dirty="0"/>
          </a:p>
        </p:txBody>
      </p:sp>
      <p:sp>
        <p:nvSpPr>
          <p:cNvPr id="19" name="Forme 19"/>
          <p:cNvSpPr/>
          <p:nvPr/>
        </p:nvSpPr>
        <p:spPr>
          <a:xfrm>
            <a:off x="1097280" y="5321808"/>
            <a:ext cx="10634472" cy="868680"/>
          </a:xfrm>
          <a:prstGeom prst="roundRect">
            <a:avLst>
              <a:gd name="adj" fmla="val 6000"/>
            </a:avLst>
          </a:prstGeom>
          <a:solidFill>
            <a:srgbClr val="F5F5F5"/>
          </a:solidFill>
          <a:ln>
            <a:noFill/>
          </a:ln>
        </p:spPr>
        <p:txBody>
          <a:bodyPr wrap="square" lIns="182880" tIns="36576" rIns="182880" bIns="36576" anchor="ctr" rtlCol="0">
            <a:noAutofit/>
          </a:bodyPr>
          <a:lstStyle/>
          <a:p>
            <a:pPr algn="l">
              <a:lnSpc>
                <a:spcPct val="100000"/>
              </a:lnSpc>
              <a:spcBef>
                <a:spcPts val="0"/>
              </a:spcBef>
              <a:spcAft>
                <a:spcPts val="0"/>
              </a:spcAft>
              <a:buNone/>
            </a:pPr>
            <a:r>
              <a:rPr lang="fr-FR" sz="1300" b="1" i="0" dirty="0">
                <a:solidFill>
                  <a:srgbClr val="202020"/>
                </a:solidFill>
                <a:latin typeface="Arial"/>
                <a:cs typeface="Arial"/>
              </a:rPr>
              <a:t>Pourquoi ne pas mesurer l'usage réel des stations Citiz ?</a:t>
            </a:r>
            <a:endParaRPr lang="fr-FR" sz="1300" dirty="0"/>
          </a:p>
          <a:p>
            <a:pPr algn="l">
              <a:lnSpc>
                <a:spcPct val="100000"/>
              </a:lnSpc>
              <a:spcBef>
                <a:spcPts val="200"/>
              </a:spcBef>
              <a:spcAft>
                <a:spcPts val="0"/>
              </a:spcAft>
              <a:buNone/>
            </a:pPr>
            <a:r>
              <a:rPr lang="fr-FR" sz="1150" b="0" i="0" dirty="0">
                <a:solidFill>
                  <a:srgbClr val="202020"/>
                </a:solidFill>
                <a:latin typeface="Arial"/>
                <a:cs typeface="Arial"/>
              </a:rPr>
              <a:t>Le GBFS ne donne qu'un instantané. Nous avons photographié les stations toutes les 5 minutes, mais 34 photos et 12 changements, c'est trop peu. Cible retenue : la présence d'une station, et nous en disons la limite.</a:t>
            </a:r>
            <a:endParaRPr lang="fr-FR" sz="1150" dirty="0"/>
          </a:p>
        </p:txBody>
      </p:sp>
      <p:pic>
        <p:nvPicPr>
          <p:cNvPr id="9029" name="Logo Citiz" descr="Logo Citiz"/>
          <p:cNvPicPr>
            <a:picLocks noChangeAspect="1"/>
          </p:cNvPicPr>
          <p:nvPr/>
        </p:nvPicPr>
        <p:blipFill>
          <a:blip r:embed="rIdLogo"/>
          <a:stretch>
            <a:fillRect/>
          </a:stretch>
        </p:blipFill>
        <p:spPr>
          <a:xfrm>
            <a:off x="10817352" y="6355080"/>
            <a:ext cx="722376" cy="29260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32B4B5"/>
        </a:solidFill>
        <a:effectLst/>
      </p:bgPr>
    </p:bg>
    <p:spTree>
      <p:nvGrpSpPr>
        <p:cNvPr id="1" name=""/>
        <p:cNvGrpSpPr/>
        <p:nvPr/>
      </p:nvGrpSpPr>
      <p:grpSpPr>
        <a:xfrm>
          <a:off x="0" y="0"/>
          <a:ext cx="0" cy="0"/>
          <a:chOff x="0" y="0"/>
          <a:chExt cx="0" cy="0"/>
        </a:xfrm>
      </p:grpSpPr>
      <p:sp>
        <p:nvSpPr>
          <p:cNvPr id="4" name="Forme 4"/>
          <p:cNvSpPr/>
          <p:nvPr/>
        </p:nvSpPr>
        <p:spPr>
          <a:xfrm>
            <a:off x="731520" y="1097280"/>
            <a:ext cx="10515600" cy="73152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3600" b="1" i="0" dirty="0">
                <a:solidFill>
                  <a:srgbClr val="FFFFFF"/>
                </a:solidFill>
                <a:latin typeface="Arial"/>
                <a:cs typeface="Arial"/>
              </a:rPr>
              <a:t>À retenir</a:t>
            </a:r>
            <a:endParaRPr lang="fr-FR" sz="3600" dirty="0"/>
          </a:p>
        </p:txBody>
      </p:sp>
      <p:sp>
        <p:nvSpPr>
          <p:cNvPr id="5" name="Forme 5"/>
          <p:cNvSpPr/>
          <p:nvPr/>
        </p:nvSpPr>
        <p:spPr>
          <a:xfrm>
            <a:off x="731520" y="2103120"/>
            <a:ext cx="5212080" cy="1600200"/>
          </a:xfrm>
          <a:prstGeom prst="roundRect">
            <a:avLst>
              <a:gd name="adj" fmla="val 7000"/>
            </a:avLst>
          </a:prstGeom>
          <a:solidFill>
            <a:srgbClr val="20A4B0"/>
          </a:solidFill>
          <a:ln>
            <a:noFill/>
          </a:ln>
        </p:spPr>
        <p:txBody>
          <a:bodyPr wrap="square" lIns="274320" tIns="182880" rIns="274320" bIns="137160" anchor="t" rtlCol="0">
            <a:noAutofit/>
          </a:bodyPr>
          <a:lstStyle/>
          <a:p>
            <a:pPr algn="l">
              <a:lnSpc>
                <a:spcPct val="100000"/>
              </a:lnSpc>
              <a:spcBef>
                <a:spcPts val="0"/>
              </a:spcBef>
              <a:spcAft>
                <a:spcPts val="0"/>
              </a:spcAft>
              <a:buNone/>
            </a:pPr>
            <a:r>
              <a:rPr lang="fr-FR" sz="1800" b="1" i="0" dirty="0">
                <a:solidFill>
                  <a:srgbClr val="FFFFFF"/>
                </a:solidFill>
                <a:latin typeface="Arial"/>
                <a:cs typeface="Arial"/>
              </a:rPr>
              <a:t>100 % open data</a:t>
            </a:r>
            <a:endParaRPr lang="fr-FR" sz="1800" dirty="0"/>
          </a:p>
          <a:p>
            <a:pPr algn="l">
              <a:lnSpc>
                <a:spcPct val="100000"/>
              </a:lnSpc>
              <a:spcBef>
                <a:spcPts val="600"/>
              </a:spcBef>
              <a:spcAft>
                <a:spcPts val="0"/>
              </a:spcAft>
              <a:buNone/>
            </a:pPr>
            <a:r>
              <a:rPr lang="fr-FR" sz="1300" b="0" i="0" dirty="0">
                <a:solidFill>
                  <a:srgbClr val="FFFFFF"/>
                </a:solidFill>
                <a:latin typeface="Arial"/>
                <a:cs typeface="Arial"/>
              </a:rPr>
              <a:t>14 sources publiques, chacune avec son lien exact, sa licence et sa date.</a:t>
            </a:r>
            <a:endParaRPr lang="fr-FR" sz="1300" dirty="0"/>
          </a:p>
        </p:txBody>
      </p:sp>
      <p:sp>
        <p:nvSpPr>
          <p:cNvPr id="6" name="Forme 6"/>
          <p:cNvSpPr/>
          <p:nvPr/>
        </p:nvSpPr>
        <p:spPr>
          <a:xfrm>
            <a:off x="6217920" y="2103120"/>
            <a:ext cx="5212080" cy="1600200"/>
          </a:xfrm>
          <a:prstGeom prst="roundRect">
            <a:avLst>
              <a:gd name="adj" fmla="val 7000"/>
            </a:avLst>
          </a:prstGeom>
          <a:solidFill>
            <a:srgbClr val="20A4B0"/>
          </a:solidFill>
          <a:ln>
            <a:noFill/>
          </a:ln>
        </p:spPr>
        <p:txBody>
          <a:bodyPr wrap="square" lIns="274320" tIns="182880" rIns="274320" bIns="137160" anchor="t" rtlCol="0">
            <a:noAutofit/>
          </a:bodyPr>
          <a:lstStyle/>
          <a:p>
            <a:pPr algn="l">
              <a:lnSpc>
                <a:spcPct val="100000"/>
              </a:lnSpc>
              <a:spcBef>
                <a:spcPts val="0"/>
              </a:spcBef>
              <a:spcAft>
                <a:spcPts val="0"/>
              </a:spcAft>
              <a:buNone/>
            </a:pPr>
            <a:r>
              <a:rPr lang="fr-FR" sz="1800" b="1" i="0" dirty="0">
                <a:solidFill>
                  <a:srgbClr val="FFFFFF"/>
                </a:solidFill>
                <a:latin typeface="Arial"/>
                <a:cs typeface="Arial"/>
              </a:rPr>
              <a:t>Automatisé et vérifié</a:t>
            </a:r>
            <a:endParaRPr lang="fr-FR" sz="1800" dirty="0"/>
          </a:p>
          <a:p>
            <a:pPr algn="l">
              <a:lnSpc>
                <a:spcPct val="100000"/>
              </a:lnSpc>
              <a:spcBef>
                <a:spcPts val="600"/>
              </a:spcBef>
              <a:spcAft>
                <a:spcPts val="0"/>
              </a:spcAft>
              <a:buNone/>
            </a:pPr>
            <a:r>
              <a:rPr lang="fr-FR" sz="1300" b="0" i="0" dirty="0">
                <a:solidFill>
                  <a:srgbClr val="FFFFFF"/>
                </a:solidFill>
                <a:latin typeface="Arial"/>
                <a:cs typeface="Arial"/>
              </a:rPr>
              <a:t>Téléchargement, vérification, nettoyage et calculs : un script par étape, 82 tests.</a:t>
            </a:r>
            <a:endParaRPr lang="fr-FR" sz="1300" dirty="0"/>
          </a:p>
        </p:txBody>
      </p:sp>
      <p:sp>
        <p:nvSpPr>
          <p:cNvPr id="7" name="Forme 7"/>
          <p:cNvSpPr/>
          <p:nvPr/>
        </p:nvSpPr>
        <p:spPr>
          <a:xfrm>
            <a:off x="731520" y="3931920"/>
            <a:ext cx="5212080" cy="1600200"/>
          </a:xfrm>
          <a:prstGeom prst="roundRect">
            <a:avLst>
              <a:gd name="adj" fmla="val 7000"/>
            </a:avLst>
          </a:prstGeom>
          <a:solidFill>
            <a:srgbClr val="20A4B0"/>
          </a:solidFill>
          <a:ln>
            <a:noFill/>
          </a:ln>
        </p:spPr>
        <p:txBody>
          <a:bodyPr wrap="square" lIns="274320" tIns="182880" rIns="274320" bIns="137160" anchor="t" rtlCol="0">
            <a:noAutofit/>
          </a:bodyPr>
          <a:lstStyle/>
          <a:p>
            <a:pPr algn="l">
              <a:lnSpc>
                <a:spcPct val="100000"/>
              </a:lnSpc>
              <a:spcBef>
                <a:spcPts val="0"/>
              </a:spcBef>
              <a:spcAft>
                <a:spcPts val="0"/>
              </a:spcAft>
              <a:buNone/>
            </a:pPr>
            <a:r>
              <a:rPr lang="fr-FR" sz="1800" b="1" i="0" dirty="0">
                <a:solidFill>
                  <a:srgbClr val="FFFFFF"/>
                </a:solidFill>
                <a:latin typeface="Arial"/>
                <a:cs typeface="Arial"/>
              </a:rPr>
              <a:t>Nettoyé, et chiffré</a:t>
            </a:r>
            <a:endParaRPr lang="fr-FR" sz="1800" dirty="0"/>
          </a:p>
          <a:p>
            <a:pPr algn="l">
              <a:lnSpc>
                <a:spcPct val="100000"/>
              </a:lnSpc>
              <a:spcBef>
                <a:spcPts val="600"/>
              </a:spcBef>
              <a:spcAft>
                <a:spcPts val="0"/>
              </a:spcAft>
              <a:buNone/>
            </a:pPr>
            <a:r>
              <a:rPr lang="fr-FR" sz="1300" b="0" i="0" dirty="0">
                <a:solidFill>
                  <a:srgbClr val="FFFFFF"/>
                </a:solidFill>
                <a:latin typeface="Arial"/>
                <a:cs typeface="Arial"/>
              </a:rPr>
              <a:t>Doublons, jour type, calage, secret statistique : chaque traitement a son avant / après.</a:t>
            </a:r>
            <a:endParaRPr lang="fr-FR" sz="1300" dirty="0"/>
          </a:p>
        </p:txBody>
      </p:sp>
      <p:sp>
        <p:nvSpPr>
          <p:cNvPr id="8" name="Forme 8"/>
          <p:cNvSpPr/>
          <p:nvPr/>
        </p:nvSpPr>
        <p:spPr>
          <a:xfrm>
            <a:off x="6217920" y="3931920"/>
            <a:ext cx="5212080" cy="1600200"/>
          </a:xfrm>
          <a:prstGeom prst="roundRect">
            <a:avLst>
              <a:gd name="adj" fmla="val 7000"/>
            </a:avLst>
          </a:prstGeom>
          <a:solidFill>
            <a:srgbClr val="20A4B0"/>
          </a:solidFill>
          <a:ln>
            <a:noFill/>
          </a:ln>
        </p:spPr>
        <p:txBody>
          <a:bodyPr wrap="square" lIns="274320" tIns="182880" rIns="274320" bIns="137160" anchor="t" rtlCol="0">
            <a:noAutofit/>
          </a:bodyPr>
          <a:lstStyle/>
          <a:p>
            <a:pPr algn="l">
              <a:lnSpc>
                <a:spcPct val="100000"/>
              </a:lnSpc>
              <a:spcBef>
                <a:spcPts val="0"/>
              </a:spcBef>
              <a:spcAft>
                <a:spcPts val="0"/>
              </a:spcAft>
              <a:buNone/>
            </a:pPr>
            <a:r>
              <a:rPr lang="fr-FR" sz="1800" b="1" i="0" dirty="0">
                <a:solidFill>
                  <a:srgbClr val="FFFFFF"/>
                </a:solidFill>
                <a:latin typeface="Arial"/>
                <a:cs typeface="Arial"/>
              </a:rPr>
              <a:t>Honnête sur les limites</a:t>
            </a:r>
            <a:endParaRPr lang="fr-FR" sz="1800" dirty="0"/>
          </a:p>
          <a:p>
            <a:pPr algn="l">
              <a:lnSpc>
                <a:spcPct val="100000"/>
              </a:lnSpc>
              <a:spcBef>
                <a:spcPts val="600"/>
              </a:spcBef>
              <a:spcAft>
                <a:spcPts val="0"/>
              </a:spcAft>
              <a:buNone/>
            </a:pPr>
            <a:r>
              <a:rPr lang="fr-FR" sz="1300" b="0" i="0" dirty="0">
                <a:solidFill>
                  <a:srgbClr val="FFFFFF"/>
                </a:solidFill>
                <a:latin typeface="Arial"/>
                <a:cs typeface="Arial"/>
              </a:rPr>
              <a:t>Getaround invisible, historique Citiz trop court, DROM incomplets : dit et mesuré.</a:t>
            </a:r>
            <a:endParaRPr lang="fr-FR" sz="1300" dirty="0"/>
          </a:p>
        </p:txBody>
      </p:sp>
      <p:sp>
        <p:nvSpPr>
          <p:cNvPr id="9" name="Forme 9"/>
          <p:cNvSpPr/>
          <p:nvPr/>
        </p:nvSpPr>
        <p:spPr>
          <a:xfrm>
            <a:off x="731520" y="5989320"/>
            <a:ext cx="10789920" cy="365760"/>
          </a:xfrm>
          <a:prstGeom prst="rect">
            <a:avLst/>
          </a:prstGeom>
          <a:noFill/>
          <a:ln>
            <a:noFill/>
          </a:ln>
        </p:spPr>
        <p:txBody>
          <a:bodyPr wrap="square" lIns="18288" tIns="18288" rIns="18288" bIns="18288" anchor="t" rtlCol="0">
            <a:noAutofit/>
          </a:bodyPr>
          <a:lstStyle/>
          <a:p>
            <a:pPr algn="l">
              <a:lnSpc>
                <a:spcPct val="100000"/>
              </a:lnSpc>
              <a:spcBef>
                <a:spcPts val="0"/>
              </a:spcBef>
              <a:spcAft>
                <a:spcPts val="0"/>
              </a:spcAft>
              <a:buNone/>
            </a:pPr>
            <a:r>
              <a:rPr lang="fr-FR" sz="1200" b="0" i="0" dirty="0">
                <a:solidFill>
                  <a:srgbClr val="DBF4F4"/>
                </a:solidFill>
                <a:latin typeface="Arial"/>
                <a:cs typeface="Arial"/>
              </a:rPr>
              <a:t>Le détail : docs/sources.md · docs/methodologie.md · docs/chiffres_cles.md · docs/RECUPERER_LES_DONNEES.md</a:t>
            </a:r>
            <a:endParaRPr lang="fr-FR" sz="1200" dirty="0"/>
          </a:p>
        </p:txBody>
      </p:sp>
      <p:pic>
        <p:nvPicPr>
          <p:cNvPr id="9030" name="Logo Citiz blanc" descr="Logo Citiz blanc"/>
          <p:cNvPicPr>
            <a:picLocks noChangeAspect="1"/>
          </p:cNvPicPr>
          <p:nvPr/>
        </p:nvPicPr>
        <p:blipFill>
          <a:blip r:embed="rIdLogoB"/>
          <a:stretch>
            <a:fillRect/>
          </a:stretch>
        </p:blipFill>
        <p:spPr>
          <a:xfrm>
            <a:off x="10817352" y="6355080"/>
            <a:ext cx="722376" cy="292608"/>
          </a:xfrm>
          <a:prstGeom prst="rect">
            <a:avLst/>
          </a:prstGeom>
        </p:spPr>
      </p:pic>
    </p:spTree>
  </p:cSld>
  <p:clrMapOvr>
    <a:masterClrMapping/>
  </p:clrMapOvr>
</p:sld>
</file>

<file path=ppt/theme/theme1.xml><?xml version="1.0" encoding="utf-8"?>
<a:theme xmlns:a="http://schemas.openxmlformats.org/drawingml/2006/main" name="Citiz">
  <a:themeElements>
    <a:clrScheme name="Citiz">
      <a:dk1>
        <a:srgbClr val="202020"/>
      </a:dk1>
      <a:lt1>
        <a:srgbClr val="FFFFFF"/>
      </a:lt1>
      <a:dk2>
        <a:srgbClr val="616060"/>
      </a:dk2>
      <a:lt2>
        <a:srgbClr val="DBF4F4"/>
      </a:lt2>
      <a:accent1>
        <a:srgbClr val="32B4B5"/>
      </a:accent1>
      <a:accent2>
        <a:srgbClr val="20A4B0"/>
      </a:accent2>
      <a:accent3>
        <a:srgbClr val="2A4A96"/>
      </a:accent3>
      <a:accent4>
        <a:srgbClr val="E63329"/>
      </a:accent4>
      <a:accent5>
        <a:srgbClr val="514E98"/>
      </a:accent5>
      <a:accent6>
        <a:srgbClr val="969696"/>
      </a:accent6>
      <a:hlink>
        <a:srgbClr val="20A4B0"/>
      </a:hlink>
      <a:folHlink>
        <a:srgbClr val="514E98"/>
      </a:folHlink>
    </a:clrScheme>
    <a:fontScheme name="Citiz">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Slides>30</Slides>
</Properties>
</file>

<file path=docProps/core.xml><?xml version="1.0" encoding="utf-8"?>
<cp:coreProperties xmlns:cp="http://schemas.openxmlformats.org/package/2006/metadata/core-properties" xmlns:dc="http://purl.org/dc/elements/1.1/" xmlns:dcterms="http://purl.org/dc/terms/" xmlns:xsi="http://www.w3.org/2001/XMLSchema-instance">
  <dc:title>Nos données, de A à Z</dc:title>
  <dc:creator>Hackathon Mobility × Citiz</dc:creator>
  <cp:lastModifiedBy>Hackathon Mobility × Citiz</cp:lastModifiedBy>
</cp:coreProperties>
</file>