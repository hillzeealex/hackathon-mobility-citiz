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ésentation" id="{d6b6d5da-4af7-e913-49db-d2c0d5996508}">
          <p14:sldIdLst>
            <p14:sldId id="256"/>
            <p14:sldId id="257"/>
            <p14:sldId id="258"/>
            <p14:sldId id="259"/>
          </p14:sldIdLst>
        </p14:section>
        <p14:section name="Annexes" id="{c819fdf2-0795-44dc-ad5d-d28ad1457dbd}">
          <p14:sldIdLst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0202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202020"/>
                </a:solidFill>
                <a:latin typeface="+mn-lt"/>
              </a:rPr>
              <a:t>Stations de Grenoble (177) dans les carreaux jugés les plus favorables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Modèle</c:v>
                </c:pt>
              </c:strCache>
            </c:strRef>
          </c:tx>
          <c:spPr>
            <a:solidFill>
              <a:srgbClr val="32B4B5"/>
            </a:solidFill>
            <a:effectLst/>
          </c:spPr>
          <c:invertIfNegative val="0"/>
          <c:dLbls>
            <c:numFmt formatCode="0&quot; 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20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Top 5 %</c:v>
                  </c:pt>
                  <c:pt idx="1">
                    <c:v>Top 10 %</c:v>
                  </c:pt>
                  <c:pt idx="2">
                    <c:v>Top 20 %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</c:v>
                </c:pt>
                <c:pt idx="1">
                  <c:v>68</c:v>
                </c:pt>
                <c:pt idx="2">
                  <c:v>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Densité seule</c:v>
                </c:pt>
              </c:strCache>
            </c:strRef>
          </c:tx>
          <c:spPr>
            <a:solidFill>
              <a:srgbClr val="C3C3C3"/>
            </a:solidFill>
            <a:effectLst/>
          </c:spPr>
          <c:invertIfNegative val="0"/>
          <c:dLbls>
            <c:numFmt formatCode="0&quot; 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20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Top 5 %</c:v>
                  </c:pt>
                  <c:pt idx="1">
                    <c:v>Top 10 %</c:v>
                  </c:pt>
                  <c:pt idx="2">
                    <c:v>Top 20 %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53</c:v>
                </c:pt>
                <c:pt idx="1">
                  <c:v>64</c:v>
                </c:pt>
                <c:pt idx="2">
                  <c:v>80</c:v>
                </c:pt>
              </c:numCache>
            </c:numRef>
          </c:val>
        </c:ser>
        <c:dLbls>
          <c:numFmt formatCode="0&quot; 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020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160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1606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(20 s) Nous avons travaillé sur Nantes Métropole : 689 000 habitants, mais seulement 23 stations Citiz, onze fois moins qu'à Grenoble pour la même population. Citiz y est déjà présent : c'est un réseau à densifier, donc le terrain où une recommandation d'implantation a le plus de valeur.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(30 s) Le problème : en mesurant la vraie marche, sur les rues, seul un Nantais sur cinq a une voiture partagée à 5 minutes, Citiz et Marguerite confondus, alors que 80 % ont un bus, un tram ou un vélo. Et 107 000 habitants dépendent d'un seul arrêt. Le besoin de Citiz : avec un budget donné, où ouvrir ses prochaines stations pour toucher le plus d'habitants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(40 s) Notre outil fait quatre choses. Il mesure l'accès à 5 minutes de vraie marche pour chaque carreau de 200 m. Il prédit où une station Citiz fonctionne : testé à l'aveugle sur Grenoble, il retrouve 89 % des stations. Il choisit les stations qui ajoutent le plus d'habitants pour le budget. Et il restitue tout dans Power BI. Toute la chaîne tourne dans Microsoft Fabric. Place à la démo.
DÉMO (2 min 45), rapport Power BI citiz_acces_investissement :
1. Page « Nantes : diagnostic » : la carte, 19 % à 5 min d'un autopartage.
2. Page « Nantes : où investir » : budget 500 000 €, la carte des 13 stations et la liste priorisée ; passer à 1 000 000 €.
3. Page « Rentabilité d'une station » : saisir les valeurs, montrer le seuil de rentabilité.
4. Si le temps le permet : un run réussi du pipeline dans l'onglet Surveiller de Fabric (pas de lancement en direct).
Plan B : application Streamlit (lancer_demo.bat) ou captures de slides/img/demo/.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(45 s) Notre recommandation : avec 500 000 €, 13 stations. 22 500 Nantais de plus se retrouvent à 5 minutes à pied d'une voiture partagée : la couverture passe de 19,0 % à 22,3 %, pour 21,9 € par habitant sur 3 ans, et 18 tonnes de CO2 évitées par an. Hypothèse de coût : 37 900 € par station sur 3 ans, à valider avec Citiz. Avec 1 M€, 26 stations et 50 000 habitants, pour un coût par habitant comparable (19,6 €) : l'outil aide à arbitrer le budget. Aucune donnée de délinquance n'entre dans le calcul. Limite principale : le modèle apprend où Citiz s'est installé, pas une demande mesurée. Merci, place aux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Peut-on faire confiance au modèle ? Il apprend, sur toute la France, à quoi ressemble un carreau qui a une station Citiz. Pour le tester, on lui a caché tout le réseau de Grenoble. Il retrouve 89 % des stations dans les 20 % de carreaux qu'il juge les plus favorables, contre 80 % avec la densité seule. Limite assumée : il apprend où Citiz s'est installé, pas une demande mesurée.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que Microsoft attendait : une vraie chaîne. Architecture en médaillon : bronze garde les données brutes, silver les nettoie et les contrôle, gold contient les résultats prêts à l'emploi. Le pipeline citiz_pipeline enchaîne six notebooks, dont l'entraînement du modèle. Il relance tout en 15 à 20 minutes et réessaie automatiquement deux fois si la capacité est saturée. Chaque table porte l'identifiant de son run. (Montrer un run réussi dans l'onglet Surveiller, pas un lancement en direct.)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Résultat clé : Fabric retrouve les chiffres officiels du prototype local, 80,7 % contre 80,6 %, et 19,0 % contre 19,0 %. Tous nos chiffres de Nantes sortent donc du pipeline Fabric. Le rapport Power BI lit les tables gold en Direct Lake, sans import : la carte de Nantes, la liste sous budget avec son curseur, et une simulation de rentabilité d'une station.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 limites, assumées : le modèle apprend où Citiz s'est déjà installé, pas une demande mesurée ; les coûts sont des hypothèses publiques ; certains opérateurs ne publient pas leurs données. La suite : suivre le modèle avec MLflow dans Fabric, planifier le pipeline chaque semaine, collecter l'usage réel des stations, et valider la liste avec les équipes de Citiz à Nantes.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Voici la France entière, carreau de 200 m par carreau de 200 m. Un habitant sur quatre (24,1 %) n'a aucune option de mobilité à 5 minutes à pied : ni bus, ni tram, ni vélo, ni voiture partagée. Et c'est une estimation optimiste, calculée à vol d'oiseau. Seuls 5,6 % des Français ont une station Citiz à 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VERTUR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32588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804672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pic>
        <p:nvPicPr>
          <p:cNvPr id="3" name="Image 0" descr="/private/tmp/claude-501/-Users-alexander-hills-Downloads-hackathon-mobility/f1ffbe17-d504-4e53-83c8-b27ab1814837/scratchpad/deck/assets/citiz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727448"/>
            <a:ext cx="594360" cy="24048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2744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6969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2744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6969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Citiz blanc" descr="/private/tmp/claude-501/-Users-alexander-hills-Downloads-hackathon-mobility/f1ffbe17-d504-4e53-83c8-b27ab1814837/scratchpad/deck/assets/citiz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463040" cy="592531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1325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Hackathon Mobilité · Epitech × Citiz × Microsoft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169164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Où ouvrir les prochaines stations Citiz à Nantes Métropole ?</a:t>
            </a:r>
            <a:endParaRPr lang="en-US" sz="36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Notre terrain : 689 000 habitants et 23 stations Citiz seulement, 11 fois moins qu'à Grenoble pour la même population. Citiz y est déjà : un réseau à densifier.</a:t>
            </a:r>
            <a:endParaRPr lang="en-US" sz="1600" dirty="0"/>
          </a:p>
        </p:txBody>
      </p:sp>
      <p:sp>
        <p:nvSpPr>
          <p:cNvPr id="6" name="Bandeau partenaires"/>
          <p:cNvSpPr/>
          <p:nvPr/>
        </p:nvSpPr>
        <p:spPr>
          <a:xfrm>
            <a:off x="548640" y="4023360"/>
            <a:ext cx="475488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Logo Citiz" descr="/private/tmp/claude-501/-Users-alexander-hills-Downloads-hackathon-mobility/f1ffbe17-d504-4e53-83c8-b27ab1814837/scratchpad/deck/assets/citiz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79392"/>
            <a:ext cx="777240" cy="314554"/>
          </a:xfrm>
          <a:prstGeom prst="rect">
            <a:avLst/>
          </a:prstGeom>
        </p:spPr>
      </p:pic>
      <p:sp>
        <p:nvSpPr>
          <p:cNvPr id="8" name="Croix 1"/>
          <p:cNvSpPr txBox="1"/>
          <p:nvPr/>
        </p:nvSpPr>
        <p:spPr>
          <a:xfrm>
            <a:off x="1737360" y="4206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×</a:t>
            </a:r>
            <a:endParaRPr lang="en-US" sz="1800" dirty="0"/>
          </a:p>
        </p:txBody>
      </p:sp>
      <p:pic>
        <p:nvPicPr>
          <p:cNvPr id="9" name="Logo Epitech" descr="/private/tmp/claude-501/-Users-alexander-hills-Downloads-hackathon-mobility/f1ffbe17-d504-4e53-83c8-b27ab1814837/scratchpad/deck/assets/epite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4206240"/>
            <a:ext cx="1234440" cy="457200"/>
          </a:xfrm>
          <a:prstGeom prst="rect">
            <a:avLst/>
          </a:prstGeom>
        </p:spPr>
      </p:pic>
      <p:sp>
        <p:nvSpPr>
          <p:cNvPr id="10" name="Croix 2"/>
          <p:cNvSpPr txBox="1"/>
          <p:nvPr/>
        </p:nvSpPr>
        <p:spPr>
          <a:xfrm>
            <a:off x="3474720" y="4206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×</a:t>
            </a:r>
            <a:endParaRPr lang="en-US" sz="1800" dirty="0"/>
          </a:p>
        </p:txBody>
      </p:sp>
      <p:pic>
        <p:nvPicPr>
          <p:cNvPr id="11" name="Logo Microsoft" descr="/private/tmp/claude-501/-Users-alexander-hills-Downloads-hackathon-mobility/f1ffbe17-d504-4e53-83c8-b27ab1814837/scratchpad/deck/assets/microso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4297680"/>
            <a:ext cx="1188720" cy="2532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À Nantes, 1 habitant sur 5 seulement a une voiture partagée à 5 minutes à pied</a:t>
            </a:r>
            <a:endParaRPr lang="en-US" sz="2400" dirty="0"/>
          </a:p>
        </p:txBody>
      </p:sp>
      <p:sp>
        <p:nvSpPr>
          <p:cNvPr id="3" name="Autopartage valeur"/>
          <p:cNvSpPr txBox="1"/>
          <p:nvPr/>
        </p:nvSpPr>
        <p:spPr>
          <a:xfrm>
            <a:off x="457200" y="1097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</a:rPr>
              <a:t>19,0 %</a:t>
            </a:r>
            <a:endParaRPr lang="en-US" sz="3400" dirty="0"/>
          </a:p>
        </p:txBody>
      </p:sp>
      <p:sp>
        <p:nvSpPr>
          <p:cNvPr id="4" name="Autopartage libellé"/>
          <p:cNvSpPr txBox="1"/>
          <p:nvPr/>
        </p:nvSpPr>
        <p:spPr>
          <a:xfrm>
            <a:off x="457200" y="16459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ont une voiture partagée à 5 min à pied (Citiz + Marguerite)</a:t>
            </a:r>
            <a:endParaRPr lang="en-US" sz="1200" dirty="0"/>
          </a:p>
        </p:txBody>
      </p:sp>
      <p:sp>
        <p:nvSpPr>
          <p:cNvPr id="5" name="Une option valeur"/>
          <p:cNvSpPr txBox="1"/>
          <p:nvPr/>
        </p:nvSpPr>
        <p:spPr>
          <a:xfrm>
            <a:off x="457200" y="2011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80,7 %</a:t>
            </a:r>
            <a:endParaRPr lang="en-US" sz="3400" dirty="0"/>
          </a:p>
        </p:txBody>
      </p:sp>
      <p:sp>
        <p:nvSpPr>
          <p:cNvPr id="6" name="Une option libellé"/>
          <p:cNvSpPr txBox="1"/>
          <p:nvPr/>
        </p:nvSpPr>
        <p:spPr>
          <a:xfrm>
            <a:off x="457200" y="25603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ont pourtant un bus, un tram ou un vélo à 5 min</a:t>
            </a:r>
            <a:endParaRPr lang="en-US" sz="1200" dirty="0"/>
          </a:p>
        </p:txBody>
      </p:sp>
      <p:sp>
        <p:nvSpPr>
          <p:cNvPr id="7" name="Seule option valeur"/>
          <p:cNvSpPr txBox="1"/>
          <p:nvPr/>
        </p:nvSpPr>
        <p:spPr>
          <a:xfrm>
            <a:off x="457200" y="2926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107 205</a:t>
            </a:r>
            <a:endParaRPr lang="en-US" sz="3400" dirty="0"/>
          </a:p>
        </p:txBody>
      </p:sp>
      <p:sp>
        <p:nvSpPr>
          <p:cNvPr id="8" name="Seule option libellé"/>
          <p:cNvSpPr txBox="1"/>
          <p:nvPr/>
        </p:nvSpPr>
        <p:spPr>
          <a:xfrm>
            <a:off x="457200" y="34747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habitants dépendent d'un seul arrêt ou d'une seule station</a:t>
            </a:r>
            <a:endParaRPr lang="en-US" sz="1200" dirty="0"/>
          </a:p>
        </p:txBody>
      </p:sp>
      <p:sp>
        <p:nvSpPr>
          <p:cNvPr id="9" name="Besoin"/>
          <p:cNvSpPr/>
          <p:nvPr/>
        </p:nvSpPr>
        <p:spPr>
          <a:xfrm>
            <a:off x="457200" y="3931920"/>
            <a:ext cx="338328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esoin pastille"/>
          <p:cNvSpPr/>
          <p:nvPr/>
        </p:nvSpPr>
        <p:spPr>
          <a:xfrm>
            <a:off x="548640" y="4005072"/>
            <a:ext cx="438912" cy="43891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Besoin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114800"/>
            <a:ext cx="219456" cy="219456"/>
          </a:xfrm>
          <a:prstGeom prst="rect">
            <a:avLst/>
          </a:prstGeom>
        </p:spPr>
      </p:pic>
      <p:sp>
        <p:nvSpPr>
          <p:cNvPr id="12" name="Besoin texte"/>
          <p:cNvSpPr txBox="1"/>
          <p:nvPr/>
        </p:nvSpPr>
        <p:spPr>
          <a:xfrm>
            <a:off x="1097280" y="398678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Le besoin de Citiz 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où ouvrir des stations pour toucher le plus d'habitants, à budget donné ?</a:t>
            </a:r>
            <a:endParaRPr lang="en-US" sz="1100" dirty="0"/>
          </a:p>
        </p:txBody>
      </p:sp>
      <p:sp>
        <p:nvSpPr>
          <p:cNvPr id="13" name="Cadre carte IRIS"/>
          <p:cNvSpPr/>
          <p:nvPr/>
        </p:nvSpPr>
        <p:spPr>
          <a:xfrm>
            <a:off x="4114800" y="1234440"/>
            <a:ext cx="457200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Carte Nantes IRIS" descr="/private/tmp/claude-501/-Users-alexander-hills-Downloads-hackathon-mobility/f1ffbe17-d504-4e53-83c8-b27ab1814837/scratchpad/deck/assets/nantes_acces_ir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463040"/>
            <a:ext cx="4114800" cy="2660904"/>
          </a:xfrm>
          <a:prstGeom prst="rect">
            <a:avLst/>
          </a:prstGeom>
        </p:spPr>
      </p:pic>
      <p:sp>
        <p:nvSpPr>
          <p:cNvPr id="15" name="Légende IRIS"/>
          <p:cNvSpPr txBox="1"/>
          <p:nvPr/>
        </p:nvSpPr>
        <p:spPr>
          <a:xfrm>
            <a:off x="4297680" y="4160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Options à 5 min par habitant, par quartier : rouge = beaucoup, bleu = peu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2744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6969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Notre outil prédit où une station fonctionne, puis choisit les meilleures pour le budget</a:t>
            </a:r>
            <a:endParaRPr lang="en-US" sz="2400" dirty="0"/>
          </a:p>
        </p:txBody>
      </p:sp>
      <p:sp>
        <p:nvSpPr>
          <p:cNvPr id="3" name="Solution Mesurer"/>
          <p:cNvSpPr/>
          <p:nvPr/>
        </p:nvSpPr>
        <p:spPr>
          <a:xfrm>
            <a:off x="457200" y="1234440"/>
            <a:ext cx="1874520" cy="214884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9525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olution Mesurer pastille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olution Mesurer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31620"/>
            <a:ext cx="228600" cy="228600"/>
          </a:xfrm>
          <a:prstGeom prst="rect">
            <a:avLst/>
          </a:prstGeom>
        </p:spPr>
      </p:pic>
      <p:sp>
        <p:nvSpPr>
          <p:cNvPr id="6" name="Solution Mesurer titre"/>
          <p:cNvSpPr txBox="1"/>
          <p:nvPr/>
        </p:nvSpPr>
        <p:spPr>
          <a:xfrm>
            <a:off x="640080" y="19933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 · Mesurer</a:t>
            </a:r>
            <a:endParaRPr lang="en-US" sz="1500" dirty="0"/>
          </a:p>
        </p:txBody>
      </p:sp>
      <p:sp>
        <p:nvSpPr>
          <p:cNvPr id="7" name="Solution Mesurer texte"/>
          <p:cNvSpPr txBox="1"/>
          <p:nvPr/>
        </p:nvSpPr>
        <p:spPr>
          <a:xfrm>
            <a:off x="640080" y="233172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Options de mobilité à 5 min de vraie marche (rues OpenStreetMap), pour chaque carreau de 200 m</a:t>
            </a:r>
            <a:endParaRPr lang="en-US" sz="1100" dirty="0"/>
          </a:p>
        </p:txBody>
      </p:sp>
      <p:pic>
        <p:nvPicPr>
          <p:cNvPr id="8" name="Flèche soluti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2221992"/>
            <a:ext cx="164592" cy="164592"/>
          </a:xfrm>
          <a:prstGeom prst="rect">
            <a:avLst/>
          </a:prstGeom>
        </p:spPr>
      </p:pic>
      <p:sp>
        <p:nvSpPr>
          <p:cNvPr id="9" name="Solution Prédire"/>
          <p:cNvSpPr/>
          <p:nvPr/>
        </p:nvSpPr>
        <p:spPr>
          <a:xfrm>
            <a:off x="2560320" y="1234440"/>
            <a:ext cx="1874520" cy="214884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9525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olution Prédire pastille"/>
          <p:cNvSpPr/>
          <p:nvPr/>
        </p:nvSpPr>
        <p:spPr>
          <a:xfrm>
            <a:off x="2743200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Solution Prédire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0" y="1531620"/>
            <a:ext cx="228600" cy="228600"/>
          </a:xfrm>
          <a:prstGeom prst="rect">
            <a:avLst/>
          </a:prstGeom>
        </p:spPr>
      </p:pic>
      <p:sp>
        <p:nvSpPr>
          <p:cNvPr id="12" name="Solution Prédire titre"/>
          <p:cNvSpPr txBox="1"/>
          <p:nvPr/>
        </p:nvSpPr>
        <p:spPr>
          <a:xfrm>
            <a:off x="2743200" y="19933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 · Prédire</a:t>
            </a:r>
            <a:endParaRPr lang="en-US" sz="1500" dirty="0"/>
          </a:p>
        </p:txBody>
      </p:sp>
      <p:sp>
        <p:nvSpPr>
          <p:cNvPr id="13" name="Solution Prédire texte"/>
          <p:cNvSpPr txBox="1"/>
          <p:nvPr/>
        </p:nvSpPr>
        <p:spPr>
          <a:xfrm>
            <a:off x="2743200" y="233172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Modèle LightGBM : où une station Citiz fonctionne. À l'aveugle, il retrouve 89 % des stations de Grenoble</a:t>
            </a:r>
            <a:endParaRPr lang="en-US" sz="1100" dirty="0"/>
          </a:p>
        </p:txBody>
      </p:sp>
      <p:pic>
        <p:nvPicPr>
          <p:cNvPr id="14" name="Flèche solution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2221992"/>
            <a:ext cx="164592" cy="164592"/>
          </a:xfrm>
          <a:prstGeom prst="rect">
            <a:avLst/>
          </a:prstGeom>
        </p:spPr>
      </p:pic>
      <p:sp>
        <p:nvSpPr>
          <p:cNvPr id="15" name="Solution Optimiser"/>
          <p:cNvSpPr/>
          <p:nvPr/>
        </p:nvSpPr>
        <p:spPr>
          <a:xfrm>
            <a:off x="4663440" y="1234440"/>
            <a:ext cx="1874520" cy="214884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9525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olution Optimiser pastille"/>
          <p:cNvSpPr/>
          <p:nvPr/>
        </p:nvSpPr>
        <p:spPr>
          <a:xfrm>
            <a:off x="4846320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Solution Optimiser icô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0620" y="1531620"/>
            <a:ext cx="228600" cy="228600"/>
          </a:xfrm>
          <a:prstGeom prst="rect">
            <a:avLst/>
          </a:prstGeom>
        </p:spPr>
      </p:pic>
      <p:sp>
        <p:nvSpPr>
          <p:cNvPr id="18" name="Solution Optimiser titre"/>
          <p:cNvSpPr txBox="1"/>
          <p:nvPr/>
        </p:nvSpPr>
        <p:spPr>
          <a:xfrm>
            <a:off x="4846320" y="19933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 · Optimiser</a:t>
            </a:r>
            <a:endParaRPr lang="en-US" sz="1500" dirty="0"/>
          </a:p>
        </p:txBody>
      </p:sp>
      <p:sp>
        <p:nvSpPr>
          <p:cNvPr id="19" name="Solution Optimiser texte"/>
          <p:cNvSpPr txBox="1"/>
          <p:nvPr/>
        </p:nvSpPr>
        <p:spPr>
          <a:xfrm>
            <a:off x="4846320" y="233172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Les stations qui ajoutent le plus d'habitants pour le budget, coûts sourcés, calcul exact</a:t>
            </a:r>
            <a:endParaRPr lang="en-US" sz="1100" dirty="0"/>
          </a:p>
        </p:txBody>
      </p:sp>
      <p:pic>
        <p:nvPicPr>
          <p:cNvPr id="20" name="Flèche solution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2221992"/>
            <a:ext cx="164592" cy="164592"/>
          </a:xfrm>
          <a:prstGeom prst="rect">
            <a:avLst/>
          </a:prstGeom>
        </p:spPr>
      </p:pic>
      <p:sp>
        <p:nvSpPr>
          <p:cNvPr id="21" name="Solution Décider"/>
          <p:cNvSpPr/>
          <p:nvPr/>
        </p:nvSpPr>
        <p:spPr>
          <a:xfrm>
            <a:off x="6766560" y="1234440"/>
            <a:ext cx="1874520" cy="214884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9525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olution Décider pastille"/>
          <p:cNvSpPr/>
          <p:nvPr/>
        </p:nvSpPr>
        <p:spPr>
          <a:xfrm>
            <a:off x="6949440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Solution Décider icô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3740" y="1531620"/>
            <a:ext cx="228600" cy="228600"/>
          </a:xfrm>
          <a:prstGeom prst="rect">
            <a:avLst/>
          </a:prstGeom>
        </p:spPr>
      </p:pic>
      <p:sp>
        <p:nvSpPr>
          <p:cNvPr id="24" name="Solution Décider titre"/>
          <p:cNvSpPr txBox="1"/>
          <p:nvPr/>
        </p:nvSpPr>
        <p:spPr>
          <a:xfrm>
            <a:off x="6949440" y="19933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 · Décider</a:t>
            </a:r>
            <a:endParaRPr lang="en-US" sz="1500" dirty="0"/>
          </a:p>
        </p:txBody>
      </p:sp>
      <p:sp>
        <p:nvSpPr>
          <p:cNvPr id="25" name="Solution Décider texte"/>
          <p:cNvSpPr txBox="1"/>
          <p:nvPr/>
        </p:nvSpPr>
        <p:spPr>
          <a:xfrm>
            <a:off x="6949440" y="233172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Rapport Power BI : curseur de budget, liste priorisée, rentabilité d'une station</a:t>
            </a:r>
            <a:endParaRPr lang="en-US" sz="1100" dirty="0"/>
          </a:p>
        </p:txBody>
      </p:sp>
      <p:sp>
        <p:nvSpPr>
          <p:cNvPr id="26" name="Fabric"/>
          <p:cNvSpPr/>
          <p:nvPr/>
        </p:nvSpPr>
        <p:spPr>
          <a:xfrm>
            <a:off x="457200" y="3611880"/>
            <a:ext cx="66294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Fabric pastille"/>
          <p:cNvSpPr/>
          <p:nvPr/>
        </p:nvSpPr>
        <p:spPr>
          <a:xfrm>
            <a:off x="640080" y="38130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Fabric icône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" y="3927348"/>
            <a:ext cx="228600" cy="228600"/>
          </a:xfrm>
          <a:prstGeom prst="rect">
            <a:avLst/>
          </a:prstGeom>
        </p:spPr>
      </p:pic>
      <p:sp>
        <p:nvSpPr>
          <p:cNvPr id="29" name="Fabric texte"/>
          <p:cNvSpPr txBox="1"/>
          <p:nvPr/>
        </p:nvSpPr>
        <p:spPr>
          <a:xfrm>
            <a:off x="1234440" y="3703320"/>
            <a:ext cx="571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Tout tourne dans Microsoft Fabric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Données 100 % ouvertes → bronze → silver → gold → Power BI en Direct Lake ; pipeline relancé en un clic (15 à 20 min)</a:t>
            </a:r>
            <a:endParaRPr lang="en-US" sz="1300" dirty="0"/>
          </a:p>
        </p:txBody>
      </p:sp>
      <p:sp>
        <p:nvSpPr>
          <p:cNvPr id="30" name="Démo"/>
          <p:cNvSpPr/>
          <p:nvPr/>
        </p:nvSpPr>
        <p:spPr>
          <a:xfrm>
            <a:off x="7269480" y="3611880"/>
            <a:ext cx="141732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Démo texte"/>
          <p:cNvSpPr txBox="1"/>
          <p:nvPr/>
        </p:nvSpPr>
        <p:spPr>
          <a:xfrm>
            <a:off x="7269480" y="361188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Démo 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2744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6969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Avec 500 000 €, 13 stations rapprochent 22 500 Nantais d'une voiture partagée</a:t>
            </a:r>
            <a:endParaRPr lang="en-US" sz="2400" dirty="0"/>
          </a:p>
        </p:txBody>
      </p:sp>
      <p:sp>
        <p:nvSpPr>
          <p:cNvPr id="3" name="Cadre carte reco"/>
          <p:cNvSpPr/>
          <p:nvPr/>
        </p:nvSpPr>
        <p:spPr>
          <a:xfrm>
            <a:off x="457200" y="1234440"/>
            <a:ext cx="475488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Carte recommandations" descr="/private/tmp/claude-501/-Users-alexander-hills-Downloads-hackathon-mobility/f1ffbe17-d504-4e53-83c8-b27ab1814837/scratchpad/deck/assets/nantes_recommand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4389120" cy="2999232"/>
          </a:xfrm>
          <a:prstGeom prst="rect">
            <a:avLst/>
          </a:prstGeom>
        </p:spPr>
      </p:pic>
      <p:sp>
        <p:nvSpPr>
          <p:cNvPr id="5" name="Tuile 1"/>
          <p:cNvSpPr/>
          <p:nvPr/>
        </p:nvSpPr>
        <p:spPr>
          <a:xfrm>
            <a:off x="5486400" y="1234440"/>
            <a:ext cx="15544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uile 1 valeur"/>
          <p:cNvSpPr txBox="1"/>
          <p:nvPr/>
        </p:nvSpPr>
        <p:spPr>
          <a:xfrm>
            <a:off x="5623560" y="13441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13</a:t>
            </a:r>
            <a:endParaRPr lang="en-US" sz="2400" dirty="0"/>
          </a:p>
        </p:txBody>
      </p:sp>
      <p:sp>
        <p:nvSpPr>
          <p:cNvPr id="7" name="Tuile 1 libellé"/>
          <p:cNvSpPr txBox="1"/>
          <p:nvPr/>
        </p:nvSpPr>
        <p:spPr>
          <a:xfrm>
            <a:off x="5623560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stations Citiz recommandées</a:t>
            </a:r>
            <a:endParaRPr lang="en-US" sz="1100" dirty="0"/>
          </a:p>
        </p:txBody>
      </p:sp>
      <p:sp>
        <p:nvSpPr>
          <p:cNvPr id="8" name="Tuile 2"/>
          <p:cNvSpPr/>
          <p:nvPr/>
        </p:nvSpPr>
        <p:spPr>
          <a:xfrm>
            <a:off x="7132320" y="1234440"/>
            <a:ext cx="15544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uile 2 valeur"/>
          <p:cNvSpPr txBox="1"/>
          <p:nvPr/>
        </p:nvSpPr>
        <p:spPr>
          <a:xfrm>
            <a:off x="7269480" y="13441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+22 510</a:t>
            </a:r>
            <a:endParaRPr lang="en-US" sz="2400" dirty="0"/>
          </a:p>
        </p:txBody>
      </p:sp>
      <p:sp>
        <p:nvSpPr>
          <p:cNvPr id="10" name="Tuile 2 libellé"/>
          <p:cNvSpPr txBox="1"/>
          <p:nvPr/>
        </p:nvSpPr>
        <p:spPr>
          <a:xfrm>
            <a:off x="7269480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habitants à 5 min à pied d'un autopartage</a:t>
            </a:r>
            <a:endParaRPr lang="en-US" sz="1100" dirty="0"/>
          </a:p>
        </p:txBody>
      </p:sp>
      <p:sp>
        <p:nvSpPr>
          <p:cNvPr id="11" name="Tuile 3"/>
          <p:cNvSpPr/>
          <p:nvPr/>
        </p:nvSpPr>
        <p:spPr>
          <a:xfrm>
            <a:off x="5486400" y="2560320"/>
            <a:ext cx="15544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uile 3 valeur"/>
          <p:cNvSpPr txBox="1"/>
          <p:nvPr/>
        </p:nvSpPr>
        <p:spPr>
          <a:xfrm>
            <a:off x="5623560" y="26700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22,3 %</a:t>
            </a:r>
            <a:endParaRPr lang="en-US" sz="2400" dirty="0"/>
          </a:p>
        </p:txBody>
      </p:sp>
      <p:sp>
        <p:nvSpPr>
          <p:cNvPr id="13" name="Tuile 3 libellé"/>
          <p:cNvSpPr txBox="1"/>
          <p:nvPr/>
        </p:nvSpPr>
        <p:spPr>
          <a:xfrm>
            <a:off x="5623560" y="31546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couverture autopartage (19,0 % avant)</a:t>
            </a:r>
            <a:endParaRPr lang="en-US" sz="1100" dirty="0"/>
          </a:p>
        </p:txBody>
      </p:sp>
      <p:sp>
        <p:nvSpPr>
          <p:cNvPr id="14" name="Tuile 4"/>
          <p:cNvSpPr/>
          <p:nvPr/>
        </p:nvSpPr>
        <p:spPr>
          <a:xfrm>
            <a:off x="7132320" y="2560320"/>
            <a:ext cx="15544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uile 4 valeur"/>
          <p:cNvSpPr txBox="1"/>
          <p:nvPr/>
        </p:nvSpPr>
        <p:spPr>
          <a:xfrm>
            <a:off x="7269480" y="26700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21,9 €</a:t>
            </a:r>
            <a:endParaRPr lang="en-US" sz="2400" dirty="0"/>
          </a:p>
        </p:txBody>
      </p:sp>
      <p:sp>
        <p:nvSpPr>
          <p:cNvPr id="16" name="Tuile 4 libellé"/>
          <p:cNvSpPr txBox="1"/>
          <p:nvPr/>
        </p:nvSpPr>
        <p:spPr>
          <a:xfrm>
            <a:off x="7269480" y="31546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par habitant gagné, sur 3 ans</a:t>
            </a:r>
            <a:endParaRPr lang="en-US" sz="1100" dirty="0"/>
          </a:p>
        </p:txBody>
      </p:sp>
      <p:sp>
        <p:nvSpPr>
          <p:cNvPr id="17" name="CO2 et 1 M€"/>
          <p:cNvSpPr txBox="1"/>
          <p:nvPr/>
        </p:nvSpPr>
        <p:spPr>
          <a:xfrm>
            <a:off x="5486400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Avec 1 M€ : 26 stations, +50 290 habitants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Hypothèse : 37 900 € par station sur 3 ans, à valider avec Citiz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2744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6969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Sans avoir vu Grenoble, le modèle y retrouve 89 % des stations Citiz</a:t>
            </a:r>
            <a:endParaRPr lang="en-US" sz="2400" dirty="0"/>
          </a:p>
        </p:txBody>
      </p:sp>
      <p:sp>
        <p:nvSpPr>
          <p:cNvPr id="3" name="Annexe"/>
          <p:cNvSpPr txBox="1"/>
          <p:nvPr/>
        </p:nvSpPr>
        <p:spPr>
          <a:xfrm>
            <a:off x="457200" y="73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ANNEXE · pour les questions</a:t>
            </a:r>
            <a:endParaRPr lang="en-US" sz="900" dirty="0"/>
          </a:p>
        </p:txBody>
      </p:sp>
      <p:graphicFrame>
        <p:nvGraphicFramePr>
          <p:cNvPr id="4" name="Graphique validation" descr=""/>
          <p:cNvGraphicFramePr/>
          <p:nvPr/>
        </p:nvGraphicFramePr>
        <p:xfrm>
          <a:off x="457200" y="1188720"/>
          <a:ext cx="48463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Fait 1 pastille"/>
          <p:cNvSpPr/>
          <p:nvPr/>
        </p:nvSpPr>
        <p:spPr>
          <a:xfrm>
            <a:off x="562356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Fait 1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60" y="1394460"/>
            <a:ext cx="228600" cy="228600"/>
          </a:xfrm>
          <a:prstGeom prst="rect">
            <a:avLst/>
          </a:prstGeom>
        </p:spPr>
      </p:pic>
      <p:sp>
        <p:nvSpPr>
          <p:cNvPr id="7" name="Fait 1"/>
          <p:cNvSpPr txBox="1"/>
          <p:nvPr/>
        </p:nvSpPr>
        <p:spPr>
          <a:xfrm>
            <a:off x="6217920" y="12344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LightGBM, 2,3 M carreaux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appris sur 15 réseaux Citiz</a:t>
            </a:r>
            <a:endParaRPr lang="en-US" sz="1400" dirty="0"/>
          </a:p>
        </p:txBody>
      </p:sp>
      <p:sp>
        <p:nvSpPr>
          <p:cNvPr id="8" name="Fait 2 pastille"/>
          <p:cNvSpPr/>
          <p:nvPr/>
        </p:nvSpPr>
        <p:spPr>
          <a:xfrm>
            <a:off x="5623560" y="2194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Fait 2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860" y="2308860"/>
            <a:ext cx="228600" cy="228600"/>
          </a:xfrm>
          <a:prstGeom prst="rect">
            <a:avLst/>
          </a:prstGeom>
        </p:spPr>
      </p:pic>
      <p:sp>
        <p:nvSpPr>
          <p:cNvPr id="10" name="Fait 2"/>
          <p:cNvSpPr txBox="1"/>
          <p:nvPr/>
        </p:nvSpPr>
        <p:spPr>
          <a:xfrm>
            <a:off x="6217920" y="21488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AUC 0,935 à Grenoble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0,989 en médiane sur 12 régions, chacune prédite sans l'avoir vue</a:t>
            </a:r>
            <a:endParaRPr lang="en-US" sz="1400" dirty="0"/>
          </a:p>
        </p:txBody>
      </p:sp>
      <p:sp>
        <p:nvSpPr>
          <p:cNvPr id="11" name="Fait 3 pastille"/>
          <p:cNvSpPr/>
          <p:nvPr/>
        </p:nvSpPr>
        <p:spPr>
          <a:xfrm>
            <a:off x="5623560" y="3108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Fait 3 icô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860" y="3223260"/>
            <a:ext cx="228600" cy="228600"/>
          </a:xfrm>
          <a:prstGeom prst="rect">
            <a:avLst/>
          </a:prstGeom>
        </p:spPr>
      </p:pic>
      <p:sp>
        <p:nvSpPr>
          <p:cNvPr id="13" name="Fait 3"/>
          <p:cNvSpPr txBox="1"/>
          <p:nvPr/>
        </p:nvSpPr>
        <p:spPr>
          <a:xfrm>
            <a:off x="6217920" y="30632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Ce qui compte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densité à 400 m et 1 km, transports, ménages sans voiture, niveau de vie</a:t>
            </a:r>
            <a:endParaRPr lang="en-US" sz="1400" dirty="0"/>
          </a:p>
        </p:txBody>
      </p:sp>
      <p:sp>
        <p:nvSpPr>
          <p:cNvPr id="14" name="Limite modèle"/>
          <p:cNvSpPr/>
          <p:nvPr/>
        </p:nvSpPr>
        <p:spPr>
          <a:xfrm>
            <a:off x="5623560" y="4023360"/>
            <a:ext cx="306324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Limite modèle texte"/>
          <p:cNvSpPr txBox="1"/>
          <p:nvPr/>
        </p:nvSpPr>
        <p:spPr>
          <a:xfrm>
            <a:off x="5760720" y="4069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Il apprend où Citiz s'est installé, pas la demande mesurée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2744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6969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Toute la chaîne tourne dans Microsoft Fabric, de la donnée brute au rapport</a:t>
            </a:r>
            <a:endParaRPr lang="en-US" sz="2400" dirty="0"/>
          </a:p>
        </p:txBody>
      </p:sp>
      <p:sp>
        <p:nvSpPr>
          <p:cNvPr id="3" name="Annexe"/>
          <p:cNvSpPr txBox="1"/>
          <p:nvPr/>
        </p:nvSpPr>
        <p:spPr>
          <a:xfrm>
            <a:off x="457200" y="73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ANNEXE · pour les questions</a:t>
            </a:r>
            <a:endParaRPr lang="en-US" sz="900" dirty="0"/>
          </a:p>
        </p:txBody>
      </p:sp>
      <p:sp>
        <p:nvSpPr>
          <p:cNvPr id="4" name="Médaillon Sources ouvertes"/>
          <p:cNvSpPr/>
          <p:nvPr/>
        </p:nvSpPr>
        <p:spPr>
          <a:xfrm>
            <a:off x="457200" y="1234440"/>
            <a:ext cx="14630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édaillon Sources ouvertes texte"/>
          <p:cNvSpPr txBox="1"/>
          <p:nvPr/>
        </p:nvSpPr>
        <p:spPr>
          <a:xfrm>
            <a:off x="548640" y="130759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Sources ouvertes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GTFS, GBFS, INSEE, IGN, OSM</a:t>
            </a:r>
            <a:endParaRPr lang="en-US" sz="1400" dirty="0"/>
          </a:p>
        </p:txBody>
      </p:sp>
      <p:pic>
        <p:nvPicPr>
          <p:cNvPr id="6" name="Flèche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6816" y="1591056"/>
            <a:ext cx="182880" cy="182880"/>
          </a:xfrm>
          <a:prstGeom prst="rect">
            <a:avLst/>
          </a:prstGeom>
        </p:spPr>
      </p:pic>
      <p:sp>
        <p:nvSpPr>
          <p:cNvPr id="7" name="Médaillon bronze"/>
          <p:cNvSpPr/>
          <p:nvPr/>
        </p:nvSpPr>
        <p:spPr>
          <a:xfrm>
            <a:off x="2157984" y="123444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8" name="Médaillon bronze texte"/>
          <p:cNvSpPr txBox="1"/>
          <p:nvPr/>
        </p:nvSpPr>
        <p:spPr>
          <a:xfrm>
            <a:off x="2249424" y="130759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bronze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données brutes</a:t>
            </a:r>
            <a:endParaRPr lang="en-US" sz="1400" dirty="0"/>
          </a:p>
        </p:txBody>
      </p:sp>
      <p:pic>
        <p:nvPicPr>
          <p:cNvPr id="9" name="Flèche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591056"/>
            <a:ext cx="182880" cy="182880"/>
          </a:xfrm>
          <a:prstGeom prst="rect">
            <a:avLst/>
          </a:prstGeom>
        </p:spPr>
      </p:pic>
      <p:sp>
        <p:nvSpPr>
          <p:cNvPr id="10" name="Médaillon silver"/>
          <p:cNvSpPr/>
          <p:nvPr/>
        </p:nvSpPr>
        <p:spPr>
          <a:xfrm>
            <a:off x="3858768" y="123444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8A8D91"/>
          </a:solidFill>
          <a:ln w="12700">
            <a:solidFill>
              <a:srgbClr val="8A8D91"/>
            </a:solidFill>
            <a:prstDash val="solid"/>
          </a:ln>
        </p:spPr>
      </p:sp>
      <p:sp>
        <p:nvSpPr>
          <p:cNvPr id="11" name="Médaillon silver texte"/>
          <p:cNvSpPr txBox="1"/>
          <p:nvPr/>
        </p:nvSpPr>
        <p:spPr>
          <a:xfrm>
            <a:off x="3950208" y="130759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silver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nettoyées, contrôlées</a:t>
            </a:r>
            <a:endParaRPr lang="en-US" sz="1400" dirty="0"/>
          </a:p>
        </p:txBody>
      </p:sp>
      <p:pic>
        <p:nvPicPr>
          <p:cNvPr id="12" name="Flèche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1591056"/>
            <a:ext cx="182880" cy="182880"/>
          </a:xfrm>
          <a:prstGeom prst="rect">
            <a:avLst/>
          </a:prstGeom>
        </p:spPr>
      </p:pic>
      <p:sp>
        <p:nvSpPr>
          <p:cNvPr id="13" name="Médaillon gold"/>
          <p:cNvSpPr/>
          <p:nvPr/>
        </p:nvSpPr>
        <p:spPr>
          <a:xfrm>
            <a:off x="5559552" y="123444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Médaillon gold texte"/>
          <p:cNvSpPr txBox="1"/>
          <p:nvPr/>
        </p:nvSpPr>
        <p:spPr>
          <a:xfrm>
            <a:off x="5650992" y="130759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gold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prêtes à l'emploi</a:t>
            </a:r>
            <a:endParaRPr lang="en-US" sz="1400" dirty="0"/>
          </a:p>
        </p:txBody>
      </p:sp>
      <p:pic>
        <p:nvPicPr>
          <p:cNvPr id="15" name="Flèche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68" y="1591056"/>
            <a:ext cx="182880" cy="182880"/>
          </a:xfrm>
          <a:prstGeom prst="rect">
            <a:avLst/>
          </a:prstGeom>
        </p:spPr>
      </p:pic>
      <p:sp>
        <p:nvSpPr>
          <p:cNvPr id="16" name="Médaillon Power BI"/>
          <p:cNvSpPr/>
          <p:nvPr/>
        </p:nvSpPr>
        <p:spPr>
          <a:xfrm>
            <a:off x="7260336" y="1234440"/>
            <a:ext cx="146304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Médaillon Power BI texte"/>
          <p:cNvSpPr txBox="1"/>
          <p:nvPr/>
        </p:nvSpPr>
        <p:spPr>
          <a:xfrm>
            <a:off x="7351776" y="130759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Power BI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Direct Lake</a:t>
            </a:r>
            <a:endParaRPr lang="en-US" sz="1400" dirty="0"/>
          </a:p>
        </p:txBody>
      </p:sp>
      <p:sp>
        <p:nvSpPr>
          <p:cNvPr id="18" name="Pipeline titre"/>
          <p:cNvSpPr txBox="1"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Le pipeline citiz_pipeline : 6 notebooks en runtime Python</a:t>
            </a:r>
            <a:endParaRPr lang="en-US" sz="1300" dirty="0"/>
          </a:p>
        </p:txBody>
      </p:sp>
      <p:sp>
        <p:nvSpPr>
          <p:cNvPr id="19" name="Notebook bronze"/>
          <p:cNvSpPr/>
          <p:nvPr/>
        </p:nvSpPr>
        <p:spPr>
          <a:xfrm>
            <a:off x="457200" y="2743200"/>
            <a:ext cx="1261872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Notebook bronze texte"/>
          <p:cNvSpPr txBox="1"/>
          <p:nvPr/>
        </p:nvSpPr>
        <p:spPr>
          <a:xfrm>
            <a:off x="457200" y="27432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 · bronze</a:t>
            </a:r>
            <a:endParaRPr lang="en-US" sz="1100" dirty="0"/>
          </a:p>
        </p:txBody>
      </p:sp>
      <p:sp>
        <p:nvSpPr>
          <p:cNvPr id="21" name="Notebook silver"/>
          <p:cNvSpPr/>
          <p:nvPr/>
        </p:nvSpPr>
        <p:spPr>
          <a:xfrm>
            <a:off x="1856232" y="2743200"/>
            <a:ext cx="1261872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2" name="Notebook silver texte"/>
          <p:cNvSpPr txBox="1"/>
          <p:nvPr/>
        </p:nvSpPr>
        <p:spPr>
          <a:xfrm>
            <a:off x="1856232" y="27432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2 · silver</a:t>
            </a:r>
            <a:endParaRPr lang="en-US" sz="1100" dirty="0"/>
          </a:p>
        </p:txBody>
      </p:sp>
      <p:sp>
        <p:nvSpPr>
          <p:cNvPr id="23" name="Notebook accès"/>
          <p:cNvSpPr/>
          <p:nvPr/>
        </p:nvSpPr>
        <p:spPr>
          <a:xfrm>
            <a:off x="3255264" y="2743200"/>
            <a:ext cx="1261872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4" name="Notebook accès texte"/>
          <p:cNvSpPr txBox="1"/>
          <p:nvPr/>
        </p:nvSpPr>
        <p:spPr>
          <a:xfrm>
            <a:off x="3255264" y="27432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3 · accès</a:t>
            </a:r>
            <a:endParaRPr lang="en-US" sz="1100" dirty="0"/>
          </a:p>
        </p:txBody>
      </p:sp>
      <p:sp>
        <p:nvSpPr>
          <p:cNvPr id="25" name="Notebook modèle ML"/>
          <p:cNvSpPr/>
          <p:nvPr/>
        </p:nvSpPr>
        <p:spPr>
          <a:xfrm>
            <a:off x="4654296" y="2743200"/>
            <a:ext cx="1261872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6" name="Notebook modèle ML texte"/>
          <p:cNvSpPr txBox="1"/>
          <p:nvPr/>
        </p:nvSpPr>
        <p:spPr>
          <a:xfrm>
            <a:off x="4654296" y="27432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4 · modèle ML</a:t>
            </a:r>
            <a:endParaRPr lang="en-US" sz="1100" dirty="0"/>
          </a:p>
        </p:txBody>
      </p:sp>
      <p:sp>
        <p:nvSpPr>
          <p:cNvPr id="27" name="Notebook optimisation"/>
          <p:cNvSpPr/>
          <p:nvPr/>
        </p:nvSpPr>
        <p:spPr>
          <a:xfrm>
            <a:off x="6053328" y="2743200"/>
            <a:ext cx="1261872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8" name="Notebook optimisation texte"/>
          <p:cNvSpPr txBox="1"/>
          <p:nvPr/>
        </p:nvSpPr>
        <p:spPr>
          <a:xfrm>
            <a:off x="6053328" y="27432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5 · optimisation</a:t>
            </a:r>
            <a:endParaRPr lang="en-US" sz="1100" dirty="0"/>
          </a:p>
        </p:txBody>
      </p:sp>
      <p:sp>
        <p:nvSpPr>
          <p:cNvPr id="29" name="Notebook gold"/>
          <p:cNvSpPr/>
          <p:nvPr/>
        </p:nvSpPr>
        <p:spPr>
          <a:xfrm>
            <a:off x="7452360" y="2743200"/>
            <a:ext cx="1261872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0" name="Notebook gold texte"/>
          <p:cNvSpPr txBox="1"/>
          <p:nvPr/>
        </p:nvSpPr>
        <p:spPr>
          <a:xfrm>
            <a:off x="7452360" y="27432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6 · gold</a:t>
            </a:r>
            <a:endParaRPr lang="en-US" sz="1100" dirty="0"/>
          </a:p>
        </p:txBody>
      </p:sp>
      <p:sp>
        <p:nvSpPr>
          <p:cNvPr id="31" name="Pipeline 1 pastille"/>
          <p:cNvSpPr/>
          <p:nvPr/>
        </p:nvSpPr>
        <p:spPr>
          <a:xfrm>
            <a:off x="457200" y="3566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Pipeline 1 icô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80460"/>
            <a:ext cx="228600" cy="228600"/>
          </a:xfrm>
          <a:prstGeom prst="rect">
            <a:avLst/>
          </a:prstGeom>
        </p:spPr>
      </p:pic>
      <p:sp>
        <p:nvSpPr>
          <p:cNvPr id="33" name="Pipeline 1"/>
          <p:cNvSpPr txBox="1"/>
          <p:nvPr/>
        </p:nvSpPr>
        <p:spPr>
          <a:xfrm>
            <a:off x="1051560" y="3520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15 à 20 min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pour tout relancer en un clic</a:t>
            </a:r>
            <a:endParaRPr lang="en-US" sz="1400" dirty="0"/>
          </a:p>
        </p:txBody>
      </p:sp>
      <p:sp>
        <p:nvSpPr>
          <p:cNvPr id="34" name="Pipeline 2 pastille"/>
          <p:cNvSpPr/>
          <p:nvPr/>
        </p:nvSpPr>
        <p:spPr>
          <a:xfrm>
            <a:off x="3246120" y="3566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Pipeline 2 icô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0420" y="3680460"/>
            <a:ext cx="228600" cy="228600"/>
          </a:xfrm>
          <a:prstGeom prst="rect">
            <a:avLst/>
          </a:prstGeom>
        </p:spPr>
      </p:pic>
      <p:sp>
        <p:nvSpPr>
          <p:cNvPr id="36" name="Pipeline 2"/>
          <p:cNvSpPr txBox="1"/>
          <p:nvPr/>
        </p:nvSpPr>
        <p:spPr>
          <a:xfrm>
            <a:off x="3840480" y="3520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 relances auto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si la capacité Fabric est saturée</a:t>
            </a:r>
            <a:endParaRPr lang="en-US" sz="1400" dirty="0"/>
          </a:p>
        </p:txBody>
      </p:sp>
      <p:sp>
        <p:nvSpPr>
          <p:cNvPr id="37" name="Pipeline 3 pastille"/>
          <p:cNvSpPr/>
          <p:nvPr/>
        </p:nvSpPr>
        <p:spPr>
          <a:xfrm>
            <a:off x="6035040" y="3566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8" name="Pipeline 3 icô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9340" y="3680460"/>
            <a:ext cx="228600" cy="228600"/>
          </a:xfrm>
          <a:prstGeom prst="rect">
            <a:avLst/>
          </a:prstGeom>
        </p:spPr>
      </p:pic>
      <p:sp>
        <p:nvSpPr>
          <p:cNvPr id="39" name="Pipeline 3"/>
          <p:cNvSpPr txBox="1"/>
          <p:nvPr/>
        </p:nvSpPr>
        <p:spPr>
          <a:xfrm>
            <a:off x="6629400" y="3520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Chaque table tracée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identifiant de run : on sait d'où vient chaque chiffre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2744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6969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Fabric retrouve nos chiffres, et Power BI les lit sans import</a:t>
            </a:r>
            <a:endParaRPr lang="en-US" sz="2400" dirty="0"/>
          </a:p>
        </p:txBody>
      </p:sp>
      <p:sp>
        <p:nvSpPr>
          <p:cNvPr id="3" name="Annexe"/>
          <p:cNvSpPr txBox="1"/>
          <p:nvPr/>
        </p:nvSpPr>
        <p:spPr>
          <a:xfrm>
            <a:off x="457200" y="73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ANNEXE · pour les questions</a:t>
            </a:r>
            <a:endParaRPr lang="en-US" sz="900" dirty="0"/>
          </a:p>
        </p:txBody>
      </p:sp>
      <p:sp>
        <p:nvSpPr>
          <p:cNvPr id="4" name="Concordance titre"/>
          <p:cNvSpPr txBox="1"/>
          <p:nvPr/>
        </p:nvSpPr>
        <p:spPr>
          <a:xfrm>
            <a:off x="45720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Nantes, marche réelle</a:t>
            </a:r>
            <a:endParaRPr lang="en-US" sz="1300" dirty="0"/>
          </a:p>
        </p:txBody>
      </p:sp>
      <p:sp>
        <p:nvSpPr>
          <p:cNvPr id="5" name="Concordance 1"/>
          <p:cNvSpPr/>
          <p:nvPr/>
        </p:nvSpPr>
        <p:spPr>
          <a:xfrm>
            <a:off x="457200" y="1600200"/>
            <a:ext cx="38404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Concordance 1 libellé"/>
          <p:cNvSpPr txBox="1"/>
          <p:nvPr/>
        </p:nvSpPr>
        <p:spPr>
          <a:xfrm>
            <a:off x="640080" y="1709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Au moins une option à 5 min</a:t>
            </a:r>
            <a:endParaRPr lang="en-US" sz="1200" dirty="0"/>
          </a:p>
        </p:txBody>
      </p:sp>
      <p:sp>
        <p:nvSpPr>
          <p:cNvPr id="7" name="Concordance 1 Fabric"/>
          <p:cNvSpPr txBox="1"/>
          <p:nvPr/>
        </p:nvSpPr>
        <p:spPr>
          <a:xfrm>
            <a:off x="640080" y="198424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80,7 %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Fabric</a:t>
            </a:r>
            <a:endParaRPr lang="en-US" sz="1400" dirty="0"/>
          </a:p>
        </p:txBody>
      </p:sp>
      <p:sp>
        <p:nvSpPr>
          <p:cNvPr id="8" name="Concordance 1 local"/>
          <p:cNvSpPr txBox="1"/>
          <p:nvPr/>
        </p:nvSpPr>
        <p:spPr>
          <a:xfrm>
            <a:off x="2377440" y="198424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969696"/>
                </a:solidFill>
              </a:rPr>
              <a:t>80,6 %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prototype local</a:t>
            </a:r>
            <a:endParaRPr lang="en-US" sz="1400" dirty="0"/>
          </a:p>
        </p:txBody>
      </p:sp>
      <p:sp>
        <p:nvSpPr>
          <p:cNvPr id="9" name="Concordance 2"/>
          <p:cNvSpPr/>
          <p:nvPr/>
        </p:nvSpPr>
        <p:spPr>
          <a:xfrm>
            <a:off x="457200" y="2971800"/>
            <a:ext cx="38404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Concordance 2 libellé"/>
          <p:cNvSpPr txBox="1"/>
          <p:nvPr/>
        </p:nvSpPr>
        <p:spPr>
          <a:xfrm>
            <a:off x="640080" y="30815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Voiture partagée à 5 min</a:t>
            </a:r>
            <a:endParaRPr lang="en-US" sz="1200" dirty="0"/>
          </a:p>
        </p:txBody>
      </p:sp>
      <p:sp>
        <p:nvSpPr>
          <p:cNvPr id="11" name="Concordance 2 Fabric"/>
          <p:cNvSpPr txBox="1"/>
          <p:nvPr/>
        </p:nvSpPr>
        <p:spPr>
          <a:xfrm>
            <a:off x="640080" y="335584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19,0 %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Fabric</a:t>
            </a:r>
            <a:endParaRPr lang="en-US" sz="1400" dirty="0"/>
          </a:p>
        </p:txBody>
      </p:sp>
      <p:sp>
        <p:nvSpPr>
          <p:cNvPr id="12" name="Concordance 2 local"/>
          <p:cNvSpPr txBox="1"/>
          <p:nvPr/>
        </p:nvSpPr>
        <p:spPr>
          <a:xfrm>
            <a:off x="2377440" y="335584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969696"/>
                </a:solidFill>
              </a:rPr>
              <a:t>19,0 %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prototype local</a:t>
            </a:r>
            <a:endParaRPr lang="en-US" sz="1400" dirty="0"/>
          </a:p>
        </p:txBody>
      </p:sp>
      <p:sp>
        <p:nvSpPr>
          <p:cNvPr id="13" name="Power BI"/>
          <p:cNvSpPr/>
          <p:nvPr/>
        </p:nvSpPr>
        <p:spPr>
          <a:xfrm>
            <a:off x="4663440" y="1234440"/>
            <a:ext cx="402336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ower BI pastille"/>
          <p:cNvSpPr/>
          <p:nvPr/>
        </p:nvSpPr>
        <p:spPr>
          <a:xfrm>
            <a:off x="4892040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Power BI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6340" y="1531620"/>
            <a:ext cx="228600" cy="228600"/>
          </a:xfrm>
          <a:prstGeom prst="rect">
            <a:avLst/>
          </a:prstGeom>
        </p:spPr>
      </p:pic>
      <p:sp>
        <p:nvSpPr>
          <p:cNvPr id="16" name="Power BI titre"/>
          <p:cNvSpPr txBox="1"/>
          <p:nvPr/>
        </p:nvSpPr>
        <p:spPr>
          <a:xfrm>
            <a:off x="5486400" y="13716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Rapport Power BI en Direct Lake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21 tables gold lues dans OneLake, à jour dès que le pipeline a tourné</a:t>
            </a:r>
            <a:endParaRPr lang="en-US" sz="1400" dirty="0"/>
          </a:p>
        </p:txBody>
      </p:sp>
      <p:sp>
        <p:nvSpPr>
          <p:cNvPr id="17" name="Pages Power BI"/>
          <p:cNvSpPr txBox="1"/>
          <p:nvPr/>
        </p:nvSpPr>
        <p:spPr>
          <a:xfrm>
            <a:off x="4937760" y="224028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1  France : accès à 5 min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2  Nantes : diagnostic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3  Nantes : qui est desservi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4  Nantes : potentiel prédit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5  Nantes : où investir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6  Rentabilité d'une station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7  Méthode et limites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2744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6969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Limites assumées et suite pour Citiz</a:t>
            </a:r>
            <a:endParaRPr lang="en-US" sz="2400" dirty="0"/>
          </a:p>
        </p:txBody>
      </p:sp>
      <p:sp>
        <p:nvSpPr>
          <p:cNvPr id="3" name="Annexe"/>
          <p:cNvSpPr txBox="1"/>
          <p:nvPr/>
        </p:nvSpPr>
        <p:spPr>
          <a:xfrm>
            <a:off x="457200" y="73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ANNEXE · pour les questions</a:t>
            </a:r>
            <a:endParaRPr lang="en-US" sz="900" dirty="0"/>
          </a:p>
        </p:txBody>
      </p:sp>
      <p:sp>
        <p:nvSpPr>
          <p:cNvPr id="4" name="Limites"/>
          <p:cNvSpPr/>
          <p:nvPr/>
        </p:nvSpPr>
        <p:spPr>
          <a:xfrm>
            <a:off x="457200" y="1234440"/>
            <a:ext cx="402336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Limites pastille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Limites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577340"/>
            <a:ext cx="228600" cy="228600"/>
          </a:xfrm>
          <a:prstGeom prst="rect">
            <a:avLst/>
          </a:prstGeom>
        </p:spPr>
      </p:pic>
      <p:sp>
        <p:nvSpPr>
          <p:cNvPr id="7" name="Limites titre"/>
          <p:cNvSpPr txBox="1"/>
          <p:nvPr/>
        </p:nvSpPr>
        <p:spPr>
          <a:xfrm>
            <a:off x="132588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Limites</a:t>
            </a:r>
            <a:endParaRPr lang="en-US" sz="1700" dirty="0"/>
          </a:p>
        </p:txBody>
      </p:sp>
      <p:sp>
        <p:nvSpPr>
          <p:cNvPr id="8" name="Limites liste"/>
          <p:cNvSpPr txBox="1"/>
          <p:nvPr/>
        </p:nvSpPr>
        <p:spPr>
          <a:xfrm>
            <a:off x="731520" y="214884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 modèle apprend où Citiz s'est installé, pas la demande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Coûts : hypothèses publiques, à valider avec Citiz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Getaround, Zity… ne publient pas de données ouvertes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France entière à vol d'oiseau : une borne haute</a:t>
            </a:r>
            <a:endParaRPr lang="en-US" sz="1300" dirty="0"/>
          </a:p>
        </p:txBody>
      </p:sp>
      <p:sp>
        <p:nvSpPr>
          <p:cNvPr id="9" name="Prochaines étapes"/>
          <p:cNvSpPr/>
          <p:nvPr/>
        </p:nvSpPr>
        <p:spPr>
          <a:xfrm>
            <a:off x="4663440" y="1234440"/>
            <a:ext cx="402336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Prochaines étapes pastille"/>
          <p:cNvSpPr/>
          <p:nvPr/>
        </p:nvSpPr>
        <p:spPr>
          <a:xfrm>
            <a:off x="493776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Prochaines étapes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60" y="1577340"/>
            <a:ext cx="228600" cy="228600"/>
          </a:xfrm>
          <a:prstGeom prst="rect">
            <a:avLst/>
          </a:prstGeom>
        </p:spPr>
      </p:pic>
      <p:sp>
        <p:nvSpPr>
          <p:cNvPr id="12" name="Prochaines étapes titre"/>
          <p:cNvSpPr txBox="1"/>
          <p:nvPr/>
        </p:nvSpPr>
        <p:spPr>
          <a:xfrm>
            <a:off x="553212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Prochaines étapes</a:t>
            </a:r>
            <a:endParaRPr lang="en-US" sz="1700" dirty="0"/>
          </a:p>
        </p:txBody>
      </p:sp>
      <p:sp>
        <p:nvSpPr>
          <p:cNvPr id="13" name="Prochaines étapes liste"/>
          <p:cNvSpPr txBox="1"/>
          <p:nvPr/>
        </p:nvSpPr>
        <p:spPr>
          <a:xfrm>
            <a:off x="4937760" y="214884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Suivre chaque entraînement du modèle avec MLflow dans Fabric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Planifier le pipeline chaque semaine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Collecter l'usage des stations pour viser la demande réelle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Valider la liste et les coûts avec Citiz Nantes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2744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6969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Un habitant sur quatre n'a aucune option de mobilité à 5 minutes à pied</a:t>
            </a:r>
            <a:endParaRPr lang="en-US" sz="2400" dirty="0"/>
          </a:p>
        </p:txBody>
      </p:sp>
      <p:sp>
        <p:nvSpPr>
          <p:cNvPr id="3" name="Annexe"/>
          <p:cNvSpPr txBox="1"/>
          <p:nvPr/>
        </p:nvSpPr>
        <p:spPr>
          <a:xfrm>
            <a:off x="457200" y="73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ANNEXE · pour les questions</a:t>
            </a:r>
            <a:endParaRPr lang="en-US" sz="900" dirty="0"/>
          </a:p>
        </p:txBody>
      </p:sp>
      <p:sp>
        <p:nvSpPr>
          <p:cNvPr id="4" name="Chiffre France"/>
          <p:cNvSpPr txBox="1"/>
          <p:nvPr/>
        </p:nvSpPr>
        <p:spPr>
          <a:xfrm>
            <a:off x="457200" y="13258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4"/>
                </a:solidFill>
              </a:rPr>
              <a:t>24,1 %</a:t>
            </a:r>
            <a:endParaRPr lang="en-US" sz="6000" dirty="0"/>
          </a:p>
        </p:txBody>
      </p:sp>
      <p:sp>
        <p:nvSpPr>
          <p:cNvPr id="5" name="Libellé France"/>
          <p:cNvSpPr txBox="1"/>
          <p:nvPr/>
        </p:nvSpPr>
        <p:spPr>
          <a:xfrm>
            <a:off x="457200" y="23317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 habitants de France n'ont ni bus, ni tram, ni train, ni vélo, ni voiture partagée à 5 minutes à pied</a:t>
            </a:r>
            <a:endParaRPr lang="en-US" sz="1500" dirty="0"/>
          </a:p>
        </p:txBody>
      </p:sp>
      <p:sp>
        <p:nvSpPr>
          <p:cNvPr id="6" name="Encadré Citiz"/>
          <p:cNvSpPr/>
          <p:nvPr/>
        </p:nvSpPr>
        <p:spPr>
          <a:xfrm>
            <a:off x="457200" y="3291840"/>
            <a:ext cx="38404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itiz France pastille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Citiz France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3726180"/>
            <a:ext cx="228600" cy="228600"/>
          </a:xfrm>
          <a:prstGeom prst="rect">
            <a:avLst/>
          </a:prstGeom>
        </p:spPr>
      </p:pic>
      <p:sp>
        <p:nvSpPr>
          <p:cNvPr id="9" name="Citiz France"/>
          <p:cNvSpPr txBox="1"/>
          <p:nvPr/>
        </p:nvSpPr>
        <p:spPr>
          <a:xfrm>
            <a:off x="1325880" y="34747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5,6 %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seulement à 5 min d'une station Citiz</a:t>
            </a:r>
            <a:endParaRPr lang="en-US" sz="1400" dirty="0"/>
          </a:p>
        </p:txBody>
      </p:sp>
      <p:sp>
        <p:nvSpPr>
          <p:cNvPr id="10" name="Cadre carte France"/>
          <p:cNvSpPr/>
          <p:nvPr/>
        </p:nvSpPr>
        <p:spPr>
          <a:xfrm>
            <a:off x="4754880" y="123444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Carte France" descr="/private/tmp/claude-501/-Users-alexander-hills-Downloads-hackathon-mobility/f1ffbe17-d504-4e53-83c8-b27ab1814837/scratchpad/deck/assets/france_sans_op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371600"/>
            <a:ext cx="2926080" cy="2715768"/>
          </a:xfrm>
          <a:prstGeom prst="rect">
            <a:avLst/>
          </a:prstGeom>
        </p:spPr>
      </p:pic>
      <p:sp>
        <p:nvSpPr>
          <p:cNvPr id="12" name="Légende France"/>
          <p:cNvSpPr txBox="1"/>
          <p:nvPr/>
        </p:nvSpPr>
        <p:spPr>
          <a:xfrm>
            <a:off x="4937760" y="4114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Part des habitants sans option, par département : bleu = peu, rouge = jusqu'à 70 %</a:t>
            </a:r>
            <a:endParaRPr lang="en-US" sz="1000" dirty="0"/>
          </a:p>
        </p:txBody>
      </p:sp>
      <p:sp>
        <p:nvSpPr>
          <p:cNvPr id="13" name="Note méthode France"/>
          <p:cNvSpPr txBox="1"/>
          <p:nvPr/>
        </p:nvSpPr>
        <p:spPr>
          <a:xfrm>
            <a:off x="1005840" y="472744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France entière : 67 M d'habitants, carreaux de 200 m, calcul à vol d'oiseau (estimation optimiste)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2744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6969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tiz">
  <a:themeElements>
    <a:clrScheme name="Citiz">
      <a:dk1>
        <a:srgbClr val="202020"/>
      </a:dk1>
      <a:lt1>
        <a:srgbClr val="FFFFFF"/>
      </a:lt1>
      <a:dk2>
        <a:srgbClr val="616060"/>
      </a:dk2>
      <a:lt2>
        <a:srgbClr val="DBF4F4"/>
      </a:lt2>
      <a:accent1>
        <a:srgbClr val="32B4B5"/>
      </a:accent1>
      <a:accent2>
        <a:srgbClr val="20A4B0"/>
      </a:accent2>
      <a:accent3>
        <a:srgbClr val="2A4A96"/>
      </a:accent3>
      <a:accent4>
        <a:srgbClr val="E63329"/>
      </a:accent4>
      <a:accent5>
        <a:srgbClr val="514E98"/>
      </a:accent5>
      <a:accent6>
        <a:srgbClr val="969696"/>
      </a:accent6>
      <a:hlink>
        <a:srgbClr val="20A4B0"/>
      </a:hlink>
      <a:folHlink>
        <a:srgbClr val="514E98"/>
      </a:folHlink>
    </a:clrScheme>
    <a:fontScheme name="Citiz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Citiz : où ouvrir les prochaines stations à Nantes Métropole</dc:title>
  <dc:subject>PptxGenJS Presentation</dc:subject>
  <dc:creator>Équipe Hackathon Mobilité</dc:creator>
  <cp:lastModifiedBy>Équipe Hackathon Mobilité</cp:lastModifiedBy>
  <cp:revision>1</cp:revision>
  <dcterms:created xsi:type="dcterms:W3CDTF">2026-10-21T08:18:53Z</dcterms:created>
  <dcterms:modified xsi:type="dcterms:W3CDTF">2026-10-21T08:18:53Z</dcterms:modified>
</cp:coreProperties>
</file>