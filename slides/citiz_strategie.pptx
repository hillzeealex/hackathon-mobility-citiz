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ratégie" id="{e8d22ed2-8c52-c651-8622-e1d0f7d8144e}">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02020"/>
                </a:solidFill>
                <a:latin typeface="+mn-lt"/>
              </a:defRPr>
            </a:pPr>
            <a:r>
              <a:rPr sz="1200" b="0" i="0" u="none" strike="noStrike">
                <a:solidFill>
                  <a:srgbClr val="202020"/>
                </a:solidFill>
                <a:latin typeface="+mn-lt"/>
              </a:rPr>
              <a:t>Voitures en autopartage en France</a:t>
            </a:r>
          </a:p>
        </c:rich>
      </c:tx>
      <c:layout/>
      <c:overlay val="0"/>
    </c:title>
    <c:autoTitleDeleted val="0"/>
    <c:plotArea>
      <c:layout/>
      <c:barChart>
        <c:barDir val="col"/>
        <c:grouping val="clustered"/>
        <c:varyColors val="0"/>
        <c:ser>
          <c:idx val="0"/>
          <c:order val="0"/>
          <c:tx>
            <c:strRef>
              <c:f>Sheet1!$B$1</c:f>
              <c:strCache>
                <c:ptCount val="1"/>
                <c:pt idx="0">
                  <c:v>Voitures en autopartage</c:v>
                </c:pt>
              </c:strCache>
            </c:strRef>
          </c:tx>
          <c:spPr>
            <a:solidFill>
              <a:srgbClr val="32B4B5"/>
            </a:solidFill>
            <a:effectLst/>
          </c:spPr>
          <c:invertIfNegative val="0"/>
          <c:dLbls>
            <c:numFmt formatCode="# ##0" sourceLinked="0"/>
            <c:txPr>
              <a:bodyPr/>
              <a:lstStyle/>
              <a:p>
                <a:pPr>
                  <a:defRPr b="1" i="0" strike="noStrike" sz="1300" u="none">
                    <a:solidFill>
                      <a:srgbClr val="202020"/>
                    </a:solidFill>
                    <a:latin typeface="+mn-lt"/>
                  </a:defRPr>
                </a:pPr>
              </a:p>
            </c:txPr>
            <c:showLegendKey val="0"/>
            <c:showVal val="1"/>
            <c:showCatName val="0"/>
            <c:showSerName val="0"/>
            <c:showPercent val="0"/>
            <c:showBubbleSize val="0"/>
            <c:showLeaderLines val="0"/>
          </c:dLbls>
          <c:cat>
            <c:multiLvlStrRef>
              <c:f>Sheet1!$A$2:$A$3</c:f>
              <c:multiLvlStrCache>
                <c:ptCount val="2"/>
                <c:lvl>
                  <c:pt idx="0">
                    <c:v>Début 2025</c:v>
                  </c:pt>
                  <c:pt idx="1">
                    <c:v>Objectif 2031</c:v>
                  </c:pt>
                </c:lvl>
              </c:multiLvlStrCache>
            </c:multiLvlStrRef>
          </c:cat>
          <c:val>
            <c:numRef>
              <c:f>Sheet1!$B$2:$B$3</c:f>
              <c:numCache>
                <c:formatCode>General</c:formatCode>
                <c:ptCount val="2"/>
                <c:pt idx="0">
                  <c:v>13862</c:v>
                </c:pt>
                <c:pt idx="1">
                  <c:v>70000</c:v>
                </c:pt>
              </c:numCache>
            </c:numRef>
          </c:val>
        </c:ser>
        <c:dLbls>
          <c:numFmt formatCode="# ##0" sourceLinked="0"/>
          <c:txPr>
            <a:bodyPr/>
            <a:lstStyle/>
            <a:p>
              <a:pPr>
                <a:defRPr b="1" i="0" strike="noStrike" sz="1300" u="none">
                  <a:solidFill>
                    <a:srgbClr val="20202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16060"/>
                </a:solidFill>
                <a:latin typeface="+mn-lt"/>
              </a:defRPr>
            </a:pPr>
            <a:endParaRPr lang="en-US"/>
          </a:p>
        </c:txPr>
        <c:crossAx val="2094734552"/>
        <c:crosses val="autoZero"/>
        <c:auto val="1"/>
        <c:lblAlgn val="ctr"/>
        <c:noMultiLvlLbl val="1"/>
      </c:catAx>
      <c:valAx>
        <c:axId val="2094734552"/>
        <c:scaling>
          <c:orientation val="minMax"/>
          <c:max val="8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affichée pendant la présentation de l'équipe (quelques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70 000 véhicules en autopartage à l'horizon 2031. C'est l'ambition affichée par le ministre des Transports, Philippe Tabarot, en décembre 2025. Concrètement, cela signifie multiplier par plus de cinq le parc actuel de véhicules partagés en France. Cette ambition traduit une évolution profonde de notre rapport à l'automobile : passer progressivement d'une logique de possession à une logique d'usage. Pour un acteur comme Citiz, cette orientation représente une opportunité majeure d'expansion. Mais elle soulève une question essentielle : où implanter les prochaines stations pour garantir un développement à la fois économiquement soutenable et socialement pertinent ? Car développer un réseau ne consiste pas simplement à multiplier les véhicules et les points de stationnement. Encore faut-il s'assurer que chaque investissement répond à un besoin réel.
Sources : Banque des Territoires, « Autopartage : le gouvernement vise un objectif de 70 000 véhicules d'ici 2031 » (annonce du 4 décembre 2025, Montpellier) ; 13 862 voitures en autopartage en France début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L'histoire récente nous rappelle d'ailleurs les conséquences d'une stratégie de déploiement insuffisamment maîtrisée. En 2018, Autolib' cessait définitivement ses activités. Pourtant, le concept était innovant, le besoin existait et le service avait rencontré son public. Alors, pourquoi cet échec ? Principalement en raison de prévisions de fréquentation trop optimistes, d'investissements sous-estimés et d'un modèle économique qui n'a jamais atteint l'équilibre attendu. La leçon est fondamentale : le succès d'usage ne garantit pas la rentabilité d'un service. Et c'est précisément ce constat qui a orienté notre réflexion. Notre objectif n'est pas de reproduire une logique d'expansion quantitative. Il est de contribuer à une croissance maîtrisée, mesurable et durable.
Sources : Observatoire européen de la mobilité urbaine, « Plug pulled on Paris shared electric car service Autolib' » (28/06/2018) : rentabilité annoncée pour 2018, pertes prévues d'environ 300 M€ sur 5 ans ; AFP via phys.org (juin 2018) : 4,5 locations par voiture et par jour en 2016. « Investissements sous-estimés » : pas de source chiffrée trouvée, à dire sans chiffre.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Pour cela, nous avons choisi Nantes Métropole comme territoire d'expérimentation. Notre démarche repose sur trois principes. Premièrement, objectiver les besoins : en croisant les données de population, les réseaux de transport et les stations existantes, nous cherchons à identifier les secteurs où l'implantation d'une nouvelle station apporterait une réelle valeur ajoutée. Deuxièmement, mesurer la viabilité économique : chaque implantation doit être évaluée au regard de son coût, de son potentiel d'utilisation et de son seuil de rentabilité. Nous intégrons également les risques opérationnels, notamment les coûts de maintenance, les dégradations potentielles et les contraintes d'exploitation. Troisièmement, préserver l'équité territoriale : une implantation ne doit pas être jugée exclusivement sur sa rentabilité, mais aussi sur son utilité sociale et sa contribution à l'accessibilité des mobilités. Notre approche repose donc sur un arbitrage entre performance économique et intérêt collectif. C'est dans cette logique que nous avons conçu une méthode de qualification GO / NO GO, destinée à éclairer et sécuriser les décisions d'implantation.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Mais une stratégie, aussi pertinente soit-elle, n'a de valeur que si elle repose sur des données fiables et des recommandations exploitables. Nous avons donc cherché à transformer cette réflexion en un véritable outil d'aide à la décision. Un outil capable d'identifier les zones prioritaires, d'estimer la valeur d'une nouvelle implantation et de proposer les meilleurs arbitrages sous contrainte budgétaire. Je laisse maintenant la parole à mon binôme, qui va vous présenter comment nous avons traduit cette ambition stratégique en une solution technique concrète.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8046720" cy="320040"/>
          </a:xfrm>
          <a:prstGeom prst="rect">
            <a:avLst/>
          </a:prstGeom>
          <a:noFill/>
          <a:ln/>
        </p:spPr>
        <p:txBody>
          <a:bodyPr wrap="square" rtlCol="0"/>
          <a:lstStyle>
            <a:lvl1pPr algn="l" indent="0" marL="0">
              <a:buNone/>
              <a:defRPr lang="en-US" sz="1300" b="1" dirty="0">
                <a:solidFill>
                  <a:schemeClr val="bg1"/>
                </a:solidFill>
              </a:defRPr>
            </a:lvl1pPr>
          </a:lstStyle>
          <a:p>
            <a:pPr algn="l" indent="0" marL="0">
              <a:buNone/>
            </a:pPr>
            <a:endParaRPr lang="en-US" sz="1300" dirty="0"/>
          </a:p>
        </p:txBody>
      </p:sp>
      <p:sp>
        <p:nvSpPr>
          <p:cNvPr id="3" name="Text 0"/>
          <p:cNvSpPr/>
          <p:nvPr>
            <p:ph idx="101" type="title" hasCustomPrompt="1"/>
          </p:nvPr>
        </p:nvSpPr>
        <p:spPr>
          <a:xfrm>
            <a:off x="548640" y="1691640"/>
            <a:ext cx="8046720" cy="13258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017520"/>
            <a:ext cx="8046720" cy="731520"/>
          </a:xfrm>
          <a:prstGeom prst="rect">
            <a:avLst/>
          </a:prstGeom>
          <a:noFill/>
          <a:ln/>
        </p:spPr>
        <p:txBody>
          <a:bodyPr wrap="square" rtlCol="0"/>
          <a:lstStyle>
            <a:lvl1pPr algn="l" indent="0" marL="0">
              <a:buNone/>
              <a:defRPr lang="en-US" sz="1600" dirty="0">
                <a:solidFill>
                  <a:schemeClr val="bg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315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pic>
        <p:nvPicPr>
          <p:cNvPr id="3" name="Image 0" descr="/private/tmp/claude-501/-Users-alexander-hills-Downloads-hackathon-mobility/f1ffbe17-d504-4e53-83c8-b27ab1814837/scratchpad/deck/assets/citiz_teal.png">    </p:cNvPr>
          <p:cNvPicPr>
            <a:picLocks noChangeAspect="1"/>
          </p:cNvPicPr>
          <p:nvPr/>
        </p:nvPicPr>
        <p:blipFill>
          <a:blip r:embed="rId1"/>
          <a:stretch>
            <a:fillRect/>
          </a:stretch>
        </p:blipFill>
        <p:spPr>
          <a:xfrm>
            <a:off x="8092440" y="4727448"/>
            <a:ext cx="594360" cy="240487"/>
          </a:xfrm>
          <a:prstGeom prst="rect">
            <a:avLst/>
          </a:prstGeom>
        </p:spPr>
      </p:pic>
      <p:sp>
        <p:nvSpPr>
          <p:cNvPr id="25" name="Slide Number Placeholder 0"/>
          <p:cNvSpPr>
            <a:spLocks noGrp="1"/>
          </p:cNvSpPr>
          <p:nvPr>
            <p:ph type="sldNum" sz="quarter" idx="4294967295"/>
          </p:nvPr>
        </p:nvSpPr>
        <p:spPr>
          <a:xfrm>
            <a:off x="457200" y="472744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69696"/>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72744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6969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Citiz blanc" descr="/private/tmp/claude-501/-Users-alexander-hills-Downloads-hackathon-mobility/f1ffbe17-d504-4e53-83c8-b27ab1814837/scratchpad/deck/assets/citiz_white.png">    </p:cNvPr>
          <p:cNvPicPr>
            <a:picLocks noChangeAspect="1"/>
          </p:cNvPicPr>
          <p:nvPr/>
        </p:nvPicPr>
        <p:blipFill>
          <a:blip r:embed="rId1"/>
          <a:stretch>
            <a:fillRect/>
          </a:stretch>
        </p:blipFill>
        <p:spPr>
          <a:xfrm>
            <a:off x="548640" y="411480"/>
            <a:ext cx="1463040" cy="592531"/>
          </a:xfrm>
          <a:prstGeom prst="rect">
            <a:avLst/>
          </a:prstGeom>
        </p:spPr>
      </p:pic>
      <p:sp>
        <p:nvSpPr>
          <p:cNvPr id="3" name="Text 0"/>
          <p:cNvSpPr/>
          <p:nvPr>
            <p:ph idx="100" type="body" hasCustomPrompt="1"/>
          </p:nvPr>
        </p:nvSpPr>
        <p:spPr>
          <a:xfrm>
            <a:off x="548640" y="1325880"/>
            <a:ext cx="8046720" cy="320040"/>
          </a:xfrm>
          <a:prstGeom prst="rect">
            <a:avLst/>
          </a:prstGeom>
          <a:noFill/>
          <a:ln/>
        </p:spPr>
        <p:txBody>
          <a:bodyPr wrap="square" lIns="0" tIns="0" rIns="0" bIns="0" rtlCol="0"/>
          <a:lstStyle/>
          <a:p>
            <a:pPr algn="l" indent="0" marL="0">
              <a:buNone/>
            </a:pPr>
            <a:r>
              <a:rPr lang="en-US" sz="1300" b="1" dirty="0">
                <a:solidFill>
                  <a:schemeClr val="bg1"/>
                </a:solidFill>
              </a:rPr>
              <a:t>Hackathon Mobilité · Epitech × Citiz × Microsoft</a:t>
            </a:r>
            <a:endParaRPr lang="en-US" sz="1300" dirty="0"/>
          </a:p>
        </p:txBody>
      </p:sp>
      <p:sp>
        <p:nvSpPr>
          <p:cNvPr id="4" name="Text 0"/>
          <p:cNvSpPr/>
          <p:nvPr>
            <p:ph idx="101" type="title" hasCustomPrompt="1"/>
          </p:nvPr>
        </p:nvSpPr>
        <p:spPr>
          <a:xfrm>
            <a:off x="548640" y="1691640"/>
            <a:ext cx="8046720" cy="1325880"/>
          </a:xfrm>
          <a:prstGeom prst="rect">
            <a:avLst/>
          </a:prstGeom>
          <a:noFill/>
          <a:ln/>
        </p:spPr>
        <p:txBody>
          <a:bodyPr wrap="square" lIns="0" tIns="0" rIns="0" bIns="0" rtlCol="0" anchor="t"/>
          <a:lstStyle/>
          <a:p>
            <a:pPr algn="l" indent="0" marL="0">
              <a:buNone/>
            </a:pPr>
            <a:r>
              <a:rPr lang="en-US" sz="3600" b="1" dirty="0">
                <a:solidFill>
                  <a:schemeClr val="bg1"/>
                </a:solidFill>
              </a:rPr>
              <a:t>Développer l'autopartage sans refaire Autolib'</a:t>
            </a:r>
            <a:endParaRPr lang="en-US" sz="3600" dirty="0"/>
          </a:p>
        </p:txBody>
      </p:sp>
      <p:sp>
        <p:nvSpPr>
          <p:cNvPr id="5" name="Text 0"/>
          <p:cNvSpPr/>
          <p:nvPr>
            <p:ph idx="102" type="body" hasCustomPrompt="1"/>
          </p:nvPr>
        </p:nvSpPr>
        <p:spPr>
          <a:xfrm>
            <a:off x="548640" y="3017520"/>
            <a:ext cx="8046720" cy="731520"/>
          </a:xfrm>
          <a:prstGeom prst="rect">
            <a:avLst/>
          </a:prstGeom>
          <a:noFill/>
          <a:ln/>
        </p:spPr>
        <p:txBody>
          <a:bodyPr wrap="square" lIns="0" tIns="0" rIns="0" bIns="0" rtlCol="0"/>
          <a:lstStyle/>
          <a:p>
            <a:pPr algn="l" indent="0" marL="0">
              <a:buNone/>
            </a:pPr>
            <a:r>
              <a:rPr lang="en-US" sz="1600" dirty="0">
                <a:solidFill>
                  <a:schemeClr val="bg1"/>
                </a:solidFill>
              </a:rPr>
              <a:t>Une croissance maîtrisée, mesurable et durable pour Citiz, à Nantes Métropole</a:t>
            </a:r>
            <a:endParaRPr lang="en-US" sz="1600" dirty="0"/>
          </a:p>
        </p:txBody>
      </p:sp>
      <p:sp>
        <p:nvSpPr>
          <p:cNvPr id="6" name="Bandeau partenaires"/>
          <p:cNvSpPr/>
          <p:nvPr/>
        </p:nvSpPr>
        <p:spPr>
          <a:xfrm>
            <a:off x="548640" y="4023360"/>
            <a:ext cx="4754880" cy="822960"/>
          </a:xfrm>
          <a:prstGeom prst="roundRect">
            <a:avLst>
              <a:gd name="adj" fmla="val 13333"/>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pic>
        <p:nvPicPr>
          <p:cNvPr id="7" name="Logo Citiz" descr="/private/tmp/claude-501/-Users-alexander-hills-Downloads-hackathon-mobility/f1ffbe17-d504-4e53-83c8-b27ab1814837/scratchpad/deck/assets/citiz_dark.png">    </p:cNvPr>
          <p:cNvPicPr>
            <a:picLocks noChangeAspect="1"/>
          </p:cNvPicPr>
          <p:nvPr/>
        </p:nvPicPr>
        <p:blipFill>
          <a:blip r:embed="rId2"/>
          <a:stretch>
            <a:fillRect/>
          </a:stretch>
        </p:blipFill>
        <p:spPr>
          <a:xfrm>
            <a:off x="822960" y="4279392"/>
            <a:ext cx="777240" cy="314554"/>
          </a:xfrm>
          <a:prstGeom prst="rect">
            <a:avLst/>
          </a:prstGeom>
        </p:spPr>
      </p:pic>
      <p:sp>
        <p:nvSpPr>
          <p:cNvPr id="8" name="Croix 1"/>
          <p:cNvSpPr txBox="1"/>
          <p:nvPr/>
        </p:nvSpPr>
        <p:spPr>
          <a:xfrm>
            <a:off x="1737360" y="4206240"/>
            <a:ext cx="27432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pic>
        <p:nvPicPr>
          <p:cNvPr id="9" name="Logo Epitech" descr="/private/tmp/claude-501/-Users-alexander-hills-Downloads-hackathon-mobility/f1ffbe17-d504-4e53-83c8-b27ab1814837/scratchpad/deck/assets/epitech.png">    </p:cNvPr>
          <p:cNvPicPr>
            <a:picLocks noChangeAspect="1"/>
          </p:cNvPicPr>
          <p:nvPr/>
        </p:nvPicPr>
        <p:blipFill>
          <a:blip r:embed="rId3"/>
          <a:stretch>
            <a:fillRect/>
          </a:stretch>
        </p:blipFill>
        <p:spPr>
          <a:xfrm>
            <a:off x="2148840" y="4206240"/>
            <a:ext cx="1234440" cy="457200"/>
          </a:xfrm>
          <a:prstGeom prst="rect">
            <a:avLst/>
          </a:prstGeom>
        </p:spPr>
      </p:pic>
      <p:sp>
        <p:nvSpPr>
          <p:cNvPr id="10" name="Croix 2"/>
          <p:cNvSpPr txBox="1"/>
          <p:nvPr/>
        </p:nvSpPr>
        <p:spPr>
          <a:xfrm>
            <a:off x="3474720" y="4206240"/>
            <a:ext cx="27432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pic>
        <p:nvPicPr>
          <p:cNvPr id="11" name="Logo Microsoft" descr="/private/tmp/claude-501/-Users-alexander-hills-Downloads-hackathon-mobility/f1ffbe17-d504-4e53-83c8-b27ab1814837/scratchpad/deck/assets/microsoft.png">    </p:cNvPr>
          <p:cNvPicPr>
            <a:picLocks noChangeAspect="1"/>
          </p:cNvPicPr>
          <p:nvPr/>
        </p:nvPicPr>
        <p:blipFill>
          <a:blip r:embed="rId4"/>
          <a:stretch>
            <a:fillRect/>
          </a:stretch>
        </p:blipFill>
        <p:spPr>
          <a:xfrm>
            <a:off x="3886200" y="4297680"/>
            <a:ext cx="1188720" cy="2532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L'État vise 70 000 voitures en autopartage d'ici 2031, cinq fois plus qu'aujourd'hui</a:t>
            </a:r>
            <a:endParaRPr lang="en-US" sz="2400" dirty="0"/>
          </a:p>
        </p:txBody>
      </p:sp>
      <p:sp>
        <p:nvSpPr>
          <p:cNvPr id="3" name="Chiffre ambition"/>
          <p:cNvSpPr txBox="1"/>
          <p:nvPr/>
        </p:nvSpPr>
        <p:spPr>
          <a:xfrm>
            <a:off x="457200" y="1143000"/>
            <a:ext cx="3931920" cy="868680"/>
          </a:xfrm>
          <a:prstGeom prst="rect">
            <a:avLst/>
          </a:prstGeom>
          <a:noFill/>
          <a:ln/>
        </p:spPr>
        <p:txBody>
          <a:bodyPr wrap="square" lIns="0" tIns="0" rIns="0" bIns="0" rtlCol="0" anchor="b"/>
          <a:lstStyle/>
          <a:p>
            <a:pPr indent="0" marL="0">
              <a:buNone/>
            </a:pPr>
            <a:r>
              <a:rPr lang="en-US" sz="6000" b="1" dirty="0">
                <a:solidFill>
                  <a:schemeClr val="accent2"/>
                </a:solidFill>
              </a:rPr>
              <a:t>70 000</a:t>
            </a:r>
            <a:endParaRPr lang="en-US" sz="6000" dirty="0"/>
          </a:p>
        </p:txBody>
      </p:sp>
      <p:sp>
        <p:nvSpPr>
          <p:cNvPr id="4" name="Libellé ambition"/>
          <p:cNvSpPr txBox="1"/>
          <p:nvPr/>
        </p:nvSpPr>
        <p:spPr>
          <a:xfrm>
            <a:off x="457200" y="2057400"/>
            <a:ext cx="3931920" cy="594360"/>
          </a:xfrm>
          <a:prstGeom prst="rect">
            <a:avLst/>
          </a:prstGeom>
          <a:noFill/>
          <a:ln/>
        </p:spPr>
        <p:txBody>
          <a:bodyPr wrap="square" lIns="0" tIns="0" rIns="0" bIns="0" rtlCol="0" anchor="t"/>
          <a:lstStyle/>
          <a:p>
            <a:pPr indent="0" marL="0">
              <a:buNone/>
            </a:pPr>
            <a:r>
              <a:rPr lang="en-US" sz="1300" dirty="0">
                <a:solidFill>
                  <a:schemeClr val="tx1"/>
                </a:solidFill>
              </a:rPr>
              <a:t>véhicules en autopartage visés en 2031 par Philippe Tabarot, ministre des Transports (4 décembre 2025)</a:t>
            </a:r>
            <a:endParaRPr lang="en-US" sz="1300" dirty="0"/>
          </a:p>
        </p:txBody>
      </p:sp>
      <p:sp>
        <p:nvSpPr>
          <p:cNvPr id="5" name="Posséder pastille"/>
          <p:cNvSpPr/>
          <p:nvPr/>
        </p:nvSpPr>
        <p:spPr>
          <a:xfrm>
            <a:off x="457200" y="2788920"/>
            <a:ext cx="457200" cy="457200"/>
          </a:xfrm>
          <a:prstGeom prst="ellipse">
            <a:avLst/>
          </a:prstGeom>
          <a:solidFill>
            <a:schemeClr val="tx2"/>
          </a:solidFill>
          <a:ln w="12700">
            <a:solidFill>
              <a:schemeClr val="tx2"/>
            </a:solidFill>
            <a:prstDash val="solid"/>
          </a:ln>
        </p:spPr>
      </p:sp>
      <p:pic>
        <p:nvPicPr>
          <p:cNvPr id="6" name="Posséder icône" descr="preencoded.png">    </p:cNvPr>
          <p:cNvPicPr>
            <a:picLocks noChangeAspect="1"/>
          </p:cNvPicPr>
          <p:nvPr/>
        </p:nvPicPr>
        <p:blipFill>
          <a:blip r:embed="rId1"/>
          <a:stretch>
            <a:fillRect/>
          </a:stretch>
        </p:blipFill>
        <p:spPr>
          <a:xfrm>
            <a:off x="571500" y="2903220"/>
            <a:ext cx="228600" cy="228600"/>
          </a:xfrm>
          <a:prstGeom prst="rect">
            <a:avLst/>
          </a:prstGeom>
        </p:spPr>
      </p:pic>
      <p:sp>
        <p:nvSpPr>
          <p:cNvPr id="7" name="Posséder texte"/>
          <p:cNvSpPr txBox="1"/>
          <p:nvPr/>
        </p:nvSpPr>
        <p:spPr>
          <a:xfrm>
            <a:off x="1005840" y="2788920"/>
            <a:ext cx="1097280" cy="457200"/>
          </a:xfrm>
          <a:prstGeom prst="rect">
            <a:avLst/>
          </a:prstGeom>
          <a:noFill/>
          <a:ln/>
        </p:spPr>
        <p:txBody>
          <a:bodyPr wrap="square" lIns="0" tIns="0" rIns="0" bIns="0" rtlCol="0" anchor="ctr"/>
          <a:lstStyle/>
          <a:p>
            <a:pPr indent="0" marL="0">
              <a:buNone/>
            </a:pPr>
            <a:r>
              <a:rPr lang="en-US" sz="1400" b="1" dirty="0">
                <a:solidFill>
                  <a:schemeClr val="tx2"/>
                </a:solidFill>
              </a:rPr>
              <a:t>Posséder</a:t>
            </a:r>
            <a:endParaRPr lang="en-US" sz="1400" dirty="0"/>
          </a:p>
        </p:txBody>
      </p:sp>
      <p:pic>
        <p:nvPicPr>
          <p:cNvPr id="8" name="Flèche usage" descr="preencoded.png">    </p:cNvPr>
          <p:cNvPicPr>
            <a:picLocks noChangeAspect="1"/>
          </p:cNvPicPr>
          <p:nvPr/>
        </p:nvPicPr>
        <p:blipFill>
          <a:blip r:embed="rId2"/>
          <a:stretch>
            <a:fillRect/>
          </a:stretch>
        </p:blipFill>
        <p:spPr>
          <a:xfrm>
            <a:off x="2103120" y="2926080"/>
            <a:ext cx="182880" cy="182880"/>
          </a:xfrm>
          <a:prstGeom prst="rect">
            <a:avLst/>
          </a:prstGeom>
        </p:spPr>
      </p:pic>
      <p:sp>
        <p:nvSpPr>
          <p:cNvPr id="9" name="Utiliser pastille"/>
          <p:cNvSpPr/>
          <p:nvPr/>
        </p:nvSpPr>
        <p:spPr>
          <a:xfrm>
            <a:off x="2468880" y="2788920"/>
            <a:ext cx="457200" cy="457200"/>
          </a:xfrm>
          <a:prstGeom prst="ellipse">
            <a:avLst/>
          </a:prstGeom>
          <a:solidFill>
            <a:schemeClr val="accent1"/>
          </a:solidFill>
          <a:ln w="12700">
            <a:solidFill>
              <a:schemeClr val="accent1"/>
            </a:solidFill>
            <a:prstDash val="solid"/>
          </a:ln>
        </p:spPr>
      </p:sp>
      <p:pic>
        <p:nvPicPr>
          <p:cNvPr id="10" name="Utiliser icône" descr="preencoded.png">    </p:cNvPr>
          <p:cNvPicPr>
            <a:picLocks noChangeAspect="1"/>
          </p:cNvPicPr>
          <p:nvPr/>
        </p:nvPicPr>
        <p:blipFill>
          <a:blip r:embed="rId3"/>
          <a:stretch>
            <a:fillRect/>
          </a:stretch>
        </p:blipFill>
        <p:spPr>
          <a:xfrm>
            <a:off x="2583180" y="2903220"/>
            <a:ext cx="228600" cy="228600"/>
          </a:xfrm>
          <a:prstGeom prst="rect">
            <a:avLst/>
          </a:prstGeom>
        </p:spPr>
      </p:pic>
      <p:sp>
        <p:nvSpPr>
          <p:cNvPr id="11" name="Utiliser texte"/>
          <p:cNvSpPr txBox="1"/>
          <p:nvPr/>
        </p:nvSpPr>
        <p:spPr>
          <a:xfrm>
            <a:off x="3017520" y="2788920"/>
            <a:ext cx="1280160" cy="457200"/>
          </a:xfrm>
          <a:prstGeom prst="rect">
            <a:avLst/>
          </a:prstGeom>
          <a:noFill/>
          <a:ln/>
        </p:spPr>
        <p:txBody>
          <a:bodyPr wrap="square" lIns="0" tIns="0" rIns="0" bIns="0" rtlCol="0" anchor="ctr"/>
          <a:lstStyle/>
          <a:p>
            <a:pPr indent="0" marL="0">
              <a:buNone/>
            </a:pPr>
            <a:r>
              <a:rPr lang="en-US" sz="1400" b="1" dirty="0">
                <a:solidFill>
                  <a:schemeClr val="accent2"/>
                </a:solidFill>
              </a:rPr>
              <a:t>Utiliser</a:t>
            </a:r>
            <a:endParaRPr lang="en-US" sz="1400" dirty="0"/>
          </a:p>
        </p:txBody>
      </p:sp>
      <p:graphicFrame>
        <p:nvGraphicFramePr>
          <p:cNvPr id="12" name="Graphique ambition" descr=""/>
          <p:cNvGraphicFramePr/>
          <p:nvPr/>
        </p:nvGraphicFramePr>
        <p:xfrm>
          <a:off x="4663440" y="1143000"/>
          <a:ext cx="4023360" cy="2331720"/>
        </p:xfrm>
        <a:graphic xmlns:a="http://schemas.openxmlformats.org/drawingml/2006/main">
          <a:graphicData uri="http://schemas.openxmlformats.org/drawingml/2006/chart">
            <c:chart xmlns:c="http://schemas.openxmlformats.org/drawingml/2006/chart" r:id="rId4"/>
          </a:graphicData>
        </a:graphic>
      </p:graphicFrame>
      <p:sp>
        <p:nvSpPr>
          <p:cNvPr id="13" name="Question"/>
          <p:cNvSpPr/>
          <p:nvPr/>
        </p:nvSpPr>
        <p:spPr>
          <a:xfrm>
            <a:off x="457200" y="3657600"/>
            <a:ext cx="8229600" cy="822960"/>
          </a:xfrm>
          <a:prstGeom prst="roundRect">
            <a:avLst>
              <a:gd name="adj" fmla="val 13333"/>
            </a:avLst>
          </a:prstGeom>
          <a:solidFill>
            <a:schemeClr val="bg2"/>
          </a:solidFill>
          <a:ln w="12700">
            <a:solidFill>
              <a:schemeClr val="bg2"/>
            </a:solidFill>
            <a:prstDash val="solid"/>
          </a:ln>
        </p:spPr>
      </p:sp>
      <p:sp>
        <p:nvSpPr>
          <p:cNvPr id="14" name="Question pastille"/>
          <p:cNvSpPr/>
          <p:nvPr/>
        </p:nvSpPr>
        <p:spPr>
          <a:xfrm>
            <a:off x="640080" y="3840480"/>
            <a:ext cx="457200" cy="457200"/>
          </a:xfrm>
          <a:prstGeom prst="ellipse">
            <a:avLst/>
          </a:prstGeom>
          <a:solidFill>
            <a:schemeClr val="accent4"/>
          </a:solidFill>
          <a:ln w="12700">
            <a:solidFill>
              <a:schemeClr val="accent4"/>
            </a:solidFill>
            <a:prstDash val="solid"/>
          </a:ln>
        </p:spPr>
      </p:sp>
      <p:pic>
        <p:nvPicPr>
          <p:cNvPr id="15" name="Question icône" descr="preencoded.png">    </p:cNvPr>
          <p:cNvPicPr>
            <a:picLocks noChangeAspect="1"/>
          </p:cNvPicPr>
          <p:nvPr/>
        </p:nvPicPr>
        <p:blipFill>
          <a:blip r:embed="rId5"/>
          <a:stretch>
            <a:fillRect/>
          </a:stretch>
        </p:blipFill>
        <p:spPr>
          <a:xfrm>
            <a:off x="754380" y="3954780"/>
            <a:ext cx="228600" cy="228600"/>
          </a:xfrm>
          <a:prstGeom prst="rect">
            <a:avLst/>
          </a:prstGeom>
        </p:spPr>
      </p:pic>
      <p:sp>
        <p:nvSpPr>
          <p:cNvPr id="16" name="Question texte"/>
          <p:cNvSpPr txBox="1"/>
          <p:nvPr/>
        </p:nvSpPr>
        <p:spPr>
          <a:xfrm>
            <a:off x="1280160" y="3730752"/>
            <a:ext cx="7223760" cy="676656"/>
          </a:xfrm>
          <a:prstGeom prst="rect">
            <a:avLst/>
          </a:prstGeom>
          <a:noFill/>
          <a:ln/>
        </p:spPr>
        <p:txBody>
          <a:bodyPr wrap="square" lIns="0" tIns="0" rIns="0" bIns="0" rtlCol="0" anchor="ctr"/>
          <a:lstStyle/>
          <a:p>
            <a:pPr indent="0" marL="0">
              <a:buNone/>
            </a:pPr>
            <a:r>
              <a:rPr lang="en-US" sz="1400" b="1" dirty="0">
                <a:solidFill>
                  <a:schemeClr val="tx1"/>
                </a:solidFill>
              </a:rPr>
              <a:t>La question : </a:t>
            </a:r>
            <a:pPr indent="0" marL="0">
              <a:buNone/>
            </a:pPr>
            <a:r>
              <a:rPr lang="en-US" sz="1400" dirty="0">
                <a:solidFill>
                  <a:schemeClr val="tx1"/>
                </a:solidFill>
              </a:rPr>
              <a:t>où implanter les prochaines stations pour un développement économiquement soutenable et socialement pertinent ?</a:t>
            </a:r>
            <a:endParaRPr lang="en-US" sz="1400" dirty="0"/>
          </a:p>
        </p:txBody>
      </p:sp>
      <p:sp>
        <p:nvSpPr>
          <p:cNvPr id="25" name="Slide Number Placeholder 0"/>
          <p:cNvSpPr>
            <a:spLocks noGrp="1"/>
          </p:cNvSpPr>
          <p:nvPr>
            <p:ph type="sldNum" sz="quarter" idx="4294967295"/>
          </p:nvPr>
        </p:nvSpPr>
        <p:spPr>
          <a:xfrm>
            <a:off x="457200" y="472744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69696"/>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Autolib' (2011-2018) : un service utilisé, mais jamais rentable</a:t>
            </a:r>
            <a:endParaRPr lang="en-US" sz="2400" dirty="0"/>
          </a:p>
        </p:txBody>
      </p:sp>
      <p:sp>
        <p:nvSpPr>
          <p:cNvPr id="3" name="Cause 1"/>
          <p:cNvSpPr/>
          <p:nvPr/>
        </p:nvSpPr>
        <p:spPr>
          <a:xfrm>
            <a:off x="457200" y="1234440"/>
            <a:ext cx="2606040" cy="2011680"/>
          </a:xfrm>
          <a:prstGeom prst="roundRect">
            <a:avLst>
              <a:gd name="adj" fmla="val 5455"/>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4" name="Cause 1 pastille"/>
          <p:cNvSpPr/>
          <p:nvPr/>
        </p:nvSpPr>
        <p:spPr>
          <a:xfrm>
            <a:off x="685800" y="1417320"/>
            <a:ext cx="502920" cy="502920"/>
          </a:xfrm>
          <a:prstGeom prst="ellipse">
            <a:avLst/>
          </a:prstGeom>
          <a:solidFill>
            <a:schemeClr val="accent4"/>
          </a:solidFill>
          <a:ln w="12700">
            <a:solidFill>
              <a:schemeClr val="accent4"/>
            </a:solidFill>
            <a:prstDash val="solid"/>
          </a:ln>
        </p:spPr>
      </p:sp>
      <p:pic>
        <p:nvPicPr>
          <p:cNvPr id="5" name="Cause 1 icône" descr="preencoded.png">    </p:cNvPr>
          <p:cNvPicPr>
            <a:picLocks noChangeAspect="1"/>
          </p:cNvPicPr>
          <p:nvPr/>
        </p:nvPicPr>
        <p:blipFill>
          <a:blip r:embed="rId1"/>
          <a:stretch>
            <a:fillRect/>
          </a:stretch>
        </p:blipFill>
        <p:spPr>
          <a:xfrm>
            <a:off x="811530" y="1543050"/>
            <a:ext cx="251460" cy="251460"/>
          </a:xfrm>
          <a:prstGeom prst="rect">
            <a:avLst/>
          </a:prstGeom>
        </p:spPr>
      </p:pic>
      <p:sp>
        <p:nvSpPr>
          <p:cNvPr id="6" name="Cause 1 titre"/>
          <p:cNvSpPr txBox="1"/>
          <p:nvPr/>
        </p:nvSpPr>
        <p:spPr>
          <a:xfrm>
            <a:off x="685800" y="2011680"/>
            <a:ext cx="2194560" cy="502920"/>
          </a:xfrm>
          <a:prstGeom prst="rect">
            <a:avLst/>
          </a:prstGeom>
          <a:noFill/>
          <a:ln/>
        </p:spPr>
        <p:txBody>
          <a:bodyPr wrap="square" lIns="0" tIns="0" rIns="0" bIns="0" rtlCol="0" anchor="ctr"/>
          <a:lstStyle/>
          <a:p>
            <a:pPr indent="0" marL="0">
              <a:buNone/>
            </a:pPr>
            <a:r>
              <a:rPr lang="en-US" sz="1400" b="1" dirty="0">
                <a:solidFill>
                  <a:schemeClr val="tx1"/>
                </a:solidFill>
              </a:rPr>
              <a:t>Prévisions trop optimistes</a:t>
            </a:r>
            <a:endParaRPr lang="en-US" sz="1400" dirty="0"/>
          </a:p>
        </p:txBody>
      </p:sp>
      <p:sp>
        <p:nvSpPr>
          <p:cNvPr id="7" name="Cause 1 texte"/>
          <p:cNvSpPr txBox="1"/>
          <p:nvPr/>
        </p:nvSpPr>
        <p:spPr>
          <a:xfrm>
            <a:off x="685800" y="2578608"/>
            <a:ext cx="2194560" cy="594360"/>
          </a:xfrm>
          <a:prstGeom prst="rect">
            <a:avLst/>
          </a:prstGeom>
          <a:noFill/>
          <a:ln/>
        </p:spPr>
        <p:txBody>
          <a:bodyPr wrap="square" lIns="0" tIns="0" rIns="0" bIns="0" rtlCol="0" anchor="t"/>
          <a:lstStyle/>
          <a:p>
            <a:pPr indent="0" marL="0">
              <a:buNone/>
            </a:pPr>
            <a:r>
              <a:rPr lang="en-US" sz="1200" dirty="0">
                <a:solidFill>
                  <a:schemeClr val="tx2"/>
                </a:solidFill>
              </a:rPr>
              <a:t>La rentabilité était promise pour 2018 : elle n'a jamais été atteinte</a:t>
            </a:r>
            <a:endParaRPr lang="en-US" sz="1200" dirty="0"/>
          </a:p>
        </p:txBody>
      </p:sp>
      <p:sp>
        <p:nvSpPr>
          <p:cNvPr id="8" name="Cause 2"/>
          <p:cNvSpPr/>
          <p:nvPr/>
        </p:nvSpPr>
        <p:spPr>
          <a:xfrm>
            <a:off x="3246120" y="1234440"/>
            <a:ext cx="2606040" cy="2011680"/>
          </a:xfrm>
          <a:prstGeom prst="roundRect">
            <a:avLst>
              <a:gd name="adj" fmla="val 5455"/>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9" name="Cause 2 pastille"/>
          <p:cNvSpPr/>
          <p:nvPr/>
        </p:nvSpPr>
        <p:spPr>
          <a:xfrm>
            <a:off x="3474720" y="1417320"/>
            <a:ext cx="502920" cy="502920"/>
          </a:xfrm>
          <a:prstGeom prst="ellipse">
            <a:avLst/>
          </a:prstGeom>
          <a:solidFill>
            <a:schemeClr val="accent4"/>
          </a:solidFill>
          <a:ln w="12700">
            <a:solidFill>
              <a:schemeClr val="accent4"/>
            </a:solidFill>
            <a:prstDash val="solid"/>
          </a:ln>
        </p:spPr>
      </p:sp>
      <p:pic>
        <p:nvPicPr>
          <p:cNvPr id="10" name="Cause 2 icône" descr="preencoded.png">    </p:cNvPr>
          <p:cNvPicPr>
            <a:picLocks noChangeAspect="1"/>
          </p:cNvPicPr>
          <p:nvPr/>
        </p:nvPicPr>
        <p:blipFill>
          <a:blip r:embed="rId2"/>
          <a:stretch>
            <a:fillRect/>
          </a:stretch>
        </p:blipFill>
        <p:spPr>
          <a:xfrm>
            <a:off x="3600450" y="1543050"/>
            <a:ext cx="251460" cy="251460"/>
          </a:xfrm>
          <a:prstGeom prst="rect">
            <a:avLst/>
          </a:prstGeom>
        </p:spPr>
      </p:pic>
      <p:sp>
        <p:nvSpPr>
          <p:cNvPr id="11" name="Cause 2 titre"/>
          <p:cNvSpPr txBox="1"/>
          <p:nvPr/>
        </p:nvSpPr>
        <p:spPr>
          <a:xfrm>
            <a:off x="3474720" y="2011680"/>
            <a:ext cx="2194560" cy="502920"/>
          </a:xfrm>
          <a:prstGeom prst="rect">
            <a:avLst/>
          </a:prstGeom>
          <a:noFill/>
          <a:ln/>
        </p:spPr>
        <p:txBody>
          <a:bodyPr wrap="square" lIns="0" tIns="0" rIns="0" bIns="0" rtlCol="0" anchor="ctr"/>
          <a:lstStyle/>
          <a:p>
            <a:pPr indent="0" marL="0">
              <a:buNone/>
            </a:pPr>
            <a:r>
              <a:rPr lang="en-US" sz="1400" b="1" dirty="0">
                <a:solidFill>
                  <a:schemeClr val="tx1"/>
                </a:solidFill>
              </a:rPr>
              <a:t>Trop peu d'usage par voiture</a:t>
            </a:r>
            <a:endParaRPr lang="en-US" sz="1400" dirty="0"/>
          </a:p>
        </p:txBody>
      </p:sp>
      <p:sp>
        <p:nvSpPr>
          <p:cNvPr id="12" name="Cause 2 texte"/>
          <p:cNvSpPr txBox="1"/>
          <p:nvPr/>
        </p:nvSpPr>
        <p:spPr>
          <a:xfrm>
            <a:off x="3474720" y="2578608"/>
            <a:ext cx="2194560" cy="594360"/>
          </a:xfrm>
          <a:prstGeom prst="rect">
            <a:avLst/>
          </a:prstGeom>
          <a:noFill/>
          <a:ln/>
        </p:spPr>
        <p:txBody>
          <a:bodyPr wrap="square" lIns="0" tIns="0" rIns="0" bIns="0" rtlCol="0" anchor="t"/>
          <a:lstStyle/>
          <a:p>
            <a:pPr indent="0" marL="0">
              <a:buNone/>
            </a:pPr>
            <a:r>
              <a:rPr lang="en-US" sz="1200" dirty="0">
                <a:solidFill>
                  <a:schemeClr val="tx2"/>
                </a:solidFill>
              </a:rPr>
              <a:t>4,5 locations par jour en 2016 : pas assez pour couvrir l'entretien de la flotte</a:t>
            </a:r>
            <a:endParaRPr lang="en-US" sz="1200" dirty="0"/>
          </a:p>
        </p:txBody>
      </p:sp>
      <p:sp>
        <p:nvSpPr>
          <p:cNvPr id="13" name="Cause 3"/>
          <p:cNvSpPr/>
          <p:nvPr/>
        </p:nvSpPr>
        <p:spPr>
          <a:xfrm>
            <a:off x="6035040" y="1234440"/>
            <a:ext cx="2606040" cy="2011680"/>
          </a:xfrm>
          <a:prstGeom prst="roundRect">
            <a:avLst>
              <a:gd name="adj" fmla="val 5455"/>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14" name="Cause 3 pastille"/>
          <p:cNvSpPr/>
          <p:nvPr/>
        </p:nvSpPr>
        <p:spPr>
          <a:xfrm>
            <a:off x="6263640" y="1417320"/>
            <a:ext cx="502920" cy="502920"/>
          </a:xfrm>
          <a:prstGeom prst="ellipse">
            <a:avLst/>
          </a:prstGeom>
          <a:solidFill>
            <a:schemeClr val="accent4"/>
          </a:solidFill>
          <a:ln w="12700">
            <a:solidFill>
              <a:schemeClr val="accent4"/>
            </a:solidFill>
            <a:prstDash val="solid"/>
          </a:ln>
        </p:spPr>
      </p:sp>
      <p:pic>
        <p:nvPicPr>
          <p:cNvPr id="15" name="Cause 3 icône" descr="preencoded.png">    </p:cNvPr>
          <p:cNvPicPr>
            <a:picLocks noChangeAspect="1"/>
          </p:cNvPicPr>
          <p:nvPr/>
        </p:nvPicPr>
        <p:blipFill>
          <a:blip r:embed="rId3"/>
          <a:stretch>
            <a:fillRect/>
          </a:stretch>
        </p:blipFill>
        <p:spPr>
          <a:xfrm>
            <a:off x="6389370" y="1543050"/>
            <a:ext cx="251460" cy="251460"/>
          </a:xfrm>
          <a:prstGeom prst="rect">
            <a:avLst/>
          </a:prstGeom>
        </p:spPr>
      </p:pic>
      <p:sp>
        <p:nvSpPr>
          <p:cNvPr id="16" name="Cause 3 titre"/>
          <p:cNvSpPr txBox="1"/>
          <p:nvPr/>
        </p:nvSpPr>
        <p:spPr>
          <a:xfrm>
            <a:off x="6263640" y="2011680"/>
            <a:ext cx="2194560" cy="502920"/>
          </a:xfrm>
          <a:prstGeom prst="rect">
            <a:avLst/>
          </a:prstGeom>
          <a:noFill/>
          <a:ln/>
        </p:spPr>
        <p:txBody>
          <a:bodyPr wrap="square" lIns="0" tIns="0" rIns="0" bIns="0" rtlCol="0" anchor="ctr"/>
          <a:lstStyle/>
          <a:p>
            <a:pPr indent="0" marL="0">
              <a:buNone/>
            </a:pPr>
            <a:r>
              <a:rPr lang="en-US" sz="1400" b="1" dirty="0">
                <a:solidFill>
                  <a:schemeClr val="tx1"/>
                </a:solidFill>
              </a:rPr>
              <a:t>Des pertes qui se creusent</a:t>
            </a:r>
            <a:endParaRPr lang="en-US" sz="1400" dirty="0"/>
          </a:p>
        </p:txBody>
      </p:sp>
      <p:sp>
        <p:nvSpPr>
          <p:cNvPr id="17" name="Cause 3 texte"/>
          <p:cNvSpPr txBox="1"/>
          <p:nvPr/>
        </p:nvSpPr>
        <p:spPr>
          <a:xfrm>
            <a:off x="6263640" y="2578608"/>
            <a:ext cx="2194560" cy="594360"/>
          </a:xfrm>
          <a:prstGeom prst="rect">
            <a:avLst/>
          </a:prstGeom>
          <a:noFill/>
          <a:ln/>
        </p:spPr>
        <p:txBody>
          <a:bodyPr wrap="square" lIns="0" tIns="0" rIns="0" bIns="0" rtlCol="0" anchor="t"/>
          <a:lstStyle/>
          <a:p>
            <a:pPr indent="0" marL="0">
              <a:buNone/>
            </a:pPr>
            <a:r>
              <a:rPr lang="en-US" sz="1200" dirty="0">
                <a:solidFill>
                  <a:schemeClr val="tx2"/>
                </a:solidFill>
              </a:rPr>
              <a:t>Jusqu'à 300 M€ de pertes prévues sur 5 ans : contrat résilié en juin 2018</a:t>
            </a:r>
            <a:endParaRPr lang="en-US" sz="1200" dirty="0"/>
          </a:p>
        </p:txBody>
      </p:sp>
      <p:sp>
        <p:nvSpPr>
          <p:cNvPr id="18" name="Leçon"/>
          <p:cNvSpPr/>
          <p:nvPr/>
        </p:nvSpPr>
        <p:spPr>
          <a:xfrm>
            <a:off x="457200" y="3474720"/>
            <a:ext cx="8229600" cy="960120"/>
          </a:xfrm>
          <a:prstGeom prst="roundRect">
            <a:avLst>
              <a:gd name="adj" fmla="val 11429"/>
            </a:avLst>
          </a:prstGeom>
          <a:solidFill>
            <a:schemeClr val="accent1"/>
          </a:solidFill>
          <a:ln w="12700">
            <a:solidFill>
              <a:schemeClr val="accent1"/>
            </a:solidFill>
            <a:prstDash val="solid"/>
          </a:ln>
        </p:spPr>
      </p:sp>
      <p:sp>
        <p:nvSpPr>
          <p:cNvPr id="19" name="Leçon texte"/>
          <p:cNvSpPr txBox="1"/>
          <p:nvPr/>
        </p:nvSpPr>
        <p:spPr>
          <a:xfrm>
            <a:off x="731520" y="3547872"/>
            <a:ext cx="7772400" cy="822960"/>
          </a:xfrm>
          <a:prstGeom prst="rect">
            <a:avLst/>
          </a:prstGeom>
          <a:noFill/>
          <a:ln/>
        </p:spPr>
        <p:txBody>
          <a:bodyPr wrap="square" lIns="0" tIns="0" rIns="0" bIns="0" rtlCol="0" anchor="ctr"/>
          <a:lstStyle/>
          <a:p>
            <a:pPr indent="0" marL="0">
              <a:buNone/>
            </a:pPr>
            <a:r>
              <a:rPr lang="en-US" sz="1800" b="1" dirty="0">
                <a:solidFill>
                  <a:schemeClr val="bg1"/>
                </a:solidFill>
              </a:rPr>
              <a:t>La leçon : le succès d'usage ne garantit pas la rentabilité.</a:t>
            </a:r>
            <a:endParaRPr lang="en-US" sz="1400" dirty="0"/>
          </a:p>
          <a:p>
            <a:pPr indent="0" marL="0">
              <a:buNone/>
            </a:pPr>
            <a:r>
              <a:rPr lang="en-US" sz="1300" dirty="0">
                <a:solidFill>
                  <a:schemeClr val="bg1"/>
                </a:solidFill>
              </a:rPr>
              <a:t>Notre objectif : une croissance maîtrisée, mesurable et durable, pas une expansion quantitative.</a:t>
            </a:r>
            <a:endParaRPr lang="en-US" sz="1400" dirty="0"/>
          </a:p>
        </p:txBody>
      </p:sp>
      <p:sp>
        <p:nvSpPr>
          <p:cNvPr id="20" name="Sources Autolib"/>
          <p:cNvSpPr txBox="1"/>
          <p:nvPr/>
        </p:nvSpPr>
        <p:spPr>
          <a:xfrm>
            <a:off x="1005840" y="4727448"/>
            <a:ext cx="6858000" cy="237744"/>
          </a:xfrm>
          <a:prstGeom prst="rect">
            <a:avLst/>
          </a:prstGeom>
          <a:noFill/>
          <a:ln/>
        </p:spPr>
        <p:txBody>
          <a:bodyPr wrap="square" lIns="0" tIns="0" rIns="0" bIns="0" rtlCol="0" anchor="t"/>
          <a:lstStyle/>
          <a:p>
            <a:pPr indent="0" marL="0">
              <a:buNone/>
            </a:pPr>
            <a:r>
              <a:rPr lang="en-US" sz="1000" dirty="0">
                <a:solidFill>
                  <a:schemeClr val="tx2"/>
                </a:solidFill>
              </a:rPr>
              <a:t>Sources : Observatoire européen de la mobilité urbaine (juin 2018) ; AFP (juin 2018)</a:t>
            </a:r>
            <a:endParaRPr lang="en-US" sz="1000" dirty="0"/>
          </a:p>
        </p:txBody>
      </p:sp>
      <p:sp>
        <p:nvSpPr>
          <p:cNvPr id="25" name="Slide Number Placeholder 0"/>
          <p:cNvSpPr>
            <a:spLocks noGrp="1"/>
          </p:cNvSpPr>
          <p:nvPr>
            <p:ph type="sldNum" sz="quarter" idx="4294967295"/>
          </p:nvPr>
        </p:nvSpPr>
        <p:spPr>
          <a:xfrm>
            <a:off x="457200" y="472744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6969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Notre réponse : qualifier chaque implantation en GO / NO GO, à Nantes Métropole</a:t>
            </a:r>
            <a:endParaRPr lang="en-US" sz="2400" dirty="0"/>
          </a:p>
        </p:txBody>
      </p:sp>
      <p:sp>
        <p:nvSpPr>
          <p:cNvPr id="3" name="Principe 1"/>
          <p:cNvSpPr/>
          <p:nvPr/>
        </p:nvSpPr>
        <p:spPr>
          <a:xfrm>
            <a:off x="457200" y="1234440"/>
            <a:ext cx="2606040" cy="2011680"/>
          </a:xfrm>
          <a:prstGeom prst="roundRect">
            <a:avLst>
              <a:gd name="adj" fmla="val 5455"/>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4" name="Principe 1 pastille"/>
          <p:cNvSpPr/>
          <p:nvPr/>
        </p:nvSpPr>
        <p:spPr>
          <a:xfrm>
            <a:off x="685800" y="1417320"/>
            <a:ext cx="502920" cy="502920"/>
          </a:xfrm>
          <a:prstGeom prst="ellipse">
            <a:avLst/>
          </a:prstGeom>
          <a:solidFill>
            <a:schemeClr val="accent1"/>
          </a:solidFill>
          <a:ln w="12700">
            <a:solidFill>
              <a:schemeClr val="accent1"/>
            </a:solidFill>
            <a:prstDash val="solid"/>
          </a:ln>
        </p:spPr>
      </p:sp>
      <p:pic>
        <p:nvPicPr>
          <p:cNvPr id="5" name="Principe 1 icône" descr="preencoded.png">    </p:cNvPr>
          <p:cNvPicPr>
            <a:picLocks noChangeAspect="1"/>
          </p:cNvPicPr>
          <p:nvPr/>
        </p:nvPicPr>
        <p:blipFill>
          <a:blip r:embed="rId1"/>
          <a:stretch>
            <a:fillRect/>
          </a:stretch>
        </p:blipFill>
        <p:spPr>
          <a:xfrm>
            <a:off x="811530" y="1543050"/>
            <a:ext cx="251460" cy="251460"/>
          </a:xfrm>
          <a:prstGeom prst="rect">
            <a:avLst/>
          </a:prstGeom>
        </p:spPr>
      </p:pic>
      <p:sp>
        <p:nvSpPr>
          <p:cNvPr id="6" name="Principe 1 titre"/>
          <p:cNvSpPr txBox="1"/>
          <p:nvPr/>
        </p:nvSpPr>
        <p:spPr>
          <a:xfrm>
            <a:off x="685800" y="2011680"/>
            <a:ext cx="2240280" cy="502920"/>
          </a:xfrm>
          <a:prstGeom prst="rect">
            <a:avLst/>
          </a:prstGeom>
          <a:noFill/>
          <a:ln/>
        </p:spPr>
        <p:txBody>
          <a:bodyPr wrap="square" lIns="0" tIns="0" rIns="0" bIns="0" rtlCol="0" anchor="ctr"/>
          <a:lstStyle/>
          <a:p>
            <a:pPr indent="0" marL="0">
              <a:buNone/>
            </a:pPr>
            <a:r>
              <a:rPr lang="en-US" sz="1400" b="1" dirty="0">
                <a:solidFill>
                  <a:schemeClr val="tx1"/>
                </a:solidFill>
              </a:rPr>
              <a:t>1 · Objectiver les besoins</a:t>
            </a:r>
            <a:endParaRPr lang="en-US" sz="1400" dirty="0"/>
          </a:p>
        </p:txBody>
      </p:sp>
      <p:sp>
        <p:nvSpPr>
          <p:cNvPr id="7" name="Principe 1 texte"/>
          <p:cNvSpPr txBox="1"/>
          <p:nvPr/>
        </p:nvSpPr>
        <p:spPr>
          <a:xfrm>
            <a:off x="685800" y="2578608"/>
            <a:ext cx="2240280" cy="594360"/>
          </a:xfrm>
          <a:prstGeom prst="rect">
            <a:avLst/>
          </a:prstGeom>
          <a:noFill/>
          <a:ln/>
        </p:spPr>
        <p:txBody>
          <a:bodyPr wrap="square" lIns="0" tIns="0" rIns="0" bIns="0" rtlCol="0" anchor="t"/>
          <a:lstStyle/>
          <a:p>
            <a:pPr indent="0" marL="0">
              <a:buNone/>
            </a:pPr>
            <a:r>
              <a:rPr lang="en-US" sz="1200" dirty="0">
                <a:solidFill>
                  <a:schemeClr val="tx2"/>
                </a:solidFill>
              </a:rPr>
              <a:t>Population, transports, stations existantes : où une station apporte une vraie valeur ajoutée</a:t>
            </a:r>
            <a:endParaRPr lang="en-US" sz="1200" dirty="0"/>
          </a:p>
        </p:txBody>
      </p:sp>
      <p:sp>
        <p:nvSpPr>
          <p:cNvPr id="8" name="Principe 2"/>
          <p:cNvSpPr/>
          <p:nvPr/>
        </p:nvSpPr>
        <p:spPr>
          <a:xfrm>
            <a:off x="3246120" y="1234440"/>
            <a:ext cx="2606040" cy="2011680"/>
          </a:xfrm>
          <a:prstGeom prst="roundRect">
            <a:avLst>
              <a:gd name="adj" fmla="val 5455"/>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9" name="Principe 2 pastille"/>
          <p:cNvSpPr/>
          <p:nvPr/>
        </p:nvSpPr>
        <p:spPr>
          <a:xfrm>
            <a:off x="3474720" y="1417320"/>
            <a:ext cx="502920" cy="502920"/>
          </a:xfrm>
          <a:prstGeom prst="ellipse">
            <a:avLst/>
          </a:prstGeom>
          <a:solidFill>
            <a:schemeClr val="accent1"/>
          </a:solidFill>
          <a:ln w="12700">
            <a:solidFill>
              <a:schemeClr val="accent1"/>
            </a:solidFill>
            <a:prstDash val="solid"/>
          </a:ln>
        </p:spPr>
      </p:sp>
      <p:pic>
        <p:nvPicPr>
          <p:cNvPr id="10" name="Principe 2 icône" descr="preencoded.png">    </p:cNvPr>
          <p:cNvPicPr>
            <a:picLocks noChangeAspect="1"/>
          </p:cNvPicPr>
          <p:nvPr/>
        </p:nvPicPr>
        <p:blipFill>
          <a:blip r:embed="rId2"/>
          <a:stretch>
            <a:fillRect/>
          </a:stretch>
        </p:blipFill>
        <p:spPr>
          <a:xfrm>
            <a:off x="3600450" y="1543050"/>
            <a:ext cx="251460" cy="251460"/>
          </a:xfrm>
          <a:prstGeom prst="rect">
            <a:avLst/>
          </a:prstGeom>
        </p:spPr>
      </p:pic>
      <p:sp>
        <p:nvSpPr>
          <p:cNvPr id="11" name="Principe 2 titre"/>
          <p:cNvSpPr txBox="1"/>
          <p:nvPr/>
        </p:nvSpPr>
        <p:spPr>
          <a:xfrm>
            <a:off x="3474720" y="2011680"/>
            <a:ext cx="2240280" cy="502920"/>
          </a:xfrm>
          <a:prstGeom prst="rect">
            <a:avLst/>
          </a:prstGeom>
          <a:noFill/>
          <a:ln/>
        </p:spPr>
        <p:txBody>
          <a:bodyPr wrap="square" lIns="0" tIns="0" rIns="0" bIns="0" rtlCol="0" anchor="ctr"/>
          <a:lstStyle/>
          <a:p>
            <a:pPr indent="0" marL="0">
              <a:buNone/>
            </a:pPr>
            <a:r>
              <a:rPr lang="en-US" sz="1400" b="1" dirty="0">
                <a:solidFill>
                  <a:schemeClr val="tx1"/>
                </a:solidFill>
              </a:rPr>
              <a:t>2 · Mesurer la viabilité</a:t>
            </a:r>
            <a:endParaRPr lang="en-US" sz="1400" dirty="0"/>
          </a:p>
        </p:txBody>
      </p:sp>
      <p:sp>
        <p:nvSpPr>
          <p:cNvPr id="12" name="Principe 2 texte"/>
          <p:cNvSpPr txBox="1"/>
          <p:nvPr/>
        </p:nvSpPr>
        <p:spPr>
          <a:xfrm>
            <a:off x="3474720" y="2578608"/>
            <a:ext cx="2240280" cy="594360"/>
          </a:xfrm>
          <a:prstGeom prst="rect">
            <a:avLst/>
          </a:prstGeom>
          <a:noFill/>
          <a:ln/>
        </p:spPr>
        <p:txBody>
          <a:bodyPr wrap="square" lIns="0" tIns="0" rIns="0" bIns="0" rtlCol="0" anchor="t"/>
          <a:lstStyle/>
          <a:p>
            <a:pPr indent="0" marL="0">
              <a:buNone/>
            </a:pPr>
            <a:r>
              <a:rPr lang="en-US" sz="1200" dirty="0">
                <a:solidFill>
                  <a:schemeClr val="tx2"/>
                </a:solidFill>
              </a:rPr>
              <a:t>Coût, potentiel d'usage, seuil de rentabilité, risques : entretien, dégradations, exploitation</a:t>
            </a:r>
            <a:endParaRPr lang="en-US" sz="1200" dirty="0"/>
          </a:p>
        </p:txBody>
      </p:sp>
      <p:sp>
        <p:nvSpPr>
          <p:cNvPr id="13" name="Principe 3"/>
          <p:cNvSpPr/>
          <p:nvPr/>
        </p:nvSpPr>
        <p:spPr>
          <a:xfrm>
            <a:off x="6035040" y="1234440"/>
            <a:ext cx="2606040" cy="2011680"/>
          </a:xfrm>
          <a:prstGeom prst="roundRect">
            <a:avLst>
              <a:gd name="adj" fmla="val 5455"/>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14" name="Principe 3 pastille"/>
          <p:cNvSpPr/>
          <p:nvPr/>
        </p:nvSpPr>
        <p:spPr>
          <a:xfrm>
            <a:off x="6263640" y="1417320"/>
            <a:ext cx="502920" cy="502920"/>
          </a:xfrm>
          <a:prstGeom prst="ellipse">
            <a:avLst/>
          </a:prstGeom>
          <a:solidFill>
            <a:schemeClr val="accent1"/>
          </a:solidFill>
          <a:ln w="12700">
            <a:solidFill>
              <a:schemeClr val="accent1"/>
            </a:solidFill>
            <a:prstDash val="solid"/>
          </a:ln>
        </p:spPr>
      </p:sp>
      <p:pic>
        <p:nvPicPr>
          <p:cNvPr id="15" name="Principe 3 icône" descr="preencoded.png">    </p:cNvPr>
          <p:cNvPicPr>
            <a:picLocks noChangeAspect="1"/>
          </p:cNvPicPr>
          <p:nvPr/>
        </p:nvPicPr>
        <p:blipFill>
          <a:blip r:embed="rId3"/>
          <a:stretch>
            <a:fillRect/>
          </a:stretch>
        </p:blipFill>
        <p:spPr>
          <a:xfrm>
            <a:off x="6389370" y="1543050"/>
            <a:ext cx="251460" cy="251460"/>
          </a:xfrm>
          <a:prstGeom prst="rect">
            <a:avLst/>
          </a:prstGeom>
        </p:spPr>
      </p:pic>
      <p:sp>
        <p:nvSpPr>
          <p:cNvPr id="16" name="Principe 3 titre"/>
          <p:cNvSpPr txBox="1"/>
          <p:nvPr/>
        </p:nvSpPr>
        <p:spPr>
          <a:xfrm>
            <a:off x="6263640" y="2011680"/>
            <a:ext cx="2240280" cy="502920"/>
          </a:xfrm>
          <a:prstGeom prst="rect">
            <a:avLst/>
          </a:prstGeom>
          <a:noFill/>
          <a:ln/>
        </p:spPr>
        <p:txBody>
          <a:bodyPr wrap="square" lIns="0" tIns="0" rIns="0" bIns="0" rtlCol="0" anchor="ctr"/>
          <a:lstStyle/>
          <a:p>
            <a:pPr indent="0" marL="0">
              <a:buNone/>
            </a:pPr>
            <a:r>
              <a:rPr lang="en-US" sz="1400" b="1" dirty="0">
                <a:solidFill>
                  <a:schemeClr val="tx1"/>
                </a:solidFill>
              </a:rPr>
              <a:t>3 · Préserver l'équité</a:t>
            </a:r>
            <a:endParaRPr lang="en-US" sz="1400" dirty="0"/>
          </a:p>
        </p:txBody>
      </p:sp>
      <p:sp>
        <p:nvSpPr>
          <p:cNvPr id="17" name="Principe 3 texte"/>
          <p:cNvSpPr txBox="1"/>
          <p:nvPr/>
        </p:nvSpPr>
        <p:spPr>
          <a:xfrm>
            <a:off x="6263640" y="2578608"/>
            <a:ext cx="2240280" cy="594360"/>
          </a:xfrm>
          <a:prstGeom prst="rect">
            <a:avLst/>
          </a:prstGeom>
          <a:noFill/>
          <a:ln/>
        </p:spPr>
        <p:txBody>
          <a:bodyPr wrap="square" lIns="0" tIns="0" rIns="0" bIns="0" rtlCol="0" anchor="t"/>
          <a:lstStyle/>
          <a:p>
            <a:pPr indent="0" marL="0">
              <a:buNone/>
            </a:pPr>
            <a:r>
              <a:rPr lang="en-US" sz="1200" dirty="0">
                <a:solidFill>
                  <a:schemeClr val="tx2"/>
                </a:solidFill>
              </a:rPr>
              <a:t>Utilité sociale et accès aux mobilités, pas seulement la rentabilité</a:t>
            </a:r>
            <a:endParaRPr lang="en-US" sz="1200" dirty="0"/>
          </a:p>
        </p:txBody>
      </p:sp>
      <p:sp>
        <p:nvSpPr>
          <p:cNvPr id="18" name="Arbitrage"/>
          <p:cNvSpPr/>
          <p:nvPr/>
        </p:nvSpPr>
        <p:spPr>
          <a:xfrm>
            <a:off x="457200" y="3474720"/>
            <a:ext cx="4297680" cy="960120"/>
          </a:xfrm>
          <a:prstGeom prst="roundRect">
            <a:avLst>
              <a:gd name="adj" fmla="val 11429"/>
            </a:avLst>
          </a:prstGeom>
          <a:solidFill>
            <a:schemeClr val="bg2"/>
          </a:solidFill>
          <a:ln w="12700">
            <a:solidFill>
              <a:schemeClr val="bg2"/>
            </a:solidFill>
            <a:prstDash val="solid"/>
          </a:ln>
        </p:spPr>
      </p:sp>
      <p:sp>
        <p:nvSpPr>
          <p:cNvPr id="19" name="Arbitrage texte"/>
          <p:cNvSpPr txBox="1"/>
          <p:nvPr/>
        </p:nvSpPr>
        <p:spPr>
          <a:xfrm>
            <a:off x="685800" y="3566160"/>
            <a:ext cx="3931920" cy="777240"/>
          </a:xfrm>
          <a:prstGeom prst="rect">
            <a:avLst/>
          </a:prstGeom>
          <a:noFill/>
          <a:ln/>
        </p:spPr>
        <p:txBody>
          <a:bodyPr wrap="square" lIns="0" tIns="0" rIns="0" bIns="0" rtlCol="0" anchor="ctr"/>
          <a:lstStyle/>
          <a:p>
            <a:pPr indent="0" marL="0">
              <a:buNone/>
            </a:pPr>
            <a:r>
              <a:rPr lang="en-US" sz="1500" b="1" dirty="0">
                <a:solidFill>
                  <a:schemeClr val="tx1"/>
                </a:solidFill>
              </a:rPr>
              <a:t>Un arbitrage, pas un seul critère</a:t>
            </a:r>
            <a:endParaRPr lang="en-US" sz="1500" dirty="0"/>
          </a:p>
          <a:p>
            <a:pPr indent="0" marL="0">
              <a:buNone/>
            </a:pPr>
            <a:r>
              <a:rPr lang="en-US" sz="1200" dirty="0">
                <a:solidFill>
                  <a:schemeClr val="tx2"/>
                </a:solidFill>
              </a:rPr>
              <a:t>Performance économique et intérêt collectif, pesés pour chaque emplacement</a:t>
            </a:r>
            <a:endParaRPr lang="en-US" sz="1500" dirty="0"/>
          </a:p>
        </p:txBody>
      </p:sp>
      <p:sp>
        <p:nvSpPr>
          <p:cNvPr id="20" name="GO"/>
          <p:cNvSpPr/>
          <p:nvPr/>
        </p:nvSpPr>
        <p:spPr>
          <a:xfrm>
            <a:off x="4937760" y="3474720"/>
            <a:ext cx="1783080" cy="960120"/>
          </a:xfrm>
          <a:prstGeom prst="roundRect">
            <a:avLst>
              <a:gd name="adj" fmla="val 11429"/>
            </a:avLst>
          </a:prstGeom>
          <a:solidFill>
            <a:schemeClr val="accent6"/>
          </a:solidFill>
          <a:ln w="12700">
            <a:solidFill>
              <a:schemeClr val="accent6"/>
            </a:solidFill>
            <a:prstDash val="solid"/>
          </a:ln>
        </p:spPr>
      </p:sp>
      <p:pic>
        <p:nvPicPr>
          <p:cNvPr id="21" name="GO icône" descr="preencoded.png">    </p:cNvPr>
          <p:cNvPicPr>
            <a:picLocks noChangeAspect="1"/>
          </p:cNvPicPr>
          <p:nvPr/>
        </p:nvPicPr>
        <p:blipFill>
          <a:blip r:embed="rId4"/>
          <a:stretch>
            <a:fillRect/>
          </a:stretch>
        </p:blipFill>
        <p:spPr>
          <a:xfrm>
            <a:off x="5074920" y="3630168"/>
            <a:ext cx="274320" cy="274320"/>
          </a:xfrm>
          <a:prstGeom prst="rect">
            <a:avLst/>
          </a:prstGeom>
        </p:spPr>
      </p:pic>
      <p:sp>
        <p:nvSpPr>
          <p:cNvPr id="22" name="GO texte"/>
          <p:cNvSpPr txBox="1"/>
          <p:nvPr/>
        </p:nvSpPr>
        <p:spPr>
          <a:xfrm>
            <a:off x="5440680" y="3547872"/>
            <a:ext cx="1188720" cy="822960"/>
          </a:xfrm>
          <a:prstGeom prst="rect">
            <a:avLst/>
          </a:prstGeom>
          <a:noFill/>
          <a:ln/>
        </p:spPr>
        <p:txBody>
          <a:bodyPr wrap="square" lIns="0" tIns="0" rIns="0" bIns="0" rtlCol="0" anchor="ctr"/>
          <a:lstStyle/>
          <a:p>
            <a:pPr indent="0" marL="0">
              <a:buNone/>
            </a:pPr>
            <a:r>
              <a:rPr lang="en-US" sz="2000" b="1" dirty="0">
                <a:solidFill>
                  <a:schemeClr val="bg1"/>
                </a:solidFill>
              </a:rPr>
              <a:t>GO</a:t>
            </a:r>
            <a:endParaRPr lang="en-US" sz="1400" dirty="0"/>
          </a:p>
          <a:p>
            <a:pPr indent="0" marL="0">
              <a:buNone/>
            </a:pPr>
            <a:r>
              <a:rPr lang="en-US" sz="1100" dirty="0">
                <a:solidFill>
                  <a:schemeClr val="bg1"/>
                </a:solidFill>
              </a:rPr>
              <a:t>rentable et utile</a:t>
            </a:r>
            <a:endParaRPr lang="en-US" sz="1400" dirty="0"/>
          </a:p>
        </p:txBody>
      </p:sp>
      <p:sp>
        <p:nvSpPr>
          <p:cNvPr id="23" name="NO GO"/>
          <p:cNvSpPr/>
          <p:nvPr/>
        </p:nvSpPr>
        <p:spPr>
          <a:xfrm>
            <a:off x="6903720" y="3474720"/>
            <a:ext cx="1783080" cy="960120"/>
          </a:xfrm>
          <a:prstGeom prst="roundRect">
            <a:avLst>
              <a:gd name="adj" fmla="val 11429"/>
            </a:avLst>
          </a:prstGeom>
          <a:solidFill>
            <a:schemeClr val="accent4"/>
          </a:solidFill>
          <a:ln w="12700">
            <a:solidFill>
              <a:schemeClr val="accent4"/>
            </a:solidFill>
            <a:prstDash val="solid"/>
          </a:ln>
        </p:spPr>
      </p:sp>
      <p:pic>
        <p:nvPicPr>
          <p:cNvPr id="24" name="NO GO icône" descr="preencoded.png">    </p:cNvPr>
          <p:cNvPicPr>
            <a:picLocks noChangeAspect="1"/>
          </p:cNvPicPr>
          <p:nvPr/>
        </p:nvPicPr>
        <p:blipFill>
          <a:blip r:embed="rId5"/>
          <a:stretch>
            <a:fillRect/>
          </a:stretch>
        </p:blipFill>
        <p:spPr>
          <a:xfrm>
            <a:off x="7040880" y="3630168"/>
            <a:ext cx="274320" cy="274320"/>
          </a:xfrm>
          <a:prstGeom prst="rect">
            <a:avLst/>
          </a:prstGeom>
        </p:spPr>
      </p:pic>
      <p:sp>
        <p:nvSpPr>
          <p:cNvPr id="25" name="NO GO texte"/>
          <p:cNvSpPr txBox="1"/>
          <p:nvPr/>
        </p:nvSpPr>
        <p:spPr>
          <a:xfrm>
            <a:off x="7406640" y="3547872"/>
            <a:ext cx="1188720" cy="822960"/>
          </a:xfrm>
          <a:prstGeom prst="rect">
            <a:avLst/>
          </a:prstGeom>
          <a:noFill/>
          <a:ln/>
        </p:spPr>
        <p:txBody>
          <a:bodyPr wrap="square" lIns="0" tIns="0" rIns="0" bIns="0" rtlCol="0" anchor="ctr"/>
          <a:lstStyle/>
          <a:p>
            <a:pPr indent="0" marL="0">
              <a:buNone/>
            </a:pPr>
            <a:r>
              <a:rPr lang="en-US" sz="2000" b="1" dirty="0">
                <a:solidFill>
                  <a:schemeClr val="bg1"/>
                </a:solidFill>
              </a:rPr>
              <a:t>NO GO</a:t>
            </a:r>
            <a:endParaRPr lang="en-US" sz="1400" dirty="0"/>
          </a:p>
          <a:p>
            <a:pPr indent="0" marL="0">
              <a:buNone/>
            </a:pPr>
            <a:r>
              <a:rPr lang="en-US" sz="1100" dirty="0">
                <a:solidFill>
                  <a:schemeClr val="bg1"/>
                </a:solidFill>
              </a:rPr>
              <a:t>besoin faible ou non rentable</a:t>
            </a:r>
            <a:endParaRPr lang="en-US" sz="1400" dirty="0"/>
          </a:p>
        </p:txBody>
      </p:sp>
      <p:sp>
        <p:nvSpPr>
          <p:cNvPr id="25" name="Slide Number Placeholder 0"/>
          <p:cNvSpPr>
            <a:spLocks noGrp="1"/>
          </p:cNvSpPr>
          <p:nvPr>
            <p:ph type="sldNum" sz="quarter" idx="4294967295"/>
          </p:nvPr>
        </p:nvSpPr>
        <p:spPr>
          <a:xfrm>
            <a:off x="457200" y="4727448"/>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6969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Logo Citiz blanc" descr="/private/tmp/claude-501/-Users-alexander-hills-Downloads-hackathon-mobility/f1ffbe17-d504-4e53-83c8-b27ab1814837/scratchpad/deck/assets/citiz_white.png">    </p:cNvPr>
          <p:cNvPicPr>
            <a:picLocks noChangeAspect="1"/>
          </p:cNvPicPr>
          <p:nvPr/>
        </p:nvPicPr>
        <p:blipFill>
          <a:blip r:embed="rId1"/>
          <a:stretch>
            <a:fillRect/>
          </a:stretch>
        </p:blipFill>
        <p:spPr>
          <a:xfrm>
            <a:off x="548640" y="411480"/>
            <a:ext cx="1463040" cy="592531"/>
          </a:xfrm>
          <a:prstGeom prst="rect">
            <a:avLst/>
          </a:prstGeom>
        </p:spPr>
      </p:pic>
      <p:sp>
        <p:nvSpPr>
          <p:cNvPr id="3" name="Text 0"/>
          <p:cNvSpPr/>
          <p:nvPr>
            <p:ph idx="100" type="body" hasCustomPrompt="1"/>
          </p:nvPr>
        </p:nvSpPr>
        <p:spPr>
          <a:xfrm>
            <a:off x="548640" y="1325880"/>
            <a:ext cx="8046720" cy="320040"/>
          </a:xfrm>
          <a:prstGeom prst="rect">
            <a:avLst/>
          </a:prstGeom>
          <a:noFill/>
          <a:ln/>
        </p:spPr>
        <p:txBody>
          <a:bodyPr wrap="square" lIns="0" tIns="0" rIns="0" bIns="0" rtlCol="0"/>
          <a:lstStyle/>
          <a:p>
            <a:pPr algn="l" indent="0" marL="0">
              <a:buNone/>
            </a:pPr>
            <a:r>
              <a:rPr lang="en-US" sz="1300" b="1" dirty="0">
                <a:solidFill>
                  <a:schemeClr val="bg1"/>
                </a:solidFill>
              </a:rPr>
              <a:t>De la stratégie à l'outil</a:t>
            </a:r>
            <a:endParaRPr lang="en-US" sz="1300" dirty="0"/>
          </a:p>
        </p:txBody>
      </p:sp>
      <p:sp>
        <p:nvSpPr>
          <p:cNvPr id="4" name="Text 0"/>
          <p:cNvSpPr/>
          <p:nvPr>
            <p:ph idx="101" type="title" hasCustomPrompt="1"/>
          </p:nvPr>
        </p:nvSpPr>
        <p:spPr>
          <a:xfrm>
            <a:off x="548640" y="1691640"/>
            <a:ext cx="8046720" cy="1325880"/>
          </a:xfrm>
          <a:prstGeom prst="rect">
            <a:avLst/>
          </a:prstGeom>
          <a:noFill/>
          <a:ln/>
        </p:spPr>
        <p:txBody>
          <a:bodyPr wrap="square" lIns="0" tIns="0" rIns="0" bIns="0" rtlCol="0" anchor="t"/>
          <a:lstStyle/>
          <a:p>
            <a:pPr algn="l" indent="0" marL="0">
              <a:buNone/>
            </a:pPr>
            <a:r>
              <a:rPr lang="en-US" sz="3600" b="1" dirty="0">
                <a:solidFill>
                  <a:schemeClr val="bg1"/>
                </a:solidFill>
              </a:rPr>
              <a:t>Un outil d'aide à la décision, fondé sur des données fiables</a:t>
            </a:r>
            <a:endParaRPr lang="en-US" sz="3600" dirty="0"/>
          </a:p>
        </p:txBody>
      </p:sp>
      <p:sp>
        <p:nvSpPr>
          <p:cNvPr id="5" name="Outil Identifier"/>
          <p:cNvSpPr/>
          <p:nvPr/>
        </p:nvSpPr>
        <p:spPr>
          <a:xfrm>
            <a:off x="548640" y="2926080"/>
            <a:ext cx="2514600" cy="1005840"/>
          </a:xfrm>
          <a:prstGeom prst="roundRect">
            <a:avLst>
              <a:gd name="adj" fmla="val 10909"/>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6" name="Outil Identifier pastille"/>
          <p:cNvSpPr/>
          <p:nvPr/>
        </p:nvSpPr>
        <p:spPr>
          <a:xfrm>
            <a:off x="731520" y="3154680"/>
            <a:ext cx="548640" cy="548640"/>
          </a:xfrm>
          <a:prstGeom prst="ellipse">
            <a:avLst/>
          </a:prstGeom>
          <a:solidFill>
            <a:schemeClr val="accent1"/>
          </a:solidFill>
          <a:ln w="12700">
            <a:solidFill>
              <a:schemeClr val="accent1"/>
            </a:solidFill>
            <a:prstDash val="solid"/>
          </a:ln>
        </p:spPr>
      </p:sp>
      <p:pic>
        <p:nvPicPr>
          <p:cNvPr id="7" name="Outil Identifier icône" descr="preencoded.png">    </p:cNvPr>
          <p:cNvPicPr>
            <a:picLocks noChangeAspect="1"/>
          </p:cNvPicPr>
          <p:nvPr/>
        </p:nvPicPr>
        <p:blipFill>
          <a:blip r:embed="rId2"/>
          <a:stretch>
            <a:fillRect/>
          </a:stretch>
        </p:blipFill>
        <p:spPr>
          <a:xfrm>
            <a:off x="868680" y="3291840"/>
            <a:ext cx="274320" cy="274320"/>
          </a:xfrm>
          <a:prstGeom prst="rect">
            <a:avLst/>
          </a:prstGeom>
        </p:spPr>
      </p:pic>
      <p:sp>
        <p:nvSpPr>
          <p:cNvPr id="8" name="Outil Identifier texte"/>
          <p:cNvSpPr txBox="1"/>
          <p:nvPr/>
        </p:nvSpPr>
        <p:spPr>
          <a:xfrm>
            <a:off x="1417320" y="3017520"/>
            <a:ext cx="1554480" cy="822960"/>
          </a:xfrm>
          <a:prstGeom prst="rect">
            <a:avLst/>
          </a:prstGeom>
          <a:noFill/>
          <a:ln/>
        </p:spPr>
        <p:txBody>
          <a:bodyPr wrap="square" lIns="0" tIns="0" rIns="0" bIns="0" rtlCol="0" anchor="ctr"/>
          <a:lstStyle/>
          <a:p>
            <a:pPr indent="0" marL="0">
              <a:buNone/>
            </a:pPr>
            <a:r>
              <a:rPr lang="en-US" sz="1500" b="1" dirty="0">
                <a:solidFill>
                  <a:schemeClr val="tx1"/>
                </a:solidFill>
              </a:rPr>
              <a:t>Identifier</a:t>
            </a:r>
            <a:endParaRPr lang="en-US" sz="1500" dirty="0"/>
          </a:p>
          <a:p>
            <a:pPr indent="0" marL="0">
              <a:buNone/>
            </a:pPr>
            <a:r>
              <a:rPr lang="en-US" sz="1200" dirty="0">
                <a:solidFill>
                  <a:schemeClr val="tx2"/>
                </a:solidFill>
              </a:rPr>
              <a:t>les zones prioritaires</a:t>
            </a:r>
            <a:endParaRPr lang="en-US" sz="1500" dirty="0"/>
          </a:p>
        </p:txBody>
      </p:sp>
      <p:sp>
        <p:nvSpPr>
          <p:cNvPr id="9" name="Outil Estimer"/>
          <p:cNvSpPr/>
          <p:nvPr/>
        </p:nvSpPr>
        <p:spPr>
          <a:xfrm>
            <a:off x="3246120" y="2926080"/>
            <a:ext cx="2514600" cy="1005840"/>
          </a:xfrm>
          <a:prstGeom prst="roundRect">
            <a:avLst>
              <a:gd name="adj" fmla="val 10909"/>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10" name="Outil Estimer pastille"/>
          <p:cNvSpPr/>
          <p:nvPr/>
        </p:nvSpPr>
        <p:spPr>
          <a:xfrm>
            <a:off x="3429000" y="3154680"/>
            <a:ext cx="548640" cy="548640"/>
          </a:xfrm>
          <a:prstGeom prst="ellipse">
            <a:avLst/>
          </a:prstGeom>
          <a:solidFill>
            <a:schemeClr val="accent1"/>
          </a:solidFill>
          <a:ln w="12700">
            <a:solidFill>
              <a:schemeClr val="accent1"/>
            </a:solidFill>
            <a:prstDash val="solid"/>
          </a:ln>
        </p:spPr>
      </p:sp>
      <p:pic>
        <p:nvPicPr>
          <p:cNvPr id="11" name="Outil Estimer icône" descr="preencoded.png">    </p:cNvPr>
          <p:cNvPicPr>
            <a:picLocks noChangeAspect="1"/>
          </p:cNvPicPr>
          <p:nvPr/>
        </p:nvPicPr>
        <p:blipFill>
          <a:blip r:embed="rId3"/>
          <a:stretch>
            <a:fillRect/>
          </a:stretch>
        </p:blipFill>
        <p:spPr>
          <a:xfrm>
            <a:off x="3566160" y="3291840"/>
            <a:ext cx="274320" cy="274320"/>
          </a:xfrm>
          <a:prstGeom prst="rect">
            <a:avLst/>
          </a:prstGeom>
        </p:spPr>
      </p:pic>
      <p:sp>
        <p:nvSpPr>
          <p:cNvPr id="12" name="Outil Estimer texte"/>
          <p:cNvSpPr txBox="1"/>
          <p:nvPr/>
        </p:nvSpPr>
        <p:spPr>
          <a:xfrm>
            <a:off x="4114800" y="3017520"/>
            <a:ext cx="1554480" cy="822960"/>
          </a:xfrm>
          <a:prstGeom prst="rect">
            <a:avLst/>
          </a:prstGeom>
          <a:noFill/>
          <a:ln/>
        </p:spPr>
        <p:txBody>
          <a:bodyPr wrap="square" lIns="0" tIns="0" rIns="0" bIns="0" rtlCol="0" anchor="ctr"/>
          <a:lstStyle/>
          <a:p>
            <a:pPr indent="0" marL="0">
              <a:buNone/>
            </a:pPr>
            <a:r>
              <a:rPr lang="en-US" sz="1500" b="1" dirty="0">
                <a:solidFill>
                  <a:schemeClr val="tx1"/>
                </a:solidFill>
              </a:rPr>
              <a:t>Estimer</a:t>
            </a:r>
            <a:endParaRPr lang="en-US" sz="1500" dirty="0"/>
          </a:p>
          <a:p>
            <a:pPr indent="0" marL="0">
              <a:buNone/>
            </a:pPr>
            <a:r>
              <a:rPr lang="en-US" sz="1200" dirty="0">
                <a:solidFill>
                  <a:schemeClr val="tx2"/>
                </a:solidFill>
              </a:rPr>
              <a:t>la valeur d'une nouvelle implantation</a:t>
            </a:r>
            <a:endParaRPr lang="en-US" sz="1500" dirty="0"/>
          </a:p>
        </p:txBody>
      </p:sp>
      <p:sp>
        <p:nvSpPr>
          <p:cNvPr id="13" name="Outil Arbitrer"/>
          <p:cNvSpPr/>
          <p:nvPr/>
        </p:nvSpPr>
        <p:spPr>
          <a:xfrm>
            <a:off x="5943600" y="2926080"/>
            <a:ext cx="2514600" cy="1005840"/>
          </a:xfrm>
          <a:prstGeom prst="roundRect">
            <a:avLst>
              <a:gd name="adj" fmla="val 10909"/>
            </a:avLst>
          </a:prstGeom>
          <a:solidFill>
            <a:schemeClr val="bg1"/>
          </a:solidFill>
          <a:ln w="9525">
            <a:solidFill>
              <a:srgbClr val="EAEAEA"/>
            </a:solidFill>
            <a:prstDash val="solid"/>
          </a:ln>
          <a:effectLst>
            <a:outerShdw sx="100000" sy="100000" kx="0" ky="0" algn="bl" rotWithShape="0" blurRad="76200" dist="25400" dir="5400000">
              <a:srgbClr val="000000">
                <a:alpha val="12000"/>
              </a:srgbClr>
            </a:outerShdw>
          </a:effectLst>
        </p:spPr>
      </p:sp>
      <p:sp>
        <p:nvSpPr>
          <p:cNvPr id="14" name="Outil Arbitrer pastille"/>
          <p:cNvSpPr/>
          <p:nvPr/>
        </p:nvSpPr>
        <p:spPr>
          <a:xfrm>
            <a:off x="6126480" y="3154680"/>
            <a:ext cx="548640" cy="548640"/>
          </a:xfrm>
          <a:prstGeom prst="ellipse">
            <a:avLst/>
          </a:prstGeom>
          <a:solidFill>
            <a:schemeClr val="accent1"/>
          </a:solidFill>
          <a:ln w="12700">
            <a:solidFill>
              <a:schemeClr val="accent1"/>
            </a:solidFill>
            <a:prstDash val="solid"/>
          </a:ln>
        </p:spPr>
      </p:sp>
      <p:pic>
        <p:nvPicPr>
          <p:cNvPr id="15" name="Outil Arbitrer icône" descr="preencoded.png">    </p:cNvPr>
          <p:cNvPicPr>
            <a:picLocks noChangeAspect="1"/>
          </p:cNvPicPr>
          <p:nvPr/>
        </p:nvPicPr>
        <p:blipFill>
          <a:blip r:embed="rId4"/>
          <a:stretch>
            <a:fillRect/>
          </a:stretch>
        </p:blipFill>
        <p:spPr>
          <a:xfrm>
            <a:off x="6263640" y="3291840"/>
            <a:ext cx="274320" cy="274320"/>
          </a:xfrm>
          <a:prstGeom prst="rect">
            <a:avLst/>
          </a:prstGeom>
        </p:spPr>
      </p:pic>
      <p:sp>
        <p:nvSpPr>
          <p:cNvPr id="16" name="Outil Arbitrer texte"/>
          <p:cNvSpPr txBox="1"/>
          <p:nvPr/>
        </p:nvSpPr>
        <p:spPr>
          <a:xfrm>
            <a:off x="6812280" y="3017520"/>
            <a:ext cx="1554480" cy="822960"/>
          </a:xfrm>
          <a:prstGeom prst="rect">
            <a:avLst/>
          </a:prstGeom>
          <a:noFill/>
          <a:ln/>
        </p:spPr>
        <p:txBody>
          <a:bodyPr wrap="square" lIns="0" tIns="0" rIns="0" bIns="0" rtlCol="0" anchor="ctr"/>
          <a:lstStyle/>
          <a:p>
            <a:pPr indent="0" marL="0">
              <a:buNone/>
            </a:pPr>
            <a:r>
              <a:rPr lang="en-US" sz="1500" b="1" dirty="0">
                <a:solidFill>
                  <a:schemeClr val="tx1"/>
                </a:solidFill>
              </a:rPr>
              <a:t>Arbitrer</a:t>
            </a:r>
            <a:endParaRPr lang="en-US" sz="1500" dirty="0"/>
          </a:p>
          <a:p>
            <a:pPr indent="0" marL="0">
              <a:buNone/>
            </a:pPr>
            <a:r>
              <a:rPr lang="en-US" sz="1200" dirty="0">
                <a:solidFill>
                  <a:schemeClr val="tx2"/>
                </a:solidFill>
              </a:rPr>
              <a:t>sous contrainte de budget</a:t>
            </a:r>
            <a:endParaRPr lang="en-US" sz="1500" dirty="0"/>
          </a:p>
        </p:txBody>
      </p:sp>
      <p:sp>
        <p:nvSpPr>
          <p:cNvPr id="17" name="Place à la démo"/>
          <p:cNvSpPr txBox="1"/>
          <p:nvPr/>
        </p:nvSpPr>
        <p:spPr>
          <a:xfrm>
            <a:off x="548640" y="4206240"/>
            <a:ext cx="4114800" cy="365760"/>
          </a:xfrm>
          <a:prstGeom prst="rect">
            <a:avLst/>
          </a:prstGeom>
          <a:noFill/>
          <a:ln/>
        </p:spPr>
        <p:txBody>
          <a:bodyPr wrap="square" lIns="0" tIns="0" rIns="0" bIns="0" rtlCol="0" anchor="ctr"/>
          <a:lstStyle/>
          <a:p>
            <a:pPr indent="0" marL="0">
              <a:buNone/>
            </a:pPr>
            <a:r>
              <a:rPr lang="en-US" sz="1600" b="1" dirty="0">
                <a:solidFill>
                  <a:schemeClr val="bg1"/>
                </a:solidFill>
              </a:rPr>
              <a:t>Place à la démonstration technique</a:t>
            </a:r>
            <a:endParaRPr lang="en-US" sz="1600" dirty="0"/>
          </a:p>
        </p:txBody>
      </p:sp>
      <p:pic>
        <p:nvPicPr>
          <p:cNvPr id="18" name="Flèche démo" descr="preencoded.png">    </p:cNvPr>
          <p:cNvPicPr>
            <a:picLocks noChangeAspect="1"/>
          </p:cNvPicPr>
          <p:nvPr/>
        </p:nvPicPr>
        <p:blipFill>
          <a:blip r:embed="rId5"/>
          <a:stretch>
            <a:fillRect/>
          </a:stretch>
        </p:blipFill>
        <p:spPr>
          <a:xfrm>
            <a:off x="4343400" y="4279392"/>
            <a:ext cx="219456" cy="219456"/>
          </a:xfrm>
          <a:prstGeom prst="rect">
            <a:avLst/>
          </a:prstGeom>
        </p:spPr>
      </p:pic>
      <p:sp>
        <p:nvSpPr>
          <p:cNvPr id="20" name="Text 0"/>
          <p:cNvSpPr/>
          <p:nvPr>
            <p:ph idx="102" type="body" hasCustomPrompt="1"/>
          </p:nvPr>
        </p:nvSpPr>
        <p:spPr>
          <a:xfrm>
            <a:off x="548640" y="3017520"/>
            <a:ext cx="8046720" cy="731520"/>
          </a:xfrm>
          <a:prstGeom prst="rect">
            <a:avLst/>
          </a:prstGeom>
          <a:noFill/>
          <a:ln/>
        </p:spPr>
        <p:txBody>
          <a:bodyPr wrap="square" lIns="0" tIns="0" rIns="0" bIns="0" rtlCol="0"/>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Citiz">
  <a:themeElements>
    <a:clrScheme name="Citiz">
      <a:dk1>
        <a:srgbClr val="202020"/>
      </a:dk1>
      <a:lt1>
        <a:srgbClr val="FFFFFF"/>
      </a:lt1>
      <a:dk2>
        <a:srgbClr val="616060"/>
      </a:dk2>
      <a:lt2>
        <a:srgbClr val="DBF4F4"/>
      </a:lt2>
      <a:accent1>
        <a:srgbClr val="32B4B5"/>
      </a:accent1>
      <a:accent2>
        <a:srgbClr val="20A4B0"/>
      </a:accent2>
      <a:accent3>
        <a:srgbClr val="2A4A96"/>
      </a:accent3>
      <a:accent4>
        <a:srgbClr val="E63329"/>
      </a:accent4>
      <a:accent5>
        <a:srgbClr val="514E98"/>
      </a:accent5>
      <a:accent6>
        <a:srgbClr val="2FAC66"/>
      </a:accent6>
      <a:hlink>
        <a:srgbClr val="20A4B0"/>
      </a:hlink>
      <a:folHlink>
        <a:srgbClr val="514E98"/>
      </a:folHlink>
    </a:clrScheme>
    <a:fontScheme name="Citiz">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Citiz : développer l'autopartage sans refaire Autolib'</dc:title>
  <dc:subject>PptxGenJS Presentation</dc:subject>
  <dc:creator>Équipe Hackathon Mobilité</dc:creator>
  <cp:lastModifiedBy>Équipe Hackathon Mobilité</cp:lastModifiedBy>
  <cp:revision>1</cp:revision>
  <dcterms:created xsi:type="dcterms:W3CDTF">2026-10-21T08:22:59Z</dcterms:created>
  <dcterms:modified xsi:type="dcterms:W3CDTF">2026-10-21T08:22:59Z</dcterms:modified>
</cp:coreProperties>
</file>